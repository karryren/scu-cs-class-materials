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5"/>
  </p:notesMasterIdLst>
  <p:sldIdLst>
    <p:sldId id="258" r:id="rId2"/>
    <p:sldId id="259" r:id="rId3"/>
    <p:sldId id="317" r:id="rId4"/>
    <p:sldId id="368" r:id="rId5"/>
    <p:sldId id="318" r:id="rId6"/>
    <p:sldId id="319" r:id="rId7"/>
    <p:sldId id="352" r:id="rId8"/>
    <p:sldId id="320" r:id="rId9"/>
    <p:sldId id="354" r:id="rId10"/>
    <p:sldId id="353" r:id="rId11"/>
    <p:sldId id="369" r:id="rId12"/>
    <p:sldId id="370" r:id="rId13"/>
    <p:sldId id="355" r:id="rId14"/>
    <p:sldId id="356" r:id="rId15"/>
    <p:sldId id="412" r:id="rId16"/>
    <p:sldId id="261" r:id="rId17"/>
    <p:sldId id="262" r:id="rId18"/>
    <p:sldId id="413" r:id="rId19"/>
    <p:sldId id="407" r:id="rId20"/>
    <p:sldId id="267" r:id="rId21"/>
    <p:sldId id="409" r:id="rId22"/>
    <p:sldId id="268" r:id="rId23"/>
    <p:sldId id="269" r:id="rId24"/>
    <p:sldId id="406" r:id="rId25"/>
    <p:sldId id="405" r:id="rId26"/>
    <p:sldId id="414" r:id="rId27"/>
    <p:sldId id="344" r:id="rId28"/>
    <p:sldId id="418" r:id="rId29"/>
    <p:sldId id="270" r:id="rId30"/>
    <p:sldId id="422" r:id="rId31"/>
    <p:sldId id="421" r:id="rId32"/>
    <p:sldId id="419" r:id="rId33"/>
    <p:sldId id="273" r:id="rId34"/>
    <p:sldId id="272" r:id="rId35"/>
    <p:sldId id="392" r:id="rId36"/>
    <p:sldId id="393" r:id="rId37"/>
    <p:sldId id="394" r:id="rId38"/>
    <p:sldId id="395" r:id="rId39"/>
    <p:sldId id="423" r:id="rId40"/>
    <p:sldId id="289" r:id="rId41"/>
    <p:sldId id="415" r:id="rId42"/>
    <p:sldId id="382" r:id="rId43"/>
    <p:sldId id="425" r:id="rId44"/>
    <p:sldId id="416" r:id="rId45"/>
    <p:sldId id="396" r:id="rId46"/>
    <p:sldId id="388" r:id="rId47"/>
    <p:sldId id="424" r:id="rId48"/>
    <p:sldId id="385" r:id="rId49"/>
    <p:sldId id="386" r:id="rId50"/>
    <p:sldId id="387" r:id="rId51"/>
    <p:sldId id="384" r:id="rId52"/>
    <p:sldId id="389" r:id="rId53"/>
    <p:sldId id="260" r:id="rId54"/>
  </p:sldIdLst>
  <p:sldSz cx="9144000" cy="6858000" type="screen4x3"/>
  <p:notesSz cx="6858000" cy="9144000"/>
  <p:custDataLst>
    <p:tags r:id="rId56"/>
  </p:custDataLst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CC0000"/>
    <a:srgbClr val="003300"/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08" autoAdjust="0"/>
  </p:normalViewPr>
  <p:slideViewPr>
    <p:cSldViewPr>
      <p:cViewPr varScale="1">
        <p:scale>
          <a:sx n="125" d="100"/>
          <a:sy n="125" d="100"/>
        </p:scale>
        <p:origin x="9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53705C89-6918-4F74-B356-006BBE1DF08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7760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05C89-6918-4F74-B356-006BBE1DF088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468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05C89-6918-4F74-B356-006BBE1DF088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042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05C89-6918-4F74-B356-006BBE1DF088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83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A36811-88D9-4B0E-B863-F6230E086ECE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2B646C08-9DD1-4CC8-9859-018EBFCC04FB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29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42F4C7-BA8F-498A-BEE8-50E2943E592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FD406-283F-451D-84C5-166B4C21804C}" type="slidenum">
              <a:rPr lang="en-US" altLang="zh-CN" smtClean="0"/>
              <a:pPr/>
              <a:t>‹#›</a:t>
            </a:fld>
            <a:r>
              <a:rPr lang="en-US" altLang="zh-CN" dirty="0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450882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9FB4B2-CCFB-42DD-8E7E-500D398A6B1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167A8D-6C56-443E-8818-F80C801ADF90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027627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732D63-614B-47A1-9EBB-3FE4901A4670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4651AA-8227-4B1B-8FFB-9328EA46C1DF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3437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69C1C3-FB9B-43D7-9957-43C819530D73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DF395F-16AC-4989-9387-8BE3AC75092F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45728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535C39-54C1-49D2-B778-443095FDBF07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8300C0-A7A1-47FC-A065-154498F4EC9F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061037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D3B9BB-A061-412B-9D8B-A85CD125D3B7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D02CE-E21C-4CE2-A3B6-D6044EE60D9E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951844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4696F5-D846-4A1A-8D35-DAFF4CCBE98C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15C26-2D11-4B89-A78D-4486224A4E41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232090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B94789-1B6F-40F3-8ECB-2A523A51861C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855A7-45BE-464A-B092-BB55D7D3051F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938048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C3FEEC-C182-404C-B147-6D9C07219FF8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CCF15-558D-4242-8504-D23F03A3B805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29606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6649BD-54C2-4D27-BA26-3249C173A96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353F1-DB85-4574-8F4F-D2FBE1E70EB2}" type="slidenum">
              <a:rPr lang="en-US" altLang="zh-CN" smtClean="0"/>
              <a:pPr/>
              <a:t>‹#›</a:t>
            </a:fld>
            <a:r>
              <a:rPr lang="en-US" altLang="zh-CN" dirty="0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00094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806C4FD3-295E-4389-8D35-5C3BFD3A6820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r>
              <a:rPr lang="en-US" altLang="zh-CN"/>
              <a:t>《数据库系统概论》- 第10章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fld id="{BC115D33-2987-49D5-A4F7-CE12576B7307}" type="slidenum">
              <a:rPr lang="en-US" altLang="zh-CN" smtClean="0"/>
              <a:pPr/>
              <a:t>‹#›</a:t>
            </a:fld>
            <a:r>
              <a:rPr lang="en-US" altLang="zh-CN" dirty="0"/>
              <a:t>/53</a:t>
            </a:r>
            <a:endParaRPr lang="zh-CN" altLang="en-US" dirty="0"/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郭际香</a:t>
            </a: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2025.12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r>
              <a:rPr lang="zh-CN" altLang="zh-CN" dirty="0"/>
              <a:t>第</a:t>
            </a:r>
            <a:r>
              <a:rPr lang="en-US" altLang="zh-CN" dirty="0"/>
              <a:t>13</a:t>
            </a:r>
            <a:r>
              <a:rPr lang="zh-CN" altLang="zh-CN" dirty="0"/>
              <a:t>章 </a:t>
            </a:r>
            <a:r>
              <a:rPr lang="zh-CN" altLang="en-US" dirty="0"/>
              <a:t>事务管理</a:t>
            </a:r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212976"/>
            <a:ext cx="7162800" cy="3092152"/>
          </a:xfrm>
        </p:spPr>
        <p:txBody>
          <a:bodyPr/>
          <a:lstStyle/>
          <a:p>
            <a:pPr algn="l">
              <a:buFont typeface="Wingdings" pitchFamily="2" charset="2"/>
              <a:buChar char="n"/>
            </a:pPr>
            <a:r>
              <a:rPr lang="zh-CN" altLang="en-US" sz="2800" dirty="0"/>
              <a:t> </a:t>
            </a:r>
            <a:r>
              <a:rPr lang="zh-CN" altLang="en-US" sz="2800" dirty="0">
                <a:solidFill>
                  <a:srgbClr val="C00000"/>
                </a:solidFill>
              </a:rPr>
              <a:t>事务（</a:t>
            </a:r>
            <a:r>
              <a:rPr lang="zh-CN" altLang="en-US" sz="2800" dirty="0">
                <a:solidFill>
                  <a:srgbClr val="006600"/>
                </a:solidFill>
              </a:rPr>
              <a:t>一系列的数据库的操作</a:t>
            </a:r>
            <a:r>
              <a:rPr lang="zh-CN" altLang="en-US" sz="2800" dirty="0">
                <a:solidFill>
                  <a:srgbClr val="C00000"/>
                </a:solidFill>
              </a:rPr>
              <a:t>）管理技术</a:t>
            </a:r>
            <a:r>
              <a:rPr lang="zh-CN" altLang="en-US" sz="2800" dirty="0"/>
              <a:t>主要包括</a:t>
            </a:r>
            <a:r>
              <a:rPr lang="zh-CN" altLang="en-US" sz="2800" dirty="0">
                <a:solidFill>
                  <a:srgbClr val="FF0000"/>
                </a:solidFill>
              </a:rPr>
              <a:t>数据库恢复技术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FF"/>
                </a:solidFill>
              </a:rPr>
              <a:t>并发控制技术</a:t>
            </a:r>
          </a:p>
          <a:p>
            <a:pPr algn="l">
              <a:spcBef>
                <a:spcPct val="50000"/>
              </a:spcBef>
              <a:buFont typeface="Wingdings" pitchFamily="2" charset="2"/>
              <a:buChar char="n"/>
            </a:pPr>
            <a:r>
              <a:rPr lang="zh-CN" altLang="en-US" sz="2800" dirty="0"/>
              <a:t> 数据库</a:t>
            </a:r>
            <a:r>
              <a:rPr lang="zh-CN" altLang="en-US" sz="2800" b="1" dirty="0">
                <a:solidFill>
                  <a:schemeClr val="tx2"/>
                </a:solidFill>
              </a:rPr>
              <a:t>恢复机制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chemeClr val="tx2"/>
                </a:solidFill>
              </a:rPr>
              <a:t>并发控制机制</a:t>
            </a:r>
            <a:r>
              <a:rPr lang="zh-CN" altLang="en-US" sz="2800" dirty="0"/>
              <a:t>是数据库管理系统的重要组成部分。</a:t>
            </a:r>
            <a:endParaRPr lang="en-US" altLang="zh-CN" sz="2800" dirty="0"/>
          </a:p>
          <a:p>
            <a:pPr algn="l">
              <a:spcBef>
                <a:spcPct val="50000"/>
              </a:spcBef>
              <a:buFont typeface="Wingdings" pitchFamily="2" charset="2"/>
              <a:buChar char="n"/>
            </a:pPr>
            <a:r>
              <a:rPr lang="zh-CN" altLang="en-US" sz="2800" dirty="0"/>
              <a:t>数据库并发和恢复是</a:t>
            </a:r>
            <a:r>
              <a:rPr lang="zh-CN" altLang="en-US" sz="2800" b="1" dirty="0">
                <a:solidFill>
                  <a:srgbClr val="C00000"/>
                </a:solidFill>
              </a:rPr>
              <a:t>基于事务</a:t>
            </a:r>
            <a:r>
              <a:rPr lang="zh-CN" altLang="en-US" sz="2800" dirty="0"/>
              <a:t>的，所以必须先弄清楚</a:t>
            </a:r>
            <a:r>
              <a:rPr lang="zh-CN" altLang="en-US" sz="2800" b="1" dirty="0">
                <a:solidFill>
                  <a:srgbClr val="800080"/>
                </a:solidFill>
              </a:rPr>
              <a:t>事务</a:t>
            </a:r>
            <a:r>
              <a:rPr lang="zh-CN" altLang="en-US" sz="2800" dirty="0"/>
              <a:t>的概念。</a:t>
            </a:r>
          </a:p>
          <a:p>
            <a:pPr algn="l">
              <a:spcBef>
                <a:spcPct val="50000"/>
              </a:spcBef>
              <a:buFont typeface="Wingdings" pitchFamily="2" charset="2"/>
              <a:buChar char="n"/>
            </a:pPr>
            <a:endParaRPr lang="zh-CN" altLang="en-US" sz="2800" dirty="0"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事务状态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并发执行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可串行化及判定</a:t>
            </a:r>
          </a:p>
          <a:p>
            <a:r>
              <a:rPr lang="en-US" altLang="zh-CN" dirty="0"/>
              <a:t>5 </a:t>
            </a:r>
            <a:r>
              <a:rPr lang="zh-CN" altLang="en-US" dirty="0"/>
              <a:t>可恢复性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隔离性</a:t>
            </a:r>
            <a:r>
              <a:rPr lang="zh-CN" altLang="en-US"/>
              <a:t>的实现</a:t>
            </a:r>
            <a:endParaRPr lang="zh-CN" altLang="en-US" dirty="0"/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B9C52-BB1E-49F9-9BD0-E15AE5AE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2B00-6416-4CA3-B3C9-3F7136A4B05B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FF2CE6-9E29-4047-9D56-FD1A41FA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C9197F-A242-45BC-AC86-19111FA2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495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C0000"/>
                </a:solidFill>
              </a:rPr>
              <a:t>事务</a:t>
            </a:r>
            <a:r>
              <a:rPr lang="en-US" altLang="zh-CN" dirty="0"/>
              <a:t>(</a:t>
            </a:r>
            <a:r>
              <a:rPr lang="zh-CN" altLang="en-US" sz="2800" dirty="0"/>
              <a:t>最早为了解决多个用户同时使用数据库的</a:t>
            </a:r>
            <a:r>
              <a:rPr lang="zh-CN" altLang="en-US" sz="2800" u="sng" dirty="0">
                <a:solidFill>
                  <a:srgbClr val="FF0000"/>
                </a:solidFill>
              </a:rPr>
              <a:t>并发问题</a:t>
            </a:r>
            <a:r>
              <a:rPr lang="zh-CN" altLang="en-US" sz="2800" dirty="0"/>
              <a:t>而引入</a:t>
            </a:r>
            <a:r>
              <a:rPr lang="en-US" altLang="zh-CN" dirty="0"/>
              <a:t>)</a:t>
            </a:r>
          </a:p>
          <a:p>
            <a:pPr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dirty="0"/>
              <a:t>  </a:t>
            </a:r>
            <a:r>
              <a:rPr lang="zh-CN" altLang="en-US" sz="2800" dirty="0"/>
              <a:t>例如：从顾客的角度来看，将</a:t>
            </a:r>
            <a:r>
              <a:rPr lang="zh-CN" altLang="en-US" sz="2800" u="sng" dirty="0"/>
              <a:t>资金从</a:t>
            </a:r>
            <a:r>
              <a:rPr lang="zh-CN" altLang="en-US" sz="2800" u="sng" dirty="0">
                <a:solidFill>
                  <a:srgbClr val="0000FF"/>
                </a:solidFill>
              </a:rPr>
              <a:t>支票账户</a:t>
            </a:r>
            <a:r>
              <a:rPr lang="zh-CN" altLang="en-US" sz="2800" u="sng" dirty="0"/>
              <a:t>转移到</a:t>
            </a:r>
            <a:r>
              <a:rPr lang="zh-CN" altLang="en-US" sz="2800" u="sng" dirty="0">
                <a:solidFill>
                  <a:srgbClr val="0000FF"/>
                </a:solidFill>
              </a:rPr>
              <a:t>储蓄账户</a:t>
            </a:r>
            <a:r>
              <a:rPr lang="zh-CN" altLang="en-US" sz="2800" dirty="0"/>
              <a:t>是一次单一的操作；</a:t>
            </a:r>
            <a:endParaRPr lang="en-US" altLang="zh-CN" sz="2800" dirty="0"/>
          </a:p>
          <a:p>
            <a:pPr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而在数据库系统中，这是由</a:t>
            </a:r>
            <a:r>
              <a:rPr lang="zh-CN" altLang="en-US" sz="2800" dirty="0">
                <a:solidFill>
                  <a:srgbClr val="0000FF"/>
                </a:solidFill>
              </a:rPr>
              <a:t>几个操作</a:t>
            </a:r>
            <a:r>
              <a:rPr lang="zh-CN" altLang="en-US" sz="2800" dirty="0"/>
              <a:t>组成的。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有一点是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最基本</a:t>
            </a:r>
            <a:r>
              <a:rPr lang="zh-CN" altLang="en-US" sz="2800" dirty="0"/>
              <a:t>的：这些操作</a:t>
            </a:r>
            <a:r>
              <a:rPr lang="zh-CN" altLang="en-US" sz="2800" dirty="0">
                <a:solidFill>
                  <a:srgbClr val="0000FF"/>
                </a:solidFill>
              </a:rPr>
              <a:t>要么全都发生</a:t>
            </a:r>
            <a:r>
              <a:rPr lang="zh-CN" altLang="en-US" sz="2800" dirty="0"/>
              <a:t>，要么由于发生故障而</a:t>
            </a:r>
            <a:r>
              <a:rPr lang="zh-CN" altLang="en-US" sz="2800" dirty="0">
                <a:solidFill>
                  <a:srgbClr val="0000FF"/>
                </a:solidFill>
              </a:rPr>
              <a:t>全都不发生</a:t>
            </a:r>
            <a:r>
              <a:rPr lang="zh-CN" altLang="en-US" sz="2800" dirty="0"/>
              <a:t>。资金从支票账户</a:t>
            </a:r>
            <a:r>
              <a:rPr lang="zh-CN" altLang="en-US" sz="2800" dirty="0">
                <a:solidFill>
                  <a:srgbClr val="0000FF"/>
                </a:solidFill>
              </a:rPr>
              <a:t>支出而</a:t>
            </a:r>
            <a:r>
              <a:rPr lang="zh-CN" altLang="en-US" sz="2800" dirty="0">
                <a:solidFill>
                  <a:srgbClr val="FF0000"/>
                </a:solidFill>
              </a:rPr>
              <a:t>未转入</a:t>
            </a:r>
            <a:r>
              <a:rPr lang="zh-CN" altLang="en-US" sz="2800" dirty="0"/>
              <a:t>储蓄账户的情况是不可按受的。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F64BFD-E037-49CF-92C9-82848F81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A4E2-8E82-420F-B661-4CF0BF3A91D6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8E96F3-327B-48BD-B439-786D2AAA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B216EC-F24B-4483-80DD-B535DE85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840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83872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C0000"/>
                </a:solidFill>
              </a:rPr>
              <a:t>事务</a:t>
            </a:r>
            <a:r>
              <a:rPr lang="en-US" altLang="zh-CN" dirty="0"/>
              <a:t>(</a:t>
            </a:r>
            <a:r>
              <a:rPr lang="zh-CN" altLang="en-US" sz="2800" dirty="0"/>
              <a:t>最早为了解决多个用户同时使用数据库的</a:t>
            </a:r>
            <a:r>
              <a:rPr lang="zh-CN" altLang="en-US" sz="2800" u="sng" dirty="0"/>
              <a:t>并发问题</a:t>
            </a:r>
            <a:r>
              <a:rPr lang="zh-CN" altLang="en-US" sz="2800" dirty="0"/>
              <a:t>而引入</a:t>
            </a:r>
            <a:r>
              <a:rPr lang="en-US" altLang="zh-CN" dirty="0"/>
              <a:t>)</a:t>
            </a: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B1807"/>
                </a:solidFill>
              </a:rPr>
              <a:t>事务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用户</a:t>
            </a:r>
            <a:r>
              <a:rPr lang="zh-CN" altLang="en-US" dirty="0"/>
              <a:t>定义的</a:t>
            </a:r>
            <a:r>
              <a:rPr lang="zh-CN" altLang="en-US" b="1" dirty="0">
                <a:solidFill>
                  <a:srgbClr val="FB1807"/>
                </a:solidFill>
              </a:rPr>
              <a:t>一个</a:t>
            </a:r>
            <a:r>
              <a:rPr lang="zh-CN" altLang="en-US" dirty="0">
                <a:solidFill>
                  <a:schemeClr val="tx2"/>
                </a:solidFill>
              </a:rPr>
              <a:t>数据库</a:t>
            </a:r>
            <a:r>
              <a:rPr lang="zh-CN" altLang="en-US" b="1" dirty="0">
                <a:solidFill>
                  <a:srgbClr val="FB1807"/>
                </a:solidFill>
              </a:rPr>
              <a:t>操作序列</a:t>
            </a:r>
            <a:r>
              <a:rPr lang="zh-CN" altLang="en-US" dirty="0">
                <a:solidFill>
                  <a:srgbClr val="FB1807"/>
                </a:solidFill>
              </a:rPr>
              <a:t>，</a:t>
            </a:r>
            <a:r>
              <a:rPr lang="zh-CN" altLang="en-US" dirty="0"/>
              <a:t>这些操作</a:t>
            </a:r>
            <a:r>
              <a:rPr lang="zh-CN" altLang="en-US" u="sng" dirty="0">
                <a:solidFill>
                  <a:srgbClr val="FB1807"/>
                </a:solidFill>
              </a:rPr>
              <a:t>要么全做，要么全不做</a:t>
            </a:r>
            <a:r>
              <a:rPr lang="zh-CN" altLang="en-US" dirty="0">
                <a:solidFill>
                  <a:srgbClr val="FB1807"/>
                </a:solidFill>
              </a:rPr>
              <a:t>，</a:t>
            </a:r>
            <a:r>
              <a:rPr lang="zh-CN" altLang="en-US" dirty="0"/>
              <a:t>是一个</a:t>
            </a:r>
            <a:r>
              <a:rPr lang="zh-CN" altLang="en-US" b="1" u="sng" dirty="0">
                <a:solidFill>
                  <a:srgbClr val="FB1807"/>
                </a:solidFill>
              </a:rPr>
              <a:t>不可分割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工作单位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在关系数据库中，一个事务可以是</a:t>
            </a:r>
            <a:r>
              <a:rPr lang="zh-CN" altLang="en-US" u="sng" dirty="0">
                <a:solidFill>
                  <a:schemeClr val="tx2"/>
                </a:solidFill>
              </a:rPr>
              <a:t>一条</a:t>
            </a:r>
            <a:r>
              <a:rPr lang="en-US" altLang="zh-CN" u="sng" dirty="0">
                <a:solidFill>
                  <a:schemeClr val="tx2"/>
                </a:solidFill>
              </a:rPr>
              <a:t>SQL</a:t>
            </a:r>
            <a:r>
              <a:rPr lang="zh-CN" altLang="en-US" u="sng" dirty="0">
                <a:solidFill>
                  <a:schemeClr val="tx2"/>
                </a:solidFill>
              </a:rPr>
              <a:t>语句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0000FF"/>
                </a:solidFill>
              </a:rPr>
              <a:t>一组</a:t>
            </a:r>
            <a:r>
              <a:rPr lang="en-US" altLang="zh-CN" u="sng" dirty="0">
                <a:solidFill>
                  <a:schemeClr val="tx2"/>
                </a:solidFill>
              </a:rPr>
              <a:t>SQL</a:t>
            </a:r>
            <a:r>
              <a:rPr lang="zh-CN" altLang="en-US" u="sng" dirty="0">
                <a:solidFill>
                  <a:schemeClr val="tx2"/>
                </a:solidFill>
              </a:rPr>
              <a:t>语句</a:t>
            </a:r>
            <a:r>
              <a:rPr lang="zh-CN" altLang="en-US" dirty="0"/>
              <a:t>或</a:t>
            </a:r>
            <a:r>
              <a:rPr lang="zh-CN" altLang="en-US" u="sng" dirty="0">
                <a:solidFill>
                  <a:schemeClr val="tx2"/>
                </a:solidFill>
              </a:rPr>
              <a:t>整个程序</a:t>
            </a:r>
            <a:r>
              <a:rPr lang="zh-CN" altLang="en-US" dirty="0"/>
              <a:t>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5CFB50-A12B-4F70-B69C-CFDE14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C1F11-E37A-4D88-85E8-61A3C5EE7D7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350630-4C5E-48C1-B9E7-19A398BB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F47CE6-C187-41E7-B2E7-2499C540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5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事务的</a:t>
            </a:r>
            <a:r>
              <a:rPr lang="zh-CN" altLang="en-US" dirty="0">
                <a:solidFill>
                  <a:srgbClr val="C00000"/>
                </a:solidFill>
              </a:rPr>
              <a:t>开始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00000"/>
                </a:solidFill>
              </a:rPr>
              <a:t>结束</a:t>
            </a:r>
            <a:r>
              <a:rPr lang="zh-CN" altLang="en-US" dirty="0"/>
              <a:t>可以由</a:t>
            </a:r>
            <a:r>
              <a:rPr lang="zh-CN" altLang="en-US" b="1" dirty="0">
                <a:solidFill>
                  <a:srgbClr val="0000FF"/>
                </a:solidFill>
              </a:rPr>
              <a:t>用户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显式控制</a:t>
            </a:r>
            <a:r>
              <a:rPr lang="zh-CN" altLang="en-US" dirty="0"/>
              <a:t>，或由</a:t>
            </a:r>
            <a:r>
              <a:rPr lang="en-US" altLang="zh-CN" dirty="0"/>
              <a:t>DBMS</a:t>
            </a:r>
            <a:r>
              <a:rPr lang="zh-CN" altLang="en-US" dirty="0"/>
              <a:t>按</a:t>
            </a:r>
            <a:r>
              <a:rPr lang="zh-CN" altLang="en-US" dirty="0">
                <a:solidFill>
                  <a:srgbClr val="C00000"/>
                </a:solidFill>
              </a:rPr>
              <a:t>缺省自动划分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zh-CN" altLang="en-US" dirty="0"/>
              <a:t>在</a:t>
            </a:r>
            <a:r>
              <a:rPr lang="en-US" altLang="zh-CN" dirty="0"/>
              <a:t>SQL</a:t>
            </a:r>
            <a:r>
              <a:rPr lang="zh-CN" altLang="en-US" dirty="0"/>
              <a:t>语言中，定义事务的语句有三条：</a:t>
            </a:r>
          </a:p>
          <a:p>
            <a:pPr>
              <a:buFont typeface="Wingdings" pitchFamily="2" charset="2"/>
              <a:buNone/>
            </a:pPr>
            <a:endParaRPr lang="zh-CN" altLang="en-US" sz="1200" dirty="0"/>
          </a:p>
          <a:p>
            <a:r>
              <a:rPr lang="en-US" altLang="zh-CN" dirty="0">
                <a:solidFill>
                  <a:srgbClr val="0000FF"/>
                </a:solidFill>
              </a:rPr>
              <a:t>BEGIN</a:t>
            </a:r>
            <a:r>
              <a:rPr lang="en-US" altLang="zh-CN" dirty="0">
                <a:solidFill>
                  <a:srgbClr val="C00000"/>
                </a:solidFill>
              </a:rPr>
              <a:t> TRANSACTION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COMMIT/ROLLBACK</a:t>
            </a:r>
          </a:p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100387" y="4648375"/>
            <a:ext cx="3581400" cy="156966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BEGIN TRANSACTION</a:t>
            </a:r>
          </a:p>
          <a:p>
            <a:r>
              <a:rPr lang="en-US" altLang="zh-CN" dirty="0">
                <a:ea typeface="宋体" charset="-122"/>
              </a:rPr>
              <a:t>SQL </a:t>
            </a:r>
            <a:r>
              <a:rPr lang="zh-CN" altLang="zh-CN" dirty="0">
                <a:ea typeface="宋体" charset="-122"/>
              </a:rPr>
              <a:t>语句1</a:t>
            </a:r>
            <a:r>
              <a:rPr lang="en-US" altLang="zh-CN" dirty="0">
                <a:ea typeface="宋体" charset="-122"/>
              </a:rPr>
              <a:t>                                                    SQL </a:t>
            </a:r>
            <a:r>
              <a:rPr lang="zh-CN" altLang="zh-CN" dirty="0">
                <a:ea typeface="宋体" charset="-122"/>
              </a:rPr>
              <a:t>语句2</a:t>
            </a:r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solidFill>
                  <a:schemeClr val="tx2"/>
                </a:solidFill>
                <a:ea typeface="宋体" charset="-122"/>
              </a:rPr>
              <a:t>COMMIT / ROLLBACK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B0CB4B7-6ACE-4A31-A253-44AB1D5C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809-B0FB-48DC-BD51-A44C9CA5DF6D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00C3C4C4-7236-421D-AD3E-AB0ABC76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625EF76-E89F-45CA-BEC4-A40D84C3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6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35087"/>
            <a:ext cx="8077200" cy="4684713"/>
          </a:xfrm>
        </p:spPr>
        <p:txBody>
          <a:bodyPr/>
          <a:lstStyle/>
          <a:p>
            <a:r>
              <a:rPr lang="en-US" altLang="zh-CN" sz="2800" dirty="0"/>
              <a:t>COMMIT</a:t>
            </a:r>
          </a:p>
          <a:p>
            <a:pPr lvl="1"/>
            <a:r>
              <a:rPr lang="zh-CN" altLang="en-US" sz="2400" dirty="0"/>
              <a:t>事务</a:t>
            </a:r>
            <a:r>
              <a:rPr lang="zh-CN" altLang="en-US" sz="2400" b="1" dirty="0">
                <a:solidFill>
                  <a:srgbClr val="FF0000"/>
                </a:solidFill>
              </a:rPr>
              <a:t>正常</a:t>
            </a:r>
            <a:r>
              <a:rPr lang="zh-CN" altLang="en-US" sz="2400" dirty="0"/>
              <a:t>结束</a:t>
            </a:r>
          </a:p>
          <a:p>
            <a:pPr lvl="1"/>
            <a:r>
              <a:rPr lang="zh-CN" altLang="en-US" sz="2400" dirty="0">
                <a:solidFill>
                  <a:schemeClr val="tx2"/>
                </a:solidFill>
              </a:rPr>
              <a:t>提交</a:t>
            </a:r>
            <a:r>
              <a:rPr lang="zh-CN" altLang="en-US" sz="2400" dirty="0"/>
              <a:t>事务的所有操作（</a:t>
            </a:r>
            <a:r>
              <a:rPr lang="zh-CN" altLang="en-US" sz="2400" dirty="0">
                <a:solidFill>
                  <a:schemeClr val="tx2"/>
                </a:solidFill>
              </a:rPr>
              <a:t>读</a:t>
            </a:r>
            <a:r>
              <a:rPr lang="en-US" altLang="zh-CN" sz="2400" dirty="0">
                <a:solidFill>
                  <a:schemeClr val="tx2"/>
                </a:solidFill>
              </a:rPr>
              <a:t>+</a:t>
            </a:r>
            <a:r>
              <a:rPr lang="zh-CN" altLang="en-US" sz="2400" dirty="0">
                <a:solidFill>
                  <a:schemeClr val="tx2"/>
                </a:solidFill>
              </a:rPr>
              <a:t>更新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事务中所有对数据库的</a:t>
            </a:r>
            <a:r>
              <a:rPr lang="zh-CN" altLang="en-US" sz="2400" dirty="0">
                <a:solidFill>
                  <a:srgbClr val="0000FF"/>
                </a:solidFill>
              </a:rPr>
              <a:t>更新</a:t>
            </a:r>
            <a:r>
              <a:rPr lang="zh-CN" altLang="en-US" sz="2400" b="1" dirty="0">
                <a:solidFill>
                  <a:srgbClr val="C00000"/>
                </a:solidFill>
              </a:rPr>
              <a:t>写回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C00000"/>
                </a:solidFill>
              </a:rPr>
              <a:t>磁盘上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00000"/>
                </a:solidFill>
              </a:rPr>
              <a:t>物理数据库</a:t>
            </a:r>
            <a:r>
              <a:rPr lang="zh-CN" altLang="en-US" sz="2400" dirty="0"/>
              <a:t>中</a:t>
            </a:r>
          </a:p>
          <a:p>
            <a:r>
              <a:rPr lang="en-US" altLang="zh-CN" sz="2800" dirty="0"/>
              <a:t>ROLLBACK</a:t>
            </a:r>
          </a:p>
          <a:p>
            <a:pPr lvl="1"/>
            <a:r>
              <a:rPr lang="zh-CN" altLang="en-US" sz="2400" dirty="0"/>
              <a:t>事务</a:t>
            </a:r>
            <a:r>
              <a:rPr lang="zh-CN" altLang="en-US" sz="2400" b="1" dirty="0">
                <a:solidFill>
                  <a:srgbClr val="FF0000"/>
                </a:solidFill>
              </a:rPr>
              <a:t>异常</a:t>
            </a:r>
            <a:r>
              <a:rPr lang="zh-CN" altLang="en-US" sz="2400" dirty="0"/>
              <a:t>终止</a:t>
            </a:r>
          </a:p>
          <a:p>
            <a:pPr lvl="1"/>
            <a:r>
              <a:rPr lang="zh-CN" altLang="en-US" sz="2400" dirty="0"/>
              <a:t>事务运行的过程中发生了</a:t>
            </a:r>
            <a:r>
              <a:rPr lang="zh-CN" altLang="en-US" sz="2400" dirty="0">
                <a:solidFill>
                  <a:schemeClr val="tx2"/>
                </a:solidFill>
              </a:rPr>
              <a:t>故障</a:t>
            </a:r>
            <a:r>
              <a:rPr lang="zh-CN" altLang="en-US" sz="2400" dirty="0"/>
              <a:t>，不能继续执行</a:t>
            </a:r>
          </a:p>
          <a:p>
            <a:pPr lvl="1"/>
            <a:r>
              <a:rPr lang="zh-CN" altLang="en-US" sz="2400" dirty="0"/>
              <a:t>系统将事务中对数据库的</a:t>
            </a:r>
            <a:r>
              <a:rPr lang="zh-CN" altLang="en-US" sz="2400" dirty="0">
                <a:solidFill>
                  <a:schemeClr val="tx2"/>
                </a:solidFill>
              </a:rPr>
              <a:t>所有已完成的操作</a:t>
            </a:r>
            <a:r>
              <a:rPr lang="zh-CN" altLang="en-US" sz="2400" b="1" dirty="0">
                <a:solidFill>
                  <a:srgbClr val="FF0000"/>
                </a:solidFill>
              </a:rPr>
              <a:t>全部撤销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事务</a:t>
            </a:r>
            <a:r>
              <a:rPr lang="zh-CN" altLang="en-US" sz="2400" b="1" dirty="0"/>
              <a:t>滚回</a:t>
            </a:r>
            <a:r>
              <a:rPr lang="zh-CN" altLang="en-US" sz="2400" dirty="0">
                <a:solidFill>
                  <a:schemeClr val="tx2"/>
                </a:solidFill>
              </a:rPr>
              <a:t>到</a:t>
            </a:r>
            <a:r>
              <a:rPr lang="zh-CN" altLang="en-US" sz="2400" b="1" dirty="0">
                <a:solidFill>
                  <a:srgbClr val="C00000"/>
                </a:solidFill>
              </a:rPr>
              <a:t>开始</a:t>
            </a:r>
            <a:r>
              <a:rPr lang="zh-CN" altLang="en-US" sz="2400" dirty="0">
                <a:solidFill>
                  <a:schemeClr val="tx2"/>
                </a:solidFill>
              </a:rPr>
              <a:t>时的状态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2F9FA5-D3EA-4C6E-8E14-FDC8B0B6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034-A95C-4988-92A3-8709CA3167AB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97FAA7-1D21-4DE8-B7E0-79D98203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3651A4-5834-43A3-8BCD-7A9DFF9A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7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334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0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0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0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0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45488" cy="5081736"/>
          </a:xfrm>
        </p:spPr>
        <p:txBody>
          <a:bodyPr/>
          <a:lstStyle/>
          <a:p>
            <a:r>
              <a:rPr lang="zh-CN" altLang="en-US" b="1" dirty="0"/>
              <a:t>事务的特性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800080"/>
                </a:solidFill>
              </a:rPr>
              <a:t>ACID</a:t>
            </a:r>
            <a:r>
              <a:rPr lang="en-US" altLang="zh-CN" b="1" dirty="0"/>
              <a:t>)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原子性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A</a:t>
            </a:r>
            <a:r>
              <a:rPr lang="en-US" altLang="zh-CN" dirty="0"/>
              <a:t>tomicity) </a:t>
            </a:r>
            <a:r>
              <a:rPr lang="zh-CN" altLang="en-US" dirty="0"/>
              <a:t>最小工作单位</a:t>
            </a:r>
            <a:endParaRPr lang="en-US" altLang="zh-CN" dirty="0"/>
          </a:p>
          <a:p>
            <a:pPr lvl="2"/>
            <a:r>
              <a:rPr lang="zh-CN" altLang="en-US" dirty="0"/>
              <a:t>单一、不可分割的数据单元</a:t>
            </a:r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一致性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C</a:t>
            </a:r>
            <a:r>
              <a:rPr lang="en-US" altLang="zh-CN" dirty="0"/>
              <a:t>onsistency) </a:t>
            </a:r>
            <a:r>
              <a:rPr lang="zh-CN" altLang="en-US" dirty="0"/>
              <a:t>一个正确状态</a:t>
            </a:r>
            <a:r>
              <a:rPr lang="zh-CN" altLang="en-US" b="1" dirty="0">
                <a:solidFill>
                  <a:srgbClr val="0000FF"/>
                </a:solidFill>
              </a:rPr>
              <a:t>到</a:t>
            </a:r>
            <a:r>
              <a:rPr lang="zh-CN" altLang="en-US" dirty="0"/>
              <a:t>另一个正确状态</a:t>
            </a:r>
            <a:endParaRPr lang="en-US" altLang="zh-CN" sz="2400" dirty="0"/>
          </a:p>
          <a:p>
            <a:pPr lvl="2"/>
            <a:r>
              <a:rPr lang="zh-CN" altLang="en-US" sz="2000" dirty="0"/>
              <a:t>事务执行的结果必须是使数据库</a:t>
            </a:r>
            <a:r>
              <a:rPr lang="zh-CN" altLang="en-US" sz="2000" dirty="0">
                <a:solidFill>
                  <a:srgbClr val="FF0000"/>
                </a:solidFill>
              </a:rPr>
              <a:t>从</a:t>
            </a:r>
            <a:r>
              <a:rPr lang="zh-CN" altLang="en-US" sz="2000" dirty="0">
                <a:solidFill>
                  <a:schemeClr val="tx2"/>
                </a:solidFill>
              </a:rPr>
              <a:t>一个一致性状态</a:t>
            </a:r>
            <a:r>
              <a:rPr lang="zh-CN" altLang="en-US" sz="2000" dirty="0"/>
              <a:t>变到</a:t>
            </a:r>
            <a:r>
              <a:rPr lang="zh-CN" altLang="en-US" sz="2000" dirty="0">
                <a:solidFill>
                  <a:schemeClr val="tx2"/>
                </a:solidFill>
              </a:rPr>
              <a:t>另一个一致性状态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lvl="2"/>
            <a:r>
              <a:rPr lang="zh-CN" altLang="en-US" sz="2000" dirty="0"/>
              <a:t>一致性状态</a:t>
            </a:r>
          </a:p>
          <a:p>
            <a:pPr lvl="3"/>
            <a:r>
              <a:rPr lang="zh-CN" altLang="en-US" sz="1600" dirty="0"/>
              <a:t>数据库中</a:t>
            </a:r>
            <a:r>
              <a:rPr lang="zh-CN" altLang="en-US" sz="1600" dirty="0">
                <a:solidFill>
                  <a:schemeClr val="tx2"/>
                </a:solidFill>
              </a:rPr>
              <a:t>只包含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成功</a:t>
            </a:r>
            <a:r>
              <a:rPr lang="zh-CN" altLang="en-US" sz="1600" dirty="0">
                <a:solidFill>
                  <a:schemeClr val="tx2"/>
                </a:solidFill>
              </a:rPr>
              <a:t>事务提交的结果</a:t>
            </a:r>
          </a:p>
          <a:p>
            <a:pPr lvl="2"/>
            <a:r>
              <a:rPr lang="zh-CN" altLang="en-US" sz="2000" dirty="0"/>
              <a:t>不一致状态</a:t>
            </a:r>
          </a:p>
          <a:p>
            <a:pPr lvl="3"/>
            <a:r>
              <a:rPr lang="zh-CN" altLang="en-US" sz="1600" dirty="0"/>
              <a:t>数据库系统运行中发生</a:t>
            </a:r>
            <a:r>
              <a:rPr lang="zh-CN" altLang="en-US" sz="1600" dirty="0">
                <a:solidFill>
                  <a:srgbClr val="C00000"/>
                </a:solidFill>
              </a:rPr>
              <a:t>故障</a:t>
            </a:r>
            <a:r>
              <a:rPr lang="zh-CN" altLang="en-US" sz="1600" dirty="0"/>
              <a:t>，有些</a:t>
            </a:r>
            <a:r>
              <a:rPr lang="zh-CN" altLang="en-US" sz="1600" dirty="0">
                <a:solidFill>
                  <a:srgbClr val="C00000"/>
                </a:solidFill>
              </a:rPr>
              <a:t>事务尚未完成</a:t>
            </a:r>
            <a:r>
              <a:rPr lang="zh-CN" altLang="en-US" sz="1600" dirty="0"/>
              <a:t>就被迫中断；这些未完成事务对数据库所做的修改有</a:t>
            </a:r>
            <a:r>
              <a:rPr lang="zh-CN" altLang="en-US" sz="1600" dirty="0">
                <a:solidFill>
                  <a:srgbClr val="FF0000"/>
                </a:solidFill>
              </a:rPr>
              <a:t>一部分已写入物理数据库</a:t>
            </a:r>
            <a:r>
              <a:rPr lang="zh-CN" altLang="en-US" sz="1600" dirty="0"/>
              <a:t>，这时数据库就处于</a:t>
            </a:r>
            <a:r>
              <a:rPr lang="zh-CN" altLang="en-US" sz="1600" dirty="0">
                <a:solidFill>
                  <a:srgbClr val="C00000"/>
                </a:solidFill>
              </a:rPr>
              <a:t>一种不正确</a:t>
            </a:r>
            <a:r>
              <a:rPr lang="zh-CN" altLang="en-US" sz="1600" dirty="0"/>
              <a:t>的状态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2DF8F8-77F7-4298-9D9E-234F94B8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71373-AFDB-45D1-B3F0-0F0A72C65C14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1619EA-0F92-4DCE-B825-B0316619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6122C-860D-4B00-8C0E-14A5B63F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8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45488" cy="4684713"/>
          </a:xfrm>
        </p:spPr>
        <p:txBody>
          <a:bodyPr/>
          <a:lstStyle/>
          <a:p>
            <a:r>
              <a:rPr lang="zh-CN" altLang="en-US" b="1" dirty="0"/>
              <a:t>事务的特性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800080"/>
                </a:solidFill>
              </a:rPr>
              <a:t>ACID</a:t>
            </a:r>
            <a:r>
              <a:rPr lang="en-US" altLang="zh-CN" b="1" dirty="0"/>
              <a:t>)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原子性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A</a:t>
            </a:r>
            <a:r>
              <a:rPr lang="en-US" altLang="zh-CN" dirty="0"/>
              <a:t>tomicity) </a:t>
            </a:r>
            <a:r>
              <a:rPr lang="zh-CN" altLang="en-US" dirty="0"/>
              <a:t>最小工作单位</a:t>
            </a:r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一致性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C</a:t>
            </a:r>
            <a:r>
              <a:rPr lang="en-US" altLang="zh-CN" dirty="0"/>
              <a:t>onsistency) </a:t>
            </a:r>
            <a:r>
              <a:rPr lang="zh-CN" altLang="en-US" dirty="0"/>
              <a:t>一个正确状态到另一个正确状态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隔离性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I</a:t>
            </a:r>
            <a:r>
              <a:rPr lang="en-US" altLang="zh-CN" dirty="0"/>
              <a:t>solation) </a:t>
            </a:r>
            <a:r>
              <a:rPr lang="zh-CN" altLang="en-US" dirty="0"/>
              <a:t>事务相互不干扰</a:t>
            </a:r>
            <a:r>
              <a:rPr lang="en-US" altLang="zh-CN" dirty="0"/>
              <a:t>(</a:t>
            </a:r>
            <a:r>
              <a:rPr lang="zh-CN" altLang="en-US" dirty="0"/>
              <a:t>一个事务的执行不能被其他事务干扰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一个事务内部的</a:t>
            </a:r>
            <a:r>
              <a:rPr lang="zh-CN" altLang="en-US" dirty="0">
                <a:solidFill>
                  <a:srgbClr val="0000FF"/>
                </a:solidFill>
              </a:rPr>
              <a:t>操作</a:t>
            </a:r>
            <a:r>
              <a:rPr lang="zh-CN" altLang="en-US" b="1" dirty="0">
                <a:solidFill>
                  <a:srgbClr val="FF0000"/>
                </a:solidFill>
              </a:rPr>
              <a:t>及</a:t>
            </a:r>
            <a:r>
              <a:rPr lang="zh-CN" altLang="en-US" dirty="0">
                <a:solidFill>
                  <a:srgbClr val="0000FF"/>
                </a:solidFill>
              </a:rPr>
              <a:t>使用的数据</a:t>
            </a:r>
            <a:r>
              <a:rPr lang="zh-CN" altLang="en-US" dirty="0"/>
              <a:t>对其他</a:t>
            </a:r>
            <a:r>
              <a:rPr lang="zh-CN" altLang="en-US" b="1" dirty="0"/>
              <a:t>并发事务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隔离</a:t>
            </a:r>
            <a:r>
              <a:rPr lang="zh-CN" altLang="en-US" dirty="0"/>
              <a:t>的</a:t>
            </a:r>
            <a:r>
              <a:rPr lang="en-US" altLang="zh-CN" dirty="0"/>
              <a:t>, </a:t>
            </a:r>
            <a:r>
              <a:rPr lang="zh-CN" altLang="en-US" dirty="0"/>
              <a:t>并发执行的各个事务之间</a:t>
            </a:r>
            <a:r>
              <a:rPr lang="zh-CN" altLang="en-US" b="1" dirty="0">
                <a:solidFill>
                  <a:srgbClr val="FF0000"/>
                </a:solidFill>
              </a:rPr>
              <a:t>不能互相干扰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EA5F46-159B-4FB3-AE68-DE6E6271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95655-F86F-4F7D-9466-587943F05370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B8E4A-53EE-4717-AEA3-F95749E4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3C0961-4245-43C5-92AB-3712A9AA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9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009438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45488" cy="5029200"/>
          </a:xfrm>
        </p:spPr>
        <p:txBody>
          <a:bodyPr/>
          <a:lstStyle/>
          <a:p>
            <a:r>
              <a:rPr lang="zh-CN" altLang="en-US" b="1" dirty="0"/>
              <a:t>事务的特性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800080"/>
                </a:solidFill>
              </a:rPr>
              <a:t>ACID</a:t>
            </a:r>
            <a:r>
              <a:rPr lang="en-US" altLang="zh-CN" b="1" dirty="0"/>
              <a:t>)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原子性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A</a:t>
            </a:r>
            <a:r>
              <a:rPr lang="en-US" altLang="zh-CN" dirty="0"/>
              <a:t>tomicity) </a:t>
            </a:r>
            <a:r>
              <a:rPr lang="zh-CN" altLang="en-US" dirty="0"/>
              <a:t>最小工作单位</a:t>
            </a:r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一致性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C</a:t>
            </a:r>
            <a:r>
              <a:rPr lang="en-US" altLang="zh-CN" dirty="0"/>
              <a:t>onsistency) </a:t>
            </a:r>
            <a:r>
              <a:rPr lang="zh-CN" altLang="en-US" dirty="0"/>
              <a:t>一个正确状态到另一个正确状态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隔离性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I</a:t>
            </a:r>
            <a:r>
              <a:rPr lang="en-US" altLang="zh-CN" dirty="0"/>
              <a:t>solation) </a:t>
            </a:r>
            <a:r>
              <a:rPr lang="zh-CN" altLang="en-US" dirty="0"/>
              <a:t>事务相互不干扰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持续性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0080"/>
                </a:solidFill>
              </a:rPr>
              <a:t>D</a:t>
            </a:r>
            <a:r>
              <a:rPr lang="en-US" altLang="zh-CN" dirty="0"/>
              <a:t>urability) </a:t>
            </a:r>
            <a:r>
              <a:rPr lang="zh-CN" altLang="en-US" dirty="0"/>
              <a:t>事务</a:t>
            </a:r>
            <a:r>
              <a:rPr lang="zh-CN" altLang="en-US" dirty="0">
                <a:solidFill>
                  <a:srgbClr val="0000FF"/>
                </a:solidFill>
              </a:rPr>
              <a:t>提交</a:t>
            </a:r>
            <a:r>
              <a:rPr lang="zh-CN" altLang="en-US" dirty="0"/>
              <a:t>对数据库影响是</a:t>
            </a:r>
            <a:r>
              <a:rPr lang="zh-CN" altLang="en-US" dirty="0">
                <a:solidFill>
                  <a:srgbClr val="0000FF"/>
                </a:solidFill>
              </a:rPr>
              <a:t>永久性</a:t>
            </a:r>
            <a:r>
              <a:rPr lang="zh-CN" altLang="en-US" dirty="0"/>
              <a:t>的 </a:t>
            </a:r>
          </a:p>
          <a:p>
            <a:pPr lvl="2"/>
            <a:r>
              <a:rPr lang="zh-CN" altLang="en-US" dirty="0"/>
              <a:t>一个事务一旦提交，它对数据库中数据的</a:t>
            </a:r>
            <a:r>
              <a:rPr lang="zh-CN" altLang="en-US" dirty="0">
                <a:solidFill>
                  <a:srgbClr val="0000FF"/>
                </a:solidFill>
              </a:rPr>
              <a:t>改变就应该是永久性</a:t>
            </a:r>
            <a:r>
              <a:rPr lang="zh-CN" altLang="en-US" dirty="0"/>
              <a:t>的。</a:t>
            </a:r>
          </a:p>
          <a:p>
            <a:pPr lvl="2"/>
            <a:r>
              <a:rPr lang="zh-CN" altLang="en-US" dirty="0"/>
              <a:t>接下来的其他操作或故障不应该对其执行结果有任何影响。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3CB5AA-BCF4-4E2A-9D02-4B71DE8B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36CDC-13BE-4965-B7A7-08B07B041430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F62C4F-59C9-4934-BB5F-C05AB8D4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07F6A-9073-4981-A7D4-FDC96A2C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10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53781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事务的特性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800080"/>
                </a:solidFill>
              </a:rPr>
              <a:t>ACID</a:t>
            </a:r>
            <a:r>
              <a:rPr lang="en-US" altLang="zh-CN" b="1" dirty="0"/>
              <a:t>)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原子性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tomicity) </a:t>
            </a:r>
            <a:r>
              <a:rPr lang="zh-CN" altLang="en-US" dirty="0"/>
              <a:t>最小工作单位</a:t>
            </a:r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一致性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onsistency) </a:t>
            </a:r>
            <a:r>
              <a:rPr lang="zh-CN" altLang="en-US" dirty="0"/>
              <a:t>一个正确状态到另一个正确状态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隔离性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en-US" altLang="zh-CN" dirty="0"/>
              <a:t>solation) </a:t>
            </a:r>
            <a:r>
              <a:rPr lang="zh-CN" altLang="en-US" dirty="0"/>
              <a:t>事务相互不干扰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持续性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urability) </a:t>
            </a:r>
            <a:r>
              <a:rPr lang="zh-CN" altLang="en-US" dirty="0"/>
              <a:t>事务提交对数据库影响是永久性的 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保证事务</a:t>
            </a:r>
            <a:r>
              <a:rPr lang="en-US" altLang="zh-CN" dirty="0">
                <a:solidFill>
                  <a:srgbClr val="C00000"/>
                </a:solidFill>
              </a:rPr>
              <a:t>ACID</a:t>
            </a:r>
            <a:r>
              <a:rPr lang="zh-CN" altLang="en-US" dirty="0">
                <a:solidFill>
                  <a:srgbClr val="C00000"/>
                </a:solidFill>
              </a:rPr>
              <a:t>特性</a:t>
            </a:r>
            <a:r>
              <a:rPr lang="zh-CN" altLang="en-US" dirty="0"/>
              <a:t>是事务处理的重要任务。</a:t>
            </a:r>
            <a:endParaRPr lang="en-US" altLang="zh-CN" dirty="0"/>
          </a:p>
          <a:p>
            <a:r>
              <a:rPr lang="zh-CN" altLang="en-US" dirty="0"/>
              <a:t>事务是</a:t>
            </a:r>
            <a:r>
              <a:rPr lang="zh-CN" altLang="en-US" dirty="0">
                <a:solidFill>
                  <a:srgbClr val="0000FF"/>
                </a:solidFill>
              </a:rPr>
              <a:t>恢复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并发控制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基本单位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EA7B95-98A3-42F5-A351-6197F273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6421-95DC-4DE0-9C88-E847C58150D4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B49DC8-5E68-4B5A-ACEB-4067C78B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79E563-600E-4ADC-A506-D1AE3A24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11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7645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49552"/>
          </a:xfrm>
        </p:spPr>
        <p:txBody>
          <a:bodyPr/>
          <a:lstStyle/>
          <a:p>
            <a:r>
              <a:rPr lang="en-US" altLang="zh-CN" sz="3000" dirty="0"/>
              <a:t>read(X): </a:t>
            </a:r>
            <a:r>
              <a:rPr lang="zh-CN" altLang="en-US" sz="3000" dirty="0">
                <a:solidFill>
                  <a:srgbClr val="0000FF"/>
                </a:solidFill>
              </a:rPr>
              <a:t>从数据库</a:t>
            </a:r>
            <a:r>
              <a:rPr lang="zh-CN" altLang="en-US" sz="3000" dirty="0"/>
              <a:t>把数据项</a:t>
            </a:r>
            <a:r>
              <a:rPr lang="en-US" altLang="zh-CN" sz="3000" dirty="0"/>
              <a:t>x</a:t>
            </a:r>
            <a:r>
              <a:rPr lang="zh-CN" altLang="en-US" sz="3000" dirty="0"/>
              <a:t>传送给一个称为</a:t>
            </a:r>
            <a:r>
              <a:rPr lang="en-US" altLang="zh-CN" sz="3000" dirty="0"/>
              <a:t>X</a:t>
            </a:r>
            <a:r>
              <a:rPr lang="zh-CN" altLang="en-US" sz="3000" dirty="0"/>
              <a:t>的变量，</a:t>
            </a:r>
            <a:r>
              <a:rPr lang="en-US" altLang="zh-CN" sz="3000" dirty="0">
                <a:solidFill>
                  <a:srgbClr val="FF0000"/>
                </a:solidFill>
              </a:rPr>
              <a:t>X</a:t>
            </a:r>
            <a:r>
              <a:rPr lang="zh-CN" altLang="en-US" sz="3000" dirty="0"/>
              <a:t>位于执行</a:t>
            </a:r>
            <a:r>
              <a:rPr lang="en-US" altLang="zh-CN" sz="3000" dirty="0">
                <a:solidFill>
                  <a:srgbClr val="0000FF"/>
                </a:solidFill>
              </a:rPr>
              <a:t>read</a:t>
            </a:r>
            <a:r>
              <a:rPr lang="zh-CN" altLang="en-US" sz="3000" dirty="0">
                <a:solidFill>
                  <a:srgbClr val="0000FF"/>
                </a:solidFill>
              </a:rPr>
              <a:t>操作</a:t>
            </a:r>
            <a:r>
              <a:rPr lang="zh-CN" altLang="en-US" sz="3000" dirty="0"/>
              <a:t>的事务的</a:t>
            </a:r>
            <a:r>
              <a:rPr lang="zh-CN" altLang="en-US" sz="3000" dirty="0">
                <a:solidFill>
                  <a:srgbClr val="FF0000"/>
                </a:solidFill>
              </a:rPr>
              <a:t>主存缓冲区</a:t>
            </a:r>
            <a:r>
              <a:rPr lang="zh-CN" altLang="en-US" sz="3000" dirty="0"/>
              <a:t>中。</a:t>
            </a:r>
            <a:endParaRPr lang="en-US" altLang="zh-CN" sz="3000" dirty="0"/>
          </a:p>
          <a:p>
            <a:r>
              <a:rPr lang="en-US" altLang="zh-CN" sz="3000" dirty="0"/>
              <a:t>write(X): </a:t>
            </a:r>
            <a:r>
              <a:rPr lang="zh-CN" altLang="en-US" sz="3000" dirty="0">
                <a:solidFill>
                  <a:srgbClr val="0000FF"/>
                </a:solidFill>
              </a:rPr>
              <a:t>从</a:t>
            </a:r>
            <a:r>
              <a:rPr lang="zh-CN" altLang="en-US" sz="3000" dirty="0"/>
              <a:t>执行</a:t>
            </a:r>
            <a:r>
              <a:rPr lang="en-US" altLang="zh-CN" sz="3000" dirty="0"/>
              <a:t>write</a:t>
            </a:r>
            <a:r>
              <a:rPr lang="zh-CN" altLang="en-US" sz="3000" dirty="0"/>
              <a:t>操作的事务的</a:t>
            </a:r>
            <a:r>
              <a:rPr lang="zh-CN" altLang="en-US" sz="3000" dirty="0">
                <a:solidFill>
                  <a:srgbClr val="0000FF"/>
                </a:solidFill>
              </a:rPr>
              <a:t>主存缓沖区</a:t>
            </a:r>
            <a:r>
              <a:rPr lang="zh-CN" altLang="en-US" sz="3000" dirty="0"/>
              <a:t>中把</a:t>
            </a:r>
            <a:r>
              <a:rPr lang="zh-CN" altLang="en-US" sz="3000" dirty="0">
                <a:solidFill>
                  <a:srgbClr val="006600"/>
                </a:solidFill>
              </a:rPr>
              <a:t>变量</a:t>
            </a:r>
            <a:r>
              <a:rPr lang="en-US" altLang="zh-CN" sz="3000" dirty="0">
                <a:solidFill>
                  <a:srgbClr val="006600"/>
                </a:solidFill>
              </a:rPr>
              <a:t>X</a:t>
            </a:r>
            <a:r>
              <a:rPr lang="zh-CN" altLang="en-US" sz="3000" dirty="0">
                <a:solidFill>
                  <a:srgbClr val="006600"/>
                </a:solidFill>
              </a:rPr>
              <a:t>的值</a:t>
            </a:r>
            <a:r>
              <a:rPr lang="zh-CN" altLang="en-US" sz="3000" dirty="0">
                <a:solidFill>
                  <a:srgbClr val="0000FF"/>
                </a:solidFill>
              </a:rPr>
              <a:t>传送给数据库中</a:t>
            </a:r>
            <a:r>
              <a:rPr lang="zh-CN" altLang="en-US" sz="3000" dirty="0"/>
              <a:t>的数据项</a:t>
            </a:r>
            <a:r>
              <a:rPr lang="en-US" altLang="zh-CN" sz="3000" dirty="0"/>
              <a:t>X</a:t>
            </a:r>
            <a:r>
              <a:rPr lang="zh-CN" altLang="en-US" sz="3000" dirty="0"/>
              <a:t>。</a:t>
            </a:r>
          </a:p>
          <a:p>
            <a:pPr lvl="1"/>
            <a:r>
              <a:rPr lang="zh-CN" altLang="en-US" sz="2400" dirty="0"/>
              <a:t>知道一个数据项的变化</a:t>
            </a:r>
            <a:r>
              <a:rPr lang="zh-CN" altLang="en-US" sz="2400" dirty="0">
                <a:solidFill>
                  <a:srgbClr val="0000FF"/>
                </a:solidFill>
              </a:rPr>
              <a:t>是否只出现在主存中</a:t>
            </a:r>
            <a:r>
              <a:rPr lang="zh-CN" altLang="en-US" sz="2400" dirty="0"/>
              <a:t>或者是否已经被写人磁盘上的数据库中是很</a:t>
            </a:r>
            <a:r>
              <a:rPr lang="zh-CN" altLang="en-US" sz="2400" dirty="0">
                <a:solidFill>
                  <a:srgbClr val="FF0000"/>
                </a:solidFill>
              </a:rPr>
              <a:t>重要</a:t>
            </a:r>
            <a:r>
              <a:rPr lang="zh-CN" altLang="en-US" sz="2400" dirty="0"/>
              <a:t>的。</a:t>
            </a:r>
            <a:endParaRPr lang="en-US" altLang="zh-CN" sz="2400" dirty="0"/>
          </a:p>
          <a:p>
            <a:pPr lvl="1"/>
            <a:r>
              <a:rPr lang="zh-CN" altLang="en-US" sz="2400" dirty="0"/>
              <a:t>在实际的数据库系统中，</a:t>
            </a:r>
            <a:r>
              <a:rPr lang="en-US" altLang="zh-CN" sz="2400" dirty="0">
                <a:solidFill>
                  <a:srgbClr val="0000FF"/>
                </a:solidFill>
              </a:rPr>
              <a:t>write </a:t>
            </a:r>
            <a:r>
              <a:rPr lang="zh-CN" altLang="en-US" sz="2400" dirty="0">
                <a:solidFill>
                  <a:srgbClr val="0000FF"/>
                </a:solidFill>
              </a:rPr>
              <a:t>操作不一定导致立即更新磁盘上的数据</a:t>
            </a:r>
            <a:r>
              <a:rPr lang="zh-CN" altLang="en-US" sz="2400" dirty="0"/>
              <a:t>。</a:t>
            </a:r>
            <a:r>
              <a:rPr lang="en-US" altLang="zh-CN" sz="2400" dirty="0"/>
              <a:t>write </a:t>
            </a:r>
            <a:r>
              <a:rPr lang="zh-CN" altLang="en-US" sz="2400" dirty="0"/>
              <a:t>操作的结果可以临时存储在其他地方，以后再写到磁盘上。</a:t>
            </a:r>
            <a:endParaRPr lang="en-US" altLang="zh-CN" sz="2400" dirty="0"/>
          </a:p>
          <a:p>
            <a:pPr lvl="1"/>
            <a:r>
              <a:rPr lang="zh-CN" altLang="en-US" sz="2400" b="1" u="sng" dirty="0">
                <a:solidFill>
                  <a:schemeClr val="accent1">
                    <a:lumMod val="75000"/>
                  </a:schemeClr>
                </a:solidFill>
              </a:rPr>
              <a:t>暂时假设</a:t>
            </a:r>
            <a:r>
              <a:rPr lang="en-US" altLang="zh-CN" sz="2400" dirty="0"/>
              <a:t>write</a:t>
            </a:r>
            <a:r>
              <a:rPr lang="zh-CN" altLang="en-US" sz="2400" dirty="0"/>
              <a:t>操作是</a:t>
            </a:r>
            <a:r>
              <a:rPr lang="zh-CN" altLang="en-US" sz="2400" b="1" dirty="0">
                <a:solidFill>
                  <a:srgbClr val="0000FF"/>
                </a:solidFill>
              </a:rPr>
              <a:t>立即更新数据库</a:t>
            </a:r>
            <a:r>
              <a:rPr lang="zh-CN" altLang="en-US" sz="2400" dirty="0"/>
              <a:t>的。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5A81D2-F429-44B8-B796-73016613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3BE1-B6FF-4DD6-9C05-BD11AB354D4D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3BA3DA-1AD5-4B9A-A6C5-AC9626F5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95BA01-BE75-4D88-8533-B484C574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12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5001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49552"/>
          </a:xfrm>
        </p:spPr>
        <p:txBody>
          <a:bodyPr/>
          <a:lstStyle/>
          <a:p>
            <a:r>
              <a:rPr lang="zh-CN" altLang="en-US" sz="2400" dirty="0"/>
              <a:t>令</a:t>
            </a:r>
            <a:r>
              <a:rPr lang="en-US" altLang="zh-CN" sz="2400" dirty="0" err="1">
                <a:solidFill>
                  <a:srgbClr val="006600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6600"/>
                </a:solidFill>
              </a:rPr>
              <a:t>i</a:t>
            </a:r>
            <a:r>
              <a:rPr lang="zh-CN" altLang="en-US" sz="2400" dirty="0"/>
              <a:t>是从账户</a:t>
            </a:r>
            <a:r>
              <a:rPr lang="en-US" altLang="zh-CN" sz="2400" dirty="0"/>
              <a:t>A(1000)</a:t>
            </a:r>
            <a:r>
              <a:rPr lang="zh-CN" altLang="en-US" sz="2400" dirty="0">
                <a:solidFill>
                  <a:srgbClr val="0000FF"/>
                </a:solidFill>
              </a:rPr>
              <a:t>转账</a:t>
            </a:r>
            <a:r>
              <a:rPr lang="en-US" altLang="zh-CN" sz="2400" dirty="0">
                <a:solidFill>
                  <a:srgbClr val="0000FF"/>
                </a:solidFill>
              </a:rPr>
              <a:t>50</a:t>
            </a:r>
            <a:r>
              <a:rPr lang="zh-CN" altLang="en-US" sz="2400" dirty="0"/>
              <a:t>到账户</a:t>
            </a:r>
            <a:r>
              <a:rPr lang="en-US" altLang="zh-CN" sz="2400" dirty="0"/>
              <a:t>B(2000)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6600"/>
                </a:solidFill>
              </a:rPr>
              <a:t>事务</a:t>
            </a:r>
            <a:r>
              <a:rPr lang="zh-CN" altLang="en-US" sz="2400" dirty="0"/>
              <a:t>。这个事务可以被定义为：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:  read(A);</a:t>
            </a:r>
          </a:p>
          <a:p>
            <a:pPr marL="0" indent="0">
              <a:buNone/>
            </a:pPr>
            <a:r>
              <a:rPr lang="en-US" altLang="zh-CN" sz="2400" dirty="0"/>
              <a:t>             A:= </a:t>
            </a:r>
            <a:r>
              <a:rPr lang="en-US" altLang="zh-CN" sz="2400" dirty="0">
                <a:solidFill>
                  <a:srgbClr val="0000FF"/>
                </a:solidFill>
              </a:rPr>
              <a:t>A-50</a:t>
            </a:r>
            <a:r>
              <a:rPr lang="en-US" altLang="zh-CN" sz="2400" dirty="0"/>
              <a:t>;</a:t>
            </a:r>
          </a:p>
          <a:p>
            <a:pPr marL="0" indent="0">
              <a:buNone/>
            </a:pPr>
            <a:r>
              <a:rPr lang="en-US" altLang="zh-CN" sz="2400" dirty="0"/>
              <a:t>             write(A) ;           </a:t>
            </a:r>
          </a:p>
          <a:p>
            <a:pPr marL="0" indent="0">
              <a:buNone/>
            </a:pPr>
            <a:r>
              <a:rPr lang="en-US" altLang="zh-CN" sz="2400" dirty="0"/>
              <a:t>             read(B);</a:t>
            </a:r>
          </a:p>
          <a:p>
            <a:pPr marL="0" indent="0">
              <a:buNone/>
            </a:pPr>
            <a:r>
              <a:rPr lang="en-US" altLang="zh-CN" sz="2400" dirty="0"/>
              <a:t>             B:=</a:t>
            </a:r>
            <a:r>
              <a:rPr lang="en-US" altLang="zh-CN" sz="2400" dirty="0">
                <a:solidFill>
                  <a:srgbClr val="0000FF"/>
                </a:solidFill>
              </a:rPr>
              <a:t>B+50</a:t>
            </a:r>
            <a:r>
              <a:rPr lang="en-US" altLang="zh-CN" sz="2400" dirty="0"/>
              <a:t>;</a:t>
            </a:r>
          </a:p>
          <a:p>
            <a:pPr marL="0" indent="0">
              <a:buNone/>
            </a:pPr>
            <a:r>
              <a:rPr lang="en-US" altLang="zh-CN" sz="2400" dirty="0"/>
              <a:t>             write(B);</a:t>
            </a:r>
            <a:endParaRPr lang="zh-CN" altLang="en-US" sz="24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B5460C3-AAAD-FF45-8A94-4DCFB73F63D7}"/>
              </a:ext>
            </a:extLst>
          </p:cNvPr>
          <p:cNvCxnSpPr>
            <a:cxnSpLocks/>
          </p:cNvCxnSpPr>
          <p:nvPr/>
        </p:nvCxnSpPr>
        <p:spPr bwMode="auto">
          <a:xfrm>
            <a:off x="1547664" y="3645024"/>
            <a:ext cx="2952328" cy="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D9160E1-0339-17E0-73E0-4B531B20EE61}"/>
              </a:ext>
            </a:extLst>
          </p:cNvPr>
          <p:cNvSpPr txBox="1"/>
          <p:nvPr/>
        </p:nvSpPr>
        <p:spPr>
          <a:xfrm>
            <a:off x="4644010" y="3429000"/>
            <a:ext cx="410445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发生故障，导致数据库处于不一致状态</a:t>
            </a:r>
            <a:r>
              <a:rPr lang="en-US" altLang="zh-CN" dirty="0"/>
              <a:t>; A=950, B=2000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A2C36C1-9BA3-028B-4E22-AB43082E2B76}"/>
              </a:ext>
            </a:extLst>
          </p:cNvPr>
          <p:cNvCxnSpPr>
            <a:cxnSpLocks/>
          </p:cNvCxnSpPr>
          <p:nvPr/>
        </p:nvCxnSpPr>
        <p:spPr bwMode="auto">
          <a:xfrm>
            <a:off x="1835696" y="2348880"/>
            <a:ext cx="0" cy="295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4E79ECA-A9DF-794C-5C1E-9FD1DCE3EE23}"/>
              </a:ext>
            </a:extLst>
          </p:cNvPr>
          <p:cNvCxnSpPr>
            <a:cxnSpLocks/>
          </p:cNvCxnSpPr>
          <p:nvPr/>
        </p:nvCxnSpPr>
        <p:spPr bwMode="auto">
          <a:xfrm>
            <a:off x="1547664" y="5085184"/>
            <a:ext cx="2952328" cy="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40A738E-5A3D-187E-2021-D9FD620B07CD}"/>
              </a:ext>
            </a:extLst>
          </p:cNvPr>
          <p:cNvSpPr txBox="1"/>
          <p:nvPr/>
        </p:nvSpPr>
        <p:spPr>
          <a:xfrm>
            <a:off x="4860032" y="4941168"/>
            <a:ext cx="403244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正确的状态应该是</a:t>
            </a:r>
            <a:r>
              <a:rPr lang="en-US" altLang="zh-CN" dirty="0"/>
              <a:t>A=950, B=2050;</a:t>
            </a:r>
            <a:r>
              <a:rPr lang="zh-CN" altLang="en-US" dirty="0"/>
              <a:t> 也即</a:t>
            </a:r>
            <a:r>
              <a:rPr lang="en-US" altLang="zh-CN" dirty="0"/>
              <a:t>A+B=3000</a:t>
            </a:r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7FEC57B-BA0C-A260-9AF5-8051486B24D6}"/>
              </a:ext>
            </a:extLst>
          </p:cNvPr>
          <p:cNvCxnSpPr>
            <a:cxnSpLocks/>
          </p:cNvCxnSpPr>
          <p:nvPr/>
        </p:nvCxnSpPr>
        <p:spPr bwMode="auto">
          <a:xfrm>
            <a:off x="1547664" y="3140968"/>
            <a:ext cx="2952328" cy="0"/>
          </a:xfrm>
          <a:prstGeom prst="line">
            <a:avLst/>
          </a:prstGeom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3D23215-8570-A82B-AF3F-96A47C09DB2C}"/>
              </a:ext>
            </a:extLst>
          </p:cNvPr>
          <p:cNvCxnSpPr>
            <a:cxnSpLocks/>
          </p:cNvCxnSpPr>
          <p:nvPr/>
        </p:nvCxnSpPr>
        <p:spPr bwMode="auto">
          <a:xfrm>
            <a:off x="1547664" y="4077072"/>
            <a:ext cx="2952328" cy="0"/>
          </a:xfrm>
          <a:prstGeom prst="line">
            <a:avLst/>
          </a:prstGeom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9B7BEE4-9988-6E93-C4F3-5F5C25F8CF0D}"/>
              </a:ext>
            </a:extLst>
          </p:cNvPr>
          <p:cNvSpPr txBox="1"/>
          <p:nvPr/>
        </p:nvSpPr>
        <p:spPr>
          <a:xfrm>
            <a:off x="276937" y="2920189"/>
            <a:ext cx="91403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</a:rPr>
              <a:t>T</a:t>
            </a:r>
            <a:r>
              <a:rPr lang="en-US" altLang="zh-CN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dirty="0"/>
              <a:t>读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84E0CD-AD3B-DAAF-2BF7-F45096BE6CF0}"/>
              </a:ext>
            </a:extLst>
          </p:cNvPr>
          <p:cNvSpPr txBox="1"/>
          <p:nvPr/>
        </p:nvSpPr>
        <p:spPr>
          <a:xfrm>
            <a:off x="298315" y="3864706"/>
            <a:ext cx="91403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</a:rPr>
              <a:t>T</a:t>
            </a:r>
            <a:r>
              <a:rPr lang="en-US" altLang="zh-CN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dirty="0"/>
              <a:t>读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2F5970-48BB-DF74-0B9F-B87B053D160F}"/>
              </a:ext>
            </a:extLst>
          </p:cNvPr>
          <p:cNvSpPr txBox="1"/>
          <p:nvPr/>
        </p:nvSpPr>
        <p:spPr>
          <a:xfrm>
            <a:off x="393209" y="5628901"/>
            <a:ext cx="295465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两次读到的值不一样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AEC913E-EFFC-12DF-C63D-D7302162EE33}"/>
              </a:ext>
            </a:extLst>
          </p:cNvPr>
          <p:cNvCxnSpPr/>
          <p:nvPr/>
        </p:nvCxnSpPr>
        <p:spPr bwMode="auto">
          <a:xfrm>
            <a:off x="733953" y="4381873"/>
            <a:ext cx="828147" cy="1176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8AB9B8-CDFD-4373-8A68-3DC3B6A9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E0FC8-1E5F-409E-B438-77B287C6D5E7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17F6F3-93FA-49E6-A267-30FE9444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700FC584-AB48-47DF-8AE7-70067B4B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13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5464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事务的基本概念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138864" cy="4357464"/>
          </a:xfrm>
        </p:spPr>
        <p:txBody>
          <a:bodyPr/>
          <a:lstStyle/>
          <a:p>
            <a:r>
              <a:rPr lang="zh-CN" altLang="en-US" dirty="0"/>
              <a:t>破坏事务</a:t>
            </a:r>
            <a:r>
              <a:rPr lang="en-US" altLang="zh-CN" dirty="0"/>
              <a:t>ACID</a:t>
            </a:r>
            <a:r>
              <a:rPr lang="zh-CN" altLang="en-US" dirty="0"/>
              <a:t>特性的因素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多个事务</a:t>
            </a:r>
            <a:r>
              <a:rPr lang="zh-CN" altLang="en-US" b="1" dirty="0">
                <a:solidFill>
                  <a:srgbClr val="0000FF"/>
                </a:solidFill>
              </a:rPr>
              <a:t>并行运行</a:t>
            </a:r>
            <a:r>
              <a:rPr lang="zh-CN" altLang="en-US" dirty="0"/>
              <a:t>时，不同事务的操作交叉执行</a:t>
            </a:r>
          </a:p>
          <a:p>
            <a:pPr lvl="2"/>
            <a:r>
              <a:rPr lang="zh-CN" altLang="en-US" dirty="0"/>
              <a:t>数据库管理系统</a:t>
            </a:r>
            <a:r>
              <a:rPr lang="zh-CN" altLang="en-US" dirty="0">
                <a:solidFill>
                  <a:srgbClr val="FF0000"/>
                </a:solidFill>
              </a:rPr>
              <a:t>必须保证</a:t>
            </a:r>
            <a:r>
              <a:rPr lang="zh-CN" altLang="en-US" dirty="0">
                <a:solidFill>
                  <a:schemeClr val="tx2"/>
                </a:solidFill>
              </a:rPr>
              <a:t>多个事务的交叉运行</a:t>
            </a:r>
            <a:r>
              <a:rPr lang="zh-CN" altLang="en-US" b="1" dirty="0">
                <a:solidFill>
                  <a:srgbClr val="FF0000"/>
                </a:solidFill>
              </a:rPr>
              <a:t>不影响</a:t>
            </a:r>
            <a:r>
              <a:rPr lang="zh-CN" altLang="en-US" dirty="0">
                <a:solidFill>
                  <a:schemeClr val="tx2"/>
                </a:solidFill>
              </a:rPr>
              <a:t>这些事务的</a:t>
            </a:r>
            <a:r>
              <a:rPr lang="zh-CN" altLang="en-US" dirty="0">
                <a:solidFill>
                  <a:srgbClr val="FF0000"/>
                </a:solidFill>
              </a:rPr>
              <a:t>隔离性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）事务在运行过程中被强行停止</a:t>
            </a:r>
          </a:p>
          <a:p>
            <a:pPr lvl="2"/>
            <a:r>
              <a:rPr lang="zh-CN" altLang="en-US" dirty="0"/>
              <a:t>数据库管理系统</a:t>
            </a:r>
            <a:r>
              <a:rPr lang="zh-CN" altLang="en-US" dirty="0">
                <a:solidFill>
                  <a:srgbClr val="FF0000"/>
                </a:solidFill>
              </a:rPr>
              <a:t>必须保证</a:t>
            </a:r>
            <a:r>
              <a:rPr lang="zh-CN" altLang="en-US" dirty="0"/>
              <a:t>被</a:t>
            </a:r>
            <a:r>
              <a:rPr lang="zh-CN" altLang="en-US" b="1" dirty="0">
                <a:solidFill>
                  <a:schemeClr val="tx2"/>
                </a:solidFill>
              </a:rPr>
              <a:t>强行终止</a:t>
            </a:r>
            <a:r>
              <a:rPr lang="zh-CN" altLang="en-US" dirty="0"/>
              <a:t>的事务对数据库和其他事务</a:t>
            </a:r>
            <a:r>
              <a:rPr lang="zh-CN" altLang="en-US" dirty="0">
                <a:solidFill>
                  <a:srgbClr val="0000FF"/>
                </a:solidFill>
              </a:rPr>
              <a:t>没有任何影响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E73E83-7986-48C4-AB44-C34B1D604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A7E6F-0D3E-49BD-B850-1C939AB86615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DB4071-DE6F-4BF5-84C2-652F4229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A53D0A-E4B7-4EA9-9EFD-DFAFC879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14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34254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事务状态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并发执行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可串行化及判定</a:t>
            </a:r>
          </a:p>
          <a:p>
            <a:r>
              <a:rPr lang="en-US" altLang="zh-CN" dirty="0"/>
              <a:t>5 </a:t>
            </a:r>
            <a:r>
              <a:rPr lang="zh-CN" altLang="en-US" dirty="0"/>
              <a:t>可恢复性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隔离性的实现</a:t>
            </a: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46906" y="234888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36D930-44CF-4333-8BB7-9CBEDCD1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4626-DD94-4316-BF6B-DF826D3B79A0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6F525B-EB8F-4804-8DD6-EA9FEFF0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8C8F3-7ED7-47C1-8CFB-DE4ACF3B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15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0364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F1200CC3-BD2B-D893-F32F-6BC940469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事务状态</a:t>
            </a:r>
            <a:endParaRPr lang="en-US" altLang="zh-CN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F121032-ECC4-CF66-5164-8ED757DF8D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379116"/>
            <a:ext cx="8208912" cy="50022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活跃</a:t>
            </a:r>
            <a:r>
              <a:rPr lang="en-US" altLang="zh-CN" sz="2400" b="1" dirty="0"/>
              <a:t>(Active)</a:t>
            </a:r>
            <a:r>
              <a:rPr lang="zh-CN" altLang="en-US" sz="2400" b="1" dirty="0"/>
              <a:t>状态：</a:t>
            </a:r>
            <a:r>
              <a:rPr lang="zh-CN" altLang="en-US" sz="2000" b="1" dirty="0"/>
              <a:t>初始状态，当事务执行时就处于此状态</a:t>
            </a:r>
            <a:r>
              <a:rPr lang="en-US" altLang="zh-CN" sz="2000" b="1" dirty="0"/>
              <a:t>;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部分提交</a:t>
            </a:r>
            <a:r>
              <a:rPr lang="en-US" altLang="zh-CN" sz="2400" b="1" dirty="0"/>
              <a:t>(Partially committed)</a:t>
            </a:r>
            <a:r>
              <a:rPr lang="zh-CN" altLang="en-US" sz="2400" b="1" dirty="0"/>
              <a:t>状态：</a:t>
            </a:r>
            <a:r>
              <a:rPr lang="zh-CN" altLang="en-US" sz="2000" b="1" dirty="0">
                <a:solidFill>
                  <a:srgbClr val="0000FF"/>
                </a:solidFill>
              </a:rPr>
              <a:t>最后一条语句执行完之后</a:t>
            </a:r>
            <a:r>
              <a:rPr lang="en-US" altLang="zh-CN" sz="2000" b="1" dirty="0"/>
              <a:t>; </a:t>
            </a:r>
            <a:r>
              <a:rPr lang="zh-CN" altLang="en-US" sz="2000" b="1" dirty="0"/>
              <a:t>尚未成功，仍可能被中止，开始一系列的恢复准备工作</a:t>
            </a:r>
            <a:r>
              <a:rPr lang="en-US" altLang="zh-CN" sz="2000" b="1" dirty="0"/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失效</a:t>
            </a:r>
            <a:r>
              <a:rPr lang="en-US" altLang="zh-CN" sz="2400" b="1" dirty="0"/>
              <a:t>(Failed)</a:t>
            </a:r>
            <a:r>
              <a:rPr lang="zh-CN" altLang="en-US" sz="2400" b="1" dirty="0"/>
              <a:t>状态：</a:t>
            </a:r>
            <a:r>
              <a:rPr lang="zh-CN" altLang="en-US" sz="2000" b="1" dirty="0"/>
              <a:t>当一个事务发现</a:t>
            </a:r>
            <a:r>
              <a:rPr lang="zh-CN" altLang="en-US" sz="2000" b="1" dirty="0">
                <a:solidFill>
                  <a:srgbClr val="0000FF"/>
                </a:solidFill>
              </a:rPr>
              <a:t>不能继续正常执行</a:t>
            </a:r>
            <a:r>
              <a:rPr lang="zh-CN" altLang="en-US" sz="2000" b="1" dirty="0"/>
              <a:t>之后，进入失效状态</a:t>
            </a:r>
            <a:r>
              <a:rPr lang="en-US" altLang="zh-CN" sz="2000" b="1" dirty="0"/>
              <a:t>; </a:t>
            </a:r>
            <a:r>
              <a:rPr lang="zh-CN" altLang="en-US" sz="2000" b="1" dirty="0">
                <a:solidFill>
                  <a:srgbClr val="0000FF"/>
                </a:solidFill>
              </a:rPr>
              <a:t>该事务必须回滚</a:t>
            </a:r>
            <a:r>
              <a:rPr lang="en-US" altLang="zh-CN" sz="2000" b="1" dirty="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中止</a:t>
            </a:r>
            <a:r>
              <a:rPr lang="en-US" altLang="zh-CN" sz="2400" b="1" dirty="0"/>
              <a:t>(Aborted)</a:t>
            </a:r>
            <a:r>
              <a:rPr lang="zh-CN" altLang="en-US" sz="2400" b="1" dirty="0"/>
              <a:t>状态：</a:t>
            </a:r>
            <a:r>
              <a:rPr lang="zh-CN" altLang="en-US" sz="2000" b="1" dirty="0"/>
              <a:t>事务</a:t>
            </a:r>
            <a:r>
              <a:rPr lang="zh-CN" altLang="en-US" sz="2000" b="1" dirty="0">
                <a:solidFill>
                  <a:srgbClr val="FF0000"/>
                </a:solidFill>
              </a:rPr>
              <a:t>已回滚</a:t>
            </a:r>
            <a:r>
              <a:rPr lang="zh-CN" altLang="en-US" sz="2000" b="1" dirty="0"/>
              <a:t>并且数据库已</a:t>
            </a:r>
            <a:r>
              <a:rPr lang="zh-CN" altLang="en-US" sz="2000" b="1" dirty="0">
                <a:solidFill>
                  <a:srgbClr val="FF0000"/>
                </a:solidFill>
              </a:rPr>
              <a:t>恢复到</a:t>
            </a:r>
            <a:r>
              <a:rPr lang="zh-CN" altLang="en-US" sz="2000" b="1" dirty="0">
                <a:solidFill>
                  <a:srgbClr val="0000FF"/>
                </a:solidFill>
              </a:rPr>
              <a:t>事务开始前的状态之后</a:t>
            </a:r>
            <a:r>
              <a:rPr lang="zh-CN" altLang="en-US" sz="2000" b="1" dirty="0"/>
              <a:t>；</a:t>
            </a:r>
            <a:r>
              <a:rPr lang="zh-CN" altLang="en-US" sz="2000" b="1" u="sng" dirty="0">
                <a:solidFill>
                  <a:srgbClr val="006600"/>
                </a:solidFill>
              </a:rPr>
              <a:t>此后</a:t>
            </a:r>
            <a:r>
              <a:rPr lang="zh-CN" altLang="en-US" sz="2000" b="1" dirty="0"/>
              <a:t>有两种选择：</a:t>
            </a:r>
            <a:endParaRPr lang="en-US" altLang="zh-CN" sz="2000" b="1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b="1" dirty="0">
                <a:cs typeface="+mn-cs"/>
              </a:rPr>
              <a:t>重启事务：仅当非内部逻辑错误时</a:t>
            </a:r>
            <a:r>
              <a:rPr lang="en-US" altLang="zh-CN" sz="2000" b="1" dirty="0">
                <a:cs typeface="+mn-cs"/>
              </a:rPr>
              <a:t>;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b="1" dirty="0">
                <a:cs typeface="+mn-cs"/>
              </a:rPr>
              <a:t>杀死事务：内部逻辑错误，不能继续执行事务</a:t>
            </a:r>
            <a:r>
              <a:rPr lang="en-US" altLang="zh-CN" sz="2000" b="1" dirty="0">
                <a:cs typeface="+mn-cs"/>
              </a:rPr>
              <a:t>;</a:t>
            </a:r>
            <a:endParaRPr lang="zh-CN" altLang="en-US" sz="2000" b="1" dirty="0">
              <a:cs typeface="+mn-cs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提交</a:t>
            </a:r>
            <a:r>
              <a:rPr lang="en-US" altLang="zh-CN" sz="2400" b="1" dirty="0"/>
              <a:t>(Committed)</a:t>
            </a:r>
            <a:r>
              <a:rPr lang="zh-CN" altLang="en-US" sz="2400" b="1" dirty="0"/>
              <a:t>状态：事务成功结束之后。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FF6F21-2AC2-4FC2-9C4B-015D7A01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0A059-2765-4A72-A3A1-B1DC3CC324C3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A0EB29-4668-4C88-8DAF-BE468F5A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2F28E-643F-4DF3-9FA1-63778AA2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16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CAC788C3-3C8B-23D7-EAB0-A0877F563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事务状态图</a:t>
            </a:r>
          </a:p>
        </p:txBody>
      </p:sp>
      <p:pic>
        <p:nvPicPr>
          <p:cNvPr id="17412" name="Picture 3">
            <a:extLst>
              <a:ext uri="{FF2B5EF4-FFF2-40B4-BE49-F238E27FC236}">
                <a16:creationId xmlns:a16="http://schemas.microsoft.com/office/drawing/2014/main" id="{33E9C6CC-A7E1-BF22-0E8C-C3431432E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3" t="3268" r="11909" b="1634"/>
          <a:stretch>
            <a:fillRect/>
          </a:stretch>
        </p:blipFill>
        <p:spPr bwMode="auto">
          <a:xfrm>
            <a:off x="1187624" y="1628800"/>
            <a:ext cx="4535204" cy="4160029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0717CDB0-54E8-12CB-9E7B-7287F21EF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002" y="1612478"/>
            <a:ext cx="2071439" cy="457200"/>
          </a:xfrm>
          <a:prstGeom prst="wedgeRoundRectCallout">
            <a:avLst>
              <a:gd name="adj1" fmla="val -89117"/>
              <a:gd name="adj2" fmla="val 5075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400" dirty="0"/>
              <a:t>事务已提交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Helvetica" panose="020B060402020202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F784E5C-C30A-1B04-0161-1897BE87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176" y="4559723"/>
            <a:ext cx="2071439" cy="457200"/>
          </a:xfrm>
          <a:prstGeom prst="wedgeRoundRectCallout">
            <a:avLst>
              <a:gd name="adj1" fmla="val -89117"/>
              <a:gd name="adj2" fmla="val 5075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400" dirty="0"/>
              <a:t>事务已中止</a:t>
            </a:r>
            <a:endParaRPr lang="en-US" altLang="zh-CN" sz="2400" dirty="0">
              <a:latin typeface="Helvetica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52C5C2-59E6-7C50-8D1A-8F5684E1B9F2}"/>
              </a:ext>
            </a:extLst>
          </p:cNvPr>
          <p:cNvSpPr txBox="1"/>
          <p:nvPr/>
        </p:nvSpPr>
        <p:spPr>
          <a:xfrm>
            <a:off x="1331640" y="1709774"/>
            <a:ext cx="142190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部分提交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7162EE-9CEF-4FE4-8E8D-955F1A0DA725}"/>
              </a:ext>
            </a:extLst>
          </p:cNvPr>
          <p:cNvSpPr txBox="1"/>
          <p:nvPr/>
        </p:nvSpPr>
        <p:spPr>
          <a:xfrm>
            <a:off x="1901151" y="5036681"/>
            <a:ext cx="85239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失效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7422721" y="2276872"/>
            <a:ext cx="67767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flipV="1">
            <a:off x="7516522" y="3708815"/>
            <a:ext cx="583870" cy="6941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7149650" y="3013501"/>
            <a:ext cx="1901482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已终止的</a:t>
            </a:r>
            <a:endParaRPr lang="en-US" altLang="zh-CN" b="1" dirty="0">
              <a:solidFill>
                <a:srgbClr val="0000FF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terminated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7ACA73-247F-4314-870D-F6AAC2E70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E58F-CFA9-4EA0-8964-88756CF95E28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5E8A85F1-758B-4D39-9127-DDC7553C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B24CB92-1CF5-49B1-8234-0ED91527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17</a:t>
            </a:fld>
            <a:r>
              <a:rPr lang="en-US" altLang="zh-CN"/>
              <a:t>/53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D2DA25-270A-A2A0-CEE3-1489DC0F2DD9}"/>
              </a:ext>
            </a:extLst>
          </p:cNvPr>
          <p:cNvSpPr/>
          <p:nvPr/>
        </p:nvSpPr>
        <p:spPr bwMode="auto">
          <a:xfrm>
            <a:off x="559477" y="6007944"/>
            <a:ext cx="7668137" cy="76200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如果一个事务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要么是提交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的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要么是中止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，该事务就被称为是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已终止的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rPr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事务状态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并发执行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可串行化及判定</a:t>
            </a:r>
          </a:p>
          <a:p>
            <a:r>
              <a:rPr lang="en-US" altLang="zh-CN" dirty="0"/>
              <a:t>5 </a:t>
            </a:r>
            <a:r>
              <a:rPr lang="zh-CN" altLang="en-US" dirty="0"/>
              <a:t>可恢复性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隔离性的实现</a:t>
            </a: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914400" y="2924944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CCF48D-9289-4121-9F40-E7D6FA3C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35943-29E2-436B-953D-472E73A13BF6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C5C3D7-4E75-4A8A-BD64-D2EE53EA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00F23-6165-4A27-913F-5843F0AC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18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1301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D2E76297-F728-F9EE-BEFA-891932E75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事务调度</a:t>
            </a:r>
          </a:p>
        </p:txBody>
      </p:sp>
      <p:sp>
        <p:nvSpPr>
          <p:cNvPr id="628739" name="Rectangle 3">
            <a:extLst>
              <a:ext uri="{FF2B5EF4-FFF2-40B4-BE49-F238E27FC236}">
                <a16:creationId xmlns:a16="http://schemas.microsoft.com/office/drawing/2014/main" id="{407E2970-B163-CDAA-6B3C-0BA79E335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01465"/>
            <a:ext cx="8332787" cy="5195887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事务的</a:t>
            </a:r>
            <a:r>
              <a:rPr lang="zh-CN" altLang="en-US" sz="2800" b="1" dirty="0">
                <a:solidFill>
                  <a:srgbClr val="0000FF"/>
                </a:solidFill>
              </a:rPr>
              <a:t>执行顺序</a:t>
            </a:r>
            <a:r>
              <a:rPr lang="zh-CN" altLang="en-US" sz="2800" b="1" dirty="0"/>
              <a:t>称为一个</a:t>
            </a:r>
            <a:r>
              <a:rPr lang="zh-CN" altLang="en-US" sz="2800" b="1" dirty="0">
                <a:solidFill>
                  <a:srgbClr val="FF0000"/>
                </a:solidFill>
              </a:rPr>
              <a:t>调度</a:t>
            </a:r>
            <a:r>
              <a:rPr lang="en-US" altLang="zh-CN" sz="2800" b="1" dirty="0"/>
              <a:t>(schedule)</a:t>
            </a:r>
            <a:r>
              <a:rPr lang="zh-CN" altLang="en-US" sz="2800" b="1" dirty="0"/>
              <a:t>，表示</a:t>
            </a:r>
            <a:r>
              <a:rPr lang="zh-CN" altLang="en-US" sz="2800" b="1" dirty="0">
                <a:solidFill>
                  <a:srgbClr val="0000FF"/>
                </a:solidFill>
              </a:rPr>
              <a:t>事务的指令</a:t>
            </a:r>
            <a:r>
              <a:rPr lang="zh-CN" altLang="en-US" sz="2800" b="1" dirty="0"/>
              <a:t>在</a:t>
            </a:r>
            <a:r>
              <a:rPr lang="zh-CN" altLang="en-US" sz="2800" b="1" dirty="0">
                <a:solidFill>
                  <a:srgbClr val="0000FF"/>
                </a:solidFill>
              </a:rPr>
              <a:t>系统中执行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时间顺序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事务如果是</a:t>
            </a:r>
            <a:r>
              <a:rPr lang="zh-CN" altLang="en-US" sz="2800" b="1" dirty="0">
                <a:solidFill>
                  <a:srgbClr val="0000FF"/>
                </a:solidFill>
              </a:rPr>
              <a:t>串行地执行</a:t>
            </a:r>
            <a:r>
              <a:rPr lang="zh-CN" altLang="en-US" sz="2800" b="1" dirty="0"/>
              <a:t>，即一次只执行一个事务，新的事务仅当前一个事务执行完才开始，可以很好</a:t>
            </a:r>
            <a:r>
              <a:rPr lang="zh-CN" altLang="en-US" sz="2800" b="1" dirty="0">
                <a:solidFill>
                  <a:srgbClr val="FF0000"/>
                </a:solidFill>
              </a:rPr>
              <a:t>保证数据库的一致性</a:t>
            </a:r>
            <a:r>
              <a:rPr lang="zh-CN" altLang="en-US" sz="2800" b="1" dirty="0"/>
              <a:t>，及事务的</a:t>
            </a:r>
            <a:r>
              <a:rPr lang="en-US" altLang="zh-CN" sz="2800" b="1" dirty="0">
                <a:solidFill>
                  <a:srgbClr val="FF0000"/>
                </a:solidFill>
              </a:rPr>
              <a:t>ACID</a:t>
            </a:r>
            <a:r>
              <a:rPr lang="zh-CN" altLang="en-US" sz="2800" b="1" dirty="0">
                <a:solidFill>
                  <a:srgbClr val="FF0000"/>
                </a:solidFill>
              </a:rPr>
              <a:t>特性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通常都允许</a:t>
            </a:r>
            <a:r>
              <a:rPr lang="zh-CN" altLang="en-US" sz="2800" b="1" dirty="0">
                <a:solidFill>
                  <a:srgbClr val="0000FF"/>
                </a:solidFill>
              </a:rPr>
              <a:t>多个事务并发进行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/>
              <a:t>提高吞吐量和资源利用率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减少等待时间</a:t>
            </a:r>
            <a:endParaRPr lang="en-US" altLang="zh-CN" sz="2400" b="1" dirty="0"/>
          </a:p>
          <a:p>
            <a:r>
              <a:rPr lang="zh-CN" altLang="en-US" sz="2800" b="1" dirty="0"/>
              <a:t>但，当</a:t>
            </a:r>
            <a:r>
              <a:rPr lang="zh-CN" altLang="en-US" sz="2800" b="1" dirty="0">
                <a:solidFill>
                  <a:srgbClr val="0000FF"/>
                </a:solidFill>
              </a:rPr>
              <a:t>多个事务并发运行</a:t>
            </a:r>
            <a:r>
              <a:rPr lang="zh-CN" altLang="en-US" sz="2800" b="1" dirty="0"/>
              <a:t>时，</a:t>
            </a:r>
            <a:r>
              <a:rPr lang="zh-CN" altLang="en-US" sz="2800" b="1" dirty="0">
                <a:solidFill>
                  <a:srgbClr val="FF0000"/>
                </a:solidFill>
              </a:rPr>
              <a:t>隔离性可能被违背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FF0000"/>
                </a:solidFill>
              </a:rPr>
              <a:t>一致性可能被破坏</a:t>
            </a:r>
            <a:r>
              <a:rPr lang="zh-CN" altLang="en-US" sz="2800" b="1" dirty="0"/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0EC6EA-34EA-46C7-9136-C1D980D2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8988-DF9D-4E1F-849C-8ADAA9025E5C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726631-D631-44DC-8FAB-13BE29629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97FCC-A790-4C7A-9043-92FF944D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19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6342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5D80FFC0-15D8-A303-96C7-58E474F24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4624"/>
            <a:ext cx="8105775" cy="1098376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例：令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从</a:t>
            </a:r>
            <a:r>
              <a:rPr lang="en-US" altLang="zh-CN" i="1" dirty="0">
                <a:solidFill>
                  <a:schemeClr val="tx1"/>
                </a:solidFill>
              </a:rPr>
              <a:t>A </a:t>
            </a:r>
            <a:r>
              <a:rPr lang="zh-CN" altLang="en-US" dirty="0">
                <a:solidFill>
                  <a:srgbClr val="0000FF"/>
                </a:solidFill>
              </a:rPr>
              <a:t>转账$50</a:t>
            </a:r>
            <a:r>
              <a:rPr lang="zh-CN" altLang="en-US" dirty="0">
                <a:solidFill>
                  <a:schemeClr val="tx1"/>
                </a:solidFill>
              </a:rPr>
              <a:t>到</a:t>
            </a:r>
            <a:r>
              <a:rPr lang="en-US" altLang="zh-CN" i="1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从</a:t>
            </a:r>
            <a:r>
              <a:rPr lang="en-US" altLang="zh-CN" i="1" dirty="0">
                <a:solidFill>
                  <a:schemeClr val="tx1"/>
                </a:solidFill>
              </a:rPr>
              <a:t>A </a:t>
            </a:r>
            <a:r>
              <a:rPr lang="zh-CN" altLang="en-US" dirty="0">
                <a:solidFill>
                  <a:srgbClr val="0000FF"/>
                </a:solidFill>
              </a:rPr>
              <a:t>转账余额的10%</a:t>
            </a:r>
            <a:r>
              <a:rPr lang="zh-CN" altLang="en-US" dirty="0">
                <a:solidFill>
                  <a:schemeClr val="tx1"/>
                </a:solidFill>
              </a:rPr>
              <a:t>到</a:t>
            </a:r>
            <a:r>
              <a:rPr lang="en-US" altLang="zh-CN" i="1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rgbClr val="006600"/>
                </a:solidFill>
              </a:rPr>
              <a:t>A=1000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B=2000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F4C62CE3-A62A-6DE2-490A-FD33595E6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7" t="3107" r="23128" b="2663"/>
          <a:stretch>
            <a:fillRect/>
          </a:stretch>
        </p:blipFill>
        <p:spPr bwMode="auto">
          <a:xfrm>
            <a:off x="2833688" y="1556792"/>
            <a:ext cx="3162300" cy="39624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8" name="AutoShape 1">
            <a:extLst>
              <a:ext uri="{FF2B5EF4-FFF2-40B4-BE49-F238E27FC236}">
                <a16:creationId xmlns:a16="http://schemas.microsoft.com/office/drawing/2014/main" id="{0172E42D-698A-D654-A430-C1074C7E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3" y="2390230"/>
            <a:ext cx="1135062" cy="320675"/>
          </a:xfrm>
          <a:prstGeom prst="wedgeRoundRectCallout">
            <a:avLst>
              <a:gd name="adj1" fmla="val 127787"/>
              <a:gd name="adj2" fmla="val 11384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23560" name="AutoShape 3">
            <a:extLst>
              <a:ext uri="{FF2B5EF4-FFF2-40B4-BE49-F238E27FC236}">
                <a16:creationId xmlns:a16="http://schemas.microsoft.com/office/drawing/2014/main" id="{E05970DC-FABD-4844-E118-EC194C7A7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3406230"/>
            <a:ext cx="1135062" cy="320675"/>
          </a:xfrm>
          <a:prstGeom prst="wedgeRoundRectCallout">
            <a:avLst>
              <a:gd name="adj1" fmla="val 128581"/>
              <a:gd name="adj2" fmla="val -48907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2050</a:t>
            </a:r>
          </a:p>
        </p:txBody>
      </p:sp>
      <p:sp>
        <p:nvSpPr>
          <p:cNvPr id="23561" name="AutoShape 4">
            <a:extLst>
              <a:ext uri="{FF2B5EF4-FFF2-40B4-BE49-F238E27FC236}">
                <a16:creationId xmlns:a16="http://schemas.microsoft.com/office/drawing/2014/main" id="{25022626-11D0-4FD2-3D14-A05668BED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025" y="2517230"/>
            <a:ext cx="1135063" cy="320675"/>
          </a:xfrm>
          <a:prstGeom prst="wedgeRoundRectCallout">
            <a:avLst>
              <a:gd name="adj1" fmla="val -179457"/>
              <a:gd name="adj2" fmla="val 31741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23562" name="AutoShape 5">
            <a:extLst>
              <a:ext uri="{FF2B5EF4-FFF2-40B4-BE49-F238E27FC236}">
                <a16:creationId xmlns:a16="http://schemas.microsoft.com/office/drawing/2014/main" id="{28EDB7CA-1262-7D0A-7A06-6811AEAF7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317330"/>
            <a:ext cx="1135063" cy="320675"/>
          </a:xfrm>
          <a:prstGeom prst="wedgeRoundRectCallout">
            <a:avLst>
              <a:gd name="adj1" fmla="val -199644"/>
              <a:gd name="adj2" fmla="val 306435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855</a:t>
            </a:r>
          </a:p>
        </p:txBody>
      </p:sp>
      <p:sp>
        <p:nvSpPr>
          <p:cNvPr id="23563" name="AutoShape 6">
            <a:extLst>
              <a:ext uri="{FF2B5EF4-FFF2-40B4-BE49-F238E27FC236}">
                <a16:creationId xmlns:a16="http://schemas.microsoft.com/office/drawing/2014/main" id="{2A70F123-0C37-CA04-7610-70DD563A4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4734967"/>
            <a:ext cx="1135063" cy="320675"/>
          </a:xfrm>
          <a:prstGeom prst="wedgeRoundRectCallout">
            <a:avLst>
              <a:gd name="adj1" fmla="val -217250"/>
              <a:gd name="adj2" fmla="val 127031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2145</a:t>
            </a:r>
          </a:p>
        </p:txBody>
      </p:sp>
      <p:sp>
        <p:nvSpPr>
          <p:cNvPr id="23564" name="AutoShape 7">
            <a:extLst>
              <a:ext uri="{FF2B5EF4-FFF2-40B4-BE49-F238E27FC236}">
                <a16:creationId xmlns:a16="http://schemas.microsoft.com/office/drawing/2014/main" id="{BB423D0B-29CA-8DE0-57E9-DB6BECA47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263" y="4053930"/>
            <a:ext cx="1133475" cy="320675"/>
          </a:xfrm>
          <a:prstGeom prst="wedgeRoundRectCallout">
            <a:avLst>
              <a:gd name="adj1" fmla="val -218262"/>
              <a:gd name="adj2" fmla="val 16831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2050</a:t>
            </a:r>
          </a:p>
        </p:txBody>
      </p:sp>
      <p:sp>
        <p:nvSpPr>
          <p:cNvPr id="23565" name="Text Box 1">
            <a:extLst>
              <a:ext uri="{FF2B5EF4-FFF2-40B4-BE49-F238E27FC236}">
                <a16:creationId xmlns:a16="http://schemas.microsoft.com/office/drawing/2014/main" id="{8B2E53E3-5C0F-A467-151C-FD3E2AA4A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5694" y="4082379"/>
            <a:ext cx="30701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2800" b="1" dirty="0">
                <a:latin typeface="Helvetica" panose="020B0604020202020204" pitchFamily="34" charset="0"/>
              </a:rPr>
              <a:t>调度</a:t>
            </a:r>
            <a:r>
              <a:rPr lang="en-US" altLang="zh-CN" sz="2800" b="1" dirty="0">
                <a:latin typeface="Helvetica" panose="020B0604020202020204" pitchFamily="34" charset="0"/>
              </a:rPr>
              <a:t>1: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串行调度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T1,T2</a:t>
            </a:r>
            <a:endParaRPr lang="en-US" altLang="zh-CN" sz="2800" dirty="0">
              <a:latin typeface="Helvetica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ADE4C2-80A5-E2B8-1526-63BBA686476E}"/>
              </a:ext>
            </a:extLst>
          </p:cNvPr>
          <p:cNvSpPr txBox="1"/>
          <p:nvPr/>
        </p:nvSpPr>
        <p:spPr>
          <a:xfrm>
            <a:off x="2765187" y="5702114"/>
            <a:ext cx="329930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600"/>
                </a:solidFill>
              </a:rPr>
              <a:t>A+B=855+2145=3000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3" name="AutoShape 1">
            <a:extLst>
              <a:ext uri="{FF2B5EF4-FFF2-40B4-BE49-F238E27FC236}">
                <a16:creationId xmlns:a16="http://schemas.microsoft.com/office/drawing/2014/main" id="{D3021AF9-3900-3E8F-54B7-C2FB3549E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63" y="1855242"/>
            <a:ext cx="1135062" cy="320675"/>
          </a:xfrm>
          <a:prstGeom prst="wedgeRoundRectCallout">
            <a:avLst>
              <a:gd name="adj1" fmla="val 128412"/>
              <a:gd name="adj2" fmla="val 1580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1000</a:t>
            </a: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0915FC41-A6E8-E4ED-010D-63D623C45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2808472"/>
            <a:ext cx="1135062" cy="320675"/>
          </a:xfrm>
          <a:prstGeom prst="wedgeRoundRectCallout">
            <a:avLst>
              <a:gd name="adj1" fmla="val 129131"/>
              <a:gd name="adj2" fmla="val -2291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2000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3890C-FF2A-4453-AC37-1FEE6C07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692F5-C672-4692-8323-1CBF96274DB2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BFA617-B941-49EA-ACD9-BB3F207A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F582AA-EC8E-4C49-9D39-6EAF90A0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20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/>
      <p:bldP spid="23560" grpId="0" animBg="1"/>
      <p:bldP spid="23561" grpId="0" animBg="1"/>
      <p:bldP spid="23562" grpId="0" animBg="1"/>
      <p:bldP spid="23563" grpId="0" animBg="1"/>
      <p:bldP spid="23564" grpId="0" animBg="1"/>
      <p:bldP spid="2" grpId="0"/>
      <p:bldP spid="3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5D80FFC0-15D8-A303-96C7-58E474F24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4624"/>
            <a:ext cx="8105775" cy="1098376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例：令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从</a:t>
            </a:r>
            <a:r>
              <a:rPr lang="en-US" altLang="zh-CN" i="1" dirty="0">
                <a:solidFill>
                  <a:schemeClr val="tx1"/>
                </a:solidFill>
              </a:rPr>
              <a:t>A </a:t>
            </a:r>
            <a:r>
              <a:rPr lang="zh-CN" altLang="en-US" dirty="0">
                <a:solidFill>
                  <a:srgbClr val="0000FF"/>
                </a:solidFill>
              </a:rPr>
              <a:t>转账$50</a:t>
            </a:r>
            <a:r>
              <a:rPr lang="zh-CN" altLang="en-US" dirty="0">
                <a:solidFill>
                  <a:schemeClr val="tx1"/>
                </a:solidFill>
              </a:rPr>
              <a:t>到</a:t>
            </a:r>
            <a:r>
              <a:rPr lang="en-US" altLang="zh-CN" i="1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baseline="-25000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从</a:t>
            </a:r>
            <a:r>
              <a:rPr lang="en-US" altLang="zh-CN" i="1" dirty="0">
                <a:solidFill>
                  <a:schemeClr val="tx1"/>
                </a:solidFill>
              </a:rPr>
              <a:t>A </a:t>
            </a:r>
            <a:r>
              <a:rPr lang="zh-CN" altLang="en-US" dirty="0">
                <a:solidFill>
                  <a:srgbClr val="0000FF"/>
                </a:solidFill>
              </a:rPr>
              <a:t>转账余额的10%</a:t>
            </a:r>
            <a:r>
              <a:rPr lang="zh-CN" altLang="en-US" dirty="0">
                <a:solidFill>
                  <a:schemeClr val="tx1"/>
                </a:solidFill>
              </a:rPr>
              <a:t>到</a:t>
            </a:r>
            <a:r>
              <a:rPr lang="en-US" altLang="zh-CN" i="1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rgbClr val="006600"/>
                </a:solidFill>
              </a:rPr>
              <a:t>A=1000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B=2000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i="1" dirty="0">
              <a:solidFill>
                <a:schemeClr val="tx1"/>
              </a:solidFill>
            </a:endParaRP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F4C62CE3-A62A-6DE2-490A-FD33595E6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7" t="3107" r="23128" b="2663"/>
          <a:stretch>
            <a:fillRect/>
          </a:stretch>
        </p:blipFill>
        <p:spPr bwMode="auto">
          <a:xfrm>
            <a:off x="2833688" y="1643893"/>
            <a:ext cx="3162300" cy="39624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0F058A6-0C86-A18E-D9F2-B09A96DA5A6D}"/>
              </a:ext>
            </a:extLst>
          </p:cNvPr>
          <p:cNvSpPr/>
          <p:nvPr/>
        </p:nvSpPr>
        <p:spPr bwMode="auto">
          <a:xfrm>
            <a:off x="4355976" y="3628133"/>
            <a:ext cx="1512168" cy="193507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DFD3AD-5C25-FD80-58BE-00FBBF28D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03" y="2041661"/>
            <a:ext cx="1296144" cy="16870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6F073F-72FF-1F44-7471-97766304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3835015"/>
            <a:ext cx="1215552" cy="165686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49B6DB6-2B1A-DE95-BB91-F63C375A6143}"/>
              </a:ext>
            </a:extLst>
          </p:cNvPr>
          <p:cNvSpPr/>
          <p:nvPr/>
        </p:nvSpPr>
        <p:spPr bwMode="auto">
          <a:xfrm>
            <a:off x="2915816" y="2022103"/>
            <a:ext cx="1215552" cy="170660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AutoShape 0">
            <a:extLst>
              <a:ext uri="{FF2B5EF4-FFF2-40B4-BE49-F238E27FC236}">
                <a16:creationId xmlns:a16="http://schemas.microsoft.com/office/drawing/2014/main" id="{C944B49F-ACF7-CD60-1336-9F965CC71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800" y="3771031"/>
            <a:ext cx="1135063" cy="320675"/>
          </a:xfrm>
          <a:prstGeom prst="wedgeRoundRectCallout">
            <a:avLst>
              <a:gd name="adj1" fmla="val 122167"/>
              <a:gd name="adj2" fmla="val 1138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900</a:t>
            </a:r>
          </a:p>
        </p:txBody>
      </p:sp>
      <p:sp>
        <p:nvSpPr>
          <p:cNvPr id="9" name="AutoShape 1">
            <a:extLst>
              <a:ext uri="{FF2B5EF4-FFF2-40B4-BE49-F238E27FC236}">
                <a16:creationId xmlns:a16="http://schemas.microsoft.com/office/drawing/2014/main" id="{36A82323-6CB6-034A-A8A4-D58374F8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813" y="4315544"/>
            <a:ext cx="1135062" cy="320675"/>
          </a:xfrm>
          <a:prstGeom prst="wedgeRoundRectCallout">
            <a:avLst>
              <a:gd name="adj1" fmla="val 122167"/>
              <a:gd name="adj2" fmla="val 11384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850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DF30458F-E534-0DD9-C3F6-B0928CCDD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113" y="4796556"/>
            <a:ext cx="1135062" cy="320675"/>
          </a:xfrm>
          <a:prstGeom prst="wedgeRoundRectCallout">
            <a:avLst>
              <a:gd name="adj1" fmla="val 130278"/>
              <a:gd name="adj2" fmla="val -4009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2100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E635A33F-5FC3-5D3B-66E4-DF9D79B26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638" y="5331544"/>
            <a:ext cx="1135062" cy="320675"/>
          </a:xfrm>
          <a:prstGeom prst="wedgeRoundRectCallout">
            <a:avLst>
              <a:gd name="adj1" fmla="val 126083"/>
              <a:gd name="adj2" fmla="val -35644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2150</a:t>
            </a: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E487B3A-9F59-9345-4CDF-8BBA8BFE6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193" y="1412776"/>
            <a:ext cx="1135063" cy="320675"/>
          </a:xfrm>
          <a:prstGeom prst="wedgeRoundRectCallout">
            <a:avLst>
              <a:gd name="adj1" fmla="val -167030"/>
              <a:gd name="adj2" fmla="val 18153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1000</a:t>
            </a: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4CF0D477-67B9-02AC-B8EB-EFB92544F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193" y="1881323"/>
            <a:ext cx="1135063" cy="320675"/>
          </a:xfrm>
          <a:prstGeom prst="wedgeRoundRectCallout">
            <a:avLst>
              <a:gd name="adj1" fmla="val -167027"/>
              <a:gd name="adj2" fmla="val 258104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latin typeface="Helvetica" panose="020B0604020202020204" pitchFamily="34" charset="0"/>
                <a:cs typeface="Arial" charset="0"/>
              </a:rPr>
              <a:t>900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1C5B27E0-F638-7169-5DF9-F2D7ABAD0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224" y="3052663"/>
            <a:ext cx="1135063" cy="320675"/>
          </a:xfrm>
          <a:prstGeom prst="wedgeRoundRectCallout">
            <a:avLst>
              <a:gd name="adj1" fmla="val -178532"/>
              <a:gd name="adj2" fmla="val 133662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latin typeface="Helvetica" panose="020B0604020202020204" pitchFamily="34" charset="0"/>
                <a:cs typeface="Arial" charset="0"/>
              </a:rPr>
              <a:t>2100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13FE1921-1845-D1DF-98DB-A63C5E339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224" y="2540830"/>
            <a:ext cx="1133475" cy="320675"/>
          </a:xfrm>
          <a:prstGeom prst="wedgeRoundRectCallout">
            <a:avLst>
              <a:gd name="adj1" fmla="val -179463"/>
              <a:gd name="adj2" fmla="val 12240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2000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E41C7E-F1C0-902E-9F0E-0211A9407116}"/>
              </a:ext>
            </a:extLst>
          </p:cNvPr>
          <p:cNvSpPr txBox="1"/>
          <p:nvPr/>
        </p:nvSpPr>
        <p:spPr>
          <a:xfrm>
            <a:off x="2771800" y="5714539"/>
            <a:ext cx="329930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600"/>
                </a:solidFill>
              </a:rPr>
              <a:t>A+B=850+2150=3000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20" name="Text Box 1">
            <a:extLst>
              <a:ext uri="{FF2B5EF4-FFF2-40B4-BE49-F238E27FC236}">
                <a16:creationId xmlns:a16="http://schemas.microsoft.com/office/drawing/2014/main" id="{8B2E53E3-5C0F-A467-151C-FD3E2AA4A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8923" y="4169480"/>
            <a:ext cx="30701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2800" b="1" dirty="0">
                <a:latin typeface="Helvetica" panose="020B0604020202020204" pitchFamily="34" charset="0"/>
              </a:rPr>
              <a:t>调度</a:t>
            </a:r>
            <a:r>
              <a:rPr lang="en-US" altLang="zh-CN" sz="2800" b="1" dirty="0">
                <a:latin typeface="Helvetica" panose="020B0604020202020204" pitchFamily="34" charset="0"/>
              </a:rPr>
              <a:t>2: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串行调度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T2,T1</a:t>
            </a:r>
            <a:endParaRPr lang="en-US" altLang="zh-CN" sz="2800" dirty="0">
              <a:latin typeface="Helvetica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A7D78-ED4D-46C8-9D6A-89D62338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AA56-E7EF-45EB-997E-5E1A4A6FF6D7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5C0C3-9400-412A-8677-BCFD4F01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E81F61BD-979C-448C-81F8-DA8A1150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21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7817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D4EE9811-7D6E-919A-DC21-0B1D3318C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调度</a:t>
            </a:r>
            <a:r>
              <a:rPr lang="en-US" altLang="zh-CN" b="1" dirty="0"/>
              <a:t>3</a:t>
            </a:r>
            <a:r>
              <a:rPr lang="zh-CN" altLang="en-US" b="1" dirty="0"/>
              <a:t>，等价于调度</a:t>
            </a:r>
            <a:r>
              <a:rPr lang="en-US" altLang="zh-CN" b="1" dirty="0"/>
              <a:t>1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2B3D2921-A337-E143-7DFA-FA866FE7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822798"/>
            <a:ext cx="379943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1947863" algn="l"/>
                <a:tab pos="2684463" algn="l"/>
                <a:tab pos="3594100" algn="l"/>
                <a:tab pos="4286250" algn="l"/>
              </a:tabLst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1947863" algn="l"/>
                <a:tab pos="2684463" algn="l"/>
                <a:tab pos="3594100" algn="l"/>
                <a:tab pos="42862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1947863" algn="l"/>
                <a:tab pos="2684463" algn="l"/>
                <a:tab pos="3594100" algn="l"/>
                <a:tab pos="42862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5000"/>
              </a:spcBef>
              <a:buSzTx/>
              <a:buFont typeface="Monotype Sorts" pitchFamily="2" charset="2"/>
              <a:buNone/>
            </a:pPr>
            <a:r>
              <a:rPr kumimoji="1" lang="zh-CN" altLang="en-US" sz="2000" b="1" i="0" dirty="0">
                <a:latin typeface="Times New Roman" panose="02020603050405020304" pitchFamily="18" charset="0"/>
              </a:rPr>
              <a:t>调度</a:t>
            </a:r>
            <a:r>
              <a:rPr kumimoji="1" lang="en-US" altLang="zh-CN" sz="2000" b="1" i="0" dirty="0">
                <a:latin typeface="Times New Roman" panose="02020603050405020304" pitchFamily="18" charset="0"/>
              </a:rPr>
              <a:t>1 </a:t>
            </a:r>
            <a:r>
              <a:rPr kumimoji="1" lang="zh-CN" altLang="en-US" sz="2000" b="1" i="0" dirty="0">
                <a:latin typeface="Times New Roman" panose="02020603050405020304" pitchFamily="18" charset="0"/>
              </a:rPr>
              <a:t>和</a:t>
            </a:r>
            <a:r>
              <a:rPr kumimoji="1" lang="en-US" altLang="zh-CN" sz="2000" b="1" i="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000" b="1" i="0" dirty="0">
                <a:latin typeface="Times New Roman" panose="02020603050405020304" pitchFamily="18" charset="0"/>
              </a:rPr>
              <a:t>都保持</a:t>
            </a:r>
            <a:r>
              <a:rPr kumimoji="1" lang="en-US" altLang="zh-CN" sz="2000" b="1" i="0" dirty="0">
                <a:latin typeface="Times New Roman" panose="02020603050405020304" pitchFamily="18" charset="0"/>
              </a:rPr>
              <a:t>A + B</a:t>
            </a:r>
            <a:r>
              <a:rPr kumimoji="1" lang="zh-CN" altLang="en-US" sz="2000" b="1" i="0" dirty="0">
                <a:latin typeface="Times New Roman" panose="02020603050405020304" pitchFamily="18" charset="0"/>
              </a:rPr>
              <a:t>的和</a:t>
            </a:r>
            <a:r>
              <a:rPr kumimoji="1" lang="en-US" altLang="zh-CN" sz="2000" b="1" i="0" dirty="0">
                <a:latin typeface="Times New Roman" panose="02020603050405020304" pitchFamily="18" charset="0"/>
              </a:rPr>
              <a:t>3000</a:t>
            </a:r>
            <a:endParaRPr kumimoji="1" lang="zh-CN" altLang="en-US" sz="2000" b="1" i="0" dirty="0">
              <a:latin typeface="Times New Roman" panose="02020603050405020304" pitchFamily="18" charset="0"/>
            </a:endParaRPr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732CCBEB-0FA5-94CA-DE65-CADC7A566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0" t="4266" r="23801" b="5333"/>
          <a:stretch>
            <a:fillRect/>
          </a:stretch>
        </p:blipFill>
        <p:spPr bwMode="auto">
          <a:xfrm>
            <a:off x="2833688" y="1700808"/>
            <a:ext cx="3146425" cy="39211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3" name="AutoShape 0">
            <a:extLst>
              <a:ext uri="{FF2B5EF4-FFF2-40B4-BE49-F238E27FC236}">
                <a16:creationId xmlns:a16="http://schemas.microsoft.com/office/drawing/2014/main" id="{5BCB4913-9384-EE37-7839-61C9A5F43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646" y="1946778"/>
            <a:ext cx="1135062" cy="320675"/>
          </a:xfrm>
          <a:prstGeom prst="wedgeRoundRectCallout">
            <a:avLst>
              <a:gd name="adj1" fmla="val 116153"/>
              <a:gd name="adj2" fmla="val 2871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1000</a:t>
            </a:r>
          </a:p>
        </p:txBody>
      </p:sp>
      <p:sp>
        <p:nvSpPr>
          <p:cNvPr id="24584" name="AutoShape 1">
            <a:extLst>
              <a:ext uri="{FF2B5EF4-FFF2-40B4-BE49-F238E27FC236}">
                <a16:creationId xmlns:a16="http://schemas.microsoft.com/office/drawing/2014/main" id="{2337D004-84E3-BE9C-65DD-2020923CA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13" y="2705649"/>
            <a:ext cx="1135062" cy="320675"/>
          </a:xfrm>
          <a:prstGeom prst="wedgeRoundRectCallout">
            <a:avLst>
              <a:gd name="adj1" fmla="val 119792"/>
              <a:gd name="adj2" fmla="val -40593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24585" name="AutoShape 2">
            <a:extLst>
              <a:ext uri="{FF2B5EF4-FFF2-40B4-BE49-F238E27FC236}">
                <a16:creationId xmlns:a16="http://schemas.microsoft.com/office/drawing/2014/main" id="{FBEB7469-761C-F007-F489-F4A78AA64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301" y="4087614"/>
            <a:ext cx="1135062" cy="320675"/>
          </a:xfrm>
          <a:prstGeom prst="wedgeRoundRectCallout">
            <a:avLst>
              <a:gd name="adj1" fmla="val 128642"/>
              <a:gd name="adj2" fmla="val -5141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2000</a:t>
            </a:r>
          </a:p>
        </p:txBody>
      </p:sp>
      <p:sp>
        <p:nvSpPr>
          <p:cNvPr id="24586" name="AutoShape 3">
            <a:extLst>
              <a:ext uri="{FF2B5EF4-FFF2-40B4-BE49-F238E27FC236}">
                <a16:creationId xmlns:a16="http://schemas.microsoft.com/office/drawing/2014/main" id="{D3CDDAFA-C5AB-BD89-F5A3-0D799353A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301" y="4627438"/>
            <a:ext cx="1135062" cy="320675"/>
          </a:xfrm>
          <a:prstGeom prst="wedgeRoundRectCallout">
            <a:avLst>
              <a:gd name="adj1" fmla="val 128363"/>
              <a:gd name="adj2" fmla="val -53257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2050</a:t>
            </a:r>
          </a:p>
        </p:txBody>
      </p:sp>
      <p:sp>
        <p:nvSpPr>
          <p:cNvPr id="24587" name="AutoShape 4">
            <a:extLst>
              <a:ext uri="{FF2B5EF4-FFF2-40B4-BE49-F238E27FC236}">
                <a16:creationId xmlns:a16="http://schemas.microsoft.com/office/drawing/2014/main" id="{EE25983B-ABED-1171-C054-6C28C7597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8" y="2331045"/>
            <a:ext cx="1135062" cy="320675"/>
          </a:xfrm>
          <a:prstGeom prst="wedgeRoundRectCallout">
            <a:avLst>
              <a:gd name="adj1" fmla="val -236913"/>
              <a:gd name="adj2" fmla="val 15645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24588" name="AutoShape 5">
            <a:extLst>
              <a:ext uri="{FF2B5EF4-FFF2-40B4-BE49-F238E27FC236}">
                <a16:creationId xmlns:a16="http://schemas.microsoft.com/office/drawing/2014/main" id="{AD806A32-2B3E-FE91-788C-3B198AE98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130351"/>
            <a:ext cx="1135063" cy="320675"/>
          </a:xfrm>
          <a:prstGeom prst="wedgeRoundRectCallout">
            <a:avLst>
              <a:gd name="adj1" fmla="val -235723"/>
              <a:gd name="adj2" fmla="val 158231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855</a:t>
            </a:r>
          </a:p>
        </p:txBody>
      </p:sp>
      <p:sp>
        <p:nvSpPr>
          <p:cNvPr id="24589" name="AutoShape 6">
            <a:extLst>
              <a:ext uri="{FF2B5EF4-FFF2-40B4-BE49-F238E27FC236}">
                <a16:creationId xmlns:a16="http://schemas.microsoft.com/office/drawing/2014/main" id="{F4A8B302-6467-B967-B6CD-FBA415F8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6881" y="5088260"/>
            <a:ext cx="1135063" cy="320675"/>
          </a:xfrm>
          <a:prstGeom prst="wedgeRoundRectCallout">
            <a:avLst>
              <a:gd name="adj1" fmla="val -240846"/>
              <a:gd name="adj2" fmla="val 55436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2145</a:t>
            </a:r>
          </a:p>
        </p:txBody>
      </p:sp>
      <p:sp>
        <p:nvSpPr>
          <p:cNvPr id="24590" name="AutoShape 7">
            <a:extLst>
              <a:ext uri="{FF2B5EF4-FFF2-40B4-BE49-F238E27FC236}">
                <a16:creationId xmlns:a16="http://schemas.microsoft.com/office/drawing/2014/main" id="{CE2E795E-235B-DBFE-A55B-B319EE9E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6882" y="3811661"/>
            <a:ext cx="1135062" cy="320675"/>
          </a:xfrm>
          <a:prstGeom prst="wedgeRoundRectCallout">
            <a:avLst>
              <a:gd name="adj1" fmla="val -245147"/>
              <a:gd name="adj2" fmla="val 27305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2050</a:t>
            </a:r>
          </a:p>
        </p:txBody>
      </p:sp>
      <p:sp>
        <p:nvSpPr>
          <p:cNvPr id="2" name="矩形 1"/>
          <p:cNvSpPr/>
          <p:nvPr/>
        </p:nvSpPr>
        <p:spPr>
          <a:xfrm>
            <a:off x="6012320" y="1067217"/>
            <a:ext cx="3013340" cy="1163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调度</a:t>
            </a:r>
            <a:r>
              <a:rPr lang="en-US" altLang="zh-CN" b="1" dirty="0"/>
              <a:t>3: </a:t>
            </a:r>
          </a:p>
          <a:p>
            <a:r>
              <a:rPr lang="en-US" altLang="zh-CN" b="1" dirty="0"/>
              <a:t>   T1,T2</a:t>
            </a:r>
            <a:r>
              <a:rPr lang="zh-CN" altLang="en-US" b="1" dirty="0"/>
              <a:t>的操作</a:t>
            </a:r>
            <a:r>
              <a:rPr lang="en-US" altLang="zh-CN" b="1" dirty="0"/>
              <a:t>/</a:t>
            </a:r>
            <a:r>
              <a:rPr lang="zh-CN" altLang="en-US" b="1" dirty="0"/>
              <a:t>指令交叉执行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2BBAC7-A726-46A8-8950-E98FF7BBD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286AF-E40D-4B6B-B58B-B0E26E4ECC1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C30DE8-2033-4B65-B37A-F1079F325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DDC532-72CB-461F-BA4B-03BB2632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22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nimBg="1"/>
      <p:bldP spid="24584" grpId="0" animBg="1"/>
      <p:bldP spid="24585" grpId="0" animBg="1"/>
      <p:bldP spid="24586" grpId="0" animBg="1"/>
      <p:bldP spid="24587" grpId="0" animBg="1"/>
      <p:bldP spid="24588" grpId="0" animBg="1"/>
      <p:bldP spid="24589" grpId="0" animBg="1"/>
      <p:bldP spid="2459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DAA0BC66-7B0E-9AB7-5320-C33088306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调度</a:t>
            </a:r>
            <a:r>
              <a:rPr lang="en-US" altLang="zh-CN" b="1" dirty="0"/>
              <a:t>4</a:t>
            </a:r>
            <a:r>
              <a:rPr lang="zh-CN" altLang="en-US" b="1" dirty="0"/>
              <a:t>：未能保持</a:t>
            </a:r>
            <a:r>
              <a:rPr lang="en-US" altLang="zh-CN" b="1" i="1" dirty="0"/>
              <a:t>A </a:t>
            </a:r>
            <a:r>
              <a:rPr lang="en-US" altLang="zh-CN" b="1" dirty="0"/>
              <a:t>+</a:t>
            </a:r>
            <a:r>
              <a:rPr lang="en-US" altLang="zh-CN" b="1" i="1" dirty="0"/>
              <a:t>B</a:t>
            </a:r>
            <a:r>
              <a:rPr lang="zh-CN" altLang="en-US" b="1" dirty="0"/>
              <a:t>的和</a:t>
            </a:r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D3FB512A-BAEE-422D-0A04-EE40097F5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7" t="2644" r="22644" b="3967"/>
          <a:stretch>
            <a:fillRect/>
          </a:stretch>
        </p:blipFill>
        <p:spPr bwMode="auto">
          <a:xfrm>
            <a:off x="2674938" y="1509489"/>
            <a:ext cx="3467100" cy="429577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5" name="AutoShape 0">
            <a:extLst>
              <a:ext uri="{FF2B5EF4-FFF2-40B4-BE49-F238E27FC236}">
                <a16:creationId xmlns:a16="http://schemas.microsoft.com/office/drawing/2014/main" id="{2B2F7BF6-20ED-2177-A1DD-EC58764D6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1865089"/>
            <a:ext cx="1135063" cy="320675"/>
          </a:xfrm>
          <a:prstGeom prst="wedgeRoundRectCallout">
            <a:avLst>
              <a:gd name="adj1" fmla="val 117361"/>
              <a:gd name="adj2" fmla="val 1884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1000</a:t>
            </a:r>
          </a:p>
        </p:txBody>
      </p:sp>
      <p:sp>
        <p:nvSpPr>
          <p:cNvPr id="25606" name="AutoShape 1">
            <a:extLst>
              <a:ext uri="{FF2B5EF4-FFF2-40B4-BE49-F238E27FC236}">
                <a16:creationId xmlns:a16="http://schemas.microsoft.com/office/drawing/2014/main" id="{C5CBCD66-031F-0920-EAA7-1F91C550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3789139"/>
            <a:ext cx="1135062" cy="320675"/>
          </a:xfrm>
          <a:prstGeom prst="wedgeRoundRectCallout">
            <a:avLst>
              <a:gd name="adj1" fmla="val 124158"/>
              <a:gd name="adj2" fmla="val 56989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25607" name="AutoShape 2">
            <a:extLst>
              <a:ext uri="{FF2B5EF4-FFF2-40B4-BE49-F238E27FC236}">
                <a16:creationId xmlns:a16="http://schemas.microsoft.com/office/drawing/2014/main" id="{2B904872-7EE7-9D0C-3C03-6B6A7C00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4" y="4251102"/>
            <a:ext cx="1135063" cy="320675"/>
          </a:xfrm>
          <a:prstGeom prst="wedgeRoundRectCallout">
            <a:avLst>
              <a:gd name="adj1" fmla="val 124752"/>
              <a:gd name="adj2" fmla="val 1128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2000</a:t>
            </a:r>
          </a:p>
        </p:txBody>
      </p:sp>
      <p:sp>
        <p:nvSpPr>
          <p:cNvPr id="25608" name="AutoShape 3">
            <a:extLst>
              <a:ext uri="{FF2B5EF4-FFF2-40B4-BE49-F238E27FC236}">
                <a16:creationId xmlns:a16="http://schemas.microsoft.com/office/drawing/2014/main" id="{C661DADA-A75E-D152-A91E-D1C9C3D69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4779739"/>
            <a:ext cx="1135063" cy="320675"/>
          </a:xfrm>
          <a:prstGeom prst="wedgeRoundRectCallout">
            <a:avLst>
              <a:gd name="adj1" fmla="val 125277"/>
              <a:gd name="adj2" fmla="val 23962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2050</a:t>
            </a:r>
          </a:p>
        </p:txBody>
      </p:sp>
      <p:sp>
        <p:nvSpPr>
          <p:cNvPr id="25610" name="AutoShape 5">
            <a:extLst>
              <a:ext uri="{FF2B5EF4-FFF2-40B4-BE49-F238E27FC236}">
                <a16:creationId xmlns:a16="http://schemas.microsoft.com/office/drawing/2014/main" id="{C2079D1D-F6FD-D5E5-5751-7BADFDFCF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3150" y="2169889"/>
            <a:ext cx="1135063" cy="320675"/>
          </a:xfrm>
          <a:prstGeom prst="wedgeRoundRectCallout">
            <a:avLst>
              <a:gd name="adj1" fmla="val -227065"/>
              <a:gd name="adj2" fmla="val 8019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1000</a:t>
            </a:r>
          </a:p>
        </p:txBody>
      </p:sp>
      <p:sp>
        <p:nvSpPr>
          <p:cNvPr id="25611" name="AutoShape 6">
            <a:extLst>
              <a:ext uri="{FF2B5EF4-FFF2-40B4-BE49-F238E27FC236}">
                <a16:creationId xmlns:a16="http://schemas.microsoft.com/office/drawing/2014/main" id="{48FC9350-1D75-78EB-109C-901EE68C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4100" y="3243039"/>
            <a:ext cx="1135063" cy="320675"/>
          </a:xfrm>
          <a:prstGeom prst="wedgeRoundRectCallout">
            <a:avLst>
              <a:gd name="adj1" fmla="val -233433"/>
              <a:gd name="adj2" fmla="val 39167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900</a:t>
            </a:r>
          </a:p>
        </p:txBody>
      </p:sp>
      <p:sp>
        <p:nvSpPr>
          <p:cNvPr id="25612" name="AutoShape 7">
            <a:extLst>
              <a:ext uri="{FF2B5EF4-FFF2-40B4-BE49-F238E27FC236}">
                <a16:creationId xmlns:a16="http://schemas.microsoft.com/office/drawing/2014/main" id="{95AD7FF5-CBE5-D620-74FD-079EF2A28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5205189"/>
            <a:ext cx="1135063" cy="320675"/>
          </a:xfrm>
          <a:prstGeom prst="wedgeRoundRectCallout">
            <a:avLst>
              <a:gd name="adj1" fmla="val -185806"/>
              <a:gd name="adj2" fmla="val 81685"/>
              <a:gd name="adj3" fmla="val 16667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Helvetica" panose="020B0604020202020204" pitchFamily="34" charset="0"/>
              </a:rPr>
              <a:t>2100</a:t>
            </a:r>
          </a:p>
        </p:txBody>
      </p:sp>
      <p:sp>
        <p:nvSpPr>
          <p:cNvPr id="25613" name="AutoShape 8">
            <a:extLst>
              <a:ext uri="{FF2B5EF4-FFF2-40B4-BE49-F238E27FC236}">
                <a16:creationId xmlns:a16="http://schemas.microsoft.com/office/drawing/2014/main" id="{4476091D-49F7-E97A-112A-6906CF0A8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930427"/>
            <a:ext cx="1135062" cy="320675"/>
          </a:xfrm>
          <a:prstGeom prst="wedgeRoundRectCallout">
            <a:avLst>
              <a:gd name="adj1" fmla="val -240630"/>
              <a:gd name="adj2" fmla="val -6633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2000</a:t>
            </a:r>
          </a:p>
        </p:txBody>
      </p:sp>
      <p:sp>
        <p:nvSpPr>
          <p:cNvPr id="25614" name="Line 1">
            <a:extLst>
              <a:ext uri="{FF2B5EF4-FFF2-40B4-BE49-F238E27FC236}">
                <a16:creationId xmlns:a16="http://schemas.microsoft.com/office/drawing/2014/main" id="{C9546ADB-23DB-0C52-4CFC-26101BFE1C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0150" y="3541489"/>
            <a:ext cx="652463" cy="568325"/>
          </a:xfrm>
          <a:prstGeom prst="line">
            <a:avLst/>
          </a:prstGeom>
          <a:ln>
            <a:solidFill>
              <a:srgbClr val="CC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5615" name="Line 2">
            <a:extLst>
              <a:ext uri="{FF2B5EF4-FFF2-40B4-BE49-F238E27FC236}">
                <a16:creationId xmlns:a16="http://schemas.microsoft.com/office/drawing/2014/main" id="{541D24AD-62ED-7B72-380B-F9240D40E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3163" y="5065489"/>
            <a:ext cx="595312" cy="527050"/>
          </a:xfrm>
          <a:prstGeom prst="line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C17746-4EC0-DCC3-69F5-55775AB6B6F8}"/>
              </a:ext>
            </a:extLst>
          </p:cNvPr>
          <p:cNvSpPr txBox="1"/>
          <p:nvPr/>
        </p:nvSpPr>
        <p:spPr>
          <a:xfrm>
            <a:off x="2411760" y="5929448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1" i="0" dirty="0">
                <a:latin typeface="Times New Roman" panose="02020603050405020304" pitchFamily="18" charset="0"/>
              </a:rPr>
              <a:t>A + B=</a:t>
            </a:r>
            <a:r>
              <a:rPr kumimoji="1" lang="en-US" altLang="zh-CN" sz="2400" b="1" i="0" dirty="0">
                <a:solidFill>
                  <a:srgbClr val="006600"/>
                </a:solidFill>
                <a:latin typeface="Times New Roman" panose="02020603050405020304" pitchFamily="18" charset="0"/>
              </a:rPr>
              <a:t>950+2100</a:t>
            </a:r>
            <a:r>
              <a:rPr kumimoji="1" lang="en-US" altLang="zh-CN" sz="2400" b="1" i="0" dirty="0">
                <a:latin typeface="Times New Roman" panose="02020603050405020304" pitchFamily="18" charset="0"/>
              </a:rPr>
              <a:t> = </a:t>
            </a:r>
            <a:r>
              <a:rPr kumimoji="1" lang="en-US" altLang="zh-CN" sz="2400" b="1" i="0" dirty="0">
                <a:solidFill>
                  <a:srgbClr val="0000FF"/>
                </a:solidFill>
                <a:latin typeface="Times New Roman" panose="02020603050405020304" pitchFamily="18" charset="0"/>
              </a:rPr>
              <a:t>3050 </a:t>
            </a:r>
            <a:r>
              <a:rPr kumimoji="1" lang="en-US" altLang="zh-CN" sz="2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!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 3000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46617" y="1356225"/>
            <a:ext cx="26178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调度</a:t>
            </a:r>
            <a:r>
              <a:rPr lang="en-US" altLang="zh-CN" b="1" dirty="0"/>
              <a:t>4: </a:t>
            </a:r>
          </a:p>
          <a:p>
            <a:r>
              <a:rPr lang="en-US" altLang="zh-CN" b="1" dirty="0"/>
              <a:t>   T1,T2</a:t>
            </a:r>
            <a:r>
              <a:rPr lang="zh-CN" altLang="en-US" b="1" dirty="0"/>
              <a:t>交叉执行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86C936-01D7-4207-8935-AB448684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D853-DB7F-494F-B584-99333810E7E5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02E41B-C1E9-4666-921E-8F8AF632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3A5008-8D68-4366-92E3-7B76A9F4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23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  <p:bldP spid="25606" grpId="0" animBg="1"/>
      <p:bldP spid="25607" grpId="0" animBg="1"/>
      <p:bldP spid="25608" grpId="0" animBg="1"/>
      <p:bldP spid="25610" grpId="0" animBg="1"/>
      <p:bldP spid="25611" grpId="0" animBg="1"/>
      <p:bldP spid="25612" grpId="0" animBg="1"/>
      <p:bldP spid="25613" grpId="0" animBg="1"/>
      <p:bldP spid="256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D2E76297-F728-F9EE-BEFA-891932E75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事务调度</a:t>
            </a:r>
          </a:p>
        </p:txBody>
      </p:sp>
      <p:sp>
        <p:nvSpPr>
          <p:cNvPr id="628739" name="Rectangle 3">
            <a:extLst>
              <a:ext uri="{FF2B5EF4-FFF2-40B4-BE49-F238E27FC236}">
                <a16:creationId xmlns:a16="http://schemas.microsoft.com/office/drawing/2014/main" id="{407E2970-B163-CDAA-6B3C-0BA79E335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340768"/>
            <a:ext cx="8332787" cy="5195887"/>
          </a:xfrm>
        </p:spPr>
        <p:txBody>
          <a:bodyPr/>
          <a:lstStyle/>
          <a:p>
            <a:pPr eaLnBrk="1" hangingPunct="1"/>
            <a:r>
              <a:rPr lang="zh-CN" altLang="en-US" b="1" dirty="0"/>
              <a:t>一组事务的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调度</a:t>
            </a:r>
            <a:r>
              <a:rPr lang="zh-CN" altLang="en-US" b="1" dirty="0"/>
              <a:t>必须保证：</a:t>
            </a:r>
          </a:p>
          <a:p>
            <a:pPr lvl="1" eaLnBrk="1" hangingPunct="1"/>
            <a:r>
              <a:rPr lang="zh-CN" altLang="en-US" b="1" dirty="0"/>
              <a:t>包含了</a:t>
            </a:r>
            <a:r>
              <a:rPr lang="zh-CN" altLang="en-US" b="1" dirty="0">
                <a:solidFill>
                  <a:srgbClr val="0000FF"/>
                </a:solidFill>
              </a:rPr>
              <a:t>所有事务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操作指令</a:t>
            </a:r>
            <a:r>
              <a:rPr lang="zh-CN" altLang="en-US" b="1" dirty="0"/>
              <a:t>；</a:t>
            </a:r>
          </a:p>
          <a:p>
            <a:pPr lvl="1" eaLnBrk="1" hangingPunct="1"/>
            <a:r>
              <a:rPr lang="zh-CN" altLang="en-US" b="1" dirty="0">
                <a:solidFill>
                  <a:srgbClr val="C00000"/>
                </a:solidFill>
              </a:rPr>
              <a:t>同一个</a:t>
            </a:r>
            <a:r>
              <a:rPr lang="zh-CN" altLang="en-US" b="1" dirty="0">
                <a:solidFill>
                  <a:srgbClr val="0000FF"/>
                </a:solidFill>
              </a:rPr>
              <a:t>事务</a:t>
            </a:r>
            <a:r>
              <a:rPr lang="zh-CN" altLang="en-US" b="1" dirty="0"/>
              <a:t>中</a:t>
            </a:r>
            <a:r>
              <a:rPr lang="zh-CN" altLang="en-US" b="1" dirty="0">
                <a:solidFill>
                  <a:srgbClr val="0000FF"/>
                </a:solidFill>
              </a:rPr>
              <a:t>指令的</a:t>
            </a:r>
            <a:r>
              <a:rPr lang="zh-CN" altLang="en-US" b="1" dirty="0">
                <a:solidFill>
                  <a:srgbClr val="C00000"/>
                </a:solidFill>
              </a:rPr>
              <a:t>顺序</a:t>
            </a:r>
            <a:r>
              <a:rPr lang="zh-CN" altLang="en-US" b="1" dirty="0"/>
              <a:t>必须</a:t>
            </a:r>
            <a:r>
              <a:rPr lang="zh-CN" altLang="en-US" b="1" dirty="0">
                <a:solidFill>
                  <a:srgbClr val="0000FF"/>
                </a:solidFill>
              </a:rPr>
              <a:t>保持</a:t>
            </a:r>
            <a:r>
              <a:rPr lang="zh-CN" altLang="en-US" b="1" dirty="0">
                <a:solidFill>
                  <a:srgbClr val="C00000"/>
                </a:solidFill>
              </a:rPr>
              <a:t>不变</a:t>
            </a:r>
            <a:r>
              <a:rPr lang="zh-CN" altLang="en-US" b="1" dirty="0">
                <a:solidFill>
                  <a:srgbClr val="0000FF"/>
                </a:solidFill>
              </a:rPr>
              <a:t>。</a:t>
            </a:r>
          </a:p>
          <a:p>
            <a:pPr eaLnBrk="1" hangingPunct="1"/>
            <a:r>
              <a:rPr lang="zh-CN" altLang="en-US" b="1" dirty="0"/>
              <a:t>分类</a:t>
            </a:r>
          </a:p>
          <a:p>
            <a:pPr lvl="1" eaLnBrk="1" hangingPunct="1"/>
            <a:r>
              <a:rPr lang="zh-CN" altLang="en-US" b="1" dirty="0">
                <a:solidFill>
                  <a:srgbClr val="FF0000"/>
                </a:solidFill>
              </a:rPr>
              <a:t>串行调度</a:t>
            </a:r>
          </a:p>
          <a:p>
            <a:pPr lvl="2" eaLnBrk="1" hangingPunct="1"/>
            <a:r>
              <a:rPr lang="zh-CN" altLang="en-US" b="1" dirty="0"/>
              <a:t>在串行调度中，属于</a:t>
            </a:r>
            <a:r>
              <a:rPr lang="zh-CN" altLang="en-US" b="1" dirty="0">
                <a:solidFill>
                  <a:srgbClr val="0000FF"/>
                </a:solidFill>
              </a:rPr>
              <a:t>同一事务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指令紧挨在一起；</a:t>
            </a:r>
          </a:p>
          <a:p>
            <a:pPr lvl="2" eaLnBrk="1" hangingPunct="1"/>
            <a:r>
              <a:rPr lang="zh-CN" altLang="en-US" b="1" dirty="0"/>
              <a:t>对于有</a:t>
            </a:r>
            <a:r>
              <a:rPr lang="en-US" altLang="zh-CN" b="1" dirty="0"/>
              <a:t>n</a:t>
            </a:r>
            <a:r>
              <a:rPr lang="zh-CN" altLang="en-US" b="1" dirty="0"/>
              <a:t>个事务的事务组，可以有</a:t>
            </a:r>
            <a:r>
              <a:rPr lang="en-US" altLang="zh-CN" b="1" dirty="0">
                <a:solidFill>
                  <a:srgbClr val="FF0000"/>
                </a:solidFill>
              </a:rPr>
              <a:t>n!</a:t>
            </a:r>
            <a:r>
              <a:rPr lang="zh-CN" altLang="en-US" b="1" dirty="0"/>
              <a:t>个有效串行调度；</a:t>
            </a:r>
          </a:p>
          <a:p>
            <a:pPr lvl="1" eaLnBrk="1" hangingPunct="1"/>
            <a:r>
              <a:rPr lang="zh-CN" altLang="en-US" b="1" dirty="0">
                <a:solidFill>
                  <a:srgbClr val="FF0000"/>
                </a:solidFill>
              </a:rPr>
              <a:t>并行调度</a:t>
            </a:r>
          </a:p>
          <a:p>
            <a:pPr lvl="2" eaLnBrk="1" hangingPunct="1"/>
            <a:r>
              <a:rPr lang="zh-CN" altLang="en-US" b="1" dirty="0"/>
              <a:t>在并行调度中，来自</a:t>
            </a:r>
            <a:r>
              <a:rPr lang="zh-CN" altLang="en-US" b="1" dirty="0">
                <a:solidFill>
                  <a:srgbClr val="FF0000"/>
                </a:solidFill>
              </a:rPr>
              <a:t>不同事务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指令</a:t>
            </a:r>
            <a:r>
              <a:rPr lang="zh-CN" altLang="en-US" b="1" dirty="0"/>
              <a:t>可以</a:t>
            </a:r>
            <a:r>
              <a:rPr lang="zh-CN" altLang="en-US" b="1" dirty="0">
                <a:solidFill>
                  <a:srgbClr val="FF0000"/>
                </a:solidFill>
              </a:rPr>
              <a:t>交叉</a:t>
            </a:r>
            <a:r>
              <a:rPr lang="zh-CN" altLang="en-US" b="1" dirty="0">
                <a:solidFill>
                  <a:srgbClr val="0000FF"/>
                </a:solidFill>
              </a:rPr>
              <a:t>执行；</a:t>
            </a:r>
            <a:endParaRPr lang="en-US" altLang="zh-CN" b="1" dirty="0">
              <a:solidFill>
                <a:srgbClr val="0000FF"/>
              </a:solidFill>
            </a:endParaRPr>
          </a:p>
          <a:p>
            <a:pPr lvl="2" eaLnBrk="1" hangingPunct="1"/>
            <a:r>
              <a:rPr lang="zh-CN" altLang="en-US" b="1" dirty="0">
                <a:solidFill>
                  <a:srgbClr val="FF0000"/>
                </a:solidFill>
              </a:rPr>
              <a:t>并非</a:t>
            </a:r>
            <a:r>
              <a:rPr lang="zh-CN" altLang="en-US" b="1" dirty="0"/>
              <a:t>所有的</a:t>
            </a:r>
            <a:r>
              <a:rPr lang="zh-CN" altLang="en-US" b="1" dirty="0">
                <a:solidFill>
                  <a:srgbClr val="0000FF"/>
                </a:solidFill>
              </a:rPr>
              <a:t>并发执行</a:t>
            </a:r>
            <a:r>
              <a:rPr lang="zh-CN" altLang="en-US" b="1" dirty="0"/>
              <a:t>都能得到</a:t>
            </a:r>
            <a:r>
              <a:rPr lang="zh-CN" altLang="en-US" b="1" dirty="0">
                <a:solidFill>
                  <a:srgbClr val="0000FF"/>
                </a:solidFill>
              </a:rPr>
              <a:t>正确的状态</a:t>
            </a:r>
            <a:r>
              <a:rPr lang="zh-CN" altLang="en-US" b="1" dirty="0"/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83B413-2BA4-4C3F-B599-7258B8E8B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D82C-8A95-475A-8FD6-F6E4EA2392E4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59CA89-94FE-4BE0-9702-F2850C9C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F864B6-0648-45E2-986C-D73BFCA9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24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6602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8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8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28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8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28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8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B88150E6-AA04-95C6-C449-6E8F60EF3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并行调度 </a:t>
            </a:r>
            <a:r>
              <a:rPr lang="en-US" altLang="zh-CN" b="1" dirty="0"/>
              <a:t>VS </a:t>
            </a:r>
            <a:r>
              <a:rPr lang="zh-CN" altLang="en-US" b="1" dirty="0"/>
              <a:t>串行调度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77ED195-F061-10F9-3936-B9B21F73B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412776"/>
            <a:ext cx="7900988" cy="51466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500" b="1" dirty="0"/>
              <a:t>比较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100" b="1" dirty="0"/>
              <a:t>并行事务可能会</a:t>
            </a:r>
            <a:r>
              <a:rPr lang="zh-CN" altLang="en-US" sz="2100" b="1" dirty="0">
                <a:solidFill>
                  <a:srgbClr val="0000FF"/>
                </a:solidFill>
              </a:rPr>
              <a:t>破坏数据库的一致性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100" b="1" dirty="0"/>
              <a:t>串行事务</a:t>
            </a:r>
            <a:r>
              <a:rPr lang="zh-CN" altLang="en-US" sz="2100" b="1" dirty="0">
                <a:solidFill>
                  <a:srgbClr val="0000FF"/>
                </a:solidFill>
              </a:rPr>
              <a:t>效率低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500" b="1" dirty="0"/>
              <a:t>并行的优点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100" b="1" dirty="0"/>
              <a:t>一个事务由</a:t>
            </a:r>
            <a:r>
              <a:rPr lang="zh-CN" altLang="en-US" sz="2100" b="1" dirty="0">
                <a:solidFill>
                  <a:srgbClr val="006600"/>
                </a:solidFill>
              </a:rPr>
              <a:t>不同的步骤</a:t>
            </a:r>
            <a:r>
              <a:rPr lang="zh-CN" altLang="en-US" sz="2100" b="1" dirty="0"/>
              <a:t>组成，</a:t>
            </a:r>
            <a:r>
              <a:rPr lang="zh-CN" altLang="en-US" sz="2100" b="1" dirty="0">
                <a:solidFill>
                  <a:srgbClr val="0000FF"/>
                </a:solidFill>
              </a:rPr>
              <a:t>所涉及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0000FF"/>
                </a:solidFill>
              </a:rPr>
              <a:t>系统资源</a:t>
            </a:r>
            <a:r>
              <a:rPr lang="zh-CN" altLang="en-US" sz="2100" b="1" dirty="0">
                <a:solidFill>
                  <a:srgbClr val="FF0000"/>
                </a:solidFill>
              </a:rPr>
              <a:t>也不同</a:t>
            </a:r>
            <a:r>
              <a:rPr lang="zh-CN" altLang="en-US" sz="2100" b="1" dirty="0"/>
              <a:t>。这些步骤的并发执行可以提高</a:t>
            </a:r>
            <a:r>
              <a:rPr lang="zh-CN" altLang="en-US" sz="2100" b="1" dirty="0">
                <a:solidFill>
                  <a:srgbClr val="FF0000"/>
                </a:solidFill>
              </a:rPr>
              <a:t>系统的吞吐量；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100" b="1" dirty="0"/>
              <a:t>系统中存在着</a:t>
            </a:r>
            <a:r>
              <a:rPr lang="zh-CN" altLang="en-US" sz="2100" b="1" dirty="0">
                <a:solidFill>
                  <a:srgbClr val="FF0000"/>
                </a:solidFill>
              </a:rPr>
              <a:t>周期不等</a:t>
            </a:r>
            <a:r>
              <a:rPr lang="zh-CN" altLang="en-US" sz="2100" b="1" dirty="0"/>
              <a:t>的各种事务，串行会导致</a:t>
            </a:r>
            <a:r>
              <a:rPr lang="zh-CN" altLang="en-US" sz="2100" b="1" dirty="0">
                <a:solidFill>
                  <a:srgbClr val="0000FF"/>
                </a:solidFill>
              </a:rPr>
              <a:t>难以预测的时延</a:t>
            </a:r>
            <a:r>
              <a:rPr lang="zh-CN" altLang="en-US" sz="2100" b="1" dirty="0"/>
              <a:t>。如果</a:t>
            </a:r>
            <a:r>
              <a:rPr lang="zh-CN" altLang="en-US" sz="2100" b="1" u="sng" dirty="0"/>
              <a:t>各个事务</a:t>
            </a:r>
            <a:r>
              <a:rPr lang="zh-CN" altLang="en-US" sz="2100" b="1" dirty="0"/>
              <a:t>所涉及的是</a:t>
            </a:r>
            <a:r>
              <a:rPr lang="zh-CN" altLang="en-US" sz="2100" b="1" dirty="0">
                <a:solidFill>
                  <a:srgbClr val="0000FF"/>
                </a:solidFill>
              </a:rPr>
              <a:t>数据库的</a:t>
            </a:r>
            <a:r>
              <a:rPr lang="zh-CN" altLang="en-US" sz="2100" b="1" dirty="0">
                <a:solidFill>
                  <a:srgbClr val="006600"/>
                </a:solidFill>
              </a:rPr>
              <a:t>不同部分</a:t>
            </a:r>
            <a:r>
              <a:rPr lang="zh-CN" altLang="en-US" sz="2100" b="1" dirty="0"/>
              <a:t>，</a:t>
            </a:r>
            <a:r>
              <a:rPr lang="zh-CN" altLang="en-US" sz="2100" b="1" dirty="0">
                <a:solidFill>
                  <a:srgbClr val="0000FF"/>
                </a:solidFill>
              </a:rPr>
              <a:t>采用并发</a:t>
            </a:r>
            <a:r>
              <a:rPr lang="zh-CN" altLang="en-US" sz="2100" b="1" dirty="0"/>
              <a:t>会减少</a:t>
            </a:r>
            <a:r>
              <a:rPr lang="zh-CN" altLang="en-US" sz="2100" b="1" dirty="0">
                <a:solidFill>
                  <a:srgbClr val="FF0000"/>
                </a:solidFill>
              </a:rPr>
              <a:t>平均响应时间。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500" b="1" dirty="0">
                <a:solidFill>
                  <a:schemeClr val="tx2"/>
                </a:solidFill>
              </a:rPr>
              <a:t>并发控制方案</a:t>
            </a:r>
            <a:endParaRPr lang="zh-CN" altLang="en-US" sz="25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100" b="1" dirty="0"/>
              <a:t>达到</a:t>
            </a:r>
            <a:r>
              <a:rPr lang="zh-CN" altLang="en-US" sz="2100" b="1" dirty="0">
                <a:solidFill>
                  <a:srgbClr val="0000FF"/>
                </a:solidFill>
              </a:rPr>
              <a:t>隔离性</a:t>
            </a:r>
            <a:r>
              <a:rPr lang="zh-CN" altLang="en-US" sz="2100" b="1" dirty="0"/>
              <a:t>的机制，即</a:t>
            </a:r>
            <a:r>
              <a:rPr lang="zh-CN" altLang="en-US" sz="2100" b="1" u="sng" dirty="0"/>
              <a:t>控制并发事务的交互</a:t>
            </a:r>
            <a:r>
              <a:rPr lang="zh-CN" altLang="en-US" sz="2100" b="1" dirty="0"/>
              <a:t>以</a:t>
            </a:r>
            <a:r>
              <a:rPr lang="zh-CN" altLang="en-US" sz="2100" b="1" dirty="0">
                <a:solidFill>
                  <a:srgbClr val="0000FF"/>
                </a:solidFill>
              </a:rPr>
              <a:t>防止它们破坏数据库的一致性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A70912-95FE-48FD-9726-44DF8FF1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45F3-D121-4F56-8256-5CCCDB84CEEF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AEC5E0-D7EB-401A-9978-82BBF03F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91BF2B-E220-4D63-9654-C3CFB34E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25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事务状态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并发执行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可串行化及判定</a:t>
            </a:r>
          </a:p>
          <a:p>
            <a:r>
              <a:rPr lang="en-US" altLang="zh-CN" dirty="0"/>
              <a:t>5 </a:t>
            </a:r>
            <a:r>
              <a:rPr lang="zh-CN" altLang="en-US" dirty="0"/>
              <a:t>可恢复性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隔离性的实现</a:t>
            </a: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907805" y="3501008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16DD67-0C32-491E-8107-11510EA7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769ED-5786-4EC9-AF41-799BFDB16448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AA1C7-1A47-4C12-A8DC-1D90FB2E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930B14-4451-4D1F-A148-4293B0CA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26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9655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并发调度的可串行性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38864" cy="4684713"/>
          </a:xfrm>
        </p:spPr>
        <p:txBody>
          <a:bodyPr/>
          <a:lstStyle/>
          <a:p>
            <a:r>
              <a:rPr lang="zh-CN" altLang="en-US" sz="2800" b="1" dirty="0"/>
              <a:t>计算机系统对并发事务中</a:t>
            </a:r>
            <a:r>
              <a:rPr lang="zh-CN" altLang="en-US" sz="2800" b="1" dirty="0">
                <a:solidFill>
                  <a:schemeClr val="tx2"/>
                </a:solidFill>
              </a:rPr>
              <a:t>并发操作的调度</a:t>
            </a:r>
            <a:r>
              <a:rPr lang="zh-CN" altLang="en-US" sz="2800" b="1" dirty="0"/>
              <a:t>是随机的，而</a:t>
            </a:r>
            <a:r>
              <a:rPr lang="zh-CN" altLang="en-US" sz="2800" b="1" u="sng" dirty="0">
                <a:solidFill>
                  <a:schemeClr val="tx2"/>
                </a:solidFill>
              </a:rPr>
              <a:t>不同的调度</a:t>
            </a:r>
            <a:r>
              <a:rPr lang="zh-CN" altLang="en-US" sz="2800" b="1" dirty="0"/>
              <a:t>可能会产生</a:t>
            </a:r>
            <a:r>
              <a:rPr lang="zh-CN" altLang="en-US" sz="2800" b="1" u="sng" dirty="0">
                <a:solidFill>
                  <a:schemeClr val="tx2"/>
                </a:solidFill>
              </a:rPr>
              <a:t>不同的结果</a:t>
            </a:r>
            <a:r>
              <a:rPr lang="zh-CN" altLang="en-US" sz="2800" b="1" dirty="0"/>
              <a:t>，那么</a:t>
            </a:r>
            <a:r>
              <a:rPr lang="zh-CN" altLang="en-US" sz="2800" b="1" u="sng" dirty="0"/>
              <a:t>哪个结果是</a:t>
            </a:r>
            <a:r>
              <a:rPr lang="zh-CN" altLang="en-US" sz="2800" b="1" u="sng" dirty="0">
                <a:solidFill>
                  <a:srgbClr val="FF0000"/>
                </a:solidFill>
              </a:rPr>
              <a:t>正确</a:t>
            </a:r>
            <a:r>
              <a:rPr lang="zh-CN" altLang="en-US" sz="2800" b="1" u="sng" dirty="0"/>
              <a:t>的，哪个是</a:t>
            </a:r>
            <a:r>
              <a:rPr lang="zh-CN" altLang="en-US" sz="2800" b="1" u="sng" dirty="0">
                <a:solidFill>
                  <a:srgbClr val="0000FF"/>
                </a:solidFill>
              </a:rPr>
              <a:t>不正确</a:t>
            </a:r>
            <a:r>
              <a:rPr lang="zh-CN" altLang="en-US" sz="2800" b="1" u="sng" dirty="0"/>
              <a:t>的呢</a:t>
            </a:r>
            <a:r>
              <a:rPr lang="zh-CN" altLang="en-US" sz="2800" b="1" dirty="0"/>
              <a:t>？</a:t>
            </a:r>
          </a:p>
          <a:p>
            <a:endParaRPr lang="zh-CN" altLang="en-US" sz="800" b="1" dirty="0"/>
          </a:p>
          <a:p>
            <a:r>
              <a:rPr lang="zh-CN" altLang="en-US" sz="2800" b="1" dirty="0"/>
              <a:t>事务</a:t>
            </a:r>
            <a:r>
              <a:rPr lang="zh-CN" altLang="en-US" sz="2800" b="1" dirty="0">
                <a:solidFill>
                  <a:schemeClr val="tx2"/>
                </a:solidFill>
              </a:rPr>
              <a:t>串行执行</a:t>
            </a:r>
            <a:r>
              <a:rPr lang="zh-CN" altLang="en-US" sz="2800" b="1" dirty="0"/>
              <a:t>的结果是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正确</a:t>
            </a:r>
            <a:r>
              <a:rPr lang="zh-CN" altLang="en-US" sz="2800" b="1" dirty="0"/>
              <a:t>的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事务间互相没有干扰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。</a:t>
            </a:r>
          </a:p>
          <a:p>
            <a:endParaRPr lang="zh-CN" altLang="en-US" sz="800" b="1" dirty="0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6156176" y="3509585"/>
            <a:ext cx="0" cy="3024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6156176" y="4949448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6156176" y="5886073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6154589" y="407949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  <a:buFont typeface="Wingdings" pitchFamily="2" charset="2"/>
              <a:buNone/>
            </a:pPr>
            <a:r>
              <a:rPr lang="en-US" altLang="zh-CN" b="1">
                <a:latin typeface="Times New Roman" pitchFamily="18" charset="0"/>
              </a:rPr>
              <a:t>T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6173639" y="509391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  <a:buFont typeface="Wingdings" pitchFamily="2" charset="2"/>
              <a:buNone/>
            </a:pPr>
            <a:r>
              <a:rPr lang="en-US" altLang="zh-CN" b="1">
                <a:latin typeface="Times New Roman" pitchFamily="18" charset="0"/>
              </a:rPr>
              <a:t>T</a:t>
            </a:r>
            <a:r>
              <a:rPr lang="en-US" altLang="zh-CN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173639" y="595751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  <a:buFont typeface="Wingdings" pitchFamily="2" charset="2"/>
              <a:buNone/>
            </a:pPr>
            <a:r>
              <a:rPr lang="en-US" altLang="zh-CN" b="1">
                <a:latin typeface="Times New Roman" pitchFamily="18" charset="0"/>
              </a:rPr>
              <a:t>T</a:t>
            </a:r>
            <a:r>
              <a:rPr lang="en-US" altLang="zh-CN" b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3342228" y="4772065"/>
            <a:ext cx="2241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SzPct val="100000"/>
              <a:buFont typeface="Wingdings" pitchFamily="2" charset="2"/>
              <a:buNone/>
            </a:pPr>
            <a:r>
              <a:rPr lang="zh-CN" altLang="zh-CN" b="1">
                <a:latin typeface="Times New Roman" pitchFamily="18" charset="0"/>
              </a:rPr>
              <a:t>事务的串行执行方式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CEC26-A8D6-4BB2-80AD-540733CD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9749C-341C-4A24-95C8-76731F53B955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990A31-FDE3-4BD0-BCF2-FA57A950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CC3F5-D50E-46AC-BF3B-0B7CE9AB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27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8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8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11.4 </a:t>
            </a:r>
            <a:r>
              <a:rPr lang="zh-CN" altLang="en-US"/>
              <a:t>并发调度的可串行性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38864" cy="4684713"/>
          </a:xfrm>
        </p:spPr>
        <p:txBody>
          <a:bodyPr/>
          <a:lstStyle/>
          <a:p>
            <a:r>
              <a:rPr lang="zh-CN" altLang="en-US" sz="2800" b="1" dirty="0"/>
              <a:t>多个事务的</a:t>
            </a:r>
            <a:r>
              <a:rPr lang="zh-CN" altLang="en-US" sz="2800" b="1" dirty="0">
                <a:solidFill>
                  <a:schemeClr val="tx2"/>
                </a:solidFill>
              </a:rPr>
              <a:t>并发执行是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正确</a:t>
            </a:r>
            <a:r>
              <a:rPr lang="zh-CN" altLang="en-US" sz="2800" b="1" dirty="0"/>
              <a:t>的，</a:t>
            </a:r>
            <a:r>
              <a:rPr lang="zh-CN" altLang="en-US" sz="28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当且仅当</a:t>
            </a:r>
            <a:r>
              <a:rPr lang="zh-CN" altLang="en-US" sz="2800" b="1" dirty="0">
                <a:solidFill>
                  <a:srgbClr val="C00000"/>
                </a:solidFill>
              </a:rPr>
              <a:t>其结果</a:t>
            </a:r>
            <a:r>
              <a:rPr lang="zh-CN" altLang="en-US" sz="2800" b="1" dirty="0"/>
              <a:t>与按</a:t>
            </a:r>
            <a:r>
              <a:rPr lang="zh-CN" altLang="en-US" sz="2800" b="1" dirty="0">
                <a:solidFill>
                  <a:srgbClr val="0000FF"/>
                </a:solidFill>
              </a:rPr>
              <a:t>某一次序</a:t>
            </a:r>
            <a:r>
              <a:rPr lang="zh-CN" altLang="en-US" sz="2800" b="1" dirty="0">
                <a:solidFill>
                  <a:srgbClr val="C00000"/>
                </a:solidFill>
              </a:rPr>
              <a:t>串行地</a:t>
            </a:r>
            <a:r>
              <a:rPr lang="zh-CN" altLang="en-US" sz="2800" b="1" dirty="0">
                <a:solidFill>
                  <a:schemeClr val="tx2"/>
                </a:solidFill>
              </a:rPr>
              <a:t>执行它们时的</a:t>
            </a:r>
            <a:r>
              <a:rPr lang="zh-CN" altLang="en-US" sz="2800" b="1" dirty="0">
                <a:solidFill>
                  <a:srgbClr val="C00000"/>
                </a:solidFill>
              </a:rPr>
              <a:t>结果相同</a:t>
            </a:r>
            <a:r>
              <a:rPr lang="zh-CN" altLang="en-US" sz="2800" b="1" dirty="0"/>
              <a:t>，我们称这种</a:t>
            </a:r>
            <a:r>
              <a:rPr lang="zh-CN" altLang="en-US" sz="2800" b="1" dirty="0">
                <a:solidFill>
                  <a:schemeClr val="tx2"/>
                </a:solidFill>
              </a:rPr>
              <a:t>调度策略</a:t>
            </a:r>
            <a:r>
              <a:rPr lang="zh-CN" altLang="en-US" sz="2800" b="1" dirty="0"/>
              <a:t>为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可串行化</a:t>
            </a:r>
            <a:r>
              <a:rPr lang="zh-CN" altLang="en-US" sz="2800" b="1" dirty="0">
                <a:solidFill>
                  <a:srgbClr val="C00000"/>
                </a:solidFill>
              </a:rPr>
              <a:t>（</a:t>
            </a:r>
            <a:r>
              <a:rPr lang="en-US" altLang="zh-CN" sz="2800" b="1" dirty="0"/>
              <a:t>Serializable</a:t>
            </a:r>
            <a:r>
              <a:rPr lang="zh-CN" altLang="en-US" sz="2800" b="1" dirty="0"/>
              <a:t>）的调度</a:t>
            </a:r>
            <a:r>
              <a:rPr lang="zh-CN" altLang="en-US" sz="2800" b="1" i="1" dirty="0"/>
              <a:t>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105145"/>
            <a:ext cx="2200275" cy="288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84355" y="436510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单处理机系统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F5AAC3D-E2C1-4B0A-A90A-AF171E1D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04687-64AD-425A-8940-C2AEB4F8625F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D2E31793-DB81-41B9-9DCA-CC2202FE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AD93E15-EB1E-4429-AFE9-912B8238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28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9224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E288ED15-55E2-F58D-4160-4A0817BC1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可串行化</a:t>
            </a:r>
            <a:endParaRPr lang="en-US" altLang="zh-CN" b="1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2579E4B-DB4A-591E-8ABF-8565A94AC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340768"/>
            <a:ext cx="7907337" cy="5199062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基本假定</a:t>
            </a:r>
          </a:p>
          <a:p>
            <a:pPr lvl="1" eaLnBrk="1" hangingPunct="1"/>
            <a:r>
              <a:rPr lang="zh-CN" altLang="en-US" sz="2100" b="1" dirty="0"/>
              <a:t>每个事务都保持数据库的一致性</a:t>
            </a:r>
            <a:endParaRPr lang="en-US" altLang="zh-CN" sz="2100" b="1" dirty="0"/>
          </a:p>
          <a:p>
            <a:pPr lvl="1" eaLnBrk="1" hangingPunct="1"/>
            <a:r>
              <a:rPr lang="zh-CN" altLang="en-US" sz="2100" b="1" dirty="0"/>
              <a:t>一组事务的</a:t>
            </a:r>
            <a:r>
              <a:rPr lang="zh-CN" altLang="en-US" sz="2100" b="1" dirty="0">
                <a:solidFill>
                  <a:srgbClr val="0000FF"/>
                </a:solidFill>
              </a:rPr>
              <a:t>串行执行</a:t>
            </a:r>
            <a:r>
              <a:rPr lang="zh-CN" altLang="en-US" sz="2100" b="1" dirty="0"/>
              <a:t>也</a:t>
            </a:r>
            <a:r>
              <a:rPr lang="zh-CN" altLang="en-US" sz="2100" b="1" dirty="0">
                <a:solidFill>
                  <a:srgbClr val="0000FF"/>
                </a:solidFill>
              </a:rPr>
              <a:t>保持数据库的一致性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500" b="1" dirty="0"/>
              <a:t>一个</a:t>
            </a:r>
            <a:r>
              <a:rPr lang="en-US" altLang="zh-CN" sz="2500" b="1" dirty="0"/>
              <a:t>(</a:t>
            </a:r>
            <a:r>
              <a:rPr lang="zh-CN" altLang="en-US" sz="2500" b="1" dirty="0"/>
              <a:t>并发</a:t>
            </a:r>
            <a:r>
              <a:rPr lang="en-US" altLang="zh-CN" sz="2500" b="1" dirty="0"/>
              <a:t>)</a:t>
            </a:r>
            <a:r>
              <a:rPr lang="zh-CN" altLang="en-US" sz="2500" b="1" dirty="0"/>
              <a:t>调度是</a:t>
            </a:r>
            <a:r>
              <a:rPr lang="zh-CN" altLang="en-US" sz="2500" b="1" dirty="0">
                <a:solidFill>
                  <a:srgbClr val="FF0000"/>
                </a:solidFill>
              </a:rPr>
              <a:t>可串行化</a:t>
            </a:r>
            <a:r>
              <a:rPr lang="zh-CN" altLang="en-US" sz="2500" b="1" dirty="0"/>
              <a:t>的：当且仅当它与</a:t>
            </a:r>
            <a:r>
              <a:rPr lang="zh-CN" altLang="en-US" sz="2500" b="1" dirty="0">
                <a:solidFill>
                  <a:srgbClr val="0000FF"/>
                </a:solidFill>
              </a:rPr>
              <a:t>一个串行调度</a:t>
            </a:r>
            <a:r>
              <a:rPr lang="zh-CN" altLang="en-US" sz="2500" b="1" dirty="0">
                <a:solidFill>
                  <a:srgbClr val="FF0000"/>
                </a:solidFill>
              </a:rPr>
              <a:t>等价</a:t>
            </a:r>
          </a:p>
          <a:p>
            <a:pPr eaLnBrk="1" hangingPunct="1"/>
            <a:r>
              <a:rPr lang="zh-CN" altLang="en-US" sz="2500" b="1" dirty="0"/>
              <a:t>不同形式的</a:t>
            </a:r>
            <a:r>
              <a:rPr lang="zh-CN" altLang="en-US" sz="2500" b="1" dirty="0">
                <a:solidFill>
                  <a:srgbClr val="0000FF"/>
                </a:solidFill>
              </a:rPr>
              <a:t>调度</a:t>
            </a:r>
            <a:r>
              <a:rPr lang="zh-CN" altLang="en-US" sz="2500" b="1" dirty="0">
                <a:solidFill>
                  <a:srgbClr val="FF0000"/>
                </a:solidFill>
              </a:rPr>
              <a:t>等价</a:t>
            </a:r>
            <a:r>
              <a:rPr lang="zh-CN" altLang="en-US" sz="2500" b="1" dirty="0"/>
              <a:t>定义(</a:t>
            </a:r>
            <a:r>
              <a:rPr lang="zh-CN" altLang="en-US" sz="2500" b="1" dirty="0">
                <a:solidFill>
                  <a:srgbClr val="006600"/>
                </a:solidFill>
              </a:rPr>
              <a:t>冲突等价</a:t>
            </a:r>
            <a:r>
              <a:rPr lang="zh-CN" altLang="en-US" sz="2500" b="1" dirty="0"/>
              <a:t>和视图等价)导致不同的可串行化概念</a:t>
            </a:r>
            <a:endParaRPr lang="en-US" altLang="zh-CN" sz="2500" b="1" dirty="0"/>
          </a:p>
          <a:p>
            <a:pPr lvl="2">
              <a:buNone/>
            </a:pPr>
            <a:r>
              <a:rPr lang="en-US" altLang="zh-CN" sz="2000" b="1" dirty="0"/>
              <a:t>1. </a:t>
            </a:r>
            <a:r>
              <a:rPr lang="zh-CN" altLang="en-US" sz="2000" b="1" dirty="0">
                <a:solidFill>
                  <a:srgbClr val="FF0000"/>
                </a:solidFill>
              </a:rPr>
              <a:t>冲突可串行化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 sz="2000" b="1" dirty="0"/>
              <a:t>2. </a:t>
            </a:r>
            <a:r>
              <a:rPr lang="zh-CN" altLang="en-US" sz="2000" b="1" dirty="0"/>
              <a:t>视图可串行化：计算复杂度高，实践中并未使用</a:t>
            </a:r>
            <a:endParaRPr lang="en-US" altLang="zh-CN" sz="2000" b="1" dirty="0"/>
          </a:p>
          <a:p>
            <a:pPr eaLnBrk="1" hangingPunct="1"/>
            <a:r>
              <a:rPr lang="zh-CN" altLang="en-US" sz="2500" b="1" dirty="0">
                <a:solidFill>
                  <a:srgbClr val="006600"/>
                </a:solidFill>
              </a:rPr>
              <a:t>忽略</a:t>
            </a:r>
            <a:r>
              <a:rPr lang="zh-CN" altLang="en-US" sz="2500" b="1" dirty="0"/>
              <a:t>除</a:t>
            </a:r>
            <a:r>
              <a:rPr lang="en-US" altLang="zh-CN" sz="2500" b="1" dirty="0"/>
              <a:t>read</a:t>
            </a:r>
            <a:r>
              <a:rPr lang="zh-CN" altLang="en-US" sz="2500" b="1" dirty="0"/>
              <a:t>和</a:t>
            </a:r>
            <a:r>
              <a:rPr lang="en-US" altLang="zh-CN" sz="2500" b="1" dirty="0"/>
              <a:t>write</a:t>
            </a:r>
            <a:r>
              <a:rPr lang="zh-CN" altLang="en-US" sz="2500" b="1" dirty="0"/>
              <a:t>之外的操作指令，并且假设在读和写之间事务对</a:t>
            </a:r>
            <a:r>
              <a:rPr lang="zh-CN" altLang="en-US" sz="2500" b="1" dirty="0">
                <a:solidFill>
                  <a:srgbClr val="006600"/>
                </a:solidFill>
              </a:rPr>
              <a:t>局部缓冲区内的数据</a:t>
            </a:r>
            <a:r>
              <a:rPr lang="zh-CN" altLang="en-US" sz="2500" b="1" dirty="0"/>
              <a:t>可以执行任意的计算，简化的调度只包含</a:t>
            </a:r>
            <a:r>
              <a:rPr lang="en-US" altLang="zh-CN" sz="2500" b="1" dirty="0">
                <a:solidFill>
                  <a:srgbClr val="0000FF"/>
                </a:solidFill>
              </a:rPr>
              <a:t>read</a:t>
            </a:r>
            <a:r>
              <a:rPr lang="zh-CN" altLang="en-US" sz="2500" b="1" dirty="0"/>
              <a:t>与</a:t>
            </a:r>
            <a:r>
              <a:rPr lang="en-US" altLang="zh-CN" sz="2500" b="1" dirty="0">
                <a:solidFill>
                  <a:srgbClr val="0000FF"/>
                </a:solidFill>
              </a:rPr>
              <a:t>write</a:t>
            </a:r>
            <a:r>
              <a:rPr lang="zh-CN" altLang="en-US" sz="2500" b="1" dirty="0">
                <a:solidFill>
                  <a:srgbClr val="0000FF"/>
                </a:solidFill>
              </a:rPr>
              <a:t>指令</a:t>
            </a:r>
            <a:endParaRPr lang="en-US" altLang="zh-CN" sz="2500" b="1" dirty="0">
              <a:solidFill>
                <a:srgbClr val="0000FF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1B1F10-9117-4798-8A28-CC41FB5E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F003-9517-4684-90F7-E57DC5AB3F7F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03BF67-F5D0-44F2-AA9E-929C813C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6967A6-7EA6-497E-BCD0-93FA419C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29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A56EC405-436F-B8F1-FDFB-8EB1B3E3C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冲突语义</a:t>
            </a:r>
            <a:endParaRPr lang="en-US" altLang="zh-CN" b="1" dirty="0"/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E2A0272-A176-DAAA-477A-8CFA9C578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7" y="1414165"/>
            <a:ext cx="8105775" cy="5183187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假设一个</a:t>
            </a:r>
            <a:r>
              <a:rPr lang="zh-CN" altLang="en-US" sz="2400" b="1" dirty="0">
                <a:solidFill>
                  <a:srgbClr val="0000FF"/>
                </a:solidFill>
              </a:rPr>
              <a:t>调度</a:t>
            </a: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/>
              <a:t>中有事务</a:t>
            </a:r>
            <a:r>
              <a:rPr lang="en-US" altLang="zh-CN" sz="2400" b="1" dirty="0" err="1">
                <a:solidFill>
                  <a:srgbClr val="0000FF"/>
                </a:solidFill>
              </a:rPr>
              <a:t>T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和</a:t>
            </a:r>
            <a:r>
              <a:rPr lang="en-US" altLang="zh-CN" sz="2400" b="1" dirty="0" err="1">
                <a:solidFill>
                  <a:srgbClr val="0000FF"/>
                </a:solidFill>
              </a:rPr>
              <a:t>T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400" b="1" dirty="0"/>
              <a:t>的两条</a:t>
            </a:r>
            <a:r>
              <a:rPr lang="zh-CN" altLang="en-US" sz="2400" b="1" dirty="0">
                <a:solidFill>
                  <a:srgbClr val="FF0000"/>
                </a:solidFill>
              </a:rPr>
              <a:t>连续指令</a:t>
            </a:r>
            <a:r>
              <a:rPr lang="en-US" altLang="zh-CN" sz="2400" b="1" dirty="0">
                <a:solidFill>
                  <a:srgbClr val="FF0000"/>
                </a:solidFill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/>
              <a:t>和</a:t>
            </a:r>
            <a:r>
              <a:rPr lang="en-US" altLang="zh-CN" sz="2400" b="1" dirty="0" err="1">
                <a:solidFill>
                  <a:srgbClr val="FF0000"/>
                </a:solidFill>
              </a:rPr>
              <a:t>l</a:t>
            </a:r>
            <a:r>
              <a:rPr lang="en-US" altLang="zh-CN" sz="2400" b="1" baseline="-25000" dirty="0" err="1">
                <a:solidFill>
                  <a:srgbClr val="FF0000"/>
                </a:solidFill>
              </a:rPr>
              <a:t>j</a:t>
            </a:r>
            <a:r>
              <a:rPr lang="zh-CN" altLang="en-US" sz="2400" b="1" dirty="0"/>
              <a:t>，如果两个指令</a:t>
            </a:r>
            <a:r>
              <a:rPr lang="zh-CN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存取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不同的</a:t>
            </a:r>
            <a:r>
              <a:rPr lang="zh-CN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</a:t>
            </a:r>
            <a:r>
              <a:rPr lang="zh-CN" altLang="en-US" sz="2400" b="1" dirty="0"/>
              <a:t>，则</a:t>
            </a:r>
            <a:r>
              <a:rPr lang="zh-CN" altLang="en-US" sz="2400" b="1" u="sng" dirty="0"/>
              <a:t>交换这两个指令</a:t>
            </a:r>
            <a:r>
              <a:rPr lang="zh-CN" altLang="en-US" sz="2400" b="1" dirty="0">
                <a:solidFill>
                  <a:srgbClr val="0000FF"/>
                </a:solidFill>
              </a:rPr>
              <a:t>不会影响</a:t>
            </a:r>
            <a:r>
              <a:rPr lang="zh-CN" altLang="en-US" sz="2400" b="1" dirty="0"/>
              <a:t>调度的结果；但如果两个指令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存取</a:t>
            </a:r>
            <a:r>
              <a:rPr lang="zh-CN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相同的</a:t>
            </a:r>
            <a:r>
              <a:rPr lang="zh-CN" altLang="en-US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</a:t>
            </a:r>
            <a:r>
              <a:rPr lang="zh-CN" altLang="en-US" sz="2400" b="1" dirty="0"/>
              <a:t>则这</a:t>
            </a:r>
            <a:r>
              <a:rPr lang="zh-CN" altLang="en-US" sz="2400" b="1" u="sng" dirty="0"/>
              <a:t>两条</a:t>
            </a:r>
            <a:r>
              <a:rPr lang="zh-CN" altLang="en-US" sz="2400" b="1" u="sng" dirty="0">
                <a:solidFill>
                  <a:srgbClr val="FF0000"/>
                </a:solidFill>
              </a:rPr>
              <a:t>指令</a:t>
            </a:r>
            <a:r>
              <a:rPr lang="zh-CN" altLang="en-US" sz="2400" b="1" u="sng" dirty="0"/>
              <a:t>的次序</a:t>
            </a:r>
            <a:r>
              <a:rPr lang="zh-CN" altLang="en-US" sz="2400" b="1" dirty="0"/>
              <a:t>可能是</a:t>
            </a:r>
            <a:r>
              <a:rPr lang="zh-CN" altLang="en-US" sz="2400" b="1" dirty="0">
                <a:solidFill>
                  <a:srgbClr val="0000FF"/>
                </a:solidFill>
              </a:rPr>
              <a:t>重要</a:t>
            </a:r>
            <a:r>
              <a:rPr lang="zh-CN" altLang="en-US" sz="2400" b="1" dirty="0"/>
              <a:t>的</a:t>
            </a:r>
            <a:r>
              <a:rPr lang="zh-CN" altLang="en-US" sz="2600" b="1" dirty="0"/>
              <a:t>。</a:t>
            </a:r>
            <a:endParaRPr lang="zh-CN" altLang="en-US" sz="2200" b="1" dirty="0"/>
          </a:p>
          <a:p>
            <a:pPr>
              <a:buNone/>
            </a:pPr>
            <a:r>
              <a:rPr lang="en-US" altLang="zh-CN" sz="2000" b="1" dirty="0"/>
              <a:t>1. l</a:t>
            </a:r>
            <a:r>
              <a:rPr lang="en-US" altLang="zh-CN" sz="2000" b="1" baseline="-25000" dirty="0"/>
              <a:t>i</a:t>
            </a:r>
            <a:r>
              <a:rPr lang="en-US" altLang="zh-CN" sz="2000" b="1" dirty="0"/>
              <a:t> = read(Q)</a:t>
            </a:r>
            <a:r>
              <a:rPr lang="zh-CN" altLang="en-US" sz="2000" b="1" dirty="0"/>
              <a:t>，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en-US" altLang="zh-CN" sz="2000" b="1" dirty="0"/>
              <a:t> = read(Q)</a:t>
            </a:r>
            <a:r>
              <a:rPr lang="zh-CN" altLang="en-US" sz="2000" b="1" dirty="0"/>
              <a:t>：</a:t>
            </a:r>
            <a:r>
              <a:rPr lang="zh-CN" altLang="en-US" sz="2000" b="1" dirty="0">
                <a:solidFill>
                  <a:srgbClr val="0000FF"/>
                </a:solidFill>
              </a:rPr>
              <a:t>次序无关紧要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l</a:t>
            </a:r>
            <a:r>
              <a:rPr lang="en-US" altLang="zh-CN" sz="2000" b="1" baseline="-25000" dirty="0"/>
              <a:t>i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与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读到相同的值；</a:t>
            </a: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2. l</a:t>
            </a:r>
            <a:r>
              <a:rPr lang="en-US" altLang="zh-CN" sz="2000" b="1" baseline="-25000" dirty="0"/>
              <a:t>i</a:t>
            </a:r>
            <a:r>
              <a:rPr lang="en-US" altLang="zh-CN" sz="2000" b="1" dirty="0"/>
              <a:t> = read(Q)</a:t>
            </a:r>
            <a:r>
              <a:rPr lang="zh-CN" altLang="en-US" sz="2000" b="1" dirty="0"/>
              <a:t>，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en-US" altLang="zh-CN" sz="2000" b="1" dirty="0"/>
              <a:t> = write(Q)</a:t>
            </a:r>
            <a:r>
              <a:rPr lang="zh-CN" altLang="en-US" sz="2000" b="1" dirty="0"/>
              <a:t>：</a:t>
            </a:r>
            <a:r>
              <a:rPr lang="ja-JP" altLang="en-US" sz="2000" b="1" dirty="0"/>
              <a:t>若</a:t>
            </a:r>
            <a:r>
              <a:rPr lang="en-US" altLang="zh-CN" sz="2000" b="1" dirty="0"/>
              <a:t>l</a:t>
            </a:r>
            <a:r>
              <a:rPr lang="en-US" altLang="zh-CN" sz="2000" b="1" baseline="-25000" dirty="0"/>
              <a:t>i</a:t>
            </a:r>
            <a:r>
              <a:rPr lang="ja-JP" altLang="en-US" sz="2000" b="1" dirty="0"/>
              <a:t>先于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en-US" altLang="zh-CN" sz="2000" b="1" baseline="-25000" dirty="0"/>
              <a:t> </a:t>
            </a:r>
            <a:r>
              <a:rPr lang="ja-JP" altLang="en-US" sz="2000" b="1" dirty="0"/>
              <a:t>，则</a:t>
            </a:r>
            <a:r>
              <a:rPr lang="en-US" altLang="zh-CN" sz="2000" b="1" dirty="0" err="1">
                <a:solidFill>
                  <a:srgbClr val="0000FF"/>
                </a:solidFill>
              </a:rPr>
              <a:t>T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i</a:t>
            </a:r>
            <a:r>
              <a:rPr lang="ja-JP" altLang="en-US" sz="2000" b="1" dirty="0">
                <a:solidFill>
                  <a:srgbClr val="003300"/>
                </a:solidFill>
              </a:rPr>
              <a:t>不会</a:t>
            </a:r>
            <a:r>
              <a:rPr lang="ja-JP" altLang="en-US" sz="2000" b="1" dirty="0"/>
              <a:t>读取到由</a:t>
            </a:r>
            <a:r>
              <a:rPr lang="en-US" altLang="zh-CN" sz="2000" b="1" dirty="0" err="1">
                <a:solidFill>
                  <a:srgbClr val="FF0000"/>
                </a:solidFill>
              </a:rPr>
              <a:t>T</a:t>
            </a:r>
            <a:r>
              <a:rPr lang="en-US" altLang="zh-CN" sz="2000" b="1" baseline="-25000" dirty="0" err="1">
                <a:solidFill>
                  <a:srgbClr val="FF0000"/>
                </a:solidFill>
              </a:rPr>
              <a:t>j</a:t>
            </a:r>
            <a:r>
              <a:rPr lang="ja-JP" altLang="en-US" sz="2000" b="1" dirty="0"/>
              <a:t>指令</a:t>
            </a:r>
            <a:r>
              <a:rPr lang="en-US" altLang="zh-CN" sz="2000" b="1" dirty="0" err="1">
                <a:solidFill>
                  <a:srgbClr val="FF0000"/>
                </a:solidFill>
              </a:rPr>
              <a:t>l</a:t>
            </a:r>
            <a:r>
              <a:rPr lang="en-US" altLang="zh-CN" sz="2000" b="1" baseline="-25000" dirty="0" err="1">
                <a:solidFill>
                  <a:srgbClr val="FF0000"/>
                </a:solidFill>
              </a:rPr>
              <a:t>j</a:t>
            </a:r>
            <a:r>
              <a:rPr lang="ja-JP" altLang="en-US" sz="2000" b="1" dirty="0"/>
              <a:t>所写入的</a:t>
            </a:r>
            <a:r>
              <a:rPr lang="en-US" altLang="ja-JP" sz="2000" b="1" dirty="0"/>
              <a:t>Q</a:t>
            </a:r>
            <a:r>
              <a:rPr lang="zh-CN" altLang="en-US" sz="2000" b="1" dirty="0"/>
              <a:t>值</a:t>
            </a:r>
            <a:r>
              <a:rPr lang="ja-JP" altLang="en-US" sz="2000" b="1" dirty="0"/>
              <a:t>。若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ja-JP" altLang="en-US" sz="2000" b="1" dirty="0"/>
              <a:t>先于</a:t>
            </a:r>
            <a:r>
              <a:rPr lang="en-US" altLang="zh-CN" sz="2000" b="1" dirty="0"/>
              <a:t>l</a:t>
            </a:r>
            <a:r>
              <a:rPr lang="en-US" altLang="zh-CN" sz="2000" b="1" baseline="-25000" dirty="0"/>
              <a:t>i </a:t>
            </a:r>
            <a:r>
              <a:rPr lang="ja-JP" altLang="en-US" sz="2000" b="1" dirty="0"/>
              <a:t>，</a:t>
            </a:r>
            <a:r>
              <a:rPr lang="en-US" altLang="zh-CN" sz="2000" b="1" dirty="0" err="1">
                <a:solidFill>
                  <a:srgbClr val="0000FF"/>
                </a:solidFill>
              </a:rPr>
              <a:t>T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i</a:t>
            </a:r>
            <a:r>
              <a:rPr lang="zh-CN" altLang="en-US" sz="2000" b="1" dirty="0"/>
              <a:t>读取</a:t>
            </a:r>
            <a:r>
              <a:rPr lang="ja-JP" altLang="en-US" sz="2000" b="1" dirty="0"/>
              <a:t>到由</a:t>
            </a:r>
            <a:r>
              <a:rPr lang="en-US" altLang="zh-CN" sz="2000" b="1" dirty="0" err="1">
                <a:solidFill>
                  <a:srgbClr val="0000FF"/>
                </a:solidFill>
              </a:rPr>
              <a:t>T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j</a:t>
            </a:r>
            <a:r>
              <a:rPr lang="ja-JP" altLang="en-US" sz="2000" b="1" dirty="0"/>
              <a:t>所写</a:t>
            </a:r>
            <a:r>
              <a:rPr lang="zh-CN" altLang="en-US" sz="2000" b="1" dirty="0"/>
              <a:t>入的值</a:t>
            </a:r>
            <a:r>
              <a:rPr lang="ja-JP" altLang="en-US" sz="2000" b="1" dirty="0"/>
              <a:t>。因地，</a:t>
            </a:r>
            <a:r>
              <a:rPr lang="en-US" altLang="zh-CN" sz="2000" b="1" u="sng" dirty="0">
                <a:solidFill>
                  <a:srgbClr val="0000FF"/>
                </a:solidFill>
              </a:rPr>
              <a:t>l</a:t>
            </a:r>
            <a:r>
              <a:rPr lang="en-US" altLang="zh-CN" sz="2000" b="1" u="sng" baseline="-25000" dirty="0">
                <a:solidFill>
                  <a:srgbClr val="0000FF"/>
                </a:solidFill>
              </a:rPr>
              <a:t>i</a:t>
            </a:r>
            <a:r>
              <a:rPr lang="ja-JP" altLang="en-US" sz="2000" b="1" u="sng" dirty="0">
                <a:solidFill>
                  <a:srgbClr val="0000FF"/>
                </a:solidFill>
              </a:rPr>
              <a:t>与</a:t>
            </a:r>
            <a:r>
              <a:rPr lang="en-US" altLang="zh-CN" sz="2000" b="1" u="sng" dirty="0" err="1">
                <a:solidFill>
                  <a:srgbClr val="0000FF"/>
                </a:solidFill>
              </a:rPr>
              <a:t>l</a:t>
            </a:r>
            <a:r>
              <a:rPr lang="en-US" altLang="zh-CN" sz="2000" b="1" u="sng" baseline="-25000" dirty="0" err="1">
                <a:solidFill>
                  <a:srgbClr val="0000FF"/>
                </a:solidFill>
              </a:rPr>
              <a:t>j</a:t>
            </a:r>
            <a:r>
              <a:rPr lang="ja-JP" altLang="en-US" sz="2000" b="1" u="sng" dirty="0">
                <a:solidFill>
                  <a:srgbClr val="0000FF"/>
                </a:solidFill>
              </a:rPr>
              <a:t>的次序</a:t>
            </a:r>
            <a:r>
              <a:rPr lang="ja-JP" altLang="en-US" sz="2000" b="1" dirty="0"/>
              <a:t>是</a:t>
            </a:r>
            <a:r>
              <a:rPr lang="ja-JP" altLang="en-US" sz="2000" b="1" dirty="0">
                <a:solidFill>
                  <a:srgbClr val="0000FF"/>
                </a:solidFill>
              </a:rPr>
              <a:t>重要</a:t>
            </a:r>
            <a:r>
              <a:rPr lang="ja-JP" altLang="en-US" sz="2000" b="1" dirty="0"/>
              <a:t>的</a:t>
            </a:r>
            <a:r>
              <a:rPr lang="zh-CN" altLang="en-US" sz="2000" b="1" dirty="0"/>
              <a:t>；</a:t>
            </a:r>
            <a:endParaRPr lang="en-US" altLang="ja-JP" sz="2000" b="1" dirty="0"/>
          </a:p>
          <a:p>
            <a:pPr>
              <a:buNone/>
            </a:pPr>
            <a:r>
              <a:rPr lang="en-US" altLang="zh-CN" sz="2000" b="1" dirty="0"/>
              <a:t>3. l</a:t>
            </a:r>
            <a:r>
              <a:rPr lang="en-US" altLang="zh-CN" sz="2000" b="1" baseline="-25000" dirty="0"/>
              <a:t>i</a:t>
            </a:r>
            <a:r>
              <a:rPr lang="en-US" altLang="zh-CN" sz="2000" b="1" dirty="0"/>
              <a:t> = write(Q)</a:t>
            </a:r>
            <a:r>
              <a:rPr lang="zh-CN" altLang="en-US" sz="2000" b="1" dirty="0"/>
              <a:t>，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en-US" altLang="zh-CN" sz="2000" b="1" dirty="0"/>
              <a:t> = read(Q)</a:t>
            </a:r>
            <a:r>
              <a:rPr lang="zh-CN" altLang="en-US" sz="2000" b="1" dirty="0"/>
              <a:t>：同上；</a:t>
            </a:r>
            <a:endParaRPr lang="en-US" altLang="zh-CN" sz="2000" b="1" dirty="0"/>
          </a:p>
          <a:p>
            <a:pPr>
              <a:buNone/>
            </a:pPr>
            <a:r>
              <a:rPr lang="en-US" altLang="zh-CN" sz="2000" b="1" dirty="0"/>
              <a:t>4. l</a:t>
            </a:r>
            <a:r>
              <a:rPr lang="en-US" altLang="zh-CN" sz="2000" b="1" baseline="-25000" dirty="0"/>
              <a:t>i</a:t>
            </a:r>
            <a:r>
              <a:rPr lang="en-US" altLang="zh-CN" sz="2000" b="1" dirty="0"/>
              <a:t> = write(Q)</a:t>
            </a:r>
            <a:r>
              <a:rPr lang="zh-CN" altLang="en-US" sz="2000" b="1" dirty="0"/>
              <a:t>，</a:t>
            </a:r>
            <a:r>
              <a:rPr lang="en-US" altLang="zh-CN" sz="2000" b="1" dirty="0" err="1"/>
              <a:t>l</a:t>
            </a:r>
            <a:r>
              <a:rPr lang="en-US" altLang="zh-CN" sz="2000" b="1" baseline="-25000" dirty="0" err="1"/>
              <a:t>j</a:t>
            </a:r>
            <a:r>
              <a:rPr lang="en-US" altLang="zh-CN" sz="2000" b="1" dirty="0"/>
              <a:t> = write(Q)</a:t>
            </a:r>
            <a:r>
              <a:rPr lang="zh-CN" altLang="en-US" sz="2000" b="1" dirty="0"/>
              <a:t>：由于两条指令均为</a:t>
            </a:r>
            <a:r>
              <a:rPr lang="en-US" altLang="zh-CN" sz="2000" b="1" dirty="0"/>
              <a:t>write </a:t>
            </a:r>
            <a:r>
              <a:rPr lang="zh-CN" altLang="en-US" sz="2000" b="1" dirty="0"/>
              <a:t>操作，这些指令的次序对</a:t>
            </a:r>
            <a:r>
              <a:rPr lang="en-US" altLang="zh-CN" sz="2000" b="1" dirty="0" err="1">
                <a:solidFill>
                  <a:srgbClr val="0000FF"/>
                </a:solidFill>
              </a:rPr>
              <a:t>T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和</a:t>
            </a:r>
            <a:r>
              <a:rPr lang="en-US" altLang="zh-CN" sz="2000" b="1" dirty="0" err="1">
                <a:solidFill>
                  <a:srgbClr val="0000FF"/>
                </a:solidFill>
              </a:rPr>
              <a:t>T</a:t>
            </a:r>
            <a:r>
              <a:rPr lang="en-US" altLang="zh-CN" sz="2000" b="1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000" b="1" dirty="0"/>
              <a:t>并没有什么影响。然而，</a:t>
            </a:r>
            <a:r>
              <a:rPr lang="en-US" altLang="zh-CN" sz="2000" b="1" dirty="0">
                <a:solidFill>
                  <a:srgbClr val="0000FF"/>
                </a:solidFill>
              </a:rPr>
              <a:t>S</a:t>
            </a:r>
            <a:r>
              <a:rPr lang="zh-CN" altLang="en-US" sz="2000" b="1" dirty="0"/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下一条</a:t>
            </a:r>
            <a:r>
              <a:rPr lang="en-US" altLang="zh-CN" sz="2000" b="1" dirty="0">
                <a:solidFill>
                  <a:srgbClr val="0000FF"/>
                </a:solidFill>
              </a:rPr>
              <a:t>read(Q)</a:t>
            </a:r>
            <a:r>
              <a:rPr lang="zh-CN" altLang="en-US" sz="2000" b="1" dirty="0">
                <a:solidFill>
                  <a:srgbClr val="0000FF"/>
                </a:solidFill>
              </a:rPr>
              <a:t>指令</a:t>
            </a:r>
            <a:r>
              <a:rPr lang="zh-CN" altLang="en-US" sz="2000" b="1" dirty="0"/>
              <a:t>所</a:t>
            </a:r>
            <a:r>
              <a:rPr lang="zh-CN" altLang="en-US" sz="2000" b="1" dirty="0">
                <a:solidFill>
                  <a:srgbClr val="0000FF"/>
                </a:solidFill>
              </a:rPr>
              <a:t>读取的值将受到影响</a:t>
            </a:r>
            <a:r>
              <a:rPr lang="zh-CN" altLang="en-US" sz="2000" b="1" dirty="0"/>
              <a:t>，因为数据库里</a:t>
            </a:r>
            <a:r>
              <a:rPr lang="zh-CN" altLang="en-US" sz="2000" b="1" dirty="0">
                <a:solidFill>
                  <a:srgbClr val="FF0000"/>
                </a:solidFill>
              </a:rPr>
              <a:t>只保留</a:t>
            </a:r>
            <a:r>
              <a:rPr lang="zh-CN" altLang="en-US" sz="2000" b="1" dirty="0"/>
              <a:t>两条</a:t>
            </a:r>
            <a:r>
              <a:rPr lang="en-US" altLang="zh-CN" sz="2000" b="1" dirty="0"/>
              <a:t>write </a:t>
            </a:r>
            <a:r>
              <a:rPr lang="zh-CN" altLang="en-US" sz="2000" b="1" dirty="0"/>
              <a:t>指令中</a:t>
            </a:r>
            <a:r>
              <a:rPr lang="zh-CN" altLang="en-US" sz="2000" b="1" dirty="0">
                <a:solidFill>
                  <a:srgbClr val="FF0000"/>
                </a:solidFill>
              </a:rPr>
              <a:t>后一条</a:t>
            </a:r>
            <a:r>
              <a:rPr lang="zh-CN" altLang="en-US" sz="2000" b="1" dirty="0"/>
              <a:t>的结果。如果在</a:t>
            </a:r>
            <a:r>
              <a:rPr lang="en-US" altLang="zh-CN" sz="2000" b="1" dirty="0"/>
              <a:t>S</a:t>
            </a:r>
            <a:r>
              <a:rPr lang="zh-CN" altLang="en-US" sz="2000" b="1" dirty="0"/>
              <a:t>的指令</a:t>
            </a:r>
            <a:r>
              <a:rPr lang="en-US" altLang="zh-CN" sz="2000" b="1" dirty="0">
                <a:solidFill>
                  <a:srgbClr val="FF0000"/>
                </a:solidFill>
              </a:rPr>
              <a:t>l</a:t>
            </a:r>
            <a:r>
              <a:rPr lang="en-US" altLang="zh-CN" sz="2000" b="1" baseline="-25000" dirty="0">
                <a:solidFill>
                  <a:srgbClr val="FF0000"/>
                </a:solidFill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/>
              <a:t>和</a:t>
            </a:r>
            <a:r>
              <a:rPr lang="en-US" altLang="zh-CN" sz="2000" b="1" dirty="0" err="1">
                <a:solidFill>
                  <a:srgbClr val="FF0000"/>
                </a:solidFill>
              </a:rPr>
              <a:t>l</a:t>
            </a:r>
            <a:r>
              <a:rPr lang="en-US" altLang="zh-CN" sz="2000" b="1" baseline="-25000" dirty="0" err="1">
                <a:solidFill>
                  <a:srgbClr val="FF0000"/>
                </a:solidFill>
              </a:rPr>
              <a:t>j</a:t>
            </a:r>
            <a:r>
              <a:rPr lang="zh-CN" altLang="en-US" sz="2000" b="1" dirty="0"/>
              <a:t>之后再没有其他的 </a:t>
            </a:r>
            <a:r>
              <a:rPr lang="en-US" altLang="zh-CN" sz="2000" b="1" dirty="0"/>
              <a:t>write (Q)</a:t>
            </a:r>
            <a:r>
              <a:rPr lang="zh-CN" altLang="en-US" sz="2000" b="1" dirty="0"/>
              <a:t>指令，则</a:t>
            </a:r>
            <a:r>
              <a:rPr lang="en-US" altLang="zh-CN" sz="2000" b="1" u="sng" dirty="0">
                <a:solidFill>
                  <a:srgbClr val="FF0000"/>
                </a:solidFill>
              </a:rPr>
              <a:t>l</a:t>
            </a:r>
            <a:r>
              <a:rPr lang="en-US" altLang="zh-CN" sz="2000" b="1" u="sng" baseline="-25000" dirty="0">
                <a:solidFill>
                  <a:srgbClr val="FF0000"/>
                </a:solidFill>
              </a:rPr>
              <a:t>i</a:t>
            </a:r>
            <a:r>
              <a:rPr lang="en-US" altLang="zh-CN" sz="2000" b="1" u="sng" dirty="0">
                <a:solidFill>
                  <a:srgbClr val="FF0000"/>
                </a:solidFill>
              </a:rPr>
              <a:t> </a:t>
            </a:r>
            <a:r>
              <a:rPr lang="zh-CN" altLang="en-US" sz="2000" b="1" u="sng" dirty="0"/>
              <a:t>和</a:t>
            </a:r>
            <a:r>
              <a:rPr lang="en-US" altLang="zh-CN" sz="2000" b="1" u="sng" dirty="0" err="1">
                <a:solidFill>
                  <a:srgbClr val="FF0000"/>
                </a:solidFill>
              </a:rPr>
              <a:t>l</a:t>
            </a:r>
            <a:r>
              <a:rPr lang="en-US" altLang="zh-CN" sz="2000" b="1" u="sng" baseline="-25000" dirty="0" err="1">
                <a:solidFill>
                  <a:srgbClr val="FF0000"/>
                </a:solidFill>
              </a:rPr>
              <a:t>j</a:t>
            </a:r>
            <a:r>
              <a:rPr lang="zh-CN" altLang="en-US" sz="2000" b="1" u="sng" dirty="0"/>
              <a:t>的</a:t>
            </a:r>
            <a:r>
              <a:rPr lang="zh-CN" altLang="en-US" sz="2000" b="1" u="sng" dirty="0">
                <a:solidFill>
                  <a:srgbClr val="0000FF"/>
                </a:solidFill>
              </a:rPr>
              <a:t>次序</a:t>
            </a:r>
            <a:r>
              <a:rPr lang="zh-CN" altLang="en-US" sz="2000" b="1" dirty="0"/>
              <a:t>直接影响由调度</a:t>
            </a:r>
            <a:r>
              <a:rPr lang="en-US" altLang="zh-CN" sz="2000" b="1" dirty="0"/>
              <a:t>S</a:t>
            </a:r>
            <a:r>
              <a:rPr lang="zh-CN" altLang="en-US" sz="2000" b="1" dirty="0"/>
              <a:t>所产生的</a:t>
            </a:r>
            <a:r>
              <a:rPr lang="zh-CN" altLang="en-US" sz="2000" b="1" dirty="0">
                <a:solidFill>
                  <a:srgbClr val="0000FF"/>
                </a:solidFill>
              </a:rPr>
              <a:t>数据库状态中</a:t>
            </a:r>
            <a:r>
              <a:rPr lang="en-US" altLang="zh-CN" sz="2000" b="1" dirty="0">
                <a:solidFill>
                  <a:srgbClr val="0000FF"/>
                </a:solidFill>
              </a:rPr>
              <a:t>Q</a:t>
            </a:r>
            <a:r>
              <a:rPr lang="zh-CN" altLang="en-US" sz="2000" b="1" dirty="0">
                <a:solidFill>
                  <a:srgbClr val="0000FF"/>
                </a:solidFill>
              </a:rPr>
              <a:t>的最终值</a:t>
            </a:r>
            <a:r>
              <a:rPr lang="zh-CN" altLang="en-US" sz="2000" b="1" dirty="0"/>
              <a:t>。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A13C41-E589-4E7C-B8E5-B9262CED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EC6B-4295-4589-BFD0-300FFA05510D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CBDAAA-2516-4530-94D4-EF032923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0147A2-904B-4904-9668-CA15219A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30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4504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A56EC405-436F-B8F1-FDFB-8EB1B3E3C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冲突语义</a:t>
            </a:r>
            <a:endParaRPr lang="en-US" altLang="zh-CN" b="1"/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E2A0272-A176-DAAA-477A-8CFA9C578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414165"/>
            <a:ext cx="8135938" cy="4679131"/>
          </a:xfrm>
        </p:spPr>
        <p:txBody>
          <a:bodyPr/>
          <a:lstStyle/>
          <a:p>
            <a:pPr eaLnBrk="1" hangingPunct="1"/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冲突</a:t>
            </a:r>
            <a:r>
              <a:rPr lang="zh-CN" altLang="en-US" sz="2600" b="1" dirty="0"/>
              <a:t>：给定</a:t>
            </a:r>
            <a:r>
              <a:rPr lang="zh-CN" altLang="en-US" sz="2400" b="1" dirty="0"/>
              <a:t>一个调度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中事务</a:t>
            </a:r>
            <a:r>
              <a:rPr lang="en-US" altLang="zh-CN" sz="2400" b="1" dirty="0" err="1">
                <a:solidFill>
                  <a:srgbClr val="0000FF"/>
                </a:solidFill>
              </a:rPr>
              <a:t>T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和</a:t>
            </a:r>
            <a:r>
              <a:rPr lang="en-US" altLang="zh-CN" sz="2400" b="1" dirty="0" err="1">
                <a:solidFill>
                  <a:srgbClr val="0000FF"/>
                </a:solidFill>
              </a:rPr>
              <a:t>T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400" b="1" dirty="0"/>
              <a:t>的两条</a:t>
            </a:r>
            <a:r>
              <a:rPr lang="zh-CN" altLang="en-US" sz="2400" b="1" dirty="0">
                <a:solidFill>
                  <a:srgbClr val="FF0000"/>
                </a:solidFill>
              </a:rPr>
              <a:t>连续指令</a:t>
            </a:r>
            <a:r>
              <a:rPr lang="en-US" altLang="zh-CN" sz="2400" b="1" dirty="0">
                <a:solidFill>
                  <a:srgbClr val="FF0000"/>
                </a:solidFill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/>
              <a:t>和</a:t>
            </a:r>
            <a:r>
              <a:rPr lang="en-US" altLang="zh-CN" sz="2400" b="1" dirty="0" err="1">
                <a:solidFill>
                  <a:srgbClr val="FF0000"/>
                </a:solidFill>
              </a:rPr>
              <a:t>l</a:t>
            </a:r>
            <a:r>
              <a:rPr lang="en-US" altLang="zh-CN" sz="2400" b="1" baseline="-25000" dirty="0" err="1">
                <a:solidFill>
                  <a:srgbClr val="FF0000"/>
                </a:solidFill>
              </a:rPr>
              <a:t>j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zh-CN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当且仅当</a:t>
            </a:r>
            <a:r>
              <a:rPr lang="zh-CN" altLang="en-US" sz="2400" b="1" dirty="0"/>
              <a:t>存在</a:t>
            </a:r>
            <a:r>
              <a:rPr lang="en-US" altLang="zh-CN" sz="2400" b="1" dirty="0"/>
              <a:t>l</a:t>
            </a:r>
            <a:r>
              <a:rPr lang="en-US" altLang="zh-CN" sz="2400" b="1" baseline="-25000" dirty="0"/>
              <a:t>i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和</a:t>
            </a:r>
            <a:r>
              <a:rPr lang="en-US" altLang="zh-CN" sz="2400" b="1" dirty="0" err="1"/>
              <a:t>l</a:t>
            </a:r>
            <a:r>
              <a:rPr lang="en-US" altLang="zh-CN" sz="2400" b="1" baseline="-25000" dirty="0" err="1"/>
              <a:t>j</a:t>
            </a:r>
            <a:r>
              <a:rPr lang="en-US" altLang="zh-CN" sz="2400" b="1" baseline="-25000" dirty="0"/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都</a:t>
            </a:r>
            <a:r>
              <a:rPr lang="zh-CN" altLang="en-US" sz="2400" b="1" dirty="0">
                <a:solidFill>
                  <a:srgbClr val="0000FF"/>
                </a:solidFill>
              </a:rPr>
              <a:t>存取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相同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sz="2400" b="1" dirty="0"/>
              <a:t>数据项</a:t>
            </a:r>
            <a:r>
              <a:rPr lang="en-US" altLang="zh-CN" sz="2400" b="1" dirty="0">
                <a:solidFill>
                  <a:srgbClr val="FF0000"/>
                </a:solidFill>
              </a:rPr>
              <a:t>Q</a:t>
            </a:r>
            <a:r>
              <a:rPr lang="zh-CN" altLang="en-US" sz="2400" b="1" dirty="0"/>
              <a:t>，且</a:t>
            </a:r>
            <a:r>
              <a:rPr lang="zh-CN" altLang="en-US" sz="2400" b="1" dirty="0">
                <a:solidFill>
                  <a:srgbClr val="0000FF"/>
                </a:solidFill>
              </a:rPr>
              <a:t>至少有一条</a:t>
            </a:r>
            <a:r>
              <a:rPr lang="zh-CN" altLang="en-US" sz="2400" b="1" u="sng" dirty="0">
                <a:solidFill>
                  <a:srgbClr val="FF0000"/>
                </a:solidFill>
              </a:rPr>
              <a:t>写</a:t>
            </a:r>
            <a:r>
              <a:rPr lang="en-US" altLang="zh-CN" sz="2400" b="1" u="sng" dirty="0">
                <a:solidFill>
                  <a:srgbClr val="FF0000"/>
                </a:solidFill>
              </a:rPr>
              <a:t>Q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的指令，那么可以说</a:t>
            </a:r>
            <a:r>
              <a:rPr lang="en-US" altLang="zh-CN" sz="2400" b="1" dirty="0">
                <a:solidFill>
                  <a:srgbClr val="0000FF"/>
                </a:solidFill>
              </a:rPr>
              <a:t>l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</a:rPr>
              <a:t>和</a:t>
            </a:r>
            <a:r>
              <a:rPr lang="en-US" altLang="zh-CN" sz="2400" b="1" dirty="0" err="1">
                <a:solidFill>
                  <a:srgbClr val="0000FF"/>
                </a:solidFill>
              </a:rPr>
              <a:t>l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</a:rPr>
              <a:t>是冲突的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b="1" dirty="0"/>
              <a:t>	</a:t>
            </a:r>
            <a:r>
              <a:rPr lang="en-US" altLang="zh-CN" sz="2600" dirty="0"/>
              <a:t>1. l</a:t>
            </a:r>
            <a:r>
              <a:rPr lang="en-US" altLang="zh-CN" sz="2600" baseline="-25000" dirty="0"/>
              <a:t>i</a:t>
            </a:r>
            <a:r>
              <a:rPr lang="en-US" altLang="zh-CN" sz="2600" dirty="0"/>
              <a:t> = read(Q)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l</a:t>
            </a:r>
            <a:r>
              <a:rPr lang="en-US" altLang="zh-CN" sz="2600" baseline="-25000" dirty="0" err="1"/>
              <a:t>j</a:t>
            </a:r>
            <a:r>
              <a:rPr lang="en-US" altLang="zh-CN" sz="2600" dirty="0"/>
              <a:t> = read(Q)</a:t>
            </a:r>
            <a:r>
              <a:rPr lang="zh-CN" altLang="en-US" sz="2600" dirty="0"/>
              <a:t>：</a:t>
            </a:r>
            <a:r>
              <a:rPr lang="en-US" altLang="zh-CN" sz="2600" dirty="0">
                <a:solidFill>
                  <a:srgbClr val="0000FF"/>
                </a:solidFill>
              </a:rPr>
              <a:t>l</a:t>
            </a:r>
            <a:r>
              <a:rPr lang="en-US" altLang="zh-CN" sz="2600" baseline="-25000" dirty="0">
                <a:solidFill>
                  <a:srgbClr val="0000FF"/>
                </a:solidFill>
              </a:rPr>
              <a:t>i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zh-CN" altLang="en-US" sz="2600" dirty="0">
                <a:solidFill>
                  <a:srgbClr val="0000FF"/>
                </a:solidFill>
              </a:rPr>
              <a:t>与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en-US" altLang="zh-CN" sz="2600" dirty="0" err="1">
                <a:solidFill>
                  <a:srgbClr val="0000FF"/>
                </a:solidFill>
              </a:rPr>
              <a:t>l</a:t>
            </a:r>
            <a:r>
              <a:rPr lang="en-US" altLang="zh-CN" sz="2600" baseline="-25000" dirty="0" err="1">
                <a:solidFill>
                  <a:srgbClr val="0000FF"/>
                </a:solidFill>
              </a:rPr>
              <a:t>j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zh-CN" altLang="en-US" sz="2600" dirty="0">
                <a:solidFill>
                  <a:srgbClr val="0000FF"/>
                </a:solidFill>
              </a:rPr>
              <a:t>不冲突</a:t>
            </a:r>
            <a:br>
              <a:rPr lang="en-US" altLang="zh-CN" sz="2600" dirty="0"/>
            </a:br>
            <a:r>
              <a:rPr lang="en-US" altLang="zh-CN" sz="2600" dirty="0"/>
              <a:t>2. l</a:t>
            </a:r>
            <a:r>
              <a:rPr lang="en-US" altLang="zh-CN" sz="2600" baseline="-25000" dirty="0"/>
              <a:t>i</a:t>
            </a:r>
            <a:r>
              <a:rPr lang="en-US" altLang="zh-CN" sz="2600" dirty="0"/>
              <a:t> = read(Q)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l</a:t>
            </a:r>
            <a:r>
              <a:rPr lang="en-US" altLang="zh-CN" sz="2600" baseline="-25000" dirty="0" err="1"/>
              <a:t>j</a:t>
            </a:r>
            <a:r>
              <a:rPr lang="en-US" altLang="zh-CN" sz="2600" dirty="0"/>
              <a:t> = write(Q)</a:t>
            </a:r>
            <a:r>
              <a:rPr lang="zh-CN" altLang="en-US" sz="2600" dirty="0"/>
              <a:t>：</a:t>
            </a:r>
            <a:r>
              <a:rPr lang="zh-CN" altLang="en-US" sz="2600" b="1" dirty="0">
                <a:solidFill>
                  <a:srgbClr val="FF0000"/>
                </a:solidFill>
              </a:rPr>
              <a:t>冲突</a:t>
            </a:r>
            <a:br>
              <a:rPr lang="en-US" altLang="zh-CN" sz="2600" dirty="0"/>
            </a:br>
            <a:r>
              <a:rPr lang="en-US" altLang="zh-CN" sz="2600" dirty="0"/>
              <a:t>3. l</a:t>
            </a:r>
            <a:r>
              <a:rPr lang="en-US" altLang="zh-CN" sz="2600" baseline="-25000" dirty="0"/>
              <a:t>i</a:t>
            </a:r>
            <a:r>
              <a:rPr lang="en-US" altLang="zh-CN" sz="2600" dirty="0"/>
              <a:t> = write(Q)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l</a:t>
            </a:r>
            <a:r>
              <a:rPr lang="en-US" altLang="zh-CN" sz="2600" baseline="-25000" dirty="0" err="1"/>
              <a:t>j</a:t>
            </a:r>
            <a:r>
              <a:rPr lang="en-US" altLang="zh-CN" sz="2600" dirty="0"/>
              <a:t> = read(Q)</a:t>
            </a:r>
            <a:r>
              <a:rPr lang="zh-CN" altLang="en-US" sz="2600" dirty="0"/>
              <a:t>：</a:t>
            </a:r>
            <a:r>
              <a:rPr lang="zh-CN" altLang="en-US" sz="2600" b="1" dirty="0">
                <a:solidFill>
                  <a:srgbClr val="FF0000"/>
                </a:solidFill>
              </a:rPr>
              <a:t>冲突</a:t>
            </a:r>
            <a:br>
              <a:rPr lang="en-US" altLang="zh-CN" sz="2600" dirty="0"/>
            </a:br>
            <a:r>
              <a:rPr lang="en-US" altLang="zh-CN" sz="2600" dirty="0"/>
              <a:t>4. l</a:t>
            </a:r>
            <a:r>
              <a:rPr lang="en-US" altLang="zh-CN" sz="2600" baseline="-25000" dirty="0"/>
              <a:t>i</a:t>
            </a:r>
            <a:r>
              <a:rPr lang="en-US" altLang="zh-CN" sz="2600" dirty="0"/>
              <a:t> = write(Q)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l</a:t>
            </a:r>
            <a:r>
              <a:rPr lang="en-US" altLang="zh-CN" sz="2600" baseline="-25000" dirty="0" err="1"/>
              <a:t>j</a:t>
            </a:r>
            <a:r>
              <a:rPr lang="en-US" altLang="zh-CN" sz="2600" dirty="0"/>
              <a:t> = write(Q)</a:t>
            </a:r>
            <a:r>
              <a:rPr lang="zh-CN" altLang="en-US" sz="2600" dirty="0"/>
              <a:t>：</a:t>
            </a:r>
            <a:r>
              <a:rPr lang="zh-CN" altLang="en-US" sz="2600" b="1" dirty="0">
                <a:solidFill>
                  <a:srgbClr val="FF0000"/>
                </a:solidFill>
              </a:rPr>
              <a:t>冲突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600" b="1" dirty="0"/>
              <a:t>直观地，</a:t>
            </a:r>
            <a:r>
              <a:rPr lang="en-US" altLang="zh-CN" sz="2600" b="1" dirty="0"/>
              <a:t>l</a:t>
            </a:r>
            <a:r>
              <a:rPr lang="en-US" altLang="zh-CN" sz="2600" b="1" baseline="-25000" dirty="0"/>
              <a:t>i</a:t>
            </a:r>
            <a:r>
              <a:rPr lang="en-US" altLang="zh-CN" sz="2600" b="1" dirty="0"/>
              <a:t> </a:t>
            </a:r>
            <a:r>
              <a:rPr lang="zh-CN" altLang="en-US" sz="2600" b="1" dirty="0"/>
              <a:t>与</a:t>
            </a:r>
            <a:r>
              <a:rPr lang="en-US" altLang="zh-CN" sz="2600" b="1" dirty="0" err="1"/>
              <a:t>l</a:t>
            </a:r>
            <a:r>
              <a:rPr lang="en-US" altLang="zh-CN" sz="2600" b="1" baseline="-25000" dirty="0" err="1"/>
              <a:t>j</a:t>
            </a:r>
            <a:r>
              <a:rPr lang="en-US" altLang="zh-CN" sz="2600" b="1" dirty="0"/>
              <a:t> </a:t>
            </a:r>
            <a:r>
              <a:rPr lang="zh-CN" altLang="en-US" sz="2600" b="1" dirty="0"/>
              <a:t>之间的冲突</a:t>
            </a:r>
            <a:r>
              <a:rPr lang="zh-CN" altLang="en-US" sz="2600" b="1" dirty="0">
                <a:solidFill>
                  <a:srgbClr val="FF0000"/>
                </a:solidFill>
              </a:rPr>
              <a:t>强制要求</a:t>
            </a:r>
            <a:r>
              <a:rPr lang="zh-CN" altLang="en-US" sz="2600" b="1" dirty="0"/>
              <a:t>它们之间要有一种</a:t>
            </a:r>
            <a:r>
              <a:rPr lang="en-US" altLang="zh-CN" sz="2600" b="1" dirty="0"/>
              <a:t>(</a:t>
            </a:r>
            <a:r>
              <a:rPr lang="zh-CN" altLang="en-US" sz="2600" b="1" dirty="0"/>
              <a:t>逻辑上的</a:t>
            </a:r>
            <a:r>
              <a:rPr lang="en-US" altLang="zh-CN" sz="2600" b="1" dirty="0"/>
              <a:t>) </a:t>
            </a:r>
            <a:r>
              <a:rPr lang="zh-CN" altLang="en-US" sz="2600" b="1" dirty="0">
                <a:solidFill>
                  <a:srgbClr val="FF0000"/>
                </a:solidFill>
              </a:rPr>
              <a:t>时间顺序。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600" b="1" dirty="0"/>
              <a:t>如果 </a:t>
            </a:r>
            <a:r>
              <a:rPr lang="en-US" altLang="zh-CN" sz="2600" b="1" dirty="0"/>
              <a:t>l</a:t>
            </a:r>
            <a:r>
              <a:rPr lang="en-US" altLang="zh-CN" sz="2600" b="1" baseline="-25000" dirty="0"/>
              <a:t>i</a:t>
            </a:r>
            <a:r>
              <a:rPr lang="en-US" altLang="zh-CN" sz="2600" b="1" dirty="0"/>
              <a:t> </a:t>
            </a:r>
            <a:r>
              <a:rPr lang="zh-CN" altLang="en-US" sz="2600" b="1" dirty="0"/>
              <a:t>与</a:t>
            </a:r>
            <a:r>
              <a:rPr lang="en-US" altLang="zh-CN" sz="2600" b="1" dirty="0"/>
              <a:t> </a:t>
            </a:r>
            <a:r>
              <a:rPr lang="en-US" altLang="zh-CN" sz="2600" b="1" dirty="0" err="1"/>
              <a:t>l</a:t>
            </a:r>
            <a:r>
              <a:rPr lang="en-US" altLang="zh-CN" sz="2600" b="1" baseline="-25000" dirty="0" err="1"/>
              <a:t>j</a:t>
            </a:r>
            <a:r>
              <a:rPr lang="en-US" altLang="zh-CN" sz="2600" b="1" dirty="0"/>
              <a:t> </a:t>
            </a:r>
            <a:r>
              <a:rPr lang="zh-CN" altLang="en-US" sz="2600" b="1" dirty="0"/>
              <a:t>在一个调度中是</a:t>
            </a:r>
            <a:r>
              <a:rPr lang="zh-CN" altLang="en-US" sz="2600" b="1" dirty="0">
                <a:solidFill>
                  <a:srgbClr val="FF0000"/>
                </a:solidFill>
              </a:rPr>
              <a:t>连续的</a:t>
            </a:r>
            <a:r>
              <a:rPr lang="zh-CN" altLang="en-US" sz="2600" b="1" dirty="0"/>
              <a:t>且</a:t>
            </a:r>
            <a:r>
              <a:rPr lang="zh-CN" altLang="en-US" sz="2600" b="1" dirty="0">
                <a:solidFill>
                  <a:srgbClr val="0000FF"/>
                </a:solidFill>
              </a:rPr>
              <a:t>不冲突</a:t>
            </a:r>
            <a:r>
              <a:rPr lang="zh-CN" altLang="en-US" sz="2600" b="1" dirty="0"/>
              <a:t>，则即使</a:t>
            </a:r>
            <a:r>
              <a:rPr lang="zh-CN" altLang="en-US" sz="2600" b="1" dirty="0">
                <a:solidFill>
                  <a:srgbClr val="0000FF"/>
                </a:solidFill>
              </a:rPr>
              <a:t>交换其顺序</a:t>
            </a:r>
            <a:r>
              <a:rPr lang="zh-CN" altLang="en-US" sz="2600" b="1" dirty="0"/>
              <a:t>也会</a:t>
            </a:r>
            <a:r>
              <a:rPr lang="zh-CN" altLang="en-US" sz="2600" b="1" dirty="0">
                <a:solidFill>
                  <a:srgbClr val="0000FF"/>
                </a:solidFill>
              </a:rPr>
              <a:t>保持相同结果。</a:t>
            </a:r>
            <a:endParaRPr lang="en-US" altLang="zh-CN" sz="2600" b="1" dirty="0">
              <a:solidFill>
                <a:srgbClr val="0000FF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8B25CE-446F-495C-B4F7-B0821667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FB743-4FDC-455C-AC85-BA3FDFD15A42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2A2AE2-B453-4490-AC09-291E298F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A4FBB-CF01-4CCA-8C38-A50B9101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31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7377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479EDEEF-E76C-74AC-987D-34AF066FA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冲突可串行化</a:t>
            </a:r>
            <a:r>
              <a:rPr lang="en-US" altLang="zh-CN" b="1" baseline="30000"/>
              <a:t> </a:t>
            </a:r>
          </a:p>
        </p:txBody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B73E4786-93CD-683D-D2A0-4DFABF0F3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340768"/>
            <a:ext cx="7742237" cy="5232400"/>
          </a:xfrm>
        </p:spPr>
        <p:txBody>
          <a:bodyPr/>
          <a:lstStyle/>
          <a:p>
            <a:pPr eaLnBrk="1" hangingPunct="1"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zh-CN" altLang="en-US" sz="2800" b="1" dirty="0"/>
              <a:t>若</a:t>
            </a:r>
            <a:r>
              <a:rPr lang="zh-CN" altLang="en-US" sz="2800" b="1" dirty="0">
                <a:solidFill>
                  <a:srgbClr val="0000FF"/>
                </a:solidFill>
              </a:rPr>
              <a:t>调度</a:t>
            </a:r>
            <a:r>
              <a:rPr lang="en-US" altLang="zh-CN" sz="2800" b="1" dirty="0">
                <a:solidFill>
                  <a:srgbClr val="0000FF"/>
                </a:solidFill>
              </a:rPr>
              <a:t>S</a:t>
            </a:r>
            <a:r>
              <a:rPr lang="zh-CN" altLang="en-US" sz="2800" b="1" dirty="0"/>
              <a:t>通过一系列</a:t>
            </a:r>
            <a:r>
              <a:rPr lang="zh-CN" altLang="en-US" sz="2800" b="1" dirty="0">
                <a:solidFill>
                  <a:srgbClr val="FF0000"/>
                </a:solidFill>
              </a:rPr>
              <a:t>交换</a:t>
            </a:r>
            <a:r>
              <a:rPr lang="zh-CN" altLang="en-US" sz="2800" b="1" dirty="0">
                <a:solidFill>
                  <a:srgbClr val="0000FF"/>
                </a:solidFill>
              </a:rPr>
              <a:t>非冲突指令</a:t>
            </a:r>
            <a:r>
              <a:rPr lang="zh-CN" altLang="en-US" sz="2800" b="1" dirty="0"/>
              <a:t>可转换成</a:t>
            </a:r>
            <a:r>
              <a:rPr lang="zh-CN" altLang="en-US" sz="2800" b="1" dirty="0">
                <a:solidFill>
                  <a:srgbClr val="006600"/>
                </a:solidFill>
              </a:rPr>
              <a:t>调度</a:t>
            </a:r>
            <a:r>
              <a:rPr lang="en-US" altLang="zh-CN" sz="2800" b="1" dirty="0">
                <a:solidFill>
                  <a:srgbClr val="006600"/>
                </a:solidFill>
              </a:rPr>
              <a:t>S´</a:t>
            </a:r>
            <a:r>
              <a:rPr lang="zh-CN" altLang="en-US" sz="2800" b="1" dirty="0"/>
              <a:t>，则称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S´</a:t>
            </a:r>
            <a:r>
              <a:rPr lang="zh-CN" altLang="en-US" sz="2800" b="1" dirty="0">
                <a:solidFill>
                  <a:srgbClr val="0000FF"/>
                </a:solidFill>
              </a:rPr>
              <a:t>冲突等价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zh-CN" altLang="en-US" sz="2800" b="1" dirty="0"/>
              <a:t>若</a:t>
            </a:r>
            <a:r>
              <a:rPr lang="zh-CN" altLang="en-US" sz="2800" b="1" dirty="0">
                <a:solidFill>
                  <a:srgbClr val="0000FF"/>
                </a:solidFill>
              </a:rPr>
              <a:t>调度</a:t>
            </a:r>
            <a:r>
              <a:rPr lang="en-US" altLang="zh-CN" sz="2800" b="1" dirty="0">
                <a:solidFill>
                  <a:srgbClr val="0000FF"/>
                </a:solidFill>
              </a:rPr>
              <a:t>S</a:t>
            </a:r>
            <a:r>
              <a:rPr lang="zh-CN" altLang="en-US" sz="2800" b="1" dirty="0"/>
              <a:t>与一个</a:t>
            </a:r>
            <a:r>
              <a:rPr lang="zh-CN" altLang="en-US" sz="2800" b="1" dirty="0">
                <a:solidFill>
                  <a:srgbClr val="FF0000"/>
                </a:solidFill>
              </a:rPr>
              <a:t>串行调度</a:t>
            </a:r>
            <a:r>
              <a:rPr lang="zh-CN" altLang="en-US" sz="2800" b="1" dirty="0">
                <a:solidFill>
                  <a:srgbClr val="0000FF"/>
                </a:solidFill>
              </a:rPr>
              <a:t>冲突等价</a:t>
            </a:r>
            <a:r>
              <a:rPr lang="zh-CN" altLang="en-US" sz="2800" b="1" dirty="0"/>
              <a:t>，则称调度</a:t>
            </a:r>
            <a:r>
              <a:rPr lang="en-US" altLang="zh-CN" sz="2800" b="1" dirty="0">
                <a:solidFill>
                  <a:srgbClr val="FF0000"/>
                </a:solidFill>
              </a:rPr>
              <a:t>S</a:t>
            </a:r>
            <a:r>
              <a:rPr lang="zh-CN" altLang="en-US" sz="2800" b="1" dirty="0"/>
              <a:t>是</a:t>
            </a:r>
            <a:r>
              <a:rPr lang="zh-CN" altLang="en-US" sz="2800" b="1" dirty="0">
                <a:solidFill>
                  <a:srgbClr val="FF0000"/>
                </a:solidFill>
              </a:rPr>
              <a:t>冲突可串行化的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b="1" dirty="0"/>
              <a:t>可串行性</a:t>
            </a:r>
            <a:r>
              <a:rPr lang="en-US" altLang="zh-CN" sz="2800" b="1" dirty="0"/>
              <a:t>(Serializability)</a:t>
            </a:r>
          </a:p>
          <a:p>
            <a:pPr lvl="1"/>
            <a:r>
              <a:rPr lang="zh-CN" altLang="en-US" sz="2400" b="1" dirty="0"/>
              <a:t>是并发事务</a:t>
            </a:r>
            <a:r>
              <a:rPr lang="zh-CN" altLang="en-US" sz="2400" b="1" dirty="0">
                <a:solidFill>
                  <a:srgbClr val="0000FF"/>
                </a:solidFill>
              </a:rPr>
              <a:t>正确</a:t>
            </a:r>
            <a:r>
              <a:rPr lang="zh-CN" altLang="en-US" sz="2400" b="1" dirty="0"/>
              <a:t>调度的</a:t>
            </a:r>
            <a:r>
              <a:rPr lang="zh-CN" altLang="en-US" sz="2400" b="1" u="sng" dirty="0"/>
              <a:t>准则</a:t>
            </a:r>
          </a:p>
          <a:p>
            <a:pPr lvl="1"/>
            <a:r>
              <a:rPr lang="zh-CN" altLang="en-US" sz="2400" b="1" u="sng" dirty="0"/>
              <a:t>一个给定的并发调度，当且仅当它是</a:t>
            </a:r>
            <a:r>
              <a:rPr lang="zh-CN" altLang="en-US" sz="2400" b="1" u="sng" dirty="0">
                <a:solidFill>
                  <a:srgbClr val="0000FF"/>
                </a:solidFill>
              </a:rPr>
              <a:t>可串行化</a:t>
            </a:r>
            <a:r>
              <a:rPr lang="zh-CN" altLang="en-US" sz="2400" b="1" u="sng" dirty="0"/>
              <a:t>的，才认为是正确调度 </a:t>
            </a:r>
          </a:p>
          <a:p>
            <a:pPr eaLnBrk="1" hangingPunct="1"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endParaRPr lang="en-US" altLang="zh-CN" sz="2400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145E7E-72D5-4F4A-9073-AA541E9F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3716-8F94-4DD1-BA9D-808782315EEF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33C212-8AE8-435E-AF3D-C83B0808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1E087-B13C-480A-A58A-02DFE4CD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32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737228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23F84363-6ED4-87FF-A407-5AD1FDBCE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冲突可串行化示例</a:t>
            </a:r>
            <a:endParaRPr lang="en-US" altLang="zh-CN" b="1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CEE81D4-7D2A-3D06-4294-338A90C88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181" y="1388713"/>
            <a:ext cx="7767637" cy="3849687"/>
          </a:xfrm>
        </p:spPr>
        <p:txBody>
          <a:bodyPr/>
          <a:lstStyle/>
          <a:p>
            <a:pPr eaLnBrk="1" hangingPunct="1"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zh-CN" altLang="en-US" sz="2500" b="1" dirty="0"/>
              <a:t>通过一系列</a:t>
            </a:r>
            <a:r>
              <a:rPr lang="zh-CN" altLang="en-US" sz="2500" b="1" dirty="0">
                <a:solidFill>
                  <a:srgbClr val="0000FF"/>
                </a:solidFill>
              </a:rPr>
              <a:t>交换</a:t>
            </a:r>
            <a:r>
              <a:rPr lang="zh-CN" altLang="en-US" sz="2500" b="1" dirty="0">
                <a:solidFill>
                  <a:srgbClr val="FF0000"/>
                </a:solidFill>
              </a:rPr>
              <a:t>非冲突指令</a:t>
            </a:r>
            <a:r>
              <a:rPr lang="zh-CN" altLang="en-US" sz="2500" b="1" dirty="0"/>
              <a:t>，前面的</a:t>
            </a:r>
            <a:r>
              <a:rPr lang="en-US" altLang="zh-CN" sz="2500" b="1" dirty="0"/>
              <a:t>Schedule 3 </a:t>
            </a:r>
            <a:r>
              <a:rPr lang="zh-CN" altLang="en-US" sz="2500" b="1" dirty="0"/>
              <a:t>可转换成串行调度</a:t>
            </a:r>
            <a:r>
              <a:rPr lang="en-US" altLang="zh-CN" sz="2500" b="1" dirty="0"/>
              <a:t>&lt;</a:t>
            </a:r>
            <a:r>
              <a:rPr lang="en-US" altLang="zh-CN" sz="2500" b="1" i="1" dirty="0">
                <a:solidFill>
                  <a:srgbClr val="0000FF"/>
                </a:solidFill>
              </a:rPr>
              <a:t>T</a:t>
            </a:r>
            <a:r>
              <a:rPr lang="en-US" altLang="zh-CN" sz="25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500" b="1" dirty="0">
                <a:solidFill>
                  <a:srgbClr val="0000FF"/>
                </a:solidFill>
              </a:rPr>
              <a:t>, </a:t>
            </a:r>
            <a:r>
              <a:rPr lang="en-US" altLang="zh-CN" sz="2500" b="1" i="1" dirty="0">
                <a:solidFill>
                  <a:srgbClr val="0000FF"/>
                </a:solidFill>
              </a:rPr>
              <a:t>T</a:t>
            </a:r>
            <a:r>
              <a:rPr lang="en-US" altLang="zh-CN" sz="25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500" b="1" dirty="0"/>
              <a:t>&gt; (Schedule 1)</a:t>
            </a:r>
            <a:r>
              <a:rPr lang="zh-CN" altLang="en-US" sz="2500" b="1" dirty="0"/>
              <a:t>，因此</a:t>
            </a:r>
            <a:r>
              <a:rPr lang="en-US" altLang="zh-CN" sz="2500" b="1" dirty="0"/>
              <a:t>Schedule 3 </a:t>
            </a:r>
            <a:r>
              <a:rPr lang="zh-CN" altLang="en-US" sz="2500" b="1" dirty="0"/>
              <a:t>是</a:t>
            </a:r>
            <a:r>
              <a:rPr lang="zh-CN" altLang="en-US" sz="2500" b="1" dirty="0">
                <a:solidFill>
                  <a:srgbClr val="0000FF"/>
                </a:solidFill>
              </a:rPr>
              <a:t>冲突可串行化</a:t>
            </a:r>
            <a:r>
              <a:rPr lang="zh-CN" altLang="en-US" sz="2500" b="1" dirty="0"/>
              <a:t>的</a:t>
            </a:r>
            <a:endParaRPr lang="en-US" altLang="zh-CN" sz="2500" b="1" dirty="0"/>
          </a:p>
          <a:p>
            <a:pPr eaLnBrk="1" hangingPunct="1">
              <a:buFont typeface="Wingdings" panose="05000000000000000000" pitchFamily="2" charset="2"/>
              <a:buNone/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zh-CN" dirty="0"/>
              <a:t>			</a:t>
            </a:r>
          </a:p>
        </p:txBody>
      </p:sp>
      <p:pic>
        <p:nvPicPr>
          <p:cNvPr id="31749" name="Picture 4">
            <a:extLst>
              <a:ext uri="{FF2B5EF4-FFF2-40B4-BE49-F238E27FC236}">
                <a16:creationId xmlns:a16="http://schemas.microsoft.com/office/drawing/2014/main" id="{163E31FA-C941-763B-FAA2-31858DFAC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2" t="4988" r="19951" b="5463"/>
          <a:stretch>
            <a:fillRect/>
          </a:stretch>
        </p:blipFill>
        <p:spPr bwMode="auto">
          <a:xfrm>
            <a:off x="4789488" y="3003550"/>
            <a:ext cx="2913062" cy="324485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50" name="AutoShape 0">
            <a:extLst>
              <a:ext uri="{FF2B5EF4-FFF2-40B4-BE49-F238E27FC236}">
                <a16:creationId xmlns:a16="http://schemas.microsoft.com/office/drawing/2014/main" id="{C67B97A1-9994-C27D-A6D9-B94F5AD3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0" y="4462463"/>
            <a:ext cx="415925" cy="957262"/>
          </a:xfrm>
          <a:prstGeom prst="curvedLeftArrow">
            <a:avLst>
              <a:gd name="adj1" fmla="val 46031"/>
              <a:gd name="adj2" fmla="val 9206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pic>
        <p:nvPicPr>
          <p:cNvPr id="31751" name="Picture 5">
            <a:extLst>
              <a:ext uri="{FF2B5EF4-FFF2-40B4-BE49-F238E27FC236}">
                <a16:creationId xmlns:a16="http://schemas.microsoft.com/office/drawing/2014/main" id="{6B70BCF8-BF48-CD64-5FBD-F6F84250C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0" t="4266" r="23801" b="5333"/>
          <a:stretch>
            <a:fillRect/>
          </a:stretch>
        </p:blipFill>
        <p:spPr bwMode="auto">
          <a:xfrm>
            <a:off x="621567" y="2779713"/>
            <a:ext cx="3146425" cy="39211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807101E9-5A33-3E1A-35EB-7AE68AAF5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622" y="4462463"/>
            <a:ext cx="673466" cy="478310"/>
          </a:xfrm>
          <a:prstGeom prst="rightArrow">
            <a:avLst>
              <a:gd name="adj1" fmla="val 50000"/>
              <a:gd name="adj2" fmla="val 5001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204AF541-71E8-CA26-5093-764D85BB0A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2160" y="4462463"/>
            <a:ext cx="360040" cy="694728"/>
          </a:xfrm>
          <a:prstGeom prst="line">
            <a:avLst/>
          </a:prstGeom>
          <a:ln>
            <a:solidFill>
              <a:srgbClr val="CC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478CEA-5333-73CA-451F-8592B698DAB2}"/>
              </a:ext>
            </a:extLst>
          </p:cNvPr>
          <p:cNvSpPr txBox="1"/>
          <p:nvPr/>
        </p:nvSpPr>
        <p:spPr>
          <a:xfrm>
            <a:off x="3879368" y="4068772"/>
            <a:ext cx="752129" cy="397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/>
              <a:t>简化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053D27-84CF-44C5-AD0D-10D72917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9B78-48E8-433F-9CD9-22EE8D1B8576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17EA43-7DA8-479A-8182-7BF036BC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6521C1-ED2A-47EA-AEB7-7BB668AF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33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nimBg="1"/>
      <p:bldP spid="2" grpId="0" animBg="1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479EDEEF-E76C-74AC-987D-34AF066FA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冲突可串行化</a:t>
            </a:r>
            <a:r>
              <a:rPr lang="en-US" altLang="zh-CN" b="1" baseline="30000"/>
              <a:t> </a:t>
            </a:r>
          </a:p>
        </p:txBody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B73E4786-93CD-683D-D2A0-4DFABF0F3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5157" y="1456451"/>
            <a:ext cx="7742237" cy="5232400"/>
          </a:xfrm>
        </p:spPr>
        <p:txBody>
          <a:bodyPr/>
          <a:lstStyle/>
          <a:p>
            <a:pPr eaLnBrk="1" hangingPunct="1"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zh-CN" altLang="en-US" sz="2500" b="1" u="sng" dirty="0">
                <a:solidFill>
                  <a:srgbClr val="FF0000"/>
                </a:solidFill>
              </a:rPr>
              <a:t>非</a:t>
            </a:r>
            <a:r>
              <a:rPr lang="zh-CN" altLang="en-US" sz="2500" b="1" u="sng" dirty="0"/>
              <a:t>冲突可串行化</a:t>
            </a:r>
            <a:r>
              <a:rPr lang="zh-CN" altLang="en-US" sz="2500" b="1" dirty="0"/>
              <a:t>调度示例</a:t>
            </a:r>
            <a:endParaRPr lang="en-US" altLang="zh-CN" sz="2500" b="1" dirty="0"/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zh-CN" sz="2500" b="1" i="1" dirty="0"/>
              <a:t>			T</a:t>
            </a:r>
            <a:r>
              <a:rPr lang="en-US" altLang="zh-CN" sz="2500" b="1" baseline="-25000" dirty="0"/>
              <a:t>3</a:t>
            </a:r>
            <a:r>
              <a:rPr lang="en-US" altLang="zh-CN" sz="2500" b="1" dirty="0"/>
              <a:t>		  </a:t>
            </a:r>
            <a:r>
              <a:rPr lang="en-US" altLang="zh-CN" sz="2500" b="1" i="1" dirty="0"/>
              <a:t>T</a:t>
            </a:r>
            <a:r>
              <a:rPr lang="en-US" altLang="zh-CN" sz="2500" b="1" baseline="-25000" dirty="0"/>
              <a:t>4</a:t>
            </a:r>
            <a:br>
              <a:rPr lang="en-US" altLang="zh-CN" sz="2500" b="1" baseline="-25000" dirty="0"/>
            </a:br>
            <a:r>
              <a:rPr lang="en-US" altLang="zh-CN" sz="2500" b="1" baseline="-25000" dirty="0"/>
              <a:t>                    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zh-CN" sz="2500" b="1" baseline="-25000" dirty="0"/>
              <a:t>                                    </a:t>
            </a:r>
            <a:r>
              <a:rPr lang="en-US" altLang="zh-CN" sz="2500" b="1" dirty="0"/>
              <a:t>read(</a:t>
            </a:r>
            <a:r>
              <a:rPr lang="en-US" altLang="zh-CN" sz="2500" b="1" i="1" dirty="0"/>
              <a:t>Q</a:t>
            </a:r>
            <a:r>
              <a:rPr lang="en-US" altLang="zh-CN" sz="2500" b="1" dirty="0"/>
              <a:t>)</a:t>
            </a:r>
            <a:br>
              <a:rPr lang="en-US" altLang="zh-CN" sz="2500" b="1" dirty="0"/>
            </a:br>
            <a:r>
              <a:rPr lang="en-US" altLang="zh-CN" sz="2500" b="1" dirty="0"/>
              <a:t>	                  write(</a:t>
            </a:r>
            <a:r>
              <a:rPr lang="en-US" altLang="zh-CN" sz="2500" b="1" i="1" dirty="0"/>
              <a:t>Q</a:t>
            </a:r>
            <a:r>
              <a:rPr lang="en-US" altLang="zh-CN" sz="2500" b="1" dirty="0"/>
              <a:t>)</a:t>
            </a:r>
            <a:br>
              <a:rPr lang="en-US" altLang="zh-CN" sz="2500" b="1" dirty="0"/>
            </a:br>
            <a:r>
              <a:rPr lang="en-US" altLang="zh-CN" sz="2500" b="1" dirty="0"/>
              <a:t>                    write(</a:t>
            </a:r>
            <a:r>
              <a:rPr lang="en-US" altLang="zh-CN" sz="2500" b="1" i="1" dirty="0"/>
              <a:t>Q</a:t>
            </a:r>
            <a:r>
              <a:rPr lang="en-US" altLang="zh-CN" sz="2500" b="1" dirty="0"/>
              <a:t>)</a:t>
            </a:r>
            <a:br>
              <a:rPr lang="en-US" altLang="zh-CN" sz="2500" b="1" dirty="0"/>
            </a:br>
            <a:br>
              <a:rPr lang="en-US" altLang="zh-CN" sz="2500" b="1" dirty="0"/>
            </a:br>
            <a:r>
              <a:rPr lang="zh-CN" altLang="en-US" sz="2500" b="1" dirty="0"/>
              <a:t>不可能通过交换上面这个调度的指令而得到等价的串行调度</a:t>
            </a:r>
            <a:r>
              <a:rPr lang="en-US" altLang="zh-CN" sz="2500" b="1" dirty="0">
                <a:solidFill>
                  <a:srgbClr val="0000FF"/>
                </a:solidFill>
              </a:rPr>
              <a:t>&lt;</a:t>
            </a:r>
            <a:r>
              <a:rPr lang="en-US" altLang="zh-CN" sz="2500" b="1" i="1" dirty="0">
                <a:solidFill>
                  <a:srgbClr val="0000FF"/>
                </a:solidFill>
              </a:rPr>
              <a:t>T</a:t>
            </a:r>
            <a:r>
              <a:rPr lang="en-US" altLang="zh-CN" sz="25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500" b="1" dirty="0">
                <a:solidFill>
                  <a:srgbClr val="0000FF"/>
                </a:solidFill>
              </a:rPr>
              <a:t>,</a:t>
            </a:r>
            <a:r>
              <a:rPr lang="en-US" altLang="zh-CN" sz="2500" b="1" i="1" dirty="0">
                <a:solidFill>
                  <a:srgbClr val="0000FF"/>
                </a:solidFill>
              </a:rPr>
              <a:t>T</a:t>
            </a:r>
            <a:r>
              <a:rPr lang="en-US" altLang="zh-CN" sz="2500" b="1" baseline="-25000" dirty="0">
                <a:solidFill>
                  <a:srgbClr val="0000FF"/>
                </a:solidFill>
              </a:rPr>
              <a:t>4</a:t>
            </a:r>
            <a:r>
              <a:rPr lang="en-US" altLang="zh-CN" sz="2500" b="1" dirty="0">
                <a:solidFill>
                  <a:srgbClr val="0000FF"/>
                </a:solidFill>
              </a:rPr>
              <a:t>&gt; </a:t>
            </a:r>
            <a:r>
              <a:rPr lang="zh-CN" altLang="en-US" sz="2500" b="1" dirty="0"/>
              <a:t>或</a:t>
            </a:r>
            <a:r>
              <a:rPr lang="en-US" altLang="zh-CN" sz="2500" b="1" dirty="0"/>
              <a:t>&lt;</a:t>
            </a:r>
            <a:r>
              <a:rPr lang="en-US" altLang="zh-CN" sz="2500" b="1" i="1" dirty="0"/>
              <a:t>T</a:t>
            </a:r>
            <a:r>
              <a:rPr lang="en-US" altLang="zh-CN" sz="2500" b="1" baseline="-25000" dirty="0"/>
              <a:t>4</a:t>
            </a:r>
            <a:r>
              <a:rPr lang="en-US" altLang="zh-CN" sz="2500" b="1" dirty="0"/>
              <a:t>, </a:t>
            </a:r>
            <a:r>
              <a:rPr lang="en-US" altLang="zh-CN" sz="2500" b="1" i="1" dirty="0"/>
              <a:t>T</a:t>
            </a:r>
            <a:r>
              <a:rPr lang="en-US" altLang="zh-CN" sz="2500" b="1" baseline="-25000" dirty="0"/>
              <a:t>3</a:t>
            </a:r>
            <a:r>
              <a:rPr lang="en-US" altLang="zh-CN" sz="2500" b="1" dirty="0"/>
              <a:t> &gt;</a:t>
            </a:r>
          </a:p>
        </p:txBody>
      </p:sp>
      <p:sp>
        <p:nvSpPr>
          <p:cNvPr id="488452" name="Line 4">
            <a:extLst>
              <a:ext uri="{FF2B5EF4-FFF2-40B4-BE49-F238E27FC236}">
                <a16:creationId xmlns:a16="http://schemas.microsoft.com/office/drawing/2014/main" id="{F57476AF-FFC3-DFCB-07F4-9E7BFC191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967191"/>
            <a:ext cx="1" cy="20739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8453" name="Line 5">
            <a:extLst>
              <a:ext uri="{FF2B5EF4-FFF2-40B4-BE49-F238E27FC236}">
                <a16:creationId xmlns:a16="http://schemas.microsoft.com/office/drawing/2014/main" id="{8D9CA2B4-7E69-E739-08E4-6983B00F5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7907" y="2511579"/>
            <a:ext cx="2747962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85DA1B-0443-D6DD-8722-5550600814F8}"/>
              </a:ext>
            </a:extLst>
          </p:cNvPr>
          <p:cNvSpPr txBox="1"/>
          <p:nvPr/>
        </p:nvSpPr>
        <p:spPr>
          <a:xfrm>
            <a:off x="4067944" y="5096263"/>
            <a:ext cx="4648200" cy="4247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/>
              <a:t>read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(</a:t>
            </a:r>
            <a:r>
              <a:rPr lang="en-US" altLang="zh-CN" b="1" i="1" dirty="0"/>
              <a:t>Q</a:t>
            </a:r>
            <a:r>
              <a:rPr lang="en-US" altLang="zh-CN" b="1" dirty="0"/>
              <a:t>)  </a:t>
            </a:r>
            <a:r>
              <a:rPr lang="en-US" altLang="zh-CN" b="1" dirty="0">
                <a:solidFill>
                  <a:schemeClr val="tx2"/>
                </a:solidFill>
              </a:rPr>
              <a:t>write</a:t>
            </a:r>
            <a:r>
              <a:rPr lang="en-US" altLang="zh-CN" b="1" baseline="-25000" dirty="0">
                <a:solidFill>
                  <a:schemeClr val="tx2"/>
                </a:solidFill>
              </a:rPr>
              <a:t>4</a:t>
            </a:r>
            <a:r>
              <a:rPr lang="en-US" altLang="zh-CN" b="1" dirty="0">
                <a:solidFill>
                  <a:schemeClr val="tx2"/>
                </a:solidFill>
              </a:rPr>
              <a:t>(</a:t>
            </a:r>
            <a:r>
              <a:rPr lang="en-US" altLang="zh-CN" b="1" i="1" dirty="0">
                <a:solidFill>
                  <a:schemeClr val="tx2"/>
                </a:solidFill>
              </a:rPr>
              <a:t>Q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  <a:r>
              <a:rPr lang="en-US" altLang="zh-CN" b="1" dirty="0"/>
              <a:t> write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(</a:t>
            </a:r>
            <a:r>
              <a:rPr lang="en-US" altLang="zh-CN" b="1" i="1" dirty="0"/>
              <a:t>Q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B5F218-E890-4FC2-122F-E8027FB09CC4}"/>
              </a:ext>
            </a:extLst>
          </p:cNvPr>
          <p:cNvGrpSpPr/>
          <p:nvPr/>
        </p:nvGrpSpPr>
        <p:grpSpPr>
          <a:xfrm>
            <a:off x="5934844" y="5549488"/>
            <a:ext cx="838200" cy="638093"/>
            <a:chOff x="6286500" y="5105400"/>
            <a:chExt cx="838200" cy="638093"/>
          </a:xfrm>
        </p:grpSpPr>
        <p:sp>
          <p:nvSpPr>
            <p:cNvPr id="5" name="上下箭头 6">
              <a:extLst>
                <a:ext uri="{FF2B5EF4-FFF2-40B4-BE49-F238E27FC236}">
                  <a16:creationId xmlns:a16="http://schemas.microsoft.com/office/drawing/2014/main" id="{A502E9DE-BC56-4FD1-62DB-57F40A4D1803}"/>
                </a:ext>
              </a:extLst>
            </p:cNvPr>
            <p:cNvSpPr/>
            <p:nvPr/>
          </p:nvSpPr>
          <p:spPr bwMode="auto">
            <a:xfrm>
              <a:off x="6553200" y="5105400"/>
              <a:ext cx="304800" cy="638093"/>
            </a:xfrm>
            <a:prstGeom prst="upDown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4126DD2-D3A0-68A6-DA43-D4834775AA38}"/>
                </a:ext>
              </a:extLst>
            </p:cNvPr>
            <p:cNvCxnSpPr/>
            <p:nvPr/>
          </p:nvCxnSpPr>
          <p:spPr bwMode="auto">
            <a:xfrm flipV="1">
              <a:off x="6286500" y="5257800"/>
              <a:ext cx="838200" cy="3048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3AEFCA64-56CC-8459-0B6B-DAF20E8C414C}"/>
              </a:ext>
            </a:extLst>
          </p:cNvPr>
          <p:cNvSpPr txBox="1"/>
          <p:nvPr/>
        </p:nvSpPr>
        <p:spPr>
          <a:xfrm>
            <a:off x="2710157" y="5893522"/>
            <a:ext cx="286809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串行化调度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, T</a:t>
            </a:r>
            <a:r>
              <a:rPr lang="en-US" altLang="zh-CN" baseline="-25000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2B18B48F-F852-449C-8DEA-02209A4D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1421-EFD5-4D71-B557-CD6DB0BC5D12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F1700174-CCF0-40CF-B4E9-5A82235C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A6BF09E-8AA2-4208-AD32-A4C86C76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34</a:t>
            </a:fld>
            <a:r>
              <a:rPr lang="en-US" altLang="zh-CN"/>
              <a:t>/53</a:t>
            </a:r>
            <a:endParaRPr lang="zh-CN" altLang="en-US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D26C90B-4483-967B-0686-5AD4A24D83E8}"/>
              </a:ext>
            </a:extLst>
          </p:cNvPr>
          <p:cNvSpPr txBox="1"/>
          <p:nvPr/>
        </p:nvSpPr>
        <p:spPr>
          <a:xfrm>
            <a:off x="4067944" y="6311488"/>
            <a:ext cx="4648200" cy="4247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/>
              <a:t>read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(</a:t>
            </a:r>
            <a:r>
              <a:rPr lang="en-US" altLang="zh-CN" b="1" i="1" dirty="0"/>
              <a:t>Q</a:t>
            </a:r>
            <a:r>
              <a:rPr lang="en-US" altLang="zh-CN" b="1" dirty="0"/>
              <a:t>) write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(</a:t>
            </a:r>
            <a:r>
              <a:rPr lang="en-US" altLang="zh-CN" b="1" i="1" dirty="0"/>
              <a:t>Q</a:t>
            </a:r>
            <a:r>
              <a:rPr lang="en-US" altLang="zh-CN" b="1" dirty="0"/>
              <a:t>) </a:t>
            </a:r>
            <a:r>
              <a:rPr lang="en-US" altLang="zh-CN" b="1" dirty="0">
                <a:solidFill>
                  <a:schemeClr val="tx2"/>
                </a:solidFill>
              </a:rPr>
              <a:t>write</a:t>
            </a:r>
            <a:r>
              <a:rPr lang="en-US" altLang="zh-CN" b="1" baseline="-25000" dirty="0">
                <a:solidFill>
                  <a:schemeClr val="tx2"/>
                </a:solidFill>
              </a:rPr>
              <a:t>4</a:t>
            </a:r>
            <a:r>
              <a:rPr lang="en-US" altLang="zh-CN" b="1" dirty="0">
                <a:solidFill>
                  <a:schemeClr val="tx2"/>
                </a:solidFill>
              </a:rPr>
              <a:t>(</a:t>
            </a:r>
            <a:r>
              <a:rPr lang="en-US" altLang="zh-CN" b="1" i="1" dirty="0">
                <a:solidFill>
                  <a:schemeClr val="tx2"/>
                </a:solidFill>
              </a:rPr>
              <a:t>Q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4AB7C812-393A-D8C7-EB0A-524F5D7E1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优先图(</a:t>
            </a:r>
            <a:r>
              <a:rPr lang="en-US" altLang="zh-CN" b="1"/>
              <a:t>precedence graph)</a:t>
            </a:r>
            <a:endParaRPr lang="zh-CN" altLang="en-US" b="1"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023E6A3B-04CE-6A5C-318B-DB9B41A44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340768"/>
            <a:ext cx="7992888" cy="5040560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为了判断一个调度</a:t>
            </a:r>
            <a:r>
              <a:rPr lang="en-US" altLang="zh-CN" sz="2500" b="1" dirty="0"/>
              <a:t>S</a:t>
            </a:r>
            <a:r>
              <a:rPr lang="zh-CN" altLang="en-US" sz="2500" b="1" dirty="0"/>
              <a:t>是否是冲突可串行化的，定义</a:t>
            </a:r>
            <a:r>
              <a:rPr lang="zh-CN" altLang="en-US" sz="2500" b="1" dirty="0">
                <a:solidFill>
                  <a:srgbClr val="0000FF"/>
                </a:solidFill>
              </a:rPr>
              <a:t>调度</a:t>
            </a:r>
            <a:r>
              <a:rPr lang="en-US" altLang="zh-CN" sz="2500" b="1" dirty="0">
                <a:solidFill>
                  <a:srgbClr val="0000FF"/>
                </a:solidFill>
              </a:rPr>
              <a:t>S</a:t>
            </a:r>
            <a:r>
              <a:rPr lang="zh-CN" altLang="en-US" sz="2500" b="1" dirty="0"/>
              <a:t>的</a:t>
            </a:r>
            <a:r>
              <a:rPr lang="zh-CN" altLang="en-US" sz="2500" b="1" dirty="0">
                <a:solidFill>
                  <a:srgbClr val="0000FF"/>
                </a:solidFill>
              </a:rPr>
              <a:t>优先图</a:t>
            </a:r>
            <a:r>
              <a:rPr lang="zh-CN" altLang="en-US" sz="2500" b="1" dirty="0"/>
              <a:t>：是一个有向图</a:t>
            </a:r>
            <a:r>
              <a:rPr lang="en-US" altLang="zh-CN" sz="2500" b="1" dirty="0"/>
              <a:t>G =（V，E），V</a:t>
            </a:r>
            <a:r>
              <a:rPr lang="zh-CN" altLang="en-US" sz="2500" b="1" dirty="0"/>
              <a:t>是顶点集，</a:t>
            </a:r>
            <a:r>
              <a:rPr lang="en-US" altLang="zh-CN" sz="2500" b="1" dirty="0"/>
              <a:t>E</a:t>
            </a:r>
            <a:r>
              <a:rPr lang="zh-CN" altLang="en-US" sz="2500" b="1" dirty="0"/>
              <a:t>是边集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u="sng" dirty="0">
                <a:solidFill>
                  <a:srgbClr val="0000FF"/>
                </a:solidFill>
              </a:rPr>
              <a:t>顶点</a:t>
            </a:r>
            <a:r>
              <a:rPr lang="zh-CN" altLang="en-US" sz="2400" b="1" dirty="0">
                <a:solidFill>
                  <a:srgbClr val="0000FF"/>
                </a:solidFill>
              </a:rPr>
              <a:t>集</a:t>
            </a:r>
            <a:r>
              <a:rPr lang="zh-CN" altLang="en-US" sz="2400" b="1" dirty="0"/>
              <a:t>由</a:t>
            </a:r>
            <a:r>
              <a:rPr lang="zh-CN" altLang="en-US" sz="2400" b="1" dirty="0">
                <a:solidFill>
                  <a:srgbClr val="0000FF"/>
                </a:solidFill>
              </a:rPr>
              <a:t>所有参与调度</a:t>
            </a:r>
            <a:r>
              <a:rPr lang="zh-CN" altLang="en-US" sz="2400" b="1" dirty="0"/>
              <a:t>的</a:t>
            </a:r>
            <a:r>
              <a:rPr lang="zh-CN" altLang="en-US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事务</a:t>
            </a:r>
            <a:r>
              <a:rPr lang="zh-CN" altLang="en-US" sz="2400" b="1" dirty="0"/>
              <a:t>组成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边集</a:t>
            </a:r>
            <a:r>
              <a:rPr lang="zh-CN" altLang="en-US" sz="2400" b="1" dirty="0"/>
              <a:t>由满足下述条件之一的</a:t>
            </a:r>
            <a:r>
              <a:rPr lang="zh-CN" altLang="en-US" sz="2400" b="1" dirty="0">
                <a:solidFill>
                  <a:srgbClr val="FF0000"/>
                </a:solidFill>
              </a:rPr>
              <a:t>边</a:t>
            </a:r>
            <a:r>
              <a:rPr lang="en-US" altLang="zh-CN" sz="2400" b="1" dirty="0" err="1">
                <a:solidFill>
                  <a:srgbClr val="FF0000"/>
                </a:solidFill>
              </a:rPr>
              <a:t>T</a:t>
            </a:r>
            <a:r>
              <a:rPr lang="en-US" altLang="zh-CN" sz="2400" b="1" baseline="-16000" dirty="0" err="1">
                <a:solidFill>
                  <a:srgbClr val="FF0000"/>
                </a:solidFill>
              </a:rPr>
              <a:t>i</a:t>
            </a:r>
            <a:r>
              <a:rPr lang="en-US" altLang="zh-CN" sz="2400" b="1" dirty="0" err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rgbClr val="FF0000"/>
                </a:solidFill>
              </a:rPr>
              <a:t>T</a:t>
            </a:r>
            <a:r>
              <a:rPr lang="en-US" altLang="zh-CN" sz="2400" b="1" baseline="-16000" dirty="0" err="1">
                <a:solidFill>
                  <a:srgbClr val="FF0000"/>
                </a:solidFill>
              </a:rPr>
              <a:t>j</a:t>
            </a:r>
            <a:r>
              <a:rPr lang="zh-CN" altLang="en-US" sz="2400" b="1" dirty="0"/>
              <a:t>组成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	①在</a:t>
            </a:r>
            <a:r>
              <a:rPr lang="en-US" altLang="zh-CN" sz="2400" b="1" dirty="0" err="1"/>
              <a:t>T</a:t>
            </a:r>
            <a:r>
              <a:rPr lang="en-US" altLang="zh-CN" sz="2400" b="1" baseline="-16000" dirty="0" err="1"/>
              <a:t>j</a:t>
            </a:r>
            <a:r>
              <a:rPr lang="zh-CN" altLang="en-US" sz="2400" b="1" dirty="0"/>
              <a:t>执行</a:t>
            </a:r>
            <a:r>
              <a:rPr lang="en-US" altLang="zh-CN" sz="2400" b="1" dirty="0">
                <a:solidFill>
                  <a:srgbClr val="FF0000"/>
                </a:solidFill>
              </a:rPr>
              <a:t>read</a:t>
            </a:r>
            <a:r>
              <a:rPr lang="en-US" altLang="zh-CN" sz="2400" b="1" dirty="0"/>
              <a:t>(Q)</a:t>
            </a:r>
            <a:r>
              <a:rPr lang="zh-CN" altLang="en-US" sz="2400" b="1" dirty="0">
                <a:solidFill>
                  <a:srgbClr val="0000FF"/>
                </a:solidFill>
              </a:rPr>
              <a:t>之前</a:t>
            </a:r>
            <a:r>
              <a:rPr lang="zh-CN" altLang="en-US" sz="2400" b="1" dirty="0"/>
              <a:t>，</a:t>
            </a:r>
            <a:r>
              <a:rPr lang="en-US" altLang="zh-CN" sz="2400" b="1" dirty="0" err="1"/>
              <a:t>T</a:t>
            </a:r>
            <a:r>
              <a:rPr lang="en-US" altLang="zh-CN" sz="2400" b="1" baseline="-16000" dirty="0" err="1"/>
              <a:t>i</a:t>
            </a:r>
            <a:r>
              <a:rPr lang="zh-CN" altLang="en-US" sz="2400" b="1" dirty="0"/>
              <a:t>执行</a:t>
            </a:r>
            <a:r>
              <a:rPr lang="en-US" altLang="zh-CN" sz="2400" b="1" dirty="0">
                <a:solidFill>
                  <a:srgbClr val="FF0000"/>
                </a:solidFill>
              </a:rPr>
              <a:t>write</a:t>
            </a:r>
            <a:r>
              <a:rPr lang="en-US" altLang="zh-CN" sz="2400" b="1" dirty="0"/>
              <a:t>(Q)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	②</a:t>
            </a:r>
            <a:r>
              <a:rPr lang="zh-CN" altLang="en-US" sz="2400" b="1" dirty="0"/>
              <a:t>在</a:t>
            </a:r>
            <a:r>
              <a:rPr lang="en-US" altLang="zh-CN" sz="2400" b="1" dirty="0" err="1"/>
              <a:t>T</a:t>
            </a:r>
            <a:r>
              <a:rPr lang="en-US" altLang="zh-CN" sz="2400" b="1" baseline="-16000" dirty="0" err="1"/>
              <a:t>j</a:t>
            </a:r>
            <a:r>
              <a:rPr lang="zh-CN" altLang="en-US" sz="2400" b="1" dirty="0"/>
              <a:t>执行</a:t>
            </a:r>
            <a:r>
              <a:rPr lang="en-US" altLang="zh-CN" sz="2400" b="1" dirty="0">
                <a:solidFill>
                  <a:srgbClr val="FF0000"/>
                </a:solidFill>
              </a:rPr>
              <a:t>write</a:t>
            </a:r>
            <a:r>
              <a:rPr lang="en-US" altLang="zh-CN" sz="2400" b="1" dirty="0"/>
              <a:t>(Q)</a:t>
            </a:r>
            <a:r>
              <a:rPr lang="zh-CN" altLang="en-US" sz="2400" b="1" dirty="0">
                <a:solidFill>
                  <a:srgbClr val="0000FF"/>
                </a:solidFill>
              </a:rPr>
              <a:t>之前</a:t>
            </a:r>
            <a:r>
              <a:rPr lang="zh-CN" altLang="en-US" sz="2400" b="1" dirty="0"/>
              <a:t>，</a:t>
            </a:r>
            <a:r>
              <a:rPr lang="en-US" altLang="zh-CN" sz="2400" b="1" dirty="0" err="1"/>
              <a:t>T</a:t>
            </a:r>
            <a:r>
              <a:rPr lang="en-US" altLang="zh-CN" sz="2400" b="1" baseline="-16000" dirty="0" err="1"/>
              <a:t>i</a:t>
            </a:r>
            <a:r>
              <a:rPr lang="zh-CN" altLang="en-US" sz="2400" b="1" dirty="0"/>
              <a:t>执行</a:t>
            </a:r>
            <a:r>
              <a:rPr lang="en-US" altLang="zh-CN" sz="2400" b="1" dirty="0">
                <a:solidFill>
                  <a:srgbClr val="FF0000"/>
                </a:solidFill>
              </a:rPr>
              <a:t>read</a:t>
            </a:r>
            <a:r>
              <a:rPr lang="en-US" altLang="zh-CN" sz="2400" b="1" dirty="0"/>
              <a:t>(Q)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	③</a:t>
            </a:r>
            <a:r>
              <a:rPr lang="zh-CN" altLang="en-US" sz="2400" b="1" dirty="0"/>
              <a:t>在</a:t>
            </a:r>
            <a:r>
              <a:rPr lang="en-US" altLang="zh-CN" sz="2400" b="1" dirty="0" err="1"/>
              <a:t>T</a:t>
            </a:r>
            <a:r>
              <a:rPr lang="en-US" altLang="zh-CN" sz="2400" b="1" baseline="-16000" dirty="0" err="1"/>
              <a:t>j</a:t>
            </a:r>
            <a:r>
              <a:rPr lang="zh-CN" altLang="en-US" sz="2400" b="1" dirty="0"/>
              <a:t>执行</a:t>
            </a:r>
            <a:r>
              <a:rPr lang="en-US" altLang="zh-CN" sz="2400" b="1" dirty="0">
                <a:solidFill>
                  <a:srgbClr val="FF0000"/>
                </a:solidFill>
              </a:rPr>
              <a:t>write</a:t>
            </a:r>
            <a:r>
              <a:rPr lang="en-US" altLang="zh-CN" sz="2400" b="1" dirty="0"/>
              <a:t>(Q)</a:t>
            </a:r>
            <a:r>
              <a:rPr lang="zh-CN" altLang="en-US" sz="2400" b="1" dirty="0">
                <a:solidFill>
                  <a:srgbClr val="0000FF"/>
                </a:solidFill>
              </a:rPr>
              <a:t>之前</a:t>
            </a:r>
            <a:r>
              <a:rPr lang="zh-CN" altLang="en-US" sz="2400" b="1" dirty="0"/>
              <a:t>，</a:t>
            </a:r>
            <a:r>
              <a:rPr lang="en-US" altLang="zh-CN" sz="2400" b="1" dirty="0" err="1"/>
              <a:t>T</a:t>
            </a:r>
            <a:r>
              <a:rPr lang="en-US" altLang="zh-CN" sz="2400" b="1" baseline="-16000" dirty="0" err="1"/>
              <a:t>i</a:t>
            </a:r>
            <a:r>
              <a:rPr lang="zh-CN" altLang="en-US" sz="2400" b="1" dirty="0"/>
              <a:t>执行</a:t>
            </a:r>
            <a:r>
              <a:rPr lang="en-US" altLang="zh-CN" sz="2400" b="1" dirty="0">
                <a:solidFill>
                  <a:srgbClr val="FF0000"/>
                </a:solidFill>
              </a:rPr>
              <a:t>write</a:t>
            </a:r>
            <a:r>
              <a:rPr lang="en-US" altLang="zh-CN" sz="2400" b="1" dirty="0"/>
              <a:t>(Q)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E21282-290F-4764-84BF-1CE46FDE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1C1-D637-4671-93C3-1CAE627C618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8814E7-CC25-4EBC-85A4-19D9BF0B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41522E-2626-4E04-BAD7-B234E759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35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54138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9C3EF57B-4849-7169-F3F8-D956925C3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示例</a:t>
            </a:r>
          </a:p>
        </p:txBody>
      </p:sp>
      <p:sp>
        <p:nvSpPr>
          <p:cNvPr id="49156" name="Line 3">
            <a:extLst>
              <a:ext uri="{FF2B5EF4-FFF2-40B4-BE49-F238E27FC236}">
                <a16:creationId xmlns:a16="http://schemas.microsoft.com/office/drawing/2014/main" id="{1E28FAAA-C96E-DE52-F9C7-37B8F8697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1889125"/>
            <a:ext cx="419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Line 4">
            <a:extLst>
              <a:ext uri="{FF2B5EF4-FFF2-40B4-BE49-F238E27FC236}">
                <a16:creationId xmlns:a16="http://schemas.microsoft.com/office/drawing/2014/main" id="{4FAF4A96-4FA9-4CD5-0099-F46D9CF78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279525"/>
            <a:ext cx="0" cy="403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8" name="Text Box 5">
            <a:extLst>
              <a:ext uri="{FF2B5EF4-FFF2-40B4-BE49-F238E27FC236}">
                <a16:creationId xmlns:a16="http://schemas.microsoft.com/office/drawing/2014/main" id="{75E5B035-A1CA-9B8D-4CAF-69986B946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92225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159" name="Text Box 6">
            <a:extLst>
              <a:ext uri="{FF2B5EF4-FFF2-40B4-BE49-F238E27FC236}">
                <a16:creationId xmlns:a16="http://schemas.microsoft.com/office/drawing/2014/main" id="{A0841B31-CD25-11AA-2E45-4908AD6CD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323975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9160" name="AutoShape 7">
            <a:extLst>
              <a:ext uri="{FF2B5EF4-FFF2-40B4-BE49-F238E27FC236}">
                <a16:creationId xmlns:a16="http://schemas.microsoft.com/office/drawing/2014/main" id="{B230DA31-7749-E3A6-644C-C9C9E5732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65325"/>
            <a:ext cx="609600" cy="2133600"/>
          </a:xfrm>
          <a:prstGeom prst="wedgeRoundRectCallout">
            <a:avLst>
              <a:gd name="adj1" fmla="val 44532"/>
              <a:gd name="adj2" fmla="val 1108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并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行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调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度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i="0">
                <a:latin typeface="楷体_GB2312" pitchFamily="49" charset="-122"/>
                <a:ea typeface="楷体_GB2312" pitchFamily="49" charset="-122"/>
              </a:rPr>
              <a:t>1</a:t>
            </a:r>
            <a:endParaRPr kumimoji="1" lang="en-US" altLang="zh-CN" sz="2800" i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161" name="Oval 8">
            <a:extLst>
              <a:ext uri="{FF2B5EF4-FFF2-40B4-BE49-F238E27FC236}">
                <a16:creationId xmlns:a16="http://schemas.microsoft.com/office/drawing/2014/main" id="{169DCFEE-7B14-9DB3-B7A1-35823F3F7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6229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49162" name="Text Box 9">
            <a:extLst>
              <a:ext uri="{FF2B5EF4-FFF2-40B4-BE49-F238E27FC236}">
                <a16:creationId xmlns:a16="http://schemas.microsoft.com/office/drawing/2014/main" id="{C869A66C-3CB2-0F4D-1144-5EE737710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7753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163" name="Oval 10">
            <a:extLst>
              <a:ext uri="{FF2B5EF4-FFF2-40B4-BE49-F238E27FC236}">
                <a16:creationId xmlns:a16="http://schemas.microsoft.com/office/drawing/2014/main" id="{6A2593D4-6B0A-230E-987A-B13FB27FD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6229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49164" name="Text Box 11">
            <a:extLst>
              <a:ext uri="{FF2B5EF4-FFF2-40B4-BE49-F238E27FC236}">
                <a16:creationId xmlns:a16="http://schemas.microsoft.com/office/drawing/2014/main" id="{36B89ACC-7B35-5EB1-00EE-FE3346CAA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753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42060" name="Line 12">
            <a:extLst>
              <a:ext uri="{FF2B5EF4-FFF2-40B4-BE49-F238E27FC236}">
                <a16:creationId xmlns:a16="http://schemas.microsoft.com/office/drawing/2014/main" id="{3BAF54A3-1EE2-5255-74FB-A0B3F7212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60801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6" name="Text Box 13">
            <a:extLst>
              <a:ext uri="{FF2B5EF4-FFF2-40B4-BE49-F238E27FC236}">
                <a16:creationId xmlns:a16="http://schemas.microsoft.com/office/drawing/2014/main" id="{EB650FF2-4F3E-8CAF-E8BF-338F54B14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912938"/>
            <a:ext cx="1981200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read(A);</a:t>
            </a:r>
          </a:p>
        </p:txBody>
      </p:sp>
      <p:sp>
        <p:nvSpPr>
          <p:cNvPr id="49167" name="Text Box 14">
            <a:extLst>
              <a:ext uri="{FF2B5EF4-FFF2-40B4-BE49-F238E27FC236}">
                <a16:creationId xmlns:a16="http://schemas.microsoft.com/office/drawing/2014/main" id="{3CCF797A-9ECD-D64A-D230-4B49B2085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732338"/>
            <a:ext cx="1752600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write(B);</a:t>
            </a:r>
          </a:p>
        </p:txBody>
      </p:sp>
      <p:sp>
        <p:nvSpPr>
          <p:cNvPr id="49168" name="Text Box 15">
            <a:extLst>
              <a:ext uri="{FF2B5EF4-FFF2-40B4-BE49-F238E27FC236}">
                <a16:creationId xmlns:a16="http://schemas.microsoft.com/office/drawing/2014/main" id="{B2BA8CBF-8C28-8D95-80B1-153DBDE4E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92225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169" name="Text Box 16">
            <a:extLst>
              <a:ext uri="{FF2B5EF4-FFF2-40B4-BE49-F238E27FC236}">
                <a16:creationId xmlns:a16="http://schemas.microsoft.com/office/drawing/2014/main" id="{0CCFADF0-67E7-8826-051A-E48E5DBEE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323975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9170" name="Text Box 17">
            <a:extLst>
              <a:ext uri="{FF2B5EF4-FFF2-40B4-BE49-F238E27FC236}">
                <a16:creationId xmlns:a16="http://schemas.microsoft.com/office/drawing/2014/main" id="{38B6AB2B-9D36-066D-669A-F0D1AD962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473450"/>
            <a:ext cx="1752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write(A);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read(B);  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write(B);</a:t>
            </a:r>
          </a:p>
        </p:txBody>
      </p:sp>
      <p:sp>
        <p:nvSpPr>
          <p:cNvPr id="49171" name="AutoShape 18">
            <a:extLst>
              <a:ext uri="{FF2B5EF4-FFF2-40B4-BE49-F238E27FC236}">
                <a16:creationId xmlns:a16="http://schemas.microsoft.com/office/drawing/2014/main" id="{BB1FF6D6-A423-2FEE-99B6-8DF7DEF1A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041525"/>
            <a:ext cx="609600" cy="2133600"/>
          </a:xfrm>
          <a:prstGeom prst="wedgeRoundRectCallout">
            <a:avLst>
              <a:gd name="adj1" fmla="val 44532"/>
              <a:gd name="adj2" fmla="val 1108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并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行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调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i="0">
                <a:latin typeface="楷体_GB2312" pitchFamily="49" charset="-122"/>
                <a:ea typeface="楷体_GB2312" pitchFamily="49" charset="-122"/>
              </a:rPr>
              <a:t>度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49172" name="Text Box 19">
            <a:extLst>
              <a:ext uri="{FF2B5EF4-FFF2-40B4-BE49-F238E27FC236}">
                <a16:creationId xmlns:a16="http://schemas.microsoft.com/office/drawing/2014/main" id="{689B506B-7184-C072-59A9-3BDDC2A88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193925"/>
            <a:ext cx="17526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solidFill>
                  <a:srgbClr val="0000FF"/>
                </a:solidFill>
                <a:latin typeface="Times New Roman" panose="02020603050405020304" pitchFamily="18" charset="0"/>
              </a:rPr>
              <a:t>read(A);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i="0" dirty="0">
                <a:solidFill>
                  <a:srgbClr val="CC0000"/>
                </a:solidFill>
                <a:latin typeface="Times New Roman" panose="02020603050405020304" pitchFamily="18" charset="0"/>
              </a:rPr>
              <a:t>write(A);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read(B);</a:t>
            </a:r>
          </a:p>
        </p:txBody>
      </p:sp>
      <p:sp>
        <p:nvSpPr>
          <p:cNvPr id="49173" name="Line 20">
            <a:extLst>
              <a:ext uri="{FF2B5EF4-FFF2-40B4-BE49-F238E27FC236}">
                <a16:creationId xmlns:a16="http://schemas.microsoft.com/office/drawing/2014/main" id="{8941CB5F-5731-6487-B366-03E5BE0D5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889125"/>
            <a:ext cx="419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4" name="Line 21">
            <a:extLst>
              <a:ext uri="{FF2B5EF4-FFF2-40B4-BE49-F238E27FC236}">
                <a16:creationId xmlns:a16="http://schemas.microsoft.com/office/drawing/2014/main" id="{D993D6A6-0527-E0A8-AEF1-B94B3D625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279525"/>
            <a:ext cx="0" cy="403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5" name="Oval 22">
            <a:extLst>
              <a:ext uri="{FF2B5EF4-FFF2-40B4-BE49-F238E27FC236}">
                <a16:creationId xmlns:a16="http://schemas.microsoft.com/office/drawing/2014/main" id="{FA7952CB-6708-4257-8BB2-3B3B24AAE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229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49176" name="Text Box 23">
            <a:extLst>
              <a:ext uri="{FF2B5EF4-FFF2-40B4-BE49-F238E27FC236}">
                <a16:creationId xmlns:a16="http://schemas.microsoft.com/office/drawing/2014/main" id="{35C9EC8C-3A69-A3A9-A430-9084F88E1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7753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42072" name="Freeform 24">
            <a:extLst>
              <a:ext uri="{FF2B5EF4-FFF2-40B4-BE49-F238E27FC236}">
                <a16:creationId xmlns:a16="http://schemas.microsoft.com/office/drawing/2014/main" id="{E23ACCCB-BFBB-3D1E-F719-7C4DAE6C4F38}"/>
              </a:ext>
            </a:extLst>
          </p:cNvPr>
          <p:cNvSpPr>
            <a:spLocks/>
          </p:cNvSpPr>
          <p:nvPr/>
        </p:nvSpPr>
        <p:spPr bwMode="auto">
          <a:xfrm>
            <a:off x="6934200" y="5534025"/>
            <a:ext cx="1066800" cy="317500"/>
          </a:xfrm>
          <a:custGeom>
            <a:avLst/>
            <a:gdLst>
              <a:gd name="T0" fmla="*/ 0 w 672"/>
              <a:gd name="T1" fmla="*/ 2147483646 h 200"/>
              <a:gd name="T2" fmla="*/ 2147483646 w 672"/>
              <a:gd name="T3" fmla="*/ 2147483646 h 200"/>
              <a:gd name="T4" fmla="*/ 2147483646 w 672"/>
              <a:gd name="T5" fmla="*/ 2147483646 h 200"/>
              <a:gd name="T6" fmla="*/ 2147483646 w 672"/>
              <a:gd name="T7" fmla="*/ 2147483646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2" h="200">
                <a:moveTo>
                  <a:pt x="0" y="152"/>
                </a:moveTo>
                <a:cubicBezTo>
                  <a:pt x="72" y="84"/>
                  <a:pt x="144" y="16"/>
                  <a:pt x="240" y="8"/>
                </a:cubicBezTo>
                <a:cubicBezTo>
                  <a:pt x="336" y="0"/>
                  <a:pt x="504" y="72"/>
                  <a:pt x="576" y="104"/>
                </a:cubicBezTo>
                <a:cubicBezTo>
                  <a:pt x="648" y="136"/>
                  <a:pt x="660" y="168"/>
                  <a:pt x="672" y="20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2073" name="Freeform 25">
            <a:extLst>
              <a:ext uri="{FF2B5EF4-FFF2-40B4-BE49-F238E27FC236}">
                <a16:creationId xmlns:a16="http://schemas.microsoft.com/office/drawing/2014/main" id="{9CE52A57-D5A4-7A4D-5758-29104AB9BEA2}"/>
              </a:ext>
            </a:extLst>
          </p:cNvPr>
          <p:cNvSpPr>
            <a:spLocks/>
          </p:cNvSpPr>
          <p:nvPr/>
        </p:nvSpPr>
        <p:spPr bwMode="auto">
          <a:xfrm flipV="1">
            <a:off x="6934200" y="6232525"/>
            <a:ext cx="1066800" cy="457200"/>
          </a:xfrm>
          <a:custGeom>
            <a:avLst/>
            <a:gdLst>
              <a:gd name="T0" fmla="*/ 0 w 672"/>
              <a:gd name="T1" fmla="*/ 2147483646 h 200"/>
              <a:gd name="T2" fmla="*/ 2147483646 w 672"/>
              <a:gd name="T3" fmla="*/ 2147483646 h 200"/>
              <a:gd name="T4" fmla="*/ 2147483646 w 672"/>
              <a:gd name="T5" fmla="*/ 2147483646 h 200"/>
              <a:gd name="T6" fmla="*/ 2147483646 w 672"/>
              <a:gd name="T7" fmla="*/ 2147483646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2" h="200">
                <a:moveTo>
                  <a:pt x="0" y="152"/>
                </a:moveTo>
                <a:cubicBezTo>
                  <a:pt x="72" y="84"/>
                  <a:pt x="144" y="16"/>
                  <a:pt x="240" y="8"/>
                </a:cubicBezTo>
                <a:cubicBezTo>
                  <a:pt x="336" y="0"/>
                  <a:pt x="504" y="72"/>
                  <a:pt x="576" y="104"/>
                </a:cubicBezTo>
                <a:cubicBezTo>
                  <a:pt x="648" y="136"/>
                  <a:pt x="660" y="168"/>
                  <a:pt x="672" y="20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9" name="Oval 26">
            <a:extLst>
              <a:ext uri="{FF2B5EF4-FFF2-40B4-BE49-F238E27FC236}">
                <a16:creationId xmlns:a16="http://schemas.microsoft.com/office/drawing/2014/main" id="{E8C7A5E6-44B1-BD12-E631-639EB587C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467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49180" name="Text Box 27">
            <a:extLst>
              <a:ext uri="{FF2B5EF4-FFF2-40B4-BE49-F238E27FC236}">
                <a16:creationId xmlns:a16="http://schemas.microsoft.com/office/drawing/2014/main" id="{5A330222-7BBF-FC1A-789A-566F2C6FC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56991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9181" name="Text Box 28">
            <a:extLst>
              <a:ext uri="{FF2B5EF4-FFF2-40B4-BE49-F238E27FC236}">
                <a16:creationId xmlns:a16="http://schemas.microsoft.com/office/drawing/2014/main" id="{71D83896-4AAA-B149-065F-3F10291F8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65325"/>
            <a:ext cx="19812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read(A);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i="0" dirty="0">
                <a:latin typeface="Times New Roman" panose="02020603050405020304" pitchFamily="18" charset="0"/>
              </a:rPr>
              <a:t>write(A);</a:t>
            </a:r>
            <a:endParaRPr kumimoji="1" lang="en-US" altLang="zh-CN" sz="2800" i="0" dirty="0">
              <a:latin typeface="Times New Roman" panose="02020603050405020304" pitchFamily="18" charset="0"/>
            </a:endParaRPr>
          </a:p>
        </p:txBody>
      </p:sp>
      <p:sp>
        <p:nvSpPr>
          <p:cNvPr id="49182" name="Text Box 29">
            <a:extLst>
              <a:ext uri="{FF2B5EF4-FFF2-40B4-BE49-F238E27FC236}">
                <a16:creationId xmlns:a16="http://schemas.microsoft.com/office/drawing/2014/main" id="{64F73234-3EF4-274C-7832-8E93E7119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010025"/>
            <a:ext cx="17526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read(B);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write(B);</a:t>
            </a:r>
          </a:p>
        </p:txBody>
      </p:sp>
      <p:sp>
        <p:nvSpPr>
          <p:cNvPr id="49183" name="Text Box 30">
            <a:extLst>
              <a:ext uri="{FF2B5EF4-FFF2-40B4-BE49-F238E27FC236}">
                <a16:creationId xmlns:a16="http://schemas.microsoft.com/office/drawing/2014/main" id="{95442072-4985-FB3C-3EAE-1A9212450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336925"/>
            <a:ext cx="1524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read(B);    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write(B);</a:t>
            </a:r>
          </a:p>
        </p:txBody>
      </p:sp>
      <p:sp>
        <p:nvSpPr>
          <p:cNvPr id="49184" name="Text Box 31">
            <a:extLst>
              <a:ext uri="{FF2B5EF4-FFF2-40B4-BE49-F238E27FC236}">
                <a16:creationId xmlns:a16="http://schemas.microsoft.com/office/drawing/2014/main" id="{8501851E-0493-6CEF-7574-A26C574CE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665413"/>
            <a:ext cx="19812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read(A);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i="0" dirty="0">
                <a:latin typeface="Times New Roman" panose="02020603050405020304" pitchFamily="18" charset="0"/>
              </a:rPr>
              <a:t>write(A);</a:t>
            </a:r>
            <a:endParaRPr kumimoji="1" lang="en-US" altLang="zh-CN" sz="2800" i="0" dirty="0">
              <a:latin typeface="Times New Roman" panose="02020603050405020304" pitchFamily="18" charset="0"/>
            </a:endParaRPr>
          </a:p>
        </p:txBody>
      </p:sp>
      <p:sp>
        <p:nvSpPr>
          <p:cNvPr id="648192" name="Line 0">
            <a:extLst>
              <a:ext uri="{FF2B5EF4-FFF2-40B4-BE49-F238E27FC236}">
                <a16:creationId xmlns:a16="http://schemas.microsoft.com/office/drawing/2014/main" id="{F84B7EBC-2FD1-3853-00CF-F24E0F345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7913" y="2692400"/>
            <a:ext cx="568325" cy="2762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8193" name="Line 1">
            <a:extLst>
              <a:ext uri="{FF2B5EF4-FFF2-40B4-BE49-F238E27FC236}">
                <a16:creationId xmlns:a16="http://schemas.microsoft.com/office/drawing/2014/main" id="{9C31328D-20E4-DB4A-D433-9860A1EF1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3325" y="3981450"/>
            <a:ext cx="415925" cy="19367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8194" name="Line 2">
            <a:extLst>
              <a:ext uri="{FF2B5EF4-FFF2-40B4-BE49-F238E27FC236}">
                <a16:creationId xmlns:a16="http://schemas.microsoft.com/office/drawing/2014/main" id="{1D536E26-AE22-0C1F-4FAB-5DE939BBB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1188" y="2166938"/>
            <a:ext cx="541337" cy="63658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8195" name="Line 3">
            <a:extLst>
              <a:ext uri="{FF2B5EF4-FFF2-40B4-BE49-F238E27FC236}">
                <a16:creationId xmlns:a16="http://schemas.microsoft.com/office/drawing/2014/main" id="{050ADBFE-581C-784D-53CF-489D738BBF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3038475"/>
            <a:ext cx="539750" cy="51276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1FE399-FCFB-477A-B766-461D3072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34713-8716-4376-8E09-040647F7B323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359B12-61C9-45BD-BCC7-2EE22D91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B5FD35-20B4-4375-BFAD-2F2078A6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36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439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>
            <a:extLst>
              <a:ext uri="{FF2B5EF4-FFF2-40B4-BE49-F238E27FC236}">
                <a16:creationId xmlns:a16="http://schemas.microsoft.com/office/drawing/2014/main" id="{DA9E0784-866D-6ED0-1928-94AC2B62B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冲突可串行化判定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E479424-FAD3-A102-2E30-5BAFE0B31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7083" y="1392317"/>
            <a:ext cx="7313612" cy="1970008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冲突可串行化</a:t>
            </a:r>
            <a:r>
              <a:rPr lang="zh-CN" altLang="en-US" sz="2500" b="1" dirty="0">
                <a:solidFill>
                  <a:srgbClr val="FF0000"/>
                </a:solidFill>
              </a:rPr>
              <a:t>判定准则</a:t>
            </a:r>
          </a:p>
          <a:p>
            <a:pPr lvl="1" eaLnBrk="1" hangingPunct="1"/>
            <a:r>
              <a:rPr lang="zh-CN" altLang="en-US" sz="2100" b="1" dirty="0">
                <a:latin typeface="楷体_GB2312" pitchFamily="49" charset="-122"/>
              </a:rPr>
              <a:t>如果</a:t>
            </a:r>
            <a:r>
              <a:rPr lang="en-US" altLang="zh-CN" sz="2100" b="1" dirty="0">
                <a:latin typeface="楷体_GB2312" pitchFamily="49" charset="-122"/>
              </a:rPr>
              <a:t>S</a:t>
            </a:r>
            <a:r>
              <a:rPr lang="zh-CN" altLang="en-US" sz="2100" b="1" dirty="0">
                <a:latin typeface="楷体_GB2312" pitchFamily="49" charset="-122"/>
              </a:rPr>
              <a:t>的</a:t>
            </a:r>
            <a:r>
              <a:rPr lang="zh-CN" altLang="en-US" sz="2100" b="1" dirty="0">
                <a:solidFill>
                  <a:srgbClr val="0000FF"/>
                </a:solidFill>
                <a:latin typeface="楷体_GB2312" pitchFamily="49" charset="-122"/>
              </a:rPr>
              <a:t>优先图</a:t>
            </a:r>
            <a:r>
              <a:rPr lang="zh-CN" altLang="en-US" sz="2100" b="1" dirty="0">
                <a:latin typeface="楷体_GB2312" pitchFamily="49" charset="-122"/>
              </a:rPr>
              <a:t>中</a:t>
            </a:r>
            <a:r>
              <a:rPr lang="zh-CN" altLang="en-US" sz="2100" b="1" dirty="0">
                <a:solidFill>
                  <a:srgbClr val="0000FF"/>
                </a:solidFill>
                <a:latin typeface="楷体_GB2312" pitchFamily="49" charset="-122"/>
              </a:rPr>
              <a:t>存在</a:t>
            </a:r>
            <a:r>
              <a:rPr lang="zh-CN" altLang="en-US" sz="2100" b="1" dirty="0">
                <a:latin typeface="楷体_GB2312" pitchFamily="49" charset="-122"/>
              </a:rPr>
              <a:t>边</a:t>
            </a:r>
            <a:r>
              <a:rPr lang="en-US" altLang="zh-CN" sz="2100" b="1" dirty="0" err="1">
                <a:solidFill>
                  <a:srgbClr val="CC0000"/>
                </a:solidFill>
              </a:rPr>
              <a:t>T</a:t>
            </a:r>
            <a:r>
              <a:rPr lang="en-US" altLang="zh-CN" sz="2100" b="1" baseline="-16000" dirty="0" err="1">
                <a:solidFill>
                  <a:srgbClr val="CC0000"/>
                </a:solidFill>
              </a:rPr>
              <a:t>i</a:t>
            </a:r>
            <a:r>
              <a:rPr lang="en-US" altLang="zh-CN" sz="2100" b="1" dirty="0" err="1">
                <a:solidFill>
                  <a:srgbClr val="CC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100" b="1" dirty="0" err="1">
                <a:solidFill>
                  <a:srgbClr val="CC0000"/>
                </a:solidFill>
              </a:rPr>
              <a:t>T</a:t>
            </a:r>
            <a:r>
              <a:rPr lang="en-US" altLang="zh-CN" sz="2100" b="1" baseline="-16000" dirty="0" err="1">
                <a:solidFill>
                  <a:srgbClr val="CC0000"/>
                </a:solidFill>
              </a:rPr>
              <a:t>j</a:t>
            </a:r>
            <a:r>
              <a:rPr lang="en-US" altLang="zh-CN" sz="2100" b="1" dirty="0">
                <a:latin typeface="楷体_GB2312" pitchFamily="49" charset="-122"/>
              </a:rPr>
              <a:t>，</a:t>
            </a:r>
            <a:r>
              <a:rPr lang="zh-CN" altLang="en-US" sz="2100" b="1" dirty="0">
                <a:latin typeface="楷体_GB2312" pitchFamily="49" charset="-122"/>
              </a:rPr>
              <a:t>则在任何</a:t>
            </a:r>
            <a:r>
              <a:rPr lang="zh-CN" altLang="en-US" sz="2100" b="1" dirty="0">
                <a:solidFill>
                  <a:srgbClr val="FF0000"/>
                </a:solidFill>
                <a:latin typeface="楷体_GB2312" pitchFamily="49" charset="-122"/>
              </a:rPr>
              <a:t>等价于</a:t>
            </a:r>
            <a:r>
              <a:rPr lang="en-US" altLang="zh-CN" sz="2100" b="1" dirty="0">
                <a:solidFill>
                  <a:srgbClr val="FF0000"/>
                </a:solidFill>
                <a:latin typeface="楷体_GB2312" pitchFamily="49" charset="-122"/>
              </a:rPr>
              <a:t>S</a:t>
            </a:r>
            <a:r>
              <a:rPr lang="zh-CN" altLang="en-US" sz="2100" b="1" dirty="0">
                <a:latin typeface="楷体_GB2312" pitchFamily="49" charset="-122"/>
              </a:rPr>
              <a:t>的串行调度</a:t>
            </a:r>
            <a:r>
              <a:rPr lang="en-US" altLang="zh-CN" sz="2100" b="1" dirty="0">
                <a:latin typeface="楷体_GB2312" pitchFamily="49" charset="-122"/>
              </a:rPr>
              <a:t>S</a:t>
            </a:r>
            <a:r>
              <a:rPr lang="en-US" altLang="zh-CN" sz="2100" b="1" dirty="0">
                <a:latin typeface="Arial" panose="020B0604020202020204" pitchFamily="34" charset="0"/>
              </a:rPr>
              <a:t>’</a:t>
            </a:r>
            <a:r>
              <a:rPr lang="zh-CN" altLang="en-US" sz="2100" b="1" dirty="0">
                <a:latin typeface="楷体_GB2312" pitchFamily="49" charset="-122"/>
              </a:rPr>
              <a:t>中，</a:t>
            </a:r>
            <a:r>
              <a:rPr lang="en-US" altLang="zh-CN" sz="2100" b="1" dirty="0" err="1">
                <a:solidFill>
                  <a:srgbClr val="0000FF"/>
                </a:solidFill>
              </a:rPr>
              <a:t>T</a:t>
            </a:r>
            <a:r>
              <a:rPr lang="en-US" altLang="zh-CN" sz="2100" b="1" baseline="-16000" dirty="0" err="1">
                <a:solidFill>
                  <a:srgbClr val="0000FF"/>
                </a:solidFill>
              </a:rPr>
              <a:t>i</a:t>
            </a:r>
            <a:r>
              <a:rPr lang="zh-CN" altLang="en-US" sz="2100" b="1" dirty="0">
                <a:solidFill>
                  <a:srgbClr val="0000FF"/>
                </a:solidFill>
                <a:latin typeface="楷体_GB2312" pitchFamily="49" charset="-122"/>
              </a:rPr>
              <a:t>都必须出现在</a:t>
            </a:r>
            <a:r>
              <a:rPr lang="en-US" altLang="zh-CN" sz="2100" b="1" dirty="0" err="1">
                <a:solidFill>
                  <a:srgbClr val="0000FF"/>
                </a:solidFill>
              </a:rPr>
              <a:t>T</a:t>
            </a:r>
            <a:r>
              <a:rPr lang="en-US" altLang="zh-CN" sz="2100" b="1" baseline="-16000" dirty="0" err="1">
                <a:solidFill>
                  <a:srgbClr val="0000FF"/>
                </a:solidFill>
              </a:rPr>
              <a:t>j</a:t>
            </a:r>
            <a:r>
              <a:rPr lang="zh-CN" altLang="en-US" sz="2100" b="1" dirty="0">
                <a:solidFill>
                  <a:srgbClr val="0000FF"/>
                </a:solidFill>
                <a:latin typeface="楷体_GB2312" pitchFamily="49" charset="-122"/>
              </a:rPr>
              <a:t>之前</a:t>
            </a:r>
          </a:p>
          <a:p>
            <a:pPr lvl="1" eaLnBrk="1" hangingPunct="1"/>
            <a:r>
              <a:rPr lang="zh-CN" altLang="en-US" sz="2100" b="1" dirty="0"/>
              <a:t>如果调度</a:t>
            </a:r>
            <a:r>
              <a:rPr lang="en-US" altLang="zh-CN" sz="2100" b="1" dirty="0"/>
              <a:t>S</a:t>
            </a:r>
            <a:r>
              <a:rPr lang="zh-CN" altLang="en-US" sz="2100" b="1" dirty="0"/>
              <a:t>的优先图中</a:t>
            </a:r>
            <a:r>
              <a:rPr lang="zh-CN" altLang="en-US" sz="2100" b="1" dirty="0">
                <a:solidFill>
                  <a:srgbClr val="0000FF"/>
                </a:solidFill>
              </a:rPr>
              <a:t>有环</a:t>
            </a:r>
            <a:r>
              <a:rPr lang="zh-CN" altLang="en-US" sz="2100" b="1" dirty="0"/>
              <a:t>，则调度</a:t>
            </a:r>
            <a:r>
              <a:rPr lang="en-US" altLang="zh-CN" sz="2100" b="1" dirty="0"/>
              <a:t>S</a:t>
            </a:r>
            <a:r>
              <a:rPr lang="zh-CN" altLang="en-US" sz="2100" b="1" dirty="0">
                <a:solidFill>
                  <a:srgbClr val="0000FF"/>
                </a:solidFill>
              </a:rPr>
              <a:t>是非冲突可串行</a:t>
            </a:r>
            <a:r>
              <a:rPr lang="zh-CN" altLang="en-US" sz="2100" b="1" dirty="0"/>
              <a:t>化的；如果图中</a:t>
            </a:r>
            <a:r>
              <a:rPr lang="zh-CN" altLang="en-US" sz="2100" b="1" dirty="0">
                <a:solidFill>
                  <a:srgbClr val="0000FF"/>
                </a:solidFill>
              </a:rPr>
              <a:t>无环</a:t>
            </a:r>
            <a:r>
              <a:rPr lang="zh-CN" altLang="en-US" sz="2100" b="1" dirty="0"/>
              <a:t>，则调度</a:t>
            </a:r>
            <a:r>
              <a:rPr lang="en-US" altLang="zh-CN" sz="2100" b="1" dirty="0"/>
              <a:t>S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0000FF"/>
                </a:solidFill>
              </a:rPr>
              <a:t>冲突可串行化</a:t>
            </a:r>
            <a:r>
              <a:rPr lang="zh-CN" altLang="en-US" sz="2100" b="1" dirty="0"/>
              <a:t>的</a:t>
            </a:r>
          </a:p>
        </p:txBody>
      </p:sp>
      <p:sp>
        <p:nvSpPr>
          <p:cNvPr id="50181" name="Oval 4">
            <a:extLst>
              <a:ext uri="{FF2B5EF4-FFF2-40B4-BE49-F238E27FC236}">
                <a16:creationId xmlns:a16="http://schemas.microsoft.com/office/drawing/2014/main" id="{D3B83C88-4A73-65EB-D315-DE9DD5C7F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38195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50182" name="Text Box 5">
            <a:extLst>
              <a:ext uri="{FF2B5EF4-FFF2-40B4-BE49-F238E27FC236}">
                <a16:creationId xmlns:a16="http://schemas.microsoft.com/office/drawing/2014/main" id="{0D1AC417-5F3E-BC7E-E77D-D35539594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39719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1800" i="0">
                <a:latin typeface="Helvetica" panose="020B0604020202020204" pitchFamily="34" charset="0"/>
              </a:rPr>
              <a:t>1</a:t>
            </a:r>
            <a:endParaRPr kumimoji="1" lang="en-US" altLang="zh-CN" sz="3600" i="0">
              <a:latin typeface="Times New Roman" panose="02020603050405020304" pitchFamily="18" charset="0"/>
            </a:endParaRPr>
          </a:p>
        </p:txBody>
      </p:sp>
      <p:sp>
        <p:nvSpPr>
          <p:cNvPr id="50183" name="Oval 6">
            <a:extLst>
              <a:ext uri="{FF2B5EF4-FFF2-40B4-BE49-F238E27FC236}">
                <a16:creationId xmlns:a16="http://schemas.microsoft.com/office/drawing/2014/main" id="{60EB4444-F672-DB09-5A45-DA6BFDD09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38195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50184" name="Text Box 7">
            <a:extLst>
              <a:ext uri="{FF2B5EF4-FFF2-40B4-BE49-F238E27FC236}">
                <a16:creationId xmlns:a16="http://schemas.microsoft.com/office/drawing/2014/main" id="{808FF8A1-8BCB-DFD2-13B5-AFCFE7E3C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39719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1800" i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50185" name="Line 8">
            <a:extLst>
              <a:ext uri="{FF2B5EF4-FFF2-40B4-BE49-F238E27FC236}">
                <a16:creationId xmlns:a16="http://schemas.microsoft.com/office/drawing/2014/main" id="{54867F95-7C10-7F5D-5AD8-CF4C5C7F2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0750" y="427672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6" name="Oval 9">
            <a:extLst>
              <a:ext uri="{FF2B5EF4-FFF2-40B4-BE49-F238E27FC236}">
                <a16:creationId xmlns:a16="http://schemas.microsoft.com/office/drawing/2014/main" id="{B9D599CA-42E5-DE4D-C537-1742DB17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8350" y="38322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50187" name="Text Box 10">
            <a:extLst>
              <a:ext uri="{FF2B5EF4-FFF2-40B4-BE49-F238E27FC236}">
                <a16:creationId xmlns:a16="http://schemas.microsoft.com/office/drawing/2014/main" id="{6C8E14C0-0BE9-9388-1C97-716596A8F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550" y="39846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1800" i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50188" name="Freeform 11">
            <a:extLst>
              <a:ext uri="{FF2B5EF4-FFF2-40B4-BE49-F238E27FC236}">
                <a16:creationId xmlns:a16="http://schemas.microsoft.com/office/drawing/2014/main" id="{9AFD663B-6AF6-AF08-DB7E-A57C53C1A64E}"/>
              </a:ext>
            </a:extLst>
          </p:cNvPr>
          <p:cNvSpPr>
            <a:spLocks/>
          </p:cNvSpPr>
          <p:nvPr/>
        </p:nvSpPr>
        <p:spPr bwMode="auto">
          <a:xfrm>
            <a:off x="6686550" y="3743325"/>
            <a:ext cx="1066800" cy="317500"/>
          </a:xfrm>
          <a:custGeom>
            <a:avLst/>
            <a:gdLst>
              <a:gd name="T0" fmla="*/ 0 w 672"/>
              <a:gd name="T1" fmla="*/ 2147483646 h 200"/>
              <a:gd name="T2" fmla="*/ 2147483646 w 672"/>
              <a:gd name="T3" fmla="*/ 2147483646 h 200"/>
              <a:gd name="T4" fmla="*/ 2147483646 w 672"/>
              <a:gd name="T5" fmla="*/ 2147483646 h 200"/>
              <a:gd name="T6" fmla="*/ 2147483646 w 672"/>
              <a:gd name="T7" fmla="*/ 2147483646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2" h="200">
                <a:moveTo>
                  <a:pt x="0" y="152"/>
                </a:moveTo>
                <a:cubicBezTo>
                  <a:pt x="72" y="84"/>
                  <a:pt x="144" y="16"/>
                  <a:pt x="240" y="8"/>
                </a:cubicBezTo>
                <a:cubicBezTo>
                  <a:pt x="336" y="0"/>
                  <a:pt x="504" y="72"/>
                  <a:pt x="576" y="104"/>
                </a:cubicBezTo>
                <a:cubicBezTo>
                  <a:pt x="648" y="136"/>
                  <a:pt x="660" y="168"/>
                  <a:pt x="672" y="20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9" name="Freeform 12">
            <a:extLst>
              <a:ext uri="{FF2B5EF4-FFF2-40B4-BE49-F238E27FC236}">
                <a16:creationId xmlns:a16="http://schemas.microsoft.com/office/drawing/2014/main" id="{8B24AB22-FC68-C397-4520-3BC840688CE6}"/>
              </a:ext>
            </a:extLst>
          </p:cNvPr>
          <p:cNvSpPr>
            <a:spLocks/>
          </p:cNvSpPr>
          <p:nvPr/>
        </p:nvSpPr>
        <p:spPr bwMode="auto">
          <a:xfrm flipV="1">
            <a:off x="6686550" y="4441825"/>
            <a:ext cx="1066800" cy="457200"/>
          </a:xfrm>
          <a:custGeom>
            <a:avLst/>
            <a:gdLst>
              <a:gd name="T0" fmla="*/ 0 w 672"/>
              <a:gd name="T1" fmla="*/ 2147483646 h 200"/>
              <a:gd name="T2" fmla="*/ 2147483646 w 672"/>
              <a:gd name="T3" fmla="*/ 2147483646 h 200"/>
              <a:gd name="T4" fmla="*/ 2147483646 w 672"/>
              <a:gd name="T5" fmla="*/ 2147483646 h 200"/>
              <a:gd name="T6" fmla="*/ 2147483646 w 672"/>
              <a:gd name="T7" fmla="*/ 2147483646 h 2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2" h="200">
                <a:moveTo>
                  <a:pt x="0" y="152"/>
                </a:moveTo>
                <a:cubicBezTo>
                  <a:pt x="72" y="84"/>
                  <a:pt x="144" y="16"/>
                  <a:pt x="240" y="8"/>
                </a:cubicBezTo>
                <a:cubicBezTo>
                  <a:pt x="336" y="0"/>
                  <a:pt x="504" y="72"/>
                  <a:pt x="576" y="104"/>
                </a:cubicBezTo>
                <a:cubicBezTo>
                  <a:pt x="648" y="136"/>
                  <a:pt x="660" y="168"/>
                  <a:pt x="672" y="20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0" name="Oval 13">
            <a:extLst>
              <a:ext uri="{FF2B5EF4-FFF2-40B4-BE49-F238E27FC236}">
                <a16:creationId xmlns:a16="http://schemas.microsoft.com/office/drawing/2014/main" id="{66C39FC1-6779-C457-64CC-6C3DF5E94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7150" y="3756025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50191" name="Text Box 14">
            <a:extLst>
              <a:ext uri="{FF2B5EF4-FFF2-40B4-BE49-F238E27FC236}">
                <a16:creationId xmlns:a16="http://schemas.microsoft.com/office/drawing/2014/main" id="{FD324F45-F4F5-0655-35F3-C3A4F694C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0" y="3908425"/>
            <a:ext cx="76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1800" i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50192" name="AutoShape 15">
            <a:extLst>
              <a:ext uri="{FF2B5EF4-FFF2-40B4-BE49-F238E27FC236}">
                <a16:creationId xmlns:a16="http://schemas.microsoft.com/office/drawing/2014/main" id="{78C5BA58-EA4D-9EC6-3C28-404025532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5191125"/>
            <a:ext cx="2492375" cy="914400"/>
          </a:xfrm>
          <a:prstGeom prst="wedgeRoundRectCallout">
            <a:avLst>
              <a:gd name="adj1" fmla="val 30676"/>
              <a:gd name="adj2" fmla="val -14375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并行调度</a:t>
            </a:r>
            <a:r>
              <a:rPr kumimoji="1" lang="en-US" altLang="zh-CN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2800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冲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突可串行化</a:t>
            </a:r>
            <a:r>
              <a:rPr kumimoji="1" lang="zh-CN" altLang="en-US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50193" name="AutoShape 16">
            <a:extLst>
              <a:ext uri="{FF2B5EF4-FFF2-40B4-BE49-F238E27FC236}">
                <a16:creationId xmlns:a16="http://schemas.microsoft.com/office/drawing/2014/main" id="{DC4B63EC-9A58-ADFC-26AE-AAEA3890C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5191125"/>
            <a:ext cx="2798763" cy="914400"/>
          </a:xfrm>
          <a:prstGeom prst="wedgeRoundRectCallout">
            <a:avLst>
              <a:gd name="adj1" fmla="val 47917"/>
              <a:gd name="adj2" fmla="val -10138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并行调度</a:t>
            </a:r>
            <a:r>
              <a:rPr kumimoji="1" lang="en-US" altLang="zh-CN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2800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非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冲突可串行化</a:t>
            </a:r>
            <a:r>
              <a:rPr kumimoji="1" lang="zh-CN" altLang="en-US" sz="2800" i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0CFFDF-8DFA-48F4-8202-22B48B13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02E3-C566-4E4B-971B-4E04695B7A8C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720F25-1F15-4059-9858-A35031A1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491D8-F680-452A-8266-63195463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37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243437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51220B0F-A62E-D079-4226-9B2DC5381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193" y="0"/>
            <a:ext cx="7313613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与冲突可串行化等价的串行顺序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EA5AA108-6EAC-7F42-F74C-A84320D98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794" y="1369179"/>
            <a:ext cx="8057678" cy="1699781"/>
          </a:xfrm>
        </p:spPr>
        <p:txBody>
          <a:bodyPr/>
          <a:lstStyle/>
          <a:p>
            <a:pPr eaLnBrk="1" hangingPunct="1"/>
            <a:r>
              <a:rPr lang="zh-CN" altLang="en-US" b="1" dirty="0"/>
              <a:t>通过寻找与优先图的偏序相一致的线性顺序，可以得到事务的可串行化次序，该过程称为</a:t>
            </a:r>
            <a:r>
              <a:rPr lang="zh-CN" altLang="en-US" b="1" dirty="0">
                <a:solidFill>
                  <a:srgbClr val="0000FF"/>
                </a:solidFill>
              </a:rPr>
              <a:t>拓扑排序</a:t>
            </a:r>
            <a:r>
              <a:rPr lang="zh-CN" altLang="en-US" b="1" dirty="0"/>
              <a:t>。</a:t>
            </a:r>
          </a:p>
        </p:txBody>
      </p:sp>
      <p:sp>
        <p:nvSpPr>
          <p:cNvPr id="51205" name="Oval 4">
            <a:extLst>
              <a:ext uri="{FF2B5EF4-FFF2-40B4-BE49-F238E27FC236}">
                <a16:creationId xmlns:a16="http://schemas.microsoft.com/office/drawing/2014/main" id="{BA7BD653-8946-E93B-9B51-E13EC233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608" y="3068960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06" name="Text Box 5">
            <a:extLst>
              <a:ext uri="{FF2B5EF4-FFF2-40B4-BE49-F238E27FC236}">
                <a16:creationId xmlns:a16="http://schemas.microsoft.com/office/drawing/2014/main" id="{50C739D9-71A2-F3A7-59D3-B56CF46A5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808" y="3221360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2800" i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1207" name="Oval 6">
            <a:extLst>
              <a:ext uri="{FF2B5EF4-FFF2-40B4-BE49-F238E27FC236}">
                <a16:creationId xmlns:a16="http://schemas.microsoft.com/office/drawing/2014/main" id="{83DBE34D-3B3F-F2BA-AB30-0CCA29BC0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408" y="4364360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08" name="Text Box 7">
            <a:extLst>
              <a:ext uri="{FF2B5EF4-FFF2-40B4-BE49-F238E27FC236}">
                <a16:creationId xmlns:a16="http://schemas.microsoft.com/office/drawing/2014/main" id="{FA14B288-D7C6-3A4F-E2A7-4EB4502AF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608" y="4516760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3</a:t>
            </a:r>
            <a:endParaRPr kumimoji="1" lang="en-US" altLang="zh-CN" sz="2800" i="0">
              <a:latin typeface="Times New Roman" panose="02020603050405020304" pitchFamily="18" charset="0"/>
            </a:endParaRPr>
          </a:p>
        </p:txBody>
      </p:sp>
      <p:sp>
        <p:nvSpPr>
          <p:cNvPr id="51209" name="Line 8">
            <a:extLst>
              <a:ext uri="{FF2B5EF4-FFF2-40B4-BE49-F238E27FC236}">
                <a16:creationId xmlns:a16="http://schemas.microsoft.com/office/drawing/2014/main" id="{EA5FC8E8-014F-ACFC-41E2-4AE5C43AB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608" y="3907160"/>
            <a:ext cx="335632" cy="4545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10" name="Oval 9">
            <a:extLst>
              <a:ext uri="{FF2B5EF4-FFF2-40B4-BE49-F238E27FC236}">
                <a16:creationId xmlns:a16="http://schemas.microsoft.com/office/drawing/2014/main" id="{3C5DC2C2-60C0-C911-6AA5-857C7E3F4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08" y="4364360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11" name="Text Box 10">
            <a:extLst>
              <a:ext uri="{FF2B5EF4-FFF2-40B4-BE49-F238E27FC236}">
                <a16:creationId xmlns:a16="http://schemas.microsoft.com/office/drawing/2014/main" id="{D6793B5B-2BC7-3D2C-69F0-B5FFDA6CB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08" y="4516760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2800" i="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212" name="Oval 11">
            <a:extLst>
              <a:ext uri="{FF2B5EF4-FFF2-40B4-BE49-F238E27FC236}">
                <a16:creationId xmlns:a16="http://schemas.microsoft.com/office/drawing/2014/main" id="{238978C1-AD17-DB6E-493C-3016AD831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808" y="5507360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13" name="Text Box 12">
            <a:extLst>
              <a:ext uri="{FF2B5EF4-FFF2-40B4-BE49-F238E27FC236}">
                <a16:creationId xmlns:a16="http://schemas.microsoft.com/office/drawing/2014/main" id="{D0F33DDB-5312-00BC-28D5-86A68053E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008" y="5659760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51214" name="Line 13">
            <a:extLst>
              <a:ext uri="{FF2B5EF4-FFF2-40B4-BE49-F238E27FC236}">
                <a16:creationId xmlns:a16="http://schemas.microsoft.com/office/drawing/2014/main" id="{0923BAD6-2DFD-F42A-377D-469E258C3F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2608" y="3907160"/>
            <a:ext cx="447509" cy="4545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15" name="Line 14">
            <a:extLst>
              <a:ext uri="{FF2B5EF4-FFF2-40B4-BE49-F238E27FC236}">
                <a16:creationId xmlns:a16="http://schemas.microsoft.com/office/drawing/2014/main" id="{76CBFBD4-ACC4-D3E7-B858-B10A887330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58008" y="5202560"/>
            <a:ext cx="279693" cy="39773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16" name="Line 15">
            <a:extLst>
              <a:ext uri="{FF2B5EF4-FFF2-40B4-BE49-F238E27FC236}">
                <a16:creationId xmlns:a16="http://schemas.microsoft.com/office/drawing/2014/main" id="{5BD59304-10AF-EF67-3E6D-335C891A3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8808" y="5126360"/>
            <a:ext cx="335632" cy="45455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17" name="Oval 16">
            <a:extLst>
              <a:ext uri="{FF2B5EF4-FFF2-40B4-BE49-F238E27FC236}">
                <a16:creationId xmlns:a16="http://schemas.microsoft.com/office/drawing/2014/main" id="{90DA9181-1714-F2EE-E466-41385F043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7208" y="36515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18" name="Text Box 17">
            <a:extLst>
              <a:ext uri="{FF2B5EF4-FFF2-40B4-BE49-F238E27FC236}">
                <a16:creationId xmlns:a16="http://schemas.microsoft.com/office/drawing/2014/main" id="{E9CE5EA7-6627-96AD-9A13-CBEEBCD7E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408" y="38039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51219" name="Oval 18">
            <a:extLst>
              <a:ext uri="{FF2B5EF4-FFF2-40B4-BE49-F238E27FC236}">
                <a16:creationId xmlns:a16="http://schemas.microsoft.com/office/drawing/2014/main" id="{E7CB56D3-B5D8-8DE3-6BCC-7FAD24B76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208" y="36515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20" name="Text Box 19">
            <a:extLst>
              <a:ext uri="{FF2B5EF4-FFF2-40B4-BE49-F238E27FC236}">
                <a16:creationId xmlns:a16="http://schemas.microsoft.com/office/drawing/2014/main" id="{B4DB6B18-E3CB-D0FB-3028-C1427B828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408" y="38039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51221" name="Line 20">
            <a:extLst>
              <a:ext uri="{FF2B5EF4-FFF2-40B4-BE49-F238E27FC236}">
                <a16:creationId xmlns:a16="http://schemas.microsoft.com/office/drawing/2014/main" id="{AB3E7D07-CE80-2F3B-2FED-81F247598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1608" y="4108772"/>
            <a:ext cx="4475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22" name="Oval 21">
            <a:extLst>
              <a:ext uri="{FF2B5EF4-FFF2-40B4-BE49-F238E27FC236}">
                <a16:creationId xmlns:a16="http://schemas.microsoft.com/office/drawing/2014/main" id="{99CD3922-5A2F-C1B4-C968-40C1D052F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208" y="36515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23" name="Text Box 22">
            <a:extLst>
              <a:ext uri="{FF2B5EF4-FFF2-40B4-BE49-F238E27FC236}">
                <a16:creationId xmlns:a16="http://schemas.microsoft.com/office/drawing/2014/main" id="{B6629690-DF90-0860-51C6-8512614F6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408" y="38039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51224" name="Line 23">
            <a:extLst>
              <a:ext uri="{FF2B5EF4-FFF2-40B4-BE49-F238E27FC236}">
                <a16:creationId xmlns:a16="http://schemas.microsoft.com/office/drawing/2014/main" id="{0D89962F-8969-8ACE-1CD1-E0E972D4D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5608" y="4108772"/>
            <a:ext cx="4475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25" name="Oval 24">
            <a:extLst>
              <a:ext uri="{FF2B5EF4-FFF2-40B4-BE49-F238E27FC236}">
                <a16:creationId xmlns:a16="http://schemas.microsoft.com/office/drawing/2014/main" id="{34C39530-00AF-5742-1D97-594AAA21D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208" y="36515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26" name="Text Box 25">
            <a:extLst>
              <a:ext uri="{FF2B5EF4-FFF2-40B4-BE49-F238E27FC236}">
                <a16:creationId xmlns:a16="http://schemas.microsoft.com/office/drawing/2014/main" id="{F10D4EB5-2942-1268-9D39-76ED6E1B6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5408" y="38039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51227" name="Line 26">
            <a:extLst>
              <a:ext uri="{FF2B5EF4-FFF2-40B4-BE49-F238E27FC236}">
                <a16:creationId xmlns:a16="http://schemas.microsoft.com/office/drawing/2014/main" id="{37439257-38FA-76AD-B1DB-BBA912C23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9608" y="4108772"/>
            <a:ext cx="4475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28" name="Oval 27">
            <a:extLst>
              <a:ext uri="{FF2B5EF4-FFF2-40B4-BE49-F238E27FC236}">
                <a16:creationId xmlns:a16="http://schemas.microsoft.com/office/drawing/2014/main" id="{87DC679B-9835-3763-AEEE-90E493E7E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7208" y="48707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29" name="Text Box 28">
            <a:extLst>
              <a:ext uri="{FF2B5EF4-FFF2-40B4-BE49-F238E27FC236}">
                <a16:creationId xmlns:a16="http://schemas.microsoft.com/office/drawing/2014/main" id="{DD36A0C3-40C6-2188-F3AA-E5902D1C7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408" y="50231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1</a:t>
            </a:r>
            <a:endParaRPr kumimoji="1" lang="en-US" altLang="zh-CN" sz="2800" i="0">
              <a:latin typeface="Times New Roman" panose="02020603050405020304" pitchFamily="18" charset="0"/>
            </a:endParaRPr>
          </a:p>
        </p:txBody>
      </p:sp>
      <p:sp>
        <p:nvSpPr>
          <p:cNvPr id="51230" name="Oval 29">
            <a:extLst>
              <a:ext uri="{FF2B5EF4-FFF2-40B4-BE49-F238E27FC236}">
                <a16:creationId xmlns:a16="http://schemas.microsoft.com/office/drawing/2014/main" id="{15D9042B-2D8D-79D9-CA15-0DE4C120B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208" y="48707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31" name="Text Box 30">
            <a:extLst>
              <a:ext uri="{FF2B5EF4-FFF2-40B4-BE49-F238E27FC236}">
                <a16:creationId xmlns:a16="http://schemas.microsoft.com/office/drawing/2014/main" id="{3F1348BD-236F-FE8E-A127-7BE59E2DC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408" y="50231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51232" name="Line 31">
            <a:extLst>
              <a:ext uri="{FF2B5EF4-FFF2-40B4-BE49-F238E27FC236}">
                <a16:creationId xmlns:a16="http://schemas.microsoft.com/office/drawing/2014/main" id="{F437CAC3-82AD-B747-1C5D-D6AC0EE72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1608" y="5327972"/>
            <a:ext cx="4475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33" name="Oval 32">
            <a:extLst>
              <a:ext uri="{FF2B5EF4-FFF2-40B4-BE49-F238E27FC236}">
                <a16:creationId xmlns:a16="http://schemas.microsoft.com/office/drawing/2014/main" id="{E77758A1-88E8-C9A3-0B11-46474F49F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208" y="48707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34" name="Text Box 33">
            <a:extLst>
              <a:ext uri="{FF2B5EF4-FFF2-40B4-BE49-F238E27FC236}">
                <a16:creationId xmlns:a16="http://schemas.microsoft.com/office/drawing/2014/main" id="{685E2383-CFD3-DE42-69D5-3CD98FB09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408" y="50231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51235" name="Line 34">
            <a:extLst>
              <a:ext uri="{FF2B5EF4-FFF2-40B4-BE49-F238E27FC236}">
                <a16:creationId xmlns:a16="http://schemas.microsoft.com/office/drawing/2014/main" id="{182499F1-07DB-3A57-929F-96B7A4E11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5608" y="5327972"/>
            <a:ext cx="4475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36" name="Oval 35">
            <a:extLst>
              <a:ext uri="{FF2B5EF4-FFF2-40B4-BE49-F238E27FC236}">
                <a16:creationId xmlns:a16="http://schemas.microsoft.com/office/drawing/2014/main" id="{4A284090-9E84-D508-52EF-9740F0ED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208" y="4870772"/>
            <a:ext cx="671264" cy="68183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>
              <a:latin typeface="Helvetica" panose="020B0604020202020204" pitchFamily="34" charset="0"/>
            </a:endParaRPr>
          </a:p>
        </p:txBody>
      </p:sp>
      <p:sp>
        <p:nvSpPr>
          <p:cNvPr id="51237" name="Text Box 36">
            <a:extLst>
              <a:ext uri="{FF2B5EF4-FFF2-40B4-BE49-F238E27FC236}">
                <a16:creationId xmlns:a16="http://schemas.microsoft.com/office/drawing/2014/main" id="{39C7D7B3-89EE-C10A-658A-AAE3C8293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5408" y="5023172"/>
            <a:ext cx="55938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T</a:t>
            </a:r>
            <a:r>
              <a:rPr kumimoji="1" lang="en-US" altLang="zh-CN" sz="1400" i="0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51238" name="Line 37">
            <a:extLst>
              <a:ext uri="{FF2B5EF4-FFF2-40B4-BE49-F238E27FC236}">
                <a16:creationId xmlns:a16="http://schemas.microsoft.com/office/drawing/2014/main" id="{51E6A58A-6831-85B7-8269-C512241FA0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9608" y="5327972"/>
            <a:ext cx="4475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36DB5D-AE2A-2CA8-883A-8D99962CDC13}"/>
              </a:ext>
            </a:extLst>
          </p:cNvPr>
          <p:cNvSpPr txBox="1"/>
          <p:nvPr/>
        </p:nvSpPr>
        <p:spPr>
          <a:xfrm>
            <a:off x="2866301" y="5994236"/>
            <a:ext cx="480131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环路检测算法，测试冲突可串行化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3F4001-9785-4988-818E-EDEFF362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E904-C571-4DEB-8B09-96FDB3AA773B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87901F-9B25-445D-B7F9-BBB2D58C6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E52065-66D4-46D5-A18B-8099677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38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033895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5553DE-D3D9-4A7A-9146-8A35ED1D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en-US" altLang="zh-CN" dirty="0" err="1"/>
              <a:t>数据库系统概论</a:t>
            </a:r>
            <a:r>
              <a:rPr lang="en-US" altLang="zh-CN" dirty="0"/>
              <a:t>》- 第10章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3472230-E0FC-3623-3AEE-C8D54D533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576" y="34925"/>
            <a:ext cx="7313612" cy="11430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可串行化的其它概念</a:t>
            </a:r>
            <a:endParaRPr lang="en-US" altLang="zh-CN" b="1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08BC87F-BD20-F04C-1678-691E9DBD5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8665" y="1342857"/>
            <a:ext cx="8241481" cy="1716087"/>
          </a:xfrm>
        </p:spPr>
        <p:txBody>
          <a:bodyPr/>
          <a:lstStyle/>
          <a:p>
            <a:pPr eaLnBrk="1" hangingPunct="1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zh-CN" altLang="en-US" sz="2100" b="1" dirty="0"/>
              <a:t>以下调度可产生与</a:t>
            </a:r>
            <a:r>
              <a:rPr lang="zh-CN" altLang="en-US" sz="2100" b="1" dirty="0">
                <a:solidFill>
                  <a:srgbClr val="0000FF"/>
                </a:solidFill>
              </a:rPr>
              <a:t>串行调度</a:t>
            </a:r>
            <a:r>
              <a:rPr lang="en-US" altLang="zh-CN" sz="2100" b="1" dirty="0">
                <a:solidFill>
                  <a:srgbClr val="0000FF"/>
                </a:solidFill>
              </a:rPr>
              <a:t>&lt; </a:t>
            </a:r>
            <a:r>
              <a:rPr lang="en-US" altLang="zh-CN" sz="2100" b="1" i="1" dirty="0">
                <a:solidFill>
                  <a:srgbClr val="0000FF"/>
                </a:solidFill>
              </a:rPr>
              <a:t>T</a:t>
            </a:r>
            <a:r>
              <a:rPr lang="en-US" altLang="zh-CN" sz="21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100" b="1" dirty="0">
                <a:solidFill>
                  <a:srgbClr val="0000FF"/>
                </a:solidFill>
              </a:rPr>
              <a:t>,</a:t>
            </a:r>
            <a:r>
              <a:rPr lang="en-US" altLang="zh-CN" sz="2100" b="1" baseline="-25000" dirty="0">
                <a:solidFill>
                  <a:srgbClr val="0000FF"/>
                </a:solidFill>
              </a:rPr>
              <a:t> </a:t>
            </a:r>
            <a:r>
              <a:rPr lang="en-US" altLang="zh-CN" sz="2100" b="1" i="1" dirty="0">
                <a:solidFill>
                  <a:srgbClr val="0000FF"/>
                </a:solidFill>
              </a:rPr>
              <a:t>T</a:t>
            </a:r>
            <a:r>
              <a:rPr lang="en-US" altLang="zh-CN" sz="2100" b="1" baseline="-25000" dirty="0">
                <a:solidFill>
                  <a:srgbClr val="0000FF"/>
                </a:solidFill>
              </a:rPr>
              <a:t>5</a:t>
            </a:r>
            <a:r>
              <a:rPr lang="en-US" altLang="zh-CN" sz="2100" b="1" dirty="0">
                <a:solidFill>
                  <a:srgbClr val="0000FF"/>
                </a:solidFill>
              </a:rPr>
              <a:t> &gt;</a:t>
            </a:r>
            <a:r>
              <a:rPr lang="zh-CN" altLang="en-US" sz="2100" b="1" dirty="0"/>
              <a:t>相同的结果，但两者</a:t>
            </a:r>
            <a:r>
              <a:rPr lang="zh-CN" altLang="en-US" sz="2100" b="1" dirty="0">
                <a:solidFill>
                  <a:srgbClr val="FF0000"/>
                </a:solidFill>
              </a:rPr>
              <a:t>不是</a:t>
            </a:r>
            <a:r>
              <a:rPr lang="zh-CN" altLang="en-US" sz="2100" b="1" dirty="0">
                <a:solidFill>
                  <a:srgbClr val="0000FF"/>
                </a:solidFill>
              </a:rPr>
              <a:t>冲突等价的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eaLnBrk="1" hangingPunct="1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zh-CN" altLang="en-US" sz="2100" b="1" dirty="0"/>
              <a:t>冲突等价</a:t>
            </a:r>
            <a:r>
              <a:rPr lang="zh-CN" altLang="en-US" sz="2100" b="1" dirty="0">
                <a:solidFill>
                  <a:srgbClr val="0000FF"/>
                </a:solidFill>
              </a:rPr>
              <a:t>仅仅考虑了事务中指令的语法</a:t>
            </a:r>
            <a:r>
              <a:rPr lang="zh-CN" altLang="en-US" sz="2100" b="1" dirty="0"/>
              <a:t>，提高并发性需要进一步分析事务中</a:t>
            </a:r>
            <a:r>
              <a:rPr lang="zh-CN" altLang="en-US" sz="2100" b="1" dirty="0">
                <a:solidFill>
                  <a:srgbClr val="0000FF"/>
                </a:solidFill>
              </a:rPr>
              <a:t>指令的语义</a:t>
            </a:r>
            <a:r>
              <a:rPr lang="zh-CN" altLang="en-US" sz="2100" b="1" dirty="0"/>
              <a:t>，但是分析代价过高</a:t>
            </a:r>
          </a:p>
          <a:p>
            <a:pPr lvl="1" eaLnBrk="1" hangingPunct="1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zh-CN" altLang="en-US" sz="1900" b="1" dirty="0"/>
              <a:t>如果</a:t>
            </a:r>
            <a:r>
              <a:rPr lang="en-US" altLang="zh-CN" sz="1900" b="1" dirty="0"/>
              <a:t>(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1</a:t>
            </a:r>
            <a:r>
              <a:rPr lang="en-US" altLang="zh-CN" sz="1900" b="1" dirty="0"/>
              <a:t>,</a:t>
            </a:r>
            <a:r>
              <a:rPr lang="en-US" altLang="zh-CN" sz="1900" b="1" baseline="-25000" dirty="0"/>
              <a:t> 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5</a:t>
            </a:r>
            <a:r>
              <a:rPr lang="en-US" altLang="zh-CN" sz="1900" b="1" dirty="0"/>
              <a:t> )</a:t>
            </a:r>
            <a:r>
              <a:rPr lang="zh-CN" altLang="en-US" sz="1900" b="1" dirty="0"/>
              <a:t>，则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5</a:t>
            </a:r>
            <a:r>
              <a:rPr lang="zh-CN" altLang="en-US" sz="1900" b="1" dirty="0"/>
              <a:t>中</a:t>
            </a:r>
            <a:r>
              <a:rPr lang="en-US" altLang="zh-CN" sz="1900" b="1" dirty="0"/>
              <a:t>read(B)</a:t>
            </a:r>
            <a:r>
              <a:rPr lang="zh-CN" altLang="en-US" sz="1900" b="1" dirty="0"/>
              <a:t>从</a:t>
            </a:r>
            <a:r>
              <a:rPr lang="en-US" altLang="zh-CN" sz="1900" b="1" i="1" dirty="0">
                <a:solidFill>
                  <a:srgbClr val="0000FF"/>
                </a:solidFill>
              </a:rPr>
              <a:t>T</a:t>
            </a:r>
            <a:r>
              <a:rPr lang="en-US" altLang="zh-CN" sz="19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1900" b="1" dirty="0">
                <a:solidFill>
                  <a:srgbClr val="0000FF"/>
                </a:solidFill>
              </a:rPr>
              <a:t>中获取数据</a:t>
            </a:r>
            <a:r>
              <a:rPr lang="zh-CN" altLang="en-US" sz="1900" b="1" dirty="0"/>
              <a:t>，而</a:t>
            </a:r>
            <a:r>
              <a:rPr lang="zh-CN" altLang="en-US" sz="1900" b="1" dirty="0">
                <a:solidFill>
                  <a:srgbClr val="FF0000"/>
                </a:solidFill>
              </a:rPr>
              <a:t>不是获得初始值</a:t>
            </a:r>
          </a:p>
          <a:p>
            <a:pPr lvl="1" eaLnBrk="1" hangingPunct="1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zh-CN" altLang="en-US" sz="1900" b="1" dirty="0"/>
              <a:t>如果</a:t>
            </a:r>
            <a:r>
              <a:rPr lang="en-US" altLang="zh-CN" sz="1900" b="1" dirty="0"/>
              <a:t>(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5</a:t>
            </a:r>
            <a:r>
              <a:rPr lang="en-US" altLang="zh-CN" sz="1900" b="1" dirty="0"/>
              <a:t>, 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1</a:t>
            </a:r>
            <a:r>
              <a:rPr lang="en-US" altLang="zh-CN" sz="1900" b="1" dirty="0"/>
              <a:t>)</a:t>
            </a:r>
            <a:r>
              <a:rPr lang="zh-CN" altLang="en-US" sz="1900" b="1" dirty="0"/>
              <a:t>，则</a:t>
            </a:r>
            <a:r>
              <a:rPr lang="en-US" altLang="zh-CN" sz="1900" b="1" i="1" dirty="0"/>
              <a:t>T</a:t>
            </a:r>
            <a:r>
              <a:rPr lang="en-US" altLang="zh-CN" sz="1900" b="1" baseline="-25000" dirty="0"/>
              <a:t>5</a:t>
            </a:r>
            <a:r>
              <a:rPr lang="zh-CN" altLang="en-US" sz="1900" b="1" dirty="0"/>
              <a:t>中</a:t>
            </a:r>
            <a:r>
              <a:rPr lang="en-US" altLang="zh-CN" sz="1900" b="1" dirty="0"/>
              <a:t>read(A)</a:t>
            </a:r>
            <a:r>
              <a:rPr lang="zh-CN" altLang="en-US" sz="1900" b="1" dirty="0"/>
              <a:t> </a:t>
            </a:r>
            <a:r>
              <a:rPr lang="zh-CN" altLang="en-US" sz="1900" b="1" dirty="0">
                <a:solidFill>
                  <a:srgbClr val="0000FF"/>
                </a:solidFill>
              </a:rPr>
              <a:t>获取初始值</a:t>
            </a:r>
          </a:p>
        </p:txBody>
      </p:sp>
      <p:pic>
        <p:nvPicPr>
          <p:cNvPr id="34821" name="Picture 4">
            <a:extLst>
              <a:ext uri="{FF2B5EF4-FFF2-40B4-BE49-F238E27FC236}">
                <a16:creationId xmlns:a16="http://schemas.microsoft.com/office/drawing/2014/main" id="{4EA32927-BBF7-CD82-8620-288789CC5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3" t="1270" r="23238" b="1778"/>
          <a:stretch>
            <a:fillRect/>
          </a:stretch>
        </p:blipFill>
        <p:spPr bwMode="auto">
          <a:xfrm>
            <a:off x="3286108" y="3613592"/>
            <a:ext cx="2571781" cy="306624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2" name="AutoShape 0">
            <a:extLst>
              <a:ext uri="{FF2B5EF4-FFF2-40B4-BE49-F238E27FC236}">
                <a16:creationId xmlns:a16="http://schemas.microsoft.com/office/drawing/2014/main" id="{705FECC6-35B8-653B-837A-87307B42D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849" y="3950145"/>
            <a:ext cx="1135062" cy="320675"/>
          </a:xfrm>
          <a:prstGeom prst="wedgeRoundRectCallout">
            <a:avLst>
              <a:gd name="adj1" fmla="val 129412"/>
              <a:gd name="adj2" fmla="val -3563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1000</a:t>
            </a:r>
          </a:p>
        </p:txBody>
      </p:sp>
      <p:sp>
        <p:nvSpPr>
          <p:cNvPr id="34823" name="AutoShape 1">
            <a:extLst>
              <a:ext uri="{FF2B5EF4-FFF2-40B4-BE49-F238E27FC236}">
                <a16:creationId xmlns:a16="http://schemas.microsoft.com/office/drawing/2014/main" id="{535A5433-044C-CB63-0DE8-5FF661507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9024" y="4639120"/>
            <a:ext cx="1135062" cy="320675"/>
          </a:xfrm>
          <a:prstGeom prst="wedgeRoundRectCallout">
            <a:avLst>
              <a:gd name="adj1" fmla="val 129501"/>
              <a:gd name="adj2" fmla="val -10522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34824" name="AutoShape 2">
            <a:extLst>
              <a:ext uri="{FF2B5EF4-FFF2-40B4-BE49-F238E27FC236}">
                <a16:creationId xmlns:a16="http://schemas.microsoft.com/office/drawing/2014/main" id="{B5AF822B-7D5B-60EE-60FA-AE070B36F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761" y="5309045"/>
            <a:ext cx="1135063" cy="320675"/>
          </a:xfrm>
          <a:prstGeom prst="wedgeRoundRectCallout">
            <a:avLst>
              <a:gd name="adj1" fmla="val 130147"/>
              <a:gd name="adj2" fmla="val -2772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1990</a:t>
            </a:r>
          </a:p>
        </p:txBody>
      </p:sp>
      <p:sp>
        <p:nvSpPr>
          <p:cNvPr id="34825" name="AutoShape 3">
            <a:extLst>
              <a:ext uri="{FF2B5EF4-FFF2-40B4-BE49-F238E27FC236}">
                <a16:creationId xmlns:a16="http://schemas.microsoft.com/office/drawing/2014/main" id="{DB38F1F8-A700-D4EA-66E0-66862E6D0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286" y="5844033"/>
            <a:ext cx="1135063" cy="320675"/>
          </a:xfrm>
          <a:prstGeom prst="wedgeRoundRectCallout">
            <a:avLst>
              <a:gd name="adj1" fmla="val 131637"/>
              <a:gd name="adj2" fmla="val -3897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Helvetica" panose="020B0604020202020204" pitchFamily="34" charset="0"/>
              </a:rPr>
              <a:t>2040</a:t>
            </a:r>
          </a:p>
        </p:txBody>
      </p:sp>
      <p:sp>
        <p:nvSpPr>
          <p:cNvPr id="34826" name="AutoShape 5">
            <a:extLst>
              <a:ext uri="{FF2B5EF4-FFF2-40B4-BE49-F238E27FC236}">
                <a16:creationId xmlns:a16="http://schemas.microsoft.com/office/drawing/2014/main" id="{F771AF8E-1CB3-92AC-336A-E7801410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765" y="5534839"/>
            <a:ext cx="1135063" cy="320675"/>
          </a:xfrm>
          <a:prstGeom prst="wedgeRoundRectCallout">
            <a:avLst>
              <a:gd name="adj1" fmla="val -223671"/>
              <a:gd name="adj2" fmla="val 11021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950</a:t>
            </a:r>
          </a:p>
        </p:txBody>
      </p:sp>
      <p:sp>
        <p:nvSpPr>
          <p:cNvPr id="34827" name="AutoShape 6">
            <a:extLst>
              <a:ext uri="{FF2B5EF4-FFF2-40B4-BE49-F238E27FC236}">
                <a16:creationId xmlns:a16="http://schemas.microsoft.com/office/drawing/2014/main" id="{D731153B-76E1-C048-774B-291C6D621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534" y="4826040"/>
            <a:ext cx="1135062" cy="320675"/>
          </a:xfrm>
          <a:prstGeom prst="wedgeRoundRectCallout">
            <a:avLst>
              <a:gd name="adj1" fmla="val -198370"/>
              <a:gd name="adj2" fmla="val 4458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1990</a:t>
            </a:r>
          </a:p>
        </p:txBody>
      </p:sp>
      <p:sp>
        <p:nvSpPr>
          <p:cNvPr id="34828" name="AutoShape 7">
            <a:extLst>
              <a:ext uri="{FF2B5EF4-FFF2-40B4-BE49-F238E27FC236}">
                <a16:creationId xmlns:a16="http://schemas.microsoft.com/office/drawing/2014/main" id="{9D2EBE1C-DC7E-3C11-1286-ACB7A07F2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534" y="6371740"/>
            <a:ext cx="1135062" cy="320675"/>
          </a:xfrm>
          <a:prstGeom prst="wedgeRoundRectCallout">
            <a:avLst>
              <a:gd name="adj1" fmla="val -202027"/>
              <a:gd name="adj2" fmla="val -66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Helvetica" panose="020B0604020202020204" pitchFamily="34" charset="0"/>
              </a:rPr>
              <a:t>960</a:t>
            </a:r>
          </a:p>
        </p:txBody>
      </p:sp>
      <p:sp>
        <p:nvSpPr>
          <p:cNvPr id="34829" name="AutoShape 8">
            <a:extLst>
              <a:ext uri="{FF2B5EF4-FFF2-40B4-BE49-F238E27FC236}">
                <a16:creationId xmlns:a16="http://schemas.microsoft.com/office/drawing/2014/main" id="{1F41263F-845E-77DE-0BA6-9E67358A2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409" y="4073565"/>
            <a:ext cx="1135062" cy="320675"/>
          </a:xfrm>
          <a:prstGeom prst="wedgeRoundRectCallout">
            <a:avLst>
              <a:gd name="adj1" fmla="val -228090"/>
              <a:gd name="adj2" fmla="val 13004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Helvetica" panose="020B0604020202020204" pitchFamily="34" charset="0"/>
              </a:rPr>
              <a:t>2000</a:t>
            </a:r>
          </a:p>
        </p:txBody>
      </p:sp>
      <p:sp>
        <p:nvSpPr>
          <p:cNvPr id="2" name="Line 0">
            <a:extLst>
              <a:ext uri="{FF2B5EF4-FFF2-40B4-BE49-F238E27FC236}">
                <a16:creationId xmlns:a16="http://schemas.microsoft.com/office/drawing/2014/main" id="{F84B7EBC-2FD1-3853-00CF-F24E0F345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4005" y="4898243"/>
            <a:ext cx="724909" cy="33633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9C31328D-20E4-DB4A-D433-9860A1EF1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6013" y="4547192"/>
            <a:ext cx="604295" cy="144016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>
            <a:defPPr>
              <a:defRPr lang="en-US"/>
            </a:defPPr>
            <a:lvl1pPr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94AD71-51E6-4C1E-B23A-B686DDC2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B28E-F220-4F41-A371-114697BDB926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D9462-B406-400A-8C58-6547B4FB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39</a:t>
            </a:fld>
            <a:r>
              <a:rPr lang="en-US" altLang="zh-CN"/>
              <a:t>/53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C31399-060D-A40A-0372-1892BE887C9C}"/>
              </a:ext>
            </a:extLst>
          </p:cNvPr>
          <p:cNvSpPr txBox="1"/>
          <p:nvPr/>
        </p:nvSpPr>
        <p:spPr>
          <a:xfrm>
            <a:off x="196850" y="6347411"/>
            <a:ext cx="2749471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/>
              <a:t>加法和减法是可交换的</a:t>
            </a:r>
          </a:p>
        </p:txBody>
      </p:sp>
    </p:spTree>
    <p:extLst>
      <p:ext uri="{BB962C8B-B14F-4D97-AF65-F5344CB8AC3E}">
        <p14:creationId xmlns:p14="http://schemas.microsoft.com/office/powerpoint/2010/main" val="37520632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animBg="1"/>
      <p:bldP spid="34823" grpId="0" animBg="1"/>
      <p:bldP spid="34824" grpId="0" animBg="1"/>
      <p:bldP spid="34825" grpId="0" animBg="1"/>
      <p:bldP spid="34826" grpId="0" animBg="1"/>
      <p:bldP spid="34827" grpId="0" animBg="1"/>
      <p:bldP spid="34828" grpId="0" animBg="1"/>
      <p:bldP spid="34829" grpId="0" animBg="1"/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20056C27-B933-0CE5-EE30-030A2E959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318412"/>
            <a:ext cx="7019925" cy="857250"/>
          </a:xfrm>
        </p:spPr>
        <p:txBody>
          <a:bodyPr/>
          <a:lstStyle/>
          <a:p>
            <a:pPr eaLnBrk="1" hangingPunct="1"/>
            <a:r>
              <a:rPr lang="zh-CN" altLang="en-US" b="1" dirty="0"/>
              <a:t>并发控制</a:t>
            </a:r>
            <a:r>
              <a:rPr lang="en-US" altLang="zh-CN" b="1" dirty="0"/>
              <a:t> vs. </a:t>
            </a:r>
            <a:r>
              <a:rPr lang="zh-CN" altLang="en-US" b="1" dirty="0"/>
              <a:t>可串行化检测</a:t>
            </a:r>
            <a:endParaRPr lang="en-US" altLang="zh-CN" b="1" dirty="0"/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BC276C4-7E27-EED4-D9CD-AF815A5B1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2" y="1397001"/>
            <a:ext cx="8055744" cy="484663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/>
              <a:t>在调度已经执行之后，再来检测它的可串行性太迟了</a:t>
            </a:r>
            <a:r>
              <a:rPr lang="en-US" altLang="zh-CN" sz="2800" b="1" dirty="0"/>
              <a:t>!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/>
              <a:t>目标：</a:t>
            </a:r>
            <a:r>
              <a:rPr lang="zh-CN" altLang="en-US" sz="2800" b="1" dirty="0">
                <a:solidFill>
                  <a:srgbClr val="0000FF"/>
                </a:solidFill>
              </a:rPr>
              <a:t>寻求</a:t>
            </a:r>
            <a:r>
              <a:rPr lang="zh-CN" altLang="en-US" sz="2800" b="1" dirty="0"/>
              <a:t>能</a:t>
            </a:r>
            <a:r>
              <a:rPr lang="zh-CN" altLang="en-US" sz="2800" b="1" dirty="0">
                <a:solidFill>
                  <a:srgbClr val="0000FF"/>
                </a:solidFill>
              </a:rPr>
              <a:t>确保可串行化</a:t>
            </a:r>
            <a:r>
              <a:rPr lang="zh-CN" altLang="en-US" sz="2800" b="1" dirty="0"/>
              <a:t>的</a:t>
            </a:r>
            <a:r>
              <a:rPr lang="zh-CN" altLang="en-US" sz="28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并发控制协议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/>
              <a:t>一般不检查优先图，而是由</a:t>
            </a:r>
            <a:r>
              <a:rPr lang="zh-CN" altLang="en-US" sz="2400" b="1" dirty="0">
                <a:solidFill>
                  <a:srgbClr val="0000FF"/>
                </a:solidFill>
              </a:rPr>
              <a:t>协议</a:t>
            </a:r>
            <a:r>
              <a:rPr lang="zh-CN" altLang="en-US" sz="2400" b="1" dirty="0">
                <a:solidFill>
                  <a:srgbClr val="C00000"/>
                </a:solidFill>
              </a:rPr>
              <a:t>施加</a:t>
            </a:r>
            <a:r>
              <a:rPr lang="zh-CN" altLang="en-US" sz="2400" b="1" dirty="0">
                <a:solidFill>
                  <a:srgbClr val="0000FF"/>
                </a:solidFill>
              </a:rPr>
              <a:t>约束</a:t>
            </a:r>
            <a:r>
              <a:rPr lang="zh-CN" altLang="en-US" sz="2400" b="1" dirty="0"/>
              <a:t>来</a:t>
            </a:r>
            <a:r>
              <a:rPr lang="zh-CN" altLang="en-US" sz="2400" b="1" dirty="0">
                <a:solidFill>
                  <a:srgbClr val="FF0000"/>
                </a:solidFill>
              </a:rPr>
              <a:t>避免</a:t>
            </a:r>
            <a:r>
              <a:rPr lang="zh-CN" altLang="en-US" sz="2400" b="1" dirty="0">
                <a:solidFill>
                  <a:srgbClr val="0000FF"/>
                </a:solidFill>
              </a:rPr>
              <a:t>非可串行化调度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/>
              <a:t>将在下一章学习这些协议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/>
              <a:t>检测可串行化有助于</a:t>
            </a:r>
            <a:r>
              <a:rPr lang="zh-CN" altLang="en-US" sz="2800" b="1" u="sng" dirty="0"/>
              <a:t>理解</a:t>
            </a:r>
            <a:r>
              <a:rPr lang="zh-CN" altLang="en-US" sz="2800" b="1" dirty="0"/>
              <a:t>为什么一个并发控制协议是</a:t>
            </a:r>
            <a:r>
              <a:rPr lang="zh-CN" altLang="en-US" sz="2800" b="1" dirty="0">
                <a:solidFill>
                  <a:srgbClr val="C00000"/>
                </a:solidFill>
              </a:rPr>
              <a:t>正确</a:t>
            </a:r>
            <a:r>
              <a:rPr lang="zh-CN" altLang="en-US" sz="2800" b="1" dirty="0"/>
              <a:t>的。</a:t>
            </a:r>
            <a:endParaRPr lang="en-US" altLang="zh-CN" sz="2800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B63769-4E5F-4CD6-950F-1A505AB3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91F2-E83A-4620-AD09-AB9C3F6B253C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FDA193-5C66-4767-AAFC-56614DED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891408-3BB4-4FB9-AD17-B50EFA49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40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881308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事务状态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并发执行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可串行化及判定</a:t>
            </a:r>
            <a:endParaRPr lang="en-US" altLang="zh-CN" dirty="0"/>
          </a:p>
          <a:p>
            <a:r>
              <a:rPr lang="en-US" altLang="zh-CN" dirty="0"/>
              <a:t>5 </a:t>
            </a:r>
            <a:r>
              <a:rPr lang="zh-CN" altLang="en-US" dirty="0"/>
              <a:t>可恢复性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隔离性的实现</a:t>
            </a: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914400" y="414908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AA75D9-3F40-4B81-8169-82D65A21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45CCF-51B1-4EB2-9548-701F3B94A696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00ADF4-D0B9-44EB-B9E2-FB5BD6409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4373C0-045C-4BE8-B6EC-016D71A8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41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5384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35103731-6C1C-9334-5B27-6EB3BA72C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可恢复调度</a:t>
            </a:r>
            <a:r>
              <a:rPr lang="en-US" altLang="zh-CN" dirty="0"/>
              <a:t>(</a:t>
            </a:r>
            <a:r>
              <a:rPr lang="zh-CN" altLang="en-US" dirty="0"/>
              <a:t>事务的隔离性和原子性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F088D28-286E-535B-9553-A0C89964C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7068" y="1366838"/>
            <a:ext cx="8105775" cy="2782242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事务的恢复：如果一</a:t>
            </a:r>
            <a:r>
              <a:rPr lang="zh-CN" altLang="en-US" sz="2400" b="1" dirty="0">
                <a:solidFill>
                  <a:srgbClr val="0000FF"/>
                </a:solidFill>
              </a:rPr>
              <a:t>个事务失效</a:t>
            </a:r>
            <a:r>
              <a:rPr lang="zh-CN" altLang="en-US" sz="2400" b="1" dirty="0"/>
              <a:t>了，需要</a:t>
            </a:r>
            <a:r>
              <a:rPr lang="zh-CN" altLang="en-US" sz="2400" b="1" dirty="0">
                <a:solidFill>
                  <a:srgbClr val="0000FF"/>
                </a:solidFill>
              </a:rPr>
              <a:t>撤销该事务</a:t>
            </a:r>
            <a:r>
              <a:rPr lang="zh-CN" altLang="en-US" sz="2400" b="1" dirty="0"/>
              <a:t>的影响以确保该事务的</a:t>
            </a:r>
            <a:r>
              <a:rPr lang="zh-CN" altLang="en-US" sz="2400" b="1" dirty="0">
                <a:solidFill>
                  <a:srgbClr val="0000FF"/>
                </a:solidFill>
              </a:rPr>
              <a:t>原子性</a:t>
            </a:r>
            <a:r>
              <a:rPr lang="zh-CN" altLang="en-US" sz="2400" b="1" dirty="0"/>
              <a:t>。此外，在并发执行的系统中，原子性</a:t>
            </a:r>
            <a:r>
              <a:rPr lang="zh-CN" altLang="en-US" sz="2400" b="1" dirty="0">
                <a:solidFill>
                  <a:srgbClr val="0000FF"/>
                </a:solidFill>
              </a:rPr>
              <a:t>要求</a:t>
            </a:r>
            <a:r>
              <a:rPr lang="zh-CN" altLang="en-US" sz="2400" b="1" dirty="0">
                <a:solidFill>
                  <a:srgbClr val="FF0000"/>
                </a:solidFill>
              </a:rPr>
              <a:t>依赖于</a:t>
            </a:r>
            <a:r>
              <a:rPr lang="en-US" altLang="zh-CN" sz="2400" b="1" dirty="0" err="1">
                <a:solidFill>
                  <a:srgbClr val="FF0000"/>
                </a:solidFill>
              </a:rPr>
              <a:t>T</a:t>
            </a:r>
            <a:r>
              <a:rPr lang="en-US" altLang="zh-CN" sz="2400" b="1" baseline="-25000" dirty="0" err="1">
                <a:solidFill>
                  <a:srgbClr val="FF0000"/>
                </a:solidFill>
              </a:rPr>
              <a:t>i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任何事务</a:t>
            </a:r>
            <a:r>
              <a:rPr lang="en-US" altLang="zh-CN" sz="2400" b="1" dirty="0" err="1">
                <a:solidFill>
                  <a:srgbClr val="0000FF"/>
                </a:solidFill>
              </a:rPr>
              <a:t>T</a:t>
            </a:r>
            <a:r>
              <a:rPr lang="en-US" altLang="zh-CN" sz="2400" b="1" baseline="-25000" dirty="0" err="1">
                <a:solidFill>
                  <a:srgbClr val="0000FF"/>
                </a:solidFill>
              </a:rPr>
              <a:t>j</a:t>
            </a:r>
            <a:r>
              <a:rPr lang="zh-CN" altLang="en-US" sz="2400" b="1" dirty="0"/>
              <a:t>也要中止。</a:t>
            </a:r>
            <a:endParaRPr lang="en-US" altLang="zh-CN" sz="2400" b="1" dirty="0"/>
          </a:p>
          <a:p>
            <a:pPr lvl="1"/>
            <a:r>
              <a:rPr lang="zh-CN" altLang="en-US" sz="2000" b="1" dirty="0"/>
              <a:t>一个事务失败了，应该能够</a:t>
            </a:r>
            <a:r>
              <a:rPr lang="zh-CN" altLang="en-US" sz="2000" b="1" dirty="0">
                <a:solidFill>
                  <a:srgbClr val="0000FF"/>
                </a:solidFill>
              </a:rPr>
              <a:t>撤消该事务对数据库的影响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如果有</a:t>
            </a:r>
            <a:r>
              <a:rPr lang="zh-CN" altLang="en-US" sz="2000" b="1" u="sng" dirty="0">
                <a:solidFill>
                  <a:srgbClr val="006600"/>
                </a:solidFill>
              </a:rPr>
              <a:t>其它事务</a:t>
            </a:r>
            <a:r>
              <a:rPr lang="zh-CN" altLang="en-US" sz="2000" b="1" dirty="0"/>
              <a:t>读取了</a:t>
            </a:r>
            <a:r>
              <a:rPr lang="zh-CN" altLang="en-US" sz="2000" b="1" dirty="0">
                <a:solidFill>
                  <a:srgbClr val="0000FF"/>
                </a:solidFill>
              </a:rPr>
              <a:t>失败事务</a:t>
            </a:r>
            <a:r>
              <a:rPr lang="zh-CN" altLang="en-US" sz="2000" b="1" dirty="0">
                <a:solidFill>
                  <a:srgbClr val="FF0000"/>
                </a:solidFill>
              </a:rPr>
              <a:t>所写出</a:t>
            </a:r>
            <a:r>
              <a:rPr lang="zh-CN" altLang="en-US" sz="2000" b="1" dirty="0">
                <a:solidFill>
                  <a:srgbClr val="0000FF"/>
                </a:solidFill>
              </a:rPr>
              <a:t>的数据</a:t>
            </a:r>
            <a:r>
              <a:rPr lang="zh-CN" altLang="en-US" sz="2000" b="1" dirty="0"/>
              <a:t>，则</a:t>
            </a:r>
            <a:r>
              <a:rPr lang="zh-CN" altLang="en-US" sz="2000" b="1" u="sng" dirty="0">
                <a:solidFill>
                  <a:srgbClr val="006600"/>
                </a:solidFill>
              </a:rPr>
              <a:t>该事务</a:t>
            </a:r>
            <a:r>
              <a:rPr lang="zh-CN" altLang="en-US" sz="2000" b="1" dirty="0">
                <a:solidFill>
                  <a:srgbClr val="0000FF"/>
                </a:solidFill>
              </a:rPr>
              <a:t>也应该撤消</a:t>
            </a:r>
            <a:r>
              <a:rPr lang="zh-CN" altLang="en-US" sz="2000" b="1" dirty="0"/>
              <a:t>。</a:t>
            </a:r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5B13C5F5-4377-FEB7-C123-D7F548AB8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795" y="4396730"/>
            <a:ext cx="1981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read(A);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>
                <a:latin typeface="Times New Roman" panose="02020603050405020304" pitchFamily="18" charset="0"/>
              </a:rPr>
              <a:t>write(A);</a:t>
            </a:r>
          </a:p>
        </p:txBody>
      </p:sp>
      <p:sp>
        <p:nvSpPr>
          <p:cNvPr id="36870" name="Text Box 5">
            <a:extLst>
              <a:ext uri="{FF2B5EF4-FFF2-40B4-BE49-F238E27FC236}">
                <a16:creationId xmlns:a16="http://schemas.microsoft.com/office/drawing/2014/main" id="{6B068C7E-0F04-D48B-1F26-454E0E0F4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995" y="3699818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871" name="Text Box 6">
            <a:extLst>
              <a:ext uri="{FF2B5EF4-FFF2-40B4-BE49-F238E27FC236}">
                <a16:creationId xmlns:a16="http://schemas.microsoft.com/office/drawing/2014/main" id="{F9E3505A-2206-BD67-6110-E13DD4F9B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795" y="3731568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600" i="0">
                <a:latin typeface="Times New Roman" panose="02020603050405020304" pitchFamily="18" charset="0"/>
              </a:rPr>
              <a:t>T</a:t>
            </a:r>
            <a:r>
              <a:rPr kumimoji="1" lang="en-US" altLang="zh-CN" sz="3600" i="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873" name="Text Box 8">
            <a:extLst>
              <a:ext uri="{FF2B5EF4-FFF2-40B4-BE49-F238E27FC236}">
                <a16:creationId xmlns:a16="http://schemas.microsoft.com/office/drawing/2014/main" id="{A3C6ADD8-DE5F-2CB3-7E04-6E94DFA83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195" y="5234930"/>
            <a:ext cx="16764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read(A);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solidFill>
                  <a:srgbClr val="0000FF"/>
                </a:solidFill>
                <a:latin typeface="Times New Roman" panose="02020603050405020304" pitchFamily="18" charset="0"/>
              </a:rPr>
              <a:t>commit</a:t>
            </a:r>
            <a:r>
              <a:rPr kumimoji="1" lang="en-US" altLang="zh-CN" sz="2800" i="0" dirty="0">
                <a:latin typeface="Times New Roman" panose="02020603050405020304" pitchFamily="18" charset="0"/>
              </a:rPr>
              <a:t>;</a:t>
            </a:r>
            <a:endParaRPr kumimoji="1" lang="en-US" altLang="zh-CN" sz="2800" i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86C5C09E-E943-B3A5-8207-B6DCC9DE7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920" y="439673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Line 10">
            <a:extLst>
              <a:ext uri="{FF2B5EF4-FFF2-40B4-BE49-F238E27FC236}">
                <a16:creationId xmlns:a16="http://schemas.microsoft.com/office/drawing/2014/main" id="{2CEC7C67-73AC-EFBF-7D76-EB60BB1E3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5995" y="3839518"/>
            <a:ext cx="0" cy="2743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0796" name="Rectangle 12">
            <a:extLst>
              <a:ext uri="{FF2B5EF4-FFF2-40B4-BE49-F238E27FC236}">
                <a16:creationId xmlns:a16="http://schemas.microsoft.com/office/drawing/2014/main" id="{377E8C1E-B955-2D5C-121F-22374CE92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388" y="3920952"/>
            <a:ext cx="4191000" cy="156966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可恢复调度：对于每对事务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读取了</a:t>
            </a:r>
            <a:r>
              <a:rPr kumimoji="1" lang="en-US" altLang="zh-CN" sz="24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所写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的数据，则</a:t>
            </a:r>
            <a:r>
              <a:rPr kumimoji="1" lang="en-US" altLang="zh-CN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必须先于</a:t>
            </a:r>
            <a:r>
              <a:rPr kumimoji="1" lang="en-US" altLang="zh-CN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提交。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7B1653-E4C6-4413-BEC8-7B35615D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2805-77C8-4B83-A9C9-0F81C39F1663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1E3082-2EF1-4D89-A772-9208CF32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CA9E70-7A47-4F64-99B2-34DBA41A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42</a:t>
            </a:fld>
            <a:r>
              <a:rPr lang="en-US" altLang="zh-CN"/>
              <a:t>/53</a:t>
            </a:r>
            <a:endParaRPr lang="zh-CN" altLang="en-US" dirty="0"/>
          </a:p>
        </p:txBody>
      </p:sp>
      <p:sp>
        <p:nvSpPr>
          <p:cNvPr id="36872" name="Text Box 7">
            <a:extLst>
              <a:ext uri="{FF2B5EF4-FFF2-40B4-BE49-F238E27FC236}">
                <a16:creationId xmlns:a16="http://schemas.microsoft.com/office/drawing/2014/main" id="{909B8793-D477-7D6A-94C6-E07522238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795" y="5884218"/>
            <a:ext cx="1524000" cy="774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latin typeface="Times New Roman" panose="02020603050405020304" pitchFamily="18" charset="0"/>
              </a:rPr>
              <a:t>read(B);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i="0" dirty="0">
                <a:solidFill>
                  <a:srgbClr val="0000FF"/>
                </a:solidFill>
                <a:latin typeface="Times New Roman" panose="02020603050405020304" pitchFamily="18" charset="0"/>
              </a:rPr>
              <a:t>rollback</a:t>
            </a:r>
            <a:r>
              <a:rPr kumimoji="1" lang="en-US" altLang="zh-CN" sz="2800" i="0" dirty="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36876" name="AutoShape 11">
            <a:extLst>
              <a:ext uri="{FF2B5EF4-FFF2-40B4-BE49-F238E27FC236}">
                <a16:creationId xmlns:a16="http://schemas.microsoft.com/office/drawing/2014/main" id="{82EC16A1-D47F-3641-0664-3C89AC2A8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395" y="6111230"/>
            <a:ext cx="2943225" cy="533400"/>
          </a:xfrm>
          <a:prstGeom prst="wedgeRoundRectCallout">
            <a:avLst>
              <a:gd name="adj1" fmla="val -74053"/>
              <a:gd name="adj2" fmla="val -4035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i="0">
                <a:latin typeface="+mn-ea"/>
                <a:ea typeface="+mn-ea"/>
              </a:rPr>
              <a:t>不可恢复的调度</a:t>
            </a:r>
            <a:endParaRPr kumimoji="1" lang="zh-CN" altLang="en-US" sz="2000" i="0">
              <a:latin typeface="+mn-ea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30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96" grpId="0" animBg="1"/>
      <p:bldP spid="3687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9F77CC77-FE84-F81E-F914-96B4D9456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无级联调度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ABBCFD36-E11C-0291-293A-F5FEC73BF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993" y="1418232"/>
            <a:ext cx="7981477" cy="1618804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即使一个调度是可恢复的，要从事务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的故障中正确恢复，可能需要回滚若干事务。当其他事务读取了由事务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所写数据项时就会发生这种情形。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无级联调度</a:t>
            </a:r>
          </a:p>
        </p:txBody>
      </p:sp>
      <p:grpSp>
        <p:nvGrpSpPr>
          <p:cNvPr id="37894" name="Group 5">
            <a:extLst>
              <a:ext uri="{FF2B5EF4-FFF2-40B4-BE49-F238E27FC236}">
                <a16:creationId xmlns:a16="http://schemas.microsoft.com/office/drawing/2014/main" id="{D73D6BAE-E2C6-738A-FEDE-E3D9760BDF13}"/>
              </a:ext>
            </a:extLst>
          </p:cNvPr>
          <p:cNvGrpSpPr>
            <a:grpSpLocks/>
          </p:cNvGrpSpPr>
          <p:nvPr/>
        </p:nvGrpSpPr>
        <p:grpSpPr bwMode="auto">
          <a:xfrm>
            <a:off x="257731" y="2992192"/>
            <a:ext cx="4572000" cy="3276600"/>
            <a:chOff x="192" y="2160"/>
            <a:chExt cx="2880" cy="2064"/>
          </a:xfrm>
        </p:grpSpPr>
        <p:sp>
          <p:nvSpPr>
            <p:cNvPr id="37897" name="Text Box 6">
              <a:extLst>
                <a:ext uri="{FF2B5EF4-FFF2-40B4-BE49-F238E27FC236}">
                  <a16:creationId xmlns:a16="http://schemas.microsoft.com/office/drawing/2014/main" id="{F77824BD-4659-5CC5-E63C-430578C3B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599"/>
              <a:ext cx="1008" cy="7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latin typeface="Times New Roman" panose="02020603050405020304" pitchFamily="18" charset="0"/>
                </a:rPr>
                <a:t>read(A);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latin typeface="Times New Roman" panose="02020603050405020304" pitchFamily="18" charset="0"/>
                </a:rPr>
                <a:t>read(B);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write(A)</a:t>
              </a:r>
              <a:r>
                <a:rPr kumimoji="1" lang="en-US" altLang="zh-CN" sz="2800" i="0" dirty="0"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7898" name="Text Box 7">
              <a:extLst>
                <a:ext uri="{FF2B5EF4-FFF2-40B4-BE49-F238E27FC236}">
                  <a16:creationId xmlns:a16="http://schemas.microsoft.com/office/drawing/2014/main" id="{B7CCA4F8-E3F7-CE02-9473-A284A66A9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160"/>
              <a:ext cx="6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3600" i="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3600" i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899" name="Text Box 8">
              <a:extLst>
                <a:ext uri="{FF2B5EF4-FFF2-40B4-BE49-F238E27FC236}">
                  <a16:creationId xmlns:a16="http://schemas.microsoft.com/office/drawing/2014/main" id="{3F05F60B-F85B-2007-206C-AB7484F23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180"/>
              <a:ext cx="6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3600" i="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3600" i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7900" name="Text Box 9">
              <a:extLst>
                <a:ext uri="{FF2B5EF4-FFF2-40B4-BE49-F238E27FC236}">
                  <a16:creationId xmlns:a16="http://schemas.microsoft.com/office/drawing/2014/main" id="{C492C1F5-5C62-6406-DB7A-2460BF5A2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360"/>
              <a:ext cx="1056" cy="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latin typeface="Times New Roman" panose="02020603050405020304" pitchFamily="18" charset="0"/>
                </a:rPr>
                <a:t>read(A);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write(A)</a:t>
              </a:r>
              <a:r>
                <a:rPr kumimoji="1" lang="en-US" altLang="zh-CN" sz="2800" i="0" dirty="0"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7901" name="Line 10">
              <a:extLst>
                <a:ext uri="{FF2B5EF4-FFF2-40B4-BE49-F238E27FC236}">
                  <a16:creationId xmlns:a16="http://schemas.microsoft.com/office/drawing/2014/main" id="{C6265E24-B52D-B287-D63D-E7FC2EF02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2599"/>
              <a:ext cx="26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2" name="Line 11">
              <a:extLst>
                <a:ext uri="{FF2B5EF4-FFF2-40B4-BE49-F238E27FC236}">
                  <a16:creationId xmlns:a16="http://schemas.microsoft.com/office/drawing/2014/main" id="{D6910017-6BCD-037B-8CC2-3B3DA4F02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248"/>
              <a:ext cx="0" cy="19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3" name="Line 12">
              <a:extLst>
                <a:ext uri="{FF2B5EF4-FFF2-40B4-BE49-F238E27FC236}">
                  <a16:creationId xmlns:a16="http://schemas.microsoft.com/office/drawing/2014/main" id="{FB493D37-8962-3447-3FC2-368C3219F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256"/>
              <a:ext cx="0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4" name="Text Box 13">
              <a:extLst>
                <a:ext uri="{FF2B5EF4-FFF2-40B4-BE49-F238E27FC236}">
                  <a16:creationId xmlns:a16="http://schemas.microsoft.com/office/drawing/2014/main" id="{E7D5BD5E-17C4-3AD5-682B-D867A3412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188"/>
              <a:ext cx="6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3600" i="0">
                  <a:latin typeface="Times New Roman" panose="02020603050405020304" pitchFamily="18" charset="0"/>
                </a:rPr>
                <a:t>T</a:t>
              </a:r>
              <a:r>
                <a:rPr kumimoji="1" lang="en-US" altLang="zh-CN" sz="3600" i="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7905" name="Text Box 14">
              <a:extLst>
                <a:ext uri="{FF2B5EF4-FFF2-40B4-BE49-F238E27FC236}">
                  <a16:creationId xmlns:a16="http://schemas.microsoft.com/office/drawing/2014/main" id="{38B0879F-7AA9-CCBC-461E-A9611DBD2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759"/>
              <a:ext cx="91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solidFill>
                    <a:srgbClr val="006600"/>
                  </a:solidFill>
                  <a:latin typeface="Times New Roman" panose="02020603050405020304" pitchFamily="18" charset="0"/>
                </a:rPr>
                <a:t>read(A)</a:t>
              </a:r>
              <a:r>
                <a:rPr kumimoji="1" lang="en-US" altLang="zh-CN" sz="2800" i="0" dirty="0"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7906" name="Text Box 15">
              <a:extLst>
                <a:ext uri="{FF2B5EF4-FFF2-40B4-BE49-F238E27FC236}">
                  <a16:creationId xmlns:a16="http://schemas.microsoft.com/office/drawing/2014/main" id="{F2FD35D2-4A4D-1596-062C-330EC6CEA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51"/>
              <a:ext cx="960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i="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rollback</a:t>
              </a:r>
              <a:r>
                <a:rPr kumimoji="1" lang="en-US" altLang="zh-CN" sz="2800" i="0" dirty="0">
                  <a:latin typeface="Times New Roman" panose="02020603050405020304" pitchFamily="18" charset="0"/>
                </a:rPr>
                <a:t>;</a:t>
              </a:r>
            </a:p>
          </p:txBody>
        </p:sp>
      </p:grpSp>
      <p:sp>
        <p:nvSpPr>
          <p:cNvPr id="631824" name="Rectangle 16">
            <a:extLst>
              <a:ext uri="{FF2B5EF4-FFF2-40B4-BE49-F238E27FC236}">
                <a16:creationId xmlns:a16="http://schemas.microsoft.com/office/drawing/2014/main" id="{066A9040-7CE5-7628-B828-BD7C4E16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307" y="3098932"/>
            <a:ext cx="4156388" cy="156966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5000"/>
              </a:spcBef>
              <a:buClrTx/>
              <a:buSzTx/>
              <a:buFontTx/>
              <a:buNone/>
            </a:pP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无级联调度：对于每对事务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</a:t>
            </a:r>
            <a:r>
              <a:rPr kumimoji="1" lang="en-US" altLang="zh-CN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读取了</a:t>
            </a:r>
            <a:r>
              <a:rPr kumimoji="1" lang="en-US" altLang="zh-CN" sz="24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3200" b="1" i="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所写</a:t>
            </a:r>
            <a:r>
              <a:rPr kumimoji="1" lang="zh-CN" altLang="en-US" sz="2400" b="1" i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的数据，则</a:t>
            </a:r>
            <a:r>
              <a:rPr kumimoji="1" lang="en-US" altLang="zh-CN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16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必须在</a:t>
            </a:r>
            <a:r>
              <a:rPr kumimoji="1" lang="en-US" altLang="zh-CN" sz="24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读取之前</a:t>
            </a:r>
            <a:r>
              <a:rPr kumimoji="1" lang="zh-CN" altLang="en-US" sz="2400" b="1" i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提交</a:t>
            </a:r>
          </a:p>
        </p:txBody>
      </p:sp>
      <p:sp>
        <p:nvSpPr>
          <p:cNvPr id="631825" name="Rectangle 17">
            <a:extLst>
              <a:ext uri="{FF2B5EF4-FFF2-40B4-BE49-F238E27FC236}">
                <a16:creationId xmlns:a16="http://schemas.microsoft.com/office/drawing/2014/main" id="{DA47B455-476A-DF4F-611C-175B18DD7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731" y="4896567"/>
            <a:ext cx="3897221" cy="42473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i="0">
                <a:latin typeface="+mn-ea"/>
                <a:ea typeface="+mn-ea"/>
              </a:rPr>
              <a:t>无级联调度必是可恢复调度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DE4D4-AE78-4CEB-8A9A-D595CB93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1904-D6DA-47F9-8A5C-09586985AC4E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33D0F-33F1-47BD-BCCC-750AF8F3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CF96E-E28C-45AB-AC4C-0F6CE126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43</a:t>
            </a:fld>
            <a:r>
              <a:rPr lang="en-US" altLang="zh-CN"/>
              <a:t>/53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976CE9-106C-EB6B-50EC-6DEC852294F5}"/>
              </a:ext>
            </a:extLst>
          </p:cNvPr>
          <p:cNvSpPr txBox="1"/>
          <p:nvPr/>
        </p:nvSpPr>
        <p:spPr>
          <a:xfrm>
            <a:off x="481192" y="6357218"/>
            <a:ext cx="216277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000" b="1" dirty="0"/>
              <a:t>T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</a:t>
            </a:r>
            <a:r>
              <a:rPr lang="en-US" altLang="zh-CN" sz="2000" b="1" baseline="-25000" dirty="0"/>
              <a:t>3</a:t>
            </a:r>
            <a:r>
              <a:rPr lang="zh-CN" altLang="en-US" sz="2000" b="1" dirty="0"/>
              <a:t>就必须回滚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3357FA9F-A713-7F76-CA6C-E12754D7C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131" y="6193036"/>
            <a:ext cx="3352800" cy="641350"/>
          </a:xfrm>
          <a:prstGeom prst="wedgeRoundRectCallout">
            <a:avLst>
              <a:gd name="adj1" fmla="val -54502"/>
              <a:gd name="adj2" fmla="val -273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 i="0" dirty="0">
                <a:solidFill>
                  <a:srgbClr val="0000FF"/>
                </a:solidFill>
                <a:latin typeface="+mn-ea"/>
                <a:ea typeface="+mn-ea"/>
              </a:rPr>
              <a:t>级联</a:t>
            </a:r>
            <a:r>
              <a:rPr kumimoji="1" lang="zh-CN" altLang="en-US" sz="1800" b="1" dirty="0">
                <a:solidFill>
                  <a:srgbClr val="0000FF"/>
                </a:solidFill>
                <a:latin typeface="+mn-ea"/>
                <a:ea typeface="+mn-ea"/>
              </a:rPr>
              <a:t>回滚</a:t>
            </a:r>
            <a:r>
              <a:rPr kumimoji="1" lang="zh-CN" altLang="en-US" sz="1800" b="1" i="0" dirty="0">
                <a:latin typeface="+mn-ea"/>
                <a:ea typeface="+mn-ea"/>
              </a:rPr>
              <a:t>：由于一个事务故障而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 i="0" dirty="0">
                <a:latin typeface="+mn-ea"/>
                <a:ea typeface="+mn-ea"/>
              </a:rPr>
              <a:t>导致一系列事务回滚；</a:t>
            </a:r>
          </a:p>
        </p:txBody>
      </p:sp>
    </p:spTree>
    <p:extLst>
      <p:ext uri="{BB962C8B-B14F-4D97-AF65-F5344CB8AC3E}">
        <p14:creationId xmlns:p14="http://schemas.microsoft.com/office/powerpoint/2010/main" val="12904339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18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24" grpId="0" animBg="1"/>
      <p:bldP spid="631825" grpId="0" animBg="1"/>
      <p:bldP spid="2" grpId="0" animBg="1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事务的基本概念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 事务状态</a:t>
            </a:r>
          </a:p>
          <a:p>
            <a:r>
              <a:rPr lang="en-US" altLang="zh-CN" dirty="0"/>
              <a:t>3 </a:t>
            </a:r>
            <a:r>
              <a:rPr lang="zh-CN" altLang="en-US" dirty="0"/>
              <a:t>并发执行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可串行化及判定</a:t>
            </a:r>
          </a:p>
          <a:p>
            <a:r>
              <a:rPr lang="en-US" altLang="zh-CN" dirty="0"/>
              <a:t>5 </a:t>
            </a:r>
            <a:r>
              <a:rPr lang="zh-CN" altLang="en-US" dirty="0"/>
              <a:t>可恢复性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隔离性的实现</a:t>
            </a: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914400" y="4653136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FEC4E-2421-418B-A8A8-681E6E93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586-CEE9-4DA8-A3FE-96522A6D84D8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713458-7DE3-41CF-8D43-29BF576C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CFADC2-DB4A-4383-B951-67C19266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44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050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1235ADDE-DAB0-6357-ED35-AB8562581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隔离性</a:t>
            </a:r>
            <a:endParaRPr lang="en-US" altLang="zh-CN" b="1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4F9C7770-6D23-F321-2D57-B11091C89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428750"/>
            <a:ext cx="8105775" cy="4819650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为保证数据库的一致性，调度必须是</a:t>
            </a:r>
            <a:r>
              <a:rPr lang="zh-CN" altLang="en-US" sz="2500" b="1" dirty="0">
                <a:solidFill>
                  <a:srgbClr val="0000FF"/>
                </a:solidFill>
              </a:rPr>
              <a:t>冲突</a:t>
            </a:r>
            <a:r>
              <a:rPr lang="zh-CN" altLang="en-US" sz="2500" b="1" dirty="0"/>
              <a:t>或</a:t>
            </a:r>
            <a:r>
              <a:rPr lang="zh-CN" altLang="en-US" sz="2500" b="1" dirty="0">
                <a:solidFill>
                  <a:srgbClr val="0000FF"/>
                </a:solidFill>
              </a:rPr>
              <a:t>视图</a:t>
            </a:r>
            <a:r>
              <a:rPr lang="zh-CN" altLang="en-US" sz="2500" b="1" dirty="0">
                <a:solidFill>
                  <a:srgbClr val="FF0000"/>
                </a:solidFill>
              </a:rPr>
              <a:t>可串行化</a:t>
            </a:r>
            <a:r>
              <a:rPr lang="zh-CN" altLang="en-US" sz="2500" b="1" dirty="0"/>
              <a:t>的、</a:t>
            </a:r>
            <a:r>
              <a:rPr lang="zh-CN" altLang="en-US" sz="2500" b="1" dirty="0">
                <a:solidFill>
                  <a:srgbClr val="FF0000"/>
                </a:solidFill>
              </a:rPr>
              <a:t>可恢复</a:t>
            </a:r>
            <a:r>
              <a:rPr lang="zh-CN" altLang="en-US" sz="2500" b="1" dirty="0"/>
              <a:t>的、并且最好是</a:t>
            </a:r>
            <a:r>
              <a:rPr lang="zh-CN" altLang="en-US" sz="2500" b="1" dirty="0">
                <a:solidFill>
                  <a:srgbClr val="FF0000"/>
                </a:solidFill>
              </a:rPr>
              <a:t>无级联回滚</a:t>
            </a:r>
            <a:r>
              <a:rPr lang="zh-CN" altLang="en-US" sz="2500" b="1" dirty="0"/>
              <a:t>的；</a:t>
            </a:r>
            <a:endParaRPr lang="en-US" altLang="zh-CN" sz="2500" b="1" dirty="0"/>
          </a:p>
          <a:p>
            <a:pPr eaLnBrk="1" hangingPunct="1"/>
            <a:r>
              <a:rPr lang="zh-CN" altLang="en-US" sz="2500" b="1" dirty="0"/>
              <a:t>一次只允许一个事务执行的策略产生的都是</a:t>
            </a:r>
            <a:r>
              <a:rPr lang="zh-CN" altLang="en-US" sz="2500" b="1" dirty="0">
                <a:solidFill>
                  <a:srgbClr val="FF0000"/>
                </a:solidFill>
              </a:rPr>
              <a:t>串行调度</a:t>
            </a:r>
            <a:r>
              <a:rPr lang="zh-CN" altLang="en-US" sz="2500" b="1" dirty="0"/>
              <a:t>，但并发度太差；</a:t>
            </a:r>
            <a:endParaRPr lang="en-US" altLang="zh-CN" sz="2500" b="1" dirty="0"/>
          </a:p>
          <a:p>
            <a:pPr eaLnBrk="1" hangingPunct="1"/>
            <a:r>
              <a:rPr lang="zh-CN" altLang="en-US" sz="2500" b="1" dirty="0"/>
              <a:t>某些方案只允许产生</a:t>
            </a:r>
            <a:r>
              <a:rPr lang="zh-CN" altLang="en-US" sz="2500" b="1" dirty="0">
                <a:solidFill>
                  <a:srgbClr val="FF0000"/>
                </a:solidFill>
              </a:rPr>
              <a:t>冲突可串行化</a:t>
            </a:r>
            <a:r>
              <a:rPr lang="zh-CN" altLang="en-US" sz="2500" b="1" dirty="0"/>
              <a:t>的调度，而另一些则允许</a:t>
            </a:r>
            <a:r>
              <a:rPr lang="zh-CN" altLang="en-US" sz="2500" b="1" dirty="0">
                <a:solidFill>
                  <a:srgbClr val="0000FF"/>
                </a:solidFill>
              </a:rPr>
              <a:t>非冲突可串行化但视图可串行化的调度；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500" b="1" dirty="0"/>
              <a:t>某些应用中，串行化协议只能提供很少的并发处理，则放松数据库的一致性的要求。利用应用程序来保证数据的一致性。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84581D-ECEA-484E-8138-A5D8F5ECE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73257-65E2-4F80-87BD-08456089AE07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AE3E27-9970-4B46-B55C-6B992DD0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C8085-A45D-4A05-95FE-63B1F6BE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45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6B20C299-69FD-1198-0225-89E45A8BE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事务隔离性级别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E126875-0315-1494-9DA2-E6BE8180A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358602"/>
            <a:ext cx="8101012" cy="5238750"/>
          </a:xfrm>
        </p:spPr>
        <p:txBody>
          <a:bodyPr/>
          <a:lstStyle/>
          <a:p>
            <a:pPr eaLnBrk="1" hangingPunct="1"/>
            <a:r>
              <a:rPr lang="en-US" altLang="zh-CN" sz="2800" b="1" dirty="0"/>
              <a:t>SQL</a:t>
            </a:r>
            <a:r>
              <a:rPr lang="zh-CN" altLang="zh-CN" sz="2800" b="1" dirty="0"/>
              <a:t>中</a:t>
            </a:r>
            <a:r>
              <a:rPr lang="zh-CN" altLang="en-US" sz="2800" b="1" dirty="0"/>
              <a:t>隔离性</a:t>
            </a:r>
            <a:r>
              <a:rPr lang="zh-CN" altLang="zh-CN" sz="2800" b="1" dirty="0"/>
              <a:t>级别的定义</a:t>
            </a: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可串行化</a:t>
            </a:r>
            <a:r>
              <a:rPr lang="en-US" altLang="zh-CN" sz="2400" b="1" dirty="0">
                <a:solidFill>
                  <a:srgbClr val="0000FF"/>
                </a:solidFill>
              </a:rPr>
              <a:t>(serializable)</a:t>
            </a:r>
            <a:r>
              <a:rPr lang="en-US" altLang="zh-CN" sz="2400" b="1" dirty="0"/>
              <a:t>：</a:t>
            </a:r>
            <a:r>
              <a:rPr lang="zh-CN" altLang="en-US" sz="2400" b="1" dirty="0"/>
              <a:t>一个调度的执行必须等价于</a:t>
            </a:r>
            <a:r>
              <a:rPr lang="zh-CN" altLang="en-US" sz="2400" b="1" dirty="0">
                <a:solidFill>
                  <a:srgbClr val="006600"/>
                </a:solidFill>
              </a:rPr>
              <a:t>某种串行调度</a:t>
            </a:r>
            <a:r>
              <a:rPr lang="zh-CN" altLang="en-US" sz="2400" b="1" dirty="0"/>
              <a:t>的结果</a:t>
            </a:r>
            <a:endParaRPr lang="en-US" altLang="en-US" sz="2400" b="1" dirty="0"/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可重复读</a:t>
            </a:r>
            <a:r>
              <a:rPr lang="en-US" altLang="zh-CN" sz="2400" b="1" dirty="0">
                <a:solidFill>
                  <a:srgbClr val="0000FF"/>
                </a:solidFill>
              </a:rPr>
              <a:t>(repeatable read)</a:t>
            </a:r>
            <a:r>
              <a:rPr lang="en-US" altLang="zh-CN" sz="2400" b="1" dirty="0"/>
              <a:t>：</a:t>
            </a:r>
            <a:r>
              <a:rPr lang="zh-CN" altLang="en-US" sz="2400" b="1" dirty="0">
                <a:solidFill>
                  <a:srgbClr val="0000FF"/>
                </a:solidFill>
              </a:rPr>
              <a:t>只允许读取已提交</a:t>
            </a:r>
            <a:r>
              <a:rPr lang="zh-CN" altLang="en-US" sz="2400" b="1" dirty="0">
                <a:solidFill>
                  <a:srgbClr val="006600"/>
                </a:solidFill>
              </a:rPr>
              <a:t>的数据项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并要求</a:t>
            </a:r>
            <a:r>
              <a:rPr lang="zh-CN" altLang="en-US" sz="2400" b="1" dirty="0">
                <a:solidFill>
                  <a:srgbClr val="0000FF"/>
                </a:solidFill>
              </a:rPr>
              <a:t>一个事务</a:t>
            </a:r>
            <a:r>
              <a:rPr lang="zh-CN" altLang="en-US" sz="2400" b="1" dirty="0"/>
              <a:t>对</a:t>
            </a:r>
            <a:r>
              <a:rPr lang="zh-CN" altLang="en-US" sz="2400" b="1" dirty="0">
                <a:solidFill>
                  <a:srgbClr val="0000FF"/>
                </a:solidFill>
              </a:rPr>
              <a:t>同一数据项的</a:t>
            </a:r>
            <a:r>
              <a:rPr lang="zh-CN" altLang="en-US" sz="2400" b="1" dirty="0">
                <a:solidFill>
                  <a:srgbClr val="FF0000"/>
                </a:solidFill>
              </a:rPr>
              <a:t>两次</a:t>
            </a:r>
            <a:r>
              <a:rPr lang="zh-CN" altLang="en-US" sz="2400" b="1" dirty="0">
                <a:solidFill>
                  <a:srgbClr val="0000FF"/>
                </a:solidFill>
              </a:rPr>
              <a:t>读取之间</a:t>
            </a:r>
            <a:r>
              <a:rPr lang="zh-CN" altLang="en-US" sz="2400" b="1" dirty="0"/>
              <a:t>，其它事务</a:t>
            </a:r>
            <a:r>
              <a:rPr lang="zh-CN" altLang="en-US" sz="2400" b="1" u="sng" dirty="0">
                <a:solidFill>
                  <a:srgbClr val="FF0000"/>
                </a:solidFill>
              </a:rPr>
              <a:t>不能对该数据项</a:t>
            </a:r>
            <a:r>
              <a:rPr lang="zh-CN" altLang="en-US" sz="2400" b="1" u="sng" dirty="0"/>
              <a:t>进行</a:t>
            </a:r>
            <a:r>
              <a:rPr lang="zh-CN" altLang="en-US" sz="2400" b="1" u="sng" dirty="0">
                <a:solidFill>
                  <a:srgbClr val="FF0000"/>
                </a:solidFill>
              </a:rPr>
              <a:t>更新</a:t>
            </a:r>
            <a:endParaRPr lang="en-US" altLang="en-US" sz="2400" b="1" u="sng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已提交读</a:t>
            </a:r>
            <a:r>
              <a:rPr lang="en-US" altLang="zh-CN" sz="2400" b="1" dirty="0">
                <a:solidFill>
                  <a:srgbClr val="0000FF"/>
                </a:solidFill>
              </a:rPr>
              <a:t>(read committed)</a:t>
            </a:r>
            <a:r>
              <a:rPr lang="en-US" altLang="zh-CN" sz="2400" b="1" dirty="0"/>
              <a:t>：</a:t>
            </a:r>
            <a:r>
              <a:rPr lang="zh-CN" altLang="en-US" sz="2400" b="1" dirty="0"/>
              <a:t>只允许读取已提交的数据项，但</a:t>
            </a:r>
            <a:r>
              <a:rPr lang="zh-CN" altLang="en-US" sz="2400" b="1" dirty="0">
                <a:solidFill>
                  <a:srgbClr val="006600"/>
                </a:solidFill>
              </a:rPr>
              <a:t>不要求可重复读</a:t>
            </a:r>
            <a:endParaRPr lang="en-US" altLang="en-US" sz="2400" b="1" dirty="0">
              <a:solidFill>
                <a:srgbClr val="006600"/>
              </a:solidFill>
            </a:endParaRPr>
          </a:p>
          <a:p>
            <a:pPr lvl="1" eaLnBrk="1" hangingPunct="1">
              <a:lnSpc>
                <a:spcPct val="105000"/>
              </a:lnSpc>
              <a:spcBef>
                <a:spcPct val="4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未提交读</a:t>
            </a:r>
            <a:r>
              <a:rPr lang="en-US" altLang="zh-CN" sz="2400" b="1" dirty="0">
                <a:solidFill>
                  <a:srgbClr val="0000FF"/>
                </a:solidFill>
              </a:rPr>
              <a:t>(read uncommitted)</a:t>
            </a:r>
            <a:r>
              <a:rPr lang="en-US" altLang="zh-CN" sz="2400" b="1" dirty="0"/>
              <a:t>：</a:t>
            </a:r>
            <a:r>
              <a:rPr lang="zh-CN" altLang="en-US" sz="2400" b="1" dirty="0"/>
              <a:t>允许读取未提交的数据项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7462E2-B3DF-41B6-9199-759A48BFF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F58A-7F9B-4A0B-B563-2DF9ED3AC9CC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3172D6-82F0-4061-B53E-3C3CC48A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48145B-EB35-44B5-B7B4-0407D6D7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46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>
            <a:extLst>
              <a:ext uri="{FF2B5EF4-FFF2-40B4-BE49-F238E27FC236}">
                <a16:creationId xmlns:a16="http://schemas.microsoft.com/office/drawing/2014/main" id="{69985CF8-D746-3DCA-1346-9AE56D49C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742694"/>
            <a:ext cx="2032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3200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华文行楷" pitchFamily="2" charset="-122"/>
              </a:rPr>
              <a:t>隔离性</a:t>
            </a:r>
            <a:r>
              <a:rPr kumimoji="1" lang="zh-CN" altLang="zh-CN" sz="3200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华文行楷" pitchFamily="2" charset="-122"/>
              </a:rPr>
              <a:t>级别</a:t>
            </a:r>
            <a:endParaRPr kumimoji="1" lang="en-US" altLang="zh-CN" sz="3200" i="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华文行楷" pitchFamily="2" charset="-122"/>
            </a:endParaRPr>
          </a:p>
        </p:txBody>
      </p:sp>
      <p:sp>
        <p:nvSpPr>
          <p:cNvPr id="637955" name="Rectangle 3">
            <a:extLst>
              <a:ext uri="{FF2B5EF4-FFF2-40B4-BE49-F238E27FC236}">
                <a16:creationId xmlns:a16="http://schemas.microsoft.com/office/drawing/2014/main" id="{652E6E1E-D79D-782D-10CB-54C8DA30B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511" y="1707769"/>
            <a:ext cx="2032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3200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华文行楷" pitchFamily="2" charset="-122"/>
              </a:rPr>
              <a:t>不一致现象</a:t>
            </a: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F9CB18CD-7481-3972-4FE7-B8BD61FEB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784" y="4467978"/>
            <a:ext cx="2506663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i="0" dirty="0">
                <a:latin typeface="Comic Sans MS" panose="030F0702030302020204" pitchFamily="66" charset="0"/>
              </a:rPr>
              <a:t>Read uncommitted</a:t>
            </a:r>
            <a:endParaRPr lang="en-US" altLang="zh-CN" sz="2400" i="0" dirty="0">
              <a:latin typeface="Comic Sans MS" panose="030F0702030302020204" pitchFamily="66" charset="0"/>
            </a:endParaRPr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27C9C627-6E8A-9D35-BD32-42061D8C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211" y="4461276"/>
            <a:ext cx="15240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读脏数据</a:t>
            </a:r>
            <a:endParaRPr lang="en-US" altLang="zh-CN" sz="24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不能重复读</a:t>
            </a:r>
            <a:endParaRPr lang="en-US" altLang="zh-CN" sz="24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幻象</a:t>
            </a:r>
            <a:endParaRPr lang="en-US" altLang="zh-CN" sz="24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760B6583-39ED-39BB-B45F-ED995D11B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31" y="3486932"/>
            <a:ext cx="2201863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i="0" dirty="0">
                <a:latin typeface="Comic Sans MS" panose="030F0702030302020204" pitchFamily="66" charset="0"/>
              </a:rPr>
              <a:t>Read committed</a:t>
            </a:r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0F64D510-45D4-21EC-6B4F-50452DF95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736" y="2911189"/>
            <a:ext cx="221773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i="0" dirty="0">
                <a:latin typeface="Comic Sans MS" panose="030F0702030302020204" pitchFamily="66" charset="0"/>
              </a:rPr>
              <a:t>Repeatable read</a:t>
            </a:r>
          </a:p>
        </p:txBody>
      </p:sp>
      <p:sp>
        <p:nvSpPr>
          <p:cNvPr id="46091" name="Line 10">
            <a:extLst>
              <a:ext uri="{FF2B5EF4-FFF2-40B4-BE49-F238E27FC236}">
                <a16:creationId xmlns:a16="http://schemas.microsoft.com/office/drawing/2014/main" id="{F677D912-84F4-2353-2337-37053CDA7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199" y="1766507"/>
            <a:ext cx="0" cy="3886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092" name="Group 11">
            <a:extLst>
              <a:ext uri="{FF2B5EF4-FFF2-40B4-BE49-F238E27FC236}">
                <a16:creationId xmlns:a16="http://schemas.microsoft.com/office/drawing/2014/main" id="{0FE3F1AF-202A-34FC-8F5B-5213AEE7B2F7}"/>
              </a:ext>
            </a:extLst>
          </p:cNvPr>
          <p:cNvGrpSpPr>
            <a:grpSpLocks/>
          </p:cNvGrpSpPr>
          <p:nvPr/>
        </p:nvGrpSpPr>
        <p:grpSpPr bwMode="auto">
          <a:xfrm>
            <a:off x="628824" y="2293557"/>
            <a:ext cx="8021140" cy="1987550"/>
            <a:chOff x="432" y="1388"/>
            <a:chExt cx="4677" cy="1252"/>
          </a:xfrm>
        </p:grpSpPr>
        <p:sp>
          <p:nvSpPr>
            <p:cNvPr id="46096" name="Line 12">
              <a:extLst>
                <a:ext uri="{FF2B5EF4-FFF2-40B4-BE49-F238E27FC236}">
                  <a16:creationId xmlns:a16="http://schemas.microsoft.com/office/drawing/2014/main" id="{37B59571-8856-4436-0FD7-9CE415ABB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388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7" name="Line 13">
              <a:extLst>
                <a:ext uri="{FF2B5EF4-FFF2-40B4-BE49-F238E27FC236}">
                  <a16:creationId xmlns:a16="http://schemas.microsoft.com/office/drawing/2014/main" id="{A188F949-1FE1-9F20-2300-50028C43C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" y="1713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8" name="Line 14">
              <a:extLst>
                <a:ext uri="{FF2B5EF4-FFF2-40B4-BE49-F238E27FC236}">
                  <a16:creationId xmlns:a16="http://schemas.microsoft.com/office/drawing/2014/main" id="{C013BD66-9E4D-A0F3-9059-716BA50CB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" y="2058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9" name="Line 15">
              <a:extLst>
                <a:ext uri="{FF2B5EF4-FFF2-40B4-BE49-F238E27FC236}">
                  <a16:creationId xmlns:a16="http://schemas.microsoft.com/office/drawing/2014/main" id="{0B5BAA63-559C-809C-B3B1-A0F23588C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" y="2640"/>
              <a:ext cx="465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093" name="Rectangle 16">
            <a:extLst>
              <a:ext uri="{FF2B5EF4-FFF2-40B4-BE49-F238E27FC236}">
                <a16:creationId xmlns:a16="http://schemas.microsoft.com/office/drawing/2014/main" id="{92013077-E00E-5791-20BC-064654FED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事务隔离性级别</a:t>
            </a:r>
            <a:endParaRPr lang="en-US" altLang="zh-CN" b="1"/>
          </a:p>
        </p:txBody>
      </p:sp>
      <p:sp>
        <p:nvSpPr>
          <p:cNvPr id="46094" name="Rectangle 17">
            <a:extLst>
              <a:ext uri="{FF2B5EF4-FFF2-40B4-BE49-F238E27FC236}">
                <a16:creationId xmlns:a16="http://schemas.microsoft.com/office/drawing/2014/main" id="{A908F821-8D17-8810-6CF2-D9D54F150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511" y="3504338"/>
            <a:ext cx="1524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不能重复读</a:t>
            </a:r>
            <a:endParaRPr lang="en-US" altLang="zh-CN" sz="24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幻象</a:t>
            </a:r>
            <a:endParaRPr lang="en-US" altLang="zh-CN" sz="24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95" name="Rectangle 18">
            <a:extLst>
              <a:ext uri="{FF2B5EF4-FFF2-40B4-BE49-F238E27FC236}">
                <a16:creationId xmlns:a16="http://schemas.microsoft.com/office/drawing/2014/main" id="{D3D223FB-2988-99A4-4981-D8E1D63D3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511" y="2896901"/>
            <a:ext cx="609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>
                <a:latin typeface="华文新魏" panose="02010800040101010101" pitchFamily="2" charset="-122"/>
                <a:ea typeface="华文新魏" panose="02010800040101010101" pitchFamily="2" charset="-122"/>
              </a:rPr>
              <a:t>幻象</a:t>
            </a:r>
            <a:endParaRPr lang="en-US" altLang="zh-CN" sz="2400" i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34DF74C-BDAB-EA19-AB6E-A65D8C6A6FF2}"/>
              </a:ext>
            </a:extLst>
          </p:cNvPr>
          <p:cNvCxnSpPr/>
          <p:nvPr/>
        </p:nvCxnSpPr>
        <p:spPr bwMode="auto">
          <a:xfrm flipH="1">
            <a:off x="251520" y="2132856"/>
            <a:ext cx="144016" cy="2846751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8">
            <a:extLst>
              <a:ext uri="{FF2B5EF4-FFF2-40B4-BE49-F238E27FC236}">
                <a16:creationId xmlns:a16="http://schemas.microsoft.com/office/drawing/2014/main" id="{29A21199-8EC9-4CD5-1781-EA93F5500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450" y="2409982"/>
            <a:ext cx="16160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i="0" dirty="0">
                <a:latin typeface="Comic Sans MS" panose="030F0702030302020204" pitchFamily="66" charset="0"/>
              </a:rPr>
              <a:t>Serializable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287840D-46B2-705B-0F1F-6E32FD44E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774" y="2392519"/>
            <a:ext cx="655629" cy="31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zh-CN" altLang="en-US" sz="23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</a:t>
            </a:r>
            <a:r>
              <a:rPr lang="en-US" altLang="zh-CN" sz="2300" i="0" dirty="0">
                <a:latin typeface="Comic Sans MS" pitchFamily="66" charset="0"/>
              </a:rPr>
              <a:t>--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C9D3F-D218-4F7E-9E08-183552A3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435A-62D7-47AE-B530-586BA313DCF0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C68872-31C7-4A36-985F-F51E5386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C0E436-85A0-4603-B168-CB7EA695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0C0-A7A1-47FC-A065-154498F4EC9F}" type="slidenum">
              <a:rPr lang="en-US" altLang="zh-CN" smtClean="0"/>
              <a:pPr/>
              <a:t>47</a:t>
            </a:fld>
            <a:r>
              <a:rPr lang="en-US" altLang="zh-CN"/>
              <a:t>/ 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00945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2">
            <a:extLst>
              <a:ext uri="{FF2B5EF4-FFF2-40B4-BE49-F238E27FC236}">
                <a16:creationId xmlns:a16="http://schemas.microsoft.com/office/drawing/2014/main" id="{9034F1D1-8BFB-9036-7AF7-7748246AA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03" y="3594378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2000" b="1" i="0" baseline="-25000">
                <a:solidFill>
                  <a:srgbClr val="0000FF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41988" name="Text Box 3">
            <a:extLst>
              <a:ext uri="{FF2B5EF4-FFF2-40B4-BE49-F238E27FC236}">
                <a16:creationId xmlns:a16="http://schemas.microsoft.com/office/drawing/2014/main" id="{A252F7DF-E10A-FF1C-67CF-689457D05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66" y="1613178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2000" b="1" i="0" baseline="-25000">
                <a:solidFill>
                  <a:srgbClr val="0000FF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41989" name="Line 4">
            <a:extLst>
              <a:ext uri="{FF2B5EF4-FFF2-40B4-BE49-F238E27FC236}">
                <a16:creationId xmlns:a16="http://schemas.microsoft.com/office/drawing/2014/main" id="{6AA7D333-BA45-483C-9F68-DF699F968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895600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0" name="Text Box 5">
            <a:extLst>
              <a:ext uri="{FF2B5EF4-FFF2-40B4-BE49-F238E27FC236}">
                <a16:creationId xmlns:a16="http://schemas.microsoft.com/office/drawing/2014/main" id="{55ADB55B-A0F1-21AE-FB01-60E933C8A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2890838"/>
            <a:ext cx="588963" cy="28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0">
                <a:solidFill>
                  <a:schemeClr val="tx2"/>
                </a:solidFill>
                <a:latin typeface="Comic Sans MS" panose="030F0702030302020204" pitchFamily="66" charset="0"/>
              </a:rPr>
              <a:t>Time</a:t>
            </a:r>
            <a:endParaRPr lang="en-US" altLang="zh-CN" sz="1400" i="0">
              <a:latin typeface="Comic Sans MS" panose="030F0702030302020204" pitchFamily="66" charset="0"/>
            </a:endParaRPr>
          </a:p>
        </p:txBody>
      </p:sp>
      <p:sp>
        <p:nvSpPr>
          <p:cNvPr id="633862" name="AutoShape 6">
            <a:extLst>
              <a:ext uri="{FF2B5EF4-FFF2-40B4-BE49-F238E27FC236}">
                <a16:creationId xmlns:a16="http://schemas.microsoft.com/office/drawing/2014/main" id="{ACD51C53-9F70-3728-BF7B-19B69DBC7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590800"/>
            <a:ext cx="7620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r>
              <a:rPr lang="en-US" altLang="zh-CN" sz="2000" b="1" i="0">
                <a:latin typeface="Comic Sans MS" pitchFamily="66" charset="0"/>
              </a:rPr>
              <a:t>X=10</a:t>
            </a:r>
          </a:p>
        </p:txBody>
      </p:sp>
      <p:grpSp>
        <p:nvGrpSpPr>
          <p:cNvPr id="633863" name="Group 7">
            <a:extLst>
              <a:ext uri="{FF2B5EF4-FFF2-40B4-BE49-F238E27FC236}">
                <a16:creationId xmlns:a16="http://schemas.microsoft.com/office/drawing/2014/main" id="{B8AB2653-6297-2192-40EA-EDA60710AA2D}"/>
              </a:ext>
            </a:extLst>
          </p:cNvPr>
          <p:cNvGrpSpPr>
            <a:grpSpLocks/>
          </p:cNvGrpSpPr>
          <p:nvPr/>
        </p:nvGrpSpPr>
        <p:grpSpPr bwMode="auto">
          <a:xfrm>
            <a:off x="5141913" y="2968625"/>
            <a:ext cx="1100137" cy="1128713"/>
            <a:chOff x="2978" y="1584"/>
            <a:chExt cx="693" cy="711"/>
          </a:xfrm>
        </p:grpSpPr>
        <p:sp>
          <p:nvSpPr>
            <p:cNvPr id="42012" name="Text Box 8">
              <a:extLst>
                <a:ext uri="{FF2B5EF4-FFF2-40B4-BE49-F238E27FC236}">
                  <a16:creationId xmlns:a16="http://schemas.microsoft.com/office/drawing/2014/main" id="{4403DB6A-7DE1-44A6-A33D-D5919654A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8" y="1891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(25)</a:t>
              </a:r>
            </a:p>
          </p:txBody>
        </p:sp>
        <p:sp>
          <p:nvSpPr>
            <p:cNvPr id="42013" name="Line 9">
              <a:extLst>
                <a:ext uri="{FF2B5EF4-FFF2-40B4-BE49-F238E27FC236}">
                  <a16:creationId xmlns:a16="http://schemas.microsoft.com/office/drawing/2014/main" id="{61B5926A-6B59-4A2F-2DC1-20119802B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584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3866" name="Group 10">
            <a:extLst>
              <a:ext uri="{FF2B5EF4-FFF2-40B4-BE49-F238E27FC236}">
                <a16:creationId xmlns:a16="http://schemas.microsoft.com/office/drawing/2014/main" id="{650E83BB-1297-ECE7-C142-7318EEB13066}"/>
              </a:ext>
            </a:extLst>
          </p:cNvPr>
          <p:cNvGrpSpPr>
            <a:grpSpLocks/>
          </p:cNvGrpSpPr>
          <p:nvPr/>
        </p:nvGrpSpPr>
        <p:grpSpPr bwMode="auto">
          <a:xfrm>
            <a:off x="2017713" y="1550988"/>
            <a:ext cx="1100137" cy="1112837"/>
            <a:chOff x="1010" y="691"/>
            <a:chExt cx="693" cy="701"/>
          </a:xfrm>
        </p:grpSpPr>
        <p:sp>
          <p:nvSpPr>
            <p:cNvPr id="42010" name="Text Box 11">
              <a:extLst>
                <a:ext uri="{FF2B5EF4-FFF2-40B4-BE49-F238E27FC236}">
                  <a16:creationId xmlns:a16="http://schemas.microsoft.com/office/drawing/2014/main" id="{594733AA-C77B-71A2-B6C5-48866E87B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691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42011" name="Line 12">
              <a:extLst>
                <a:ext uri="{FF2B5EF4-FFF2-40B4-BE49-F238E27FC236}">
                  <a16:creationId xmlns:a16="http://schemas.microsoft.com/office/drawing/2014/main" id="{8FD63B14-DA8F-A3ED-EDD3-A7E38C52D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104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3869" name="Group 13">
            <a:extLst>
              <a:ext uri="{FF2B5EF4-FFF2-40B4-BE49-F238E27FC236}">
                <a16:creationId xmlns:a16="http://schemas.microsoft.com/office/drawing/2014/main" id="{2B41A91B-792D-84B7-373C-C6DA0F607CBD}"/>
              </a:ext>
            </a:extLst>
          </p:cNvPr>
          <p:cNvGrpSpPr>
            <a:grpSpLocks/>
          </p:cNvGrpSpPr>
          <p:nvPr/>
        </p:nvGrpSpPr>
        <p:grpSpPr bwMode="auto">
          <a:xfrm>
            <a:off x="3543300" y="1412875"/>
            <a:ext cx="1193800" cy="1403350"/>
            <a:chOff x="1971" y="1132"/>
            <a:chExt cx="752" cy="884"/>
          </a:xfrm>
        </p:grpSpPr>
        <p:sp>
          <p:nvSpPr>
            <p:cNvPr id="42008" name="Text Box 14">
              <a:extLst>
                <a:ext uri="{FF2B5EF4-FFF2-40B4-BE49-F238E27FC236}">
                  <a16:creationId xmlns:a16="http://schemas.microsoft.com/office/drawing/2014/main" id="{733110B6-C310-7F61-88BD-9485E6AAB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1" y="1132"/>
              <a:ext cx="752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Compute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X+=15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(25)</a:t>
              </a:r>
            </a:p>
          </p:txBody>
        </p:sp>
        <p:sp>
          <p:nvSpPr>
            <p:cNvPr id="42009" name="Line 15">
              <a:extLst>
                <a:ext uri="{FF2B5EF4-FFF2-40B4-BE49-F238E27FC236}">
                  <a16:creationId xmlns:a16="http://schemas.microsoft.com/office/drawing/2014/main" id="{F3B4025B-B919-638C-B039-20CAA10B6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777"/>
              <a:ext cx="0" cy="239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3872" name="Group 16">
            <a:extLst>
              <a:ext uri="{FF2B5EF4-FFF2-40B4-BE49-F238E27FC236}">
                <a16:creationId xmlns:a16="http://schemas.microsoft.com/office/drawing/2014/main" id="{10E784F3-9223-820E-B4E6-3C38C2D5C500}"/>
              </a:ext>
            </a:extLst>
          </p:cNvPr>
          <p:cNvGrpSpPr>
            <a:grpSpLocks/>
          </p:cNvGrpSpPr>
          <p:nvPr/>
        </p:nvGrpSpPr>
        <p:grpSpPr bwMode="auto">
          <a:xfrm>
            <a:off x="4479925" y="1992313"/>
            <a:ext cx="1160463" cy="1204912"/>
            <a:chOff x="2561" y="1497"/>
            <a:chExt cx="731" cy="759"/>
          </a:xfrm>
        </p:grpSpPr>
        <p:sp>
          <p:nvSpPr>
            <p:cNvPr id="633873" name="AutoShape 17">
              <a:extLst>
                <a:ext uri="{FF2B5EF4-FFF2-40B4-BE49-F238E27FC236}">
                  <a16:creationId xmlns:a16="http://schemas.microsoft.com/office/drawing/2014/main" id="{3228F1D5-33E8-F768-88DA-27E6060D7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872"/>
              <a:ext cx="480" cy="38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latin typeface="Comic Sans MS" pitchFamily="66" charset="0"/>
                </a:rPr>
                <a:t>X=25</a:t>
              </a:r>
            </a:p>
          </p:txBody>
        </p:sp>
        <p:sp>
          <p:nvSpPr>
            <p:cNvPr id="42006" name="Text Box 18">
              <a:extLst>
                <a:ext uri="{FF2B5EF4-FFF2-40B4-BE49-F238E27FC236}">
                  <a16:creationId xmlns:a16="http://schemas.microsoft.com/office/drawing/2014/main" id="{F5CF4DBA-9FBE-92E7-7DCE-74FDE40D0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1" y="1497"/>
              <a:ext cx="73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Write X</a:t>
              </a:r>
            </a:p>
          </p:txBody>
        </p:sp>
        <p:sp>
          <p:nvSpPr>
            <p:cNvPr id="42007" name="Line 19">
              <a:extLst>
                <a:ext uri="{FF2B5EF4-FFF2-40B4-BE49-F238E27FC236}">
                  <a16:creationId xmlns:a16="http://schemas.microsoft.com/office/drawing/2014/main" id="{5EA18E25-6125-88A8-E86F-902FA04FA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728"/>
              <a:ext cx="0" cy="9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3876" name="Group 20">
            <a:extLst>
              <a:ext uri="{FF2B5EF4-FFF2-40B4-BE49-F238E27FC236}">
                <a16:creationId xmlns:a16="http://schemas.microsoft.com/office/drawing/2014/main" id="{9635CBEB-8160-4449-E308-CE2EE12BB6D9}"/>
              </a:ext>
            </a:extLst>
          </p:cNvPr>
          <p:cNvGrpSpPr>
            <a:grpSpLocks/>
          </p:cNvGrpSpPr>
          <p:nvPr/>
        </p:nvGrpSpPr>
        <p:grpSpPr bwMode="auto">
          <a:xfrm>
            <a:off x="5719763" y="1535113"/>
            <a:ext cx="1165225" cy="1662112"/>
            <a:chOff x="3342" y="1209"/>
            <a:chExt cx="734" cy="1047"/>
          </a:xfrm>
        </p:grpSpPr>
        <p:sp>
          <p:nvSpPr>
            <p:cNvPr id="633877" name="AutoShape 21">
              <a:extLst>
                <a:ext uri="{FF2B5EF4-FFF2-40B4-BE49-F238E27FC236}">
                  <a16:creationId xmlns:a16="http://schemas.microsoft.com/office/drawing/2014/main" id="{87F9B821-B8E5-E2C3-CACF-D7FB213B9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872"/>
              <a:ext cx="480" cy="38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latin typeface="Comic Sans MS" pitchFamily="66" charset="0"/>
                </a:rPr>
                <a:t>X=10</a:t>
              </a:r>
            </a:p>
          </p:txBody>
        </p:sp>
        <p:sp>
          <p:nvSpPr>
            <p:cNvPr id="42003" name="Text Box 22">
              <a:extLst>
                <a:ext uri="{FF2B5EF4-FFF2-40B4-BE49-F238E27FC236}">
                  <a16:creationId xmlns:a16="http://schemas.microsoft.com/office/drawing/2014/main" id="{E4F0625C-4194-528F-22BA-4C645C038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1209"/>
              <a:ext cx="7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 dirty="0">
                  <a:solidFill>
                    <a:srgbClr val="0000FF"/>
                  </a:solidFill>
                  <a:latin typeface="Comic Sans MS" panose="030F0702030302020204" pitchFamily="66" charset="0"/>
                </a:rPr>
                <a:t>Rollback</a:t>
              </a:r>
            </a:p>
          </p:txBody>
        </p:sp>
        <p:sp>
          <p:nvSpPr>
            <p:cNvPr id="42004" name="Line 23">
              <a:extLst>
                <a:ext uri="{FF2B5EF4-FFF2-40B4-BE49-F238E27FC236}">
                  <a16:creationId xmlns:a16="http://schemas.microsoft.com/office/drawing/2014/main" id="{AF3364FA-E13F-C798-BE91-D37A94B7A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440"/>
              <a:ext cx="0" cy="38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3880" name="Group 24">
            <a:extLst>
              <a:ext uri="{FF2B5EF4-FFF2-40B4-BE49-F238E27FC236}">
                <a16:creationId xmlns:a16="http://schemas.microsoft.com/office/drawing/2014/main" id="{911614F0-22A5-694E-05FB-F5F4658FBC42}"/>
              </a:ext>
            </a:extLst>
          </p:cNvPr>
          <p:cNvGrpSpPr>
            <a:grpSpLocks/>
          </p:cNvGrpSpPr>
          <p:nvPr/>
        </p:nvGrpSpPr>
        <p:grpSpPr bwMode="auto">
          <a:xfrm>
            <a:off x="6519863" y="2968625"/>
            <a:ext cx="1979612" cy="1208088"/>
            <a:chOff x="3846" y="1584"/>
            <a:chExt cx="1247" cy="761"/>
          </a:xfrm>
        </p:grpSpPr>
        <p:sp>
          <p:nvSpPr>
            <p:cNvPr id="42000" name="Text Box 25">
              <a:extLst>
                <a:ext uri="{FF2B5EF4-FFF2-40B4-BE49-F238E27FC236}">
                  <a16:creationId xmlns:a16="http://schemas.microsoft.com/office/drawing/2014/main" id="{B2C4A603-DCE1-ACEC-5529-97A4436F9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" y="1937"/>
              <a:ext cx="1247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i="0" dirty="0">
                  <a:latin typeface="Comic Sans MS" panose="030F0702030302020204" pitchFamily="66" charset="0"/>
                  <a:ea typeface="华文新魏" panose="02010800040101010101" pitchFamily="2" charset="-122"/>
                </a:rPr>
                <a:t>使用了</a:t>
              </a:r>
              <a:r>
                <a:rPr lang="zh-CN" altLang="en-US" sz="2000" i="0" dirty="0">
                  <a:solidFill>
                    <a:srgbClr val="0000FF"/>
                  </a:solidFill>
                  <a:latin typeface="Comic Sans MS" panose="030F0702030302020204" pitchFamily="66" charset="0"/>
                  <a:ea typeface="华文新魏" panose="02010800040101010101" pitchFamily="2" charset="-122"/>
                </a:rPr>
                <a:t>未提交到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i="0" dirty="0">
                  <a:latin typeface="Comic Sans MS" panose="030F0702030302020204" pitchFamily="66" charset="0"/>
                  <a:ea typeface="华文新魏" panose="02010800040101010101" pitchFamily="2" charset="-122"/>
                </a:rPr>
                <a:t>数据库中的数据</a:t>
              </a:r>
              <a:endParaRPr lang="en-US" altLang="zh-CN" sz="2000" i="0" dirty="0">
                <a:latin typeface="Comic Sans MS" panose="030F0702030302020204" pitchFamily="66" charset="0"/>
                <a:ea typeface="华文新魏" panose="02010800040101010101" pitchFamily="2" charset="-122"/>
              </a:endParaRPr>
            </a:p>
          </p:txBody>
        </p:sp>
        <p:sp>
          <p:nvSpPr>
            <p:cNvPr id="42001" name="Line 26">
              <a:extLst>
                <a:ext uri="{FF2B5EF4-FFF2-40B4-BE49-F238E27FC236}">
                  <a16:creationId xmlns:a16="http://schemas.microsoft.com/office/drawing/2014/main" id="{FC9F55BE-E0C3-A1E7-A7B7-6B3BB9DAD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584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998" name="Rectangle 27">
            <a:extLst>
              <a:ext uri="{FF2B5EF4-FFF2-40B4-BE49-F238E27FC236}">
                <a16:creationId xmlns:a16="http://schemas.microsoft.com/office/drawing/2014/main" id="{93BBB0FC-BA33-D3F0-89ED-30610E6B2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事务隔离性级别：</a:t>
            </a:r>
            <a:r>
              <a:rPr lang="zh-CN" altLang="en-US" b="1" dirty="0">
                <a:solidFill>
                  <a:srgbClr val="0000FF"/>
                </a:solidFill>
              </a:rPr>
              <a:t>读脏数据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633884" name="Rectangle 28">
            <a:extLst>
              <a:ext uri="{FF2B5EF4-FFF2-40B4-BE49-F238E27FC236}">
                <a16:creationId xmlns:a16="http://schemas.microsoft.com/office/drawing/2014/main" id="{4D801603-A925-25A5-ED86-72EDEF66E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70947"/>
            <a:ext cx="8064500" cy="1699678"/>
          </a:xfrm>
          <a:prstGeom prst="rect">
            <a:avLst/>
          </a:prstGeom>
          <a:solidFill>
            <a:srgbClr val="00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108000" bIns="72000" anchor="ctr"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事务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i="0" baseline="-25000" dirty="0">
                <a:latin typeface="Comic Sans MS" panose="030F0702030302020204" pitchFamily="66" charset="0"/>
              </a:rPr>
              <a:t>1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修改某一数据，并将其写回磁盘，事务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i="0" baseline="-25000" dirty="0">
                <a:latin typeface="Comic Sans MS" panose="030F0702030302020204" pitchFamily="66" charset="0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读取同一数据后，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i="0" baseline="-25000" dirty="0">
                <a:latin typeface="Comic Sans MS" panose="030F0702030302020204" pitchFamily="66" charset="0"/>
              </a:rPr>
              <a:t>1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由于某种原因被撤消，这时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i="0" baseline="-25000" dirty="0">
                <a:latin typeface="Comic Sans MS" panose="030F0702030302020204" pitchFamily="66" charset="0"/>
              </a:rPr>
              <a:t>1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已修改过的数据恢复原值，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i="0" baseline="-25000" dirty="0">
                <a:latin typeface="Comic Sans MS" panose="030F0702030302020204" pitchFamily="66" charset="0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读到的数据与数据库中数据不一致，则</a:t>
            </a:r>
            <a:r>
              <a:rPr kumimoji="1" lang="en-US" altLang="zh-CN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i="0" baseline="-25000" dirty="0">
                <a:solidFill>
                  <a:srgbClr val="0000FF"/>
                </a:solidFill>
                <a:latin typeface="Comic Sans MS" panose="030F0702030302020204" pitchFamily="66" charset="0"/>
              </a:rPr>
              <a:t>2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读到的数据就是</a:t>
            </a:r>
            <a:r>
              <a:rPr kumimoji="1" lang="zh-CN" altLang="en-US" sz="2800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脏数据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5B830E-D274-4891-9877-5EF19AB0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E908-EDDE-438F-B216-48A9813E49CF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6932F1-59B5-4F92-AC9E-7C6BA116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71BCD8-6CC7-4FDD-AE03-5526F292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0C0-A7A1-47FC-A065-154498F4EC9F}" type="slidenum">
              <a:rPr lang="en-US" altLang="zh-CN" smtClean="0"/>
              <a:pPr/>
              <a:t>48</a:t>
            </a:fld>
            <a:r>
              <a:rPr lang="en-US" altLang="zh-CN"/>
              <a:t>/ 53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8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2">
            <a:extLst>
              <a:ext uri="{FF2B5EF4-FFF2-40B4-BE49-F238E27FC236}">
                <a16:creationId xmlns:a16="http://schemas.microsoft.com/office/drawing/2014/main" id="{E8754733-E6BD-CC57-E1A3-4EC617041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621" y="3797578"/>
            <a:ext cx="4475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 dirty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1800" b="1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43012" name="Text Box 3">
            <a:extLst>
              <a:ext uri="{FF2B5EF4-FFF2-40B4-BE49-F238E27FC236}">
                <a16:creationId xmlns:a16="http://schemas.microsoft.com/office/drawing/2014/main" id="{FDA6D2EB-ADC8-DA9F-A0C1-F00995111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083" y="1816378"/>
            <a:ext cx="4475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1800" b="1" i="0" baseline="-25000">
                <a:solidFill>
                  <a:srgbClr val="0000FF"/>
                </a:solidFill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43013" name="Line 4">
            <a:extLst>
              <a:ext uri="{FF2B5EF4-FFF2-40B4-BE49-F238E27FC236}">
                <a16:creationId xmlns:a16="http://schemas.microsoft.com/office/drawing/2014/main" id="{23291B91-185D-2B55-B69D-5C53CD2B4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098800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4" name="Text Box 5">
            <a:extLst>
              <a:ext uri="{FF2B5EF4-FFF2-40B4-BE49-F238E27FC236}">
                <a16:creationId xmlns:a16="http://schemas.microsoft.com/office/drawing/2014/main" id="{74ACE4EA-1550-2CAE-4FF6-D9BA37B47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3094038"/>
            <a:ext cx="588963" cy="28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0">
                <a:solidFill>
                  <a:schemeClr val="tx2"/>
                </a:solidFill>
                <a:latin typeface="Comic Sans MS" panose="030F0702030302020204" pitchFamily="66" charset="0"/>
              </a:rPr>
              <a:t>Time</a:t>
            </a:r>
            <a:endParaRPr lang="en-US" altLang="zh-CN" sz="1400" i="0">
              <a:latin typeface="Comic Sans MS" panose="030F0702030302020204" pitchFamily="66" charset="0"/>
            </a:endParaRPr>
          </a:p>
        </p:txBody>
      </p:sp>
      <p:grpSp>
        <p:nvGrpSpPr>
          <p:cNvPr id="634886" name="Group 6">
            <a:extLst>
              <a:ext uri="{FF2B5EF4-FFF2-40B4-BE49-F238E27FC236}">
                <a16:creationId xmlns:a16="http://schemas.microsoft.com/office/drawing/2014/main" id="{6A1C02C3-37FC-38AF-C1B2-BC56814EAA7C}"/>
              </a:ext>
            </a:extLst>
          </p:cNvPr>
          <p:cNvGrpSpPr>
            <a:grpSpLocks/>
          </p:cNvGrpSpPr>
          <p:nvPr/>
        </p:nvGrpSpPr>
        <p:grpSpPr bwMode="auto">
          <a:xfrm>
            <a:off x="2087563" y="3163888"/>
            <a:ext cx="1100137" cy="1128712"/>
            <a:chOff x="1059" y="1824"/>
            <a:chExt cx="693" cy="711"/>
          </a:xfrm>
        </p:grpSpPr>
        <p:sp>
          <p:nvSpPr>
            <p:cNvPr id="43035" name="Text Box 7">
              <a:extLst>
                <a:ext uri="{FF2B5EF4-FFF2-40B4-BE49-F238E27FC236}">
                  <a16:creationId xmlns:a16="http://schemas.microsoft.com/office/drawing/2014/main" id="{9E4E5884-3B19-4DD1-D67B-987539121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9" y="2131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43036" name="Line 8">
              <a:extLst>
                <a:ext uri="{FF2B5EF4-FFF2-40B4-BE49-F238E27FC236}">
                  <a16:creationId xmlns:a16="http://schemas.microsoft.com/office/drawing/2014/main" id="{42191D2D-E246-EC51-5504-4A6F1E8A4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824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4889" name="Group 9">
            <a:extLst>
              <a:ext uri="{FF2B5EF4-FFF2-40B4-BE49-F238E27FC236}">
                <a16:creationId xmlns:a16="http://schemas.microsoft.com/office/drawing/2014/main" id="{E5230871-F10D-0F6D-FD02-1110CCC780CE}"/>
              </a:ext>
            </a:extLst>
          </p:cNvPr>
          <p:cNvGrpSpPr>
            <a:grpSpLocks/>
          </p:cNvGrpSpPr>
          <p:nvPr/>
        </p:nvGrpSpPr>
        <p:grpSpPr bwMode="auto">
          <a:xfrm>
            <a:off x="2011363" y="1746250"/>
            <a:ext cx="1100137" cy="1112838"/>
            <a:chOff x="1011" y="931"/>
            <a:chExt cx="693" cy="701"/>
          </a:xfrm>
        </p:grpSpPr>
        <p:sp>
          <p:nvSpPr>
            <p:cNvPr id="43033" name="Text Box 10">
              <a:extLst>
                <a:ext uri="{FF2B5EF4-FFF2-40B4-BE49-F238E27FC236}">
                  <a16:creationId xmlns:a16="http://schemas.microsoft.com/office/drawing/2014/main" id="{F149E2AC-5BC9-CC06-39F9-115FEB011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" y="931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43034" name="Line 11">
              <a:extLst>
                <a:ext uri="{FF2B5EF4-FFF2-40B4-BE49-F238E27FC236}">
                  <a16:creationId xmlns:a16="http://schemas.microsoft.com/office/drawing/2014/main" id="{3E04088E-9A85-D122-F7C4-99F03296D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344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4892" name="Group 12">
            <a:extLst>
              <a:ext uri="{FF2B5EF4-FFF2-40B4-BE49-F238E27FC236}">
                <a16:creationId xmlns:a16="http://schemas.microsoft.com/office/drawing/2014/main" id="{D9D9A3AE-9DBB-DF5E-3048-D64004DC18A1}"/>
              </a:ext>
            </a:extLst>
          </p:cNvPr>
          <p:cNvGrpSpPr>
            <a:grpSpLocks/>
          </p:cNvGrpSpPr>
          <p:nvPr/>
        </p:nvGrpSpPr>
        <p:grpSpPr bwMode="auto">
          <a:xfrm>
            <a:off x="3144838" y="1746250"/>
            <a:ext cx="1976437" cy="1265238"/>
            <a:chOff x="1725" y="931"/>
            <a:chExt cx="1245" cy="797"/>
          </a:xfrm>
        </p:grpSpPr>
        <p:sp>
          <p:nvSpPr>
            <p:cNvPr id="43031" name="Text Box 13">
              <a:extLst>
                <a:ext uri="{FF2B5EF4-FFF2-40B4-BE49-F238E27FC236}">
                  <a16:creationId xmlns:a16="http://schemas.microsoft.com/office/drawing/2014/main" id="{321F1547-73B0-DC70-7229-ADB4A7C59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931"/>
              <a:ext cx="124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Compute X+=15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(25)</a:t>
              </a:r>
            </a:p>
          </p:txBody>
        </p:sp>
        <p:sp>
          <p:nvSpPr>
            <p:cNvPr id="43032" name="Line 14">
              <a:extLst>
                <a:ext uri="{FF2B5EF4-FFF2-40B4-BE49-F238E27FC236}">
                  <a16:creationId xmlns:a16="http://schemas.microsoft.com/office/drawing/2014/main" id="{81D71E7D-7AD2-2104-AB58-B0FEF68E2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344"/>
              <a:ext cx="0" cy="38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4895" name="Group 15">
            <a:extLst>
              <a:ext uri="{FF2B5EF4-FFF2-40B4-BE49-F238E27FC236}">
                <a16:creationId xmlns:a16="http://schemas.microsoft.com/office/drawing/2014/main" id="{BCC0CA07-75ED-B350-3734-287E376140B6}"/>
              </a:ext>
            </a:extLst>
          </p:cNvPr>
          <p:cNvGrpSpPr>
            <a:grpSpLocks/>
          </p:cNvGrpSpPr>
          <p:nvPr/>
        </p:nvGrpSpPr>
        <p:grpSpPr bwMode="auto">
          <a:xfrm>
            <a:off x="4319588" y="2187575"/>
            <a:ext cx="1160462" cy="1204913"/>
            <a:chOff x="2465" y="1209"/>
            <a:chExt cx="731" cy="759"/>
          </a:xfrm>
        </p:grpSpPr>
        <p:sp>
          <p:nvSpPr>
            <p:cNvPr id="634896" name="AutoShape 16">
              <a:extLst>
                <a:ext uri="{FF2B5EF4-FFF2-40B4-BE49-F238E27FC236}">
                  <a16:creationId xmlns:a16="http://schemas.microsoft.com/office/drawing/2014/main" id="{777D4A1E-35A3-E100-D3F7-F255CF9AE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584"/>
              <a:ext cx="480" cy="38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latin typeface="Comic Sans MS" pitchFamily="66" charset="0"/>
                </a:rPr>
                <a:t>X=25</a:t>
              </a:r>
            </a:p>
          </p:txBody>
        </p:sp>
        <p:sp>
          <p:nvSpPr>
            <p:cNvPr id="43029" name="Text Box 17">
              <a:extLst>
                <a:ext uri="{FF2B5EF4-FFF2-40B4-BE49-F238E27FC236}">
                  <a16:creationId xmlns:a16="http://schemas.microsoft.com/office/drawing/2014/main" id="{A0D3CF22-9FA5-6FAD-7EE1-0F52B01E1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5" y="1209"/>
              <a:ext cx="73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Write X</a:t>
              </a:r>
            </a:p>
          </p:txBody>
        </p:sp>
        <p:sp>
          <p:nvSpPr>
            <p:cNvPr id="43030" name="Line 18">
              <a:extLst>
                <a:ext uri="{FF2B5EF4-FFF2-40B4-BE49-F238E27FC236}">
                  <a16:creationId xmlns:a16="http://schemas.microsoft.com/office/drawing/2014/main" id="{C5E417CE-5D27-6056-8C71-AD17260F9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440"/>
              <a:ext cx="0" cy="9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4899" name="Group 19">
            <a:extLst>
              <a:ext uri="{FF2B5EF4-FFF2-40B4-BE49-F238E27FC236}">
                <a16:creationId xmlns:a16="http://schemas.microsoft.com/office/drawing/2014/main" id="{D27230A5-73FC-B0CB-DFDB-086BF2E31641}"/>
              </a:ext>
            </a:extLst>
          </p:cNvPr>
          <p:cNvGrpSpPr>
            <a:grpSpLocks/>
          </p:cNvGrpSpPr>
          <p:nvPr/>
        </p:nvGrpSpPr>
        <p:grpSpPr bwMode="auto">
          <a:xfrm>
            <a:off x="5399088" y="1730375"/>
            <a:ext cx="1054100" cy="1281113"/>
            <a:chOff x="3145" y="921"/>
            <a:chExt cx="664" cy="807"/>
          </a:xfrm>
        </p:grpSpPr>
        <p:sp>
          <p:nvSpPr>
            <p:cNvPr id="43026" name="Text Box 20">
              <a:extLst>
                <a:ext uri="{FF2B5EF4-FFF2-40B4-BE49-F238E27FC236}">
                  <a16:creationId xmlns:a16="http://schemas.microsoft.com/office/drawing/2014/main" id="{F314DF63-B1D2-9170-2EF4-DCE469442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" y="921"/>
              <a:ext cx="6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Commit</a:t>
              </a:r>
            </a:p>
          </p:txBody>
        </p:sp>
        <p:sp>
          <p:nvSpPr>
            <p:cNvPr id="43027" name="Line 21">
              <a:extLst>
                <a:ext uri="{FF2B5EF4-FFF2-40B4-BE49-F238E27FC236}">
                  <a16:creationId xmlns:a16="http://schemas.microsoft.com/office/drawing/2014/main" id="{F4B18444-E677-6077-1178-1EAD02C52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152"/>
              <a:ext cx="0" cy="57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4902" name="Group 22">
            <a:extLst>
              <a:ext uri="{FF2B5EF4-FFF2-40B4-BE49-F238E27FC236}">
                <a16:creationId xmlns:a16="http://schemas.microsoft.com/office/drawing/2014/main" id="{7A30214B-501C-1E80-CF91-D17FB2416EAD}"/>
              </a:ext>
            </a:extLst>
          </p:cNvPr>
          <p:cNvGrpSpPr>
            <a:grpSpLocks/>
          </p:cNvGrpSpPr>
          <p:nvPr/>
        </p:nvGrpSpPr>
        <p:grpSpPr bwMode="auto">
          <a:xfrm>
            <a:off x="6202363" y="3163888"/>
            <a:ext cx="1100137" cy="1128712"/>
            <a:chOff x="3651" y="1824"/>
            <a:chExt cx="693" cy="711"/>
          </a:xfrm>
        </p:grpSpPr>
        <p:sp>
          <p:nvSpPr>
            <p:cNvPr id="43024" name="Text Box 23">
              <a:extLst>
                <a:ext uri="{FF2B5EF4-FFF2-40B4-BE49-F238E27FC236}">
                  <a16:creationId xmlns:a16="http://schemas.microsoft.com/office/drawing/2014/main" id="{59098A2F-3F7D-4348-A5CB-050AB50EA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2131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</a:t>
              </a:r>
              <a:r>
                <a:rPr lang="en-US" altLang="zh-CN" sz="2000" i="0">
                  <a:solidFill>
                    <a:schemeClr val="folHlink"/>
                  </a:solidFill>
                  <a:latin typeface="Comic Sans MS" panose="030F0702030302020204" pitchFamily="66" charset="0"/>
                </a:rPr>
                <a:t>25</a:t>
              </a:r>
              <a:r>
                <a:rPr lang="en-US" altLang="zh-CN" sz="2000" i="0">
                  <a:latin typeface="Comic Sans MS" panose="030F0702030302020204" pitchFamily="66" charset="0"/>
                </a:rPr>
                <a:t>)</a:t>
              </a:r>
            </a:p>
          </p:txBody>
        </p:sp>
        <p:sp>
          <p:nvSpPr>
            <p:cNvPr id="43025" name="Line 24">
              <a:extLst>
                <a:ext uri="{FF2B5EF4-FFF2-40B4-BE49-F238E27FC236}">
                  <a16:creationId xmlns:a16="http://schemas.microsoft.com/office/drawing/2014/main" id="{A4CFFDBC-3F80-6759-3564-4DC9AE84B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34905" name="AutoShape 25">
            <a:extLst>
              <a:ext uri="{FF2B5EF4-FFF2-40B4-BE49-F238E27FC236}">
                <a16:creationId xmlns:a16="http://schemas.microsoft.com/office/drawing/2014/main" id="{326E3CCD-FB7D-9B43-361D-FC51FE14C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794000"/>
            <a:ext cx="7620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r>
              <a:rPr lang="en-US" altLang="zh-CN" sz="2000" b="1" i="0">
                <a:latin typeface="Comic Sans MS" pitchFamily="66" charset="0"/>
              </a:rPr>
              <a:t>X=10</a:t>
            </a:r>
          </a:p>
        </p:txBody>
      </p:sp>
      <p:sp>
        <p:nvSpPr>
          <p:cNvPr id="43022" name="Rectangle 26">
            <a:extLst>
              <a:ext uri="{FF2B5EF4-FFF2-40B4-BE49-F238E27FC236}">
                <a16:creationId xmlns:a16="http://schemas.microsoft.com/office/drawing/2014/main" id="{C3777BCC-2EDD-E35A-5AB9-8439FA3DD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事务隔离性级别：</a:t>
            </a:r>
            <a:r>
              <a:rPr lang="zh-CN" altLang="en-US" b="1" dirty="0">
                <a:solidFill>
                  <a:srgbClr val="0000FF"/>
                </a:solidFill>
              </a:rPr>
              <a:t>不能重复读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634907" name="Rectangle 27">
            <a:extLst>
              <a:ext uri="{FF2B5EF4-FFF2-40B4-BE49-F238E27FC236}">
                <a16:creationId xmlns:a16="http://schemas.microsoft.com/office/drawing/2014/main" id="{49E20D6A-31D8-0A6E-C071-43E8F1F38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127547"/>
            <a:ext cx="8151812" cy="924081"/>
          </a:xfrm>
          <a:prstGeom prst="rect">
            <a:avLst/>
          </a:prstGeom>
          <a:solidFill>
            <a:srgbClr val="00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108000" bIns="72000" anchor="ctr"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事务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i="0" baseline="-25000" dirty="0">
                <a:latin typeface="Helvetica" panose="020B0604020202020204" pitchFamily="34" charset="0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读取某一数据后，事务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i="0" baseline="-25000" dirty="0">
                <a:latin typeface="Helvetica" panose="020B0604020202020204" pitchFamily="34" charset="0"/>
              </a:rPr>
              <a:t>1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对其做了修改，当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i="0" baseline="-25000" dirty="0">
                <a:latin typeface="Helvetica" panose="020B0604020202020204" pitchFamily="34" charset="0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再次读取该数据时，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得到</a:t>
            </a:r>
            <a:r>
              <a:rPr kumimoji="1" lang="zh-CN" altLang="en-US" sz="2800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与前次不同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的值</a:t>
            </a:r>
          </a:p>
        </p:txBody>
      </p: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114D2A33-F789-5B30-67BA-69A19D61AD9D}"/>
              </a:ext>
            </a:extLst>
          </p:cNvPr>
          <p:cNvCxnSpPr>
            <a:cxnSpLocks/>
          </p:cNvCxnSpPr>
          <p:nvPr/>
        </p:nvCxnSpPr>
        <p:spPr bwMode="auto">
          <a:xfrm>
            <a:off x="2932035" y="4111547"/>
            <a:ext cx="3521153" cy="2540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856175-E535-4FE1-9E58-8E343C99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87A1-0C3A-4608-B5CF-89DC3E034F2F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395EA7-4A33-4438-B8F5-B342801F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44BC2D-43C7-4EF9-8F0D-894D13A9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0C0-A7A1-47FC-A065-154498F4EC9F}" type="slidenum">
              <a:rPr lang="en-US" altLang="zh-CN" smtClean="0"/>
              <a:pPr/>
              <a:t>49</a:t>
            </a:fld>
            <a:r>
              <a:rPr lang="en-US" altLang="zh-CN"/>
              <a:t>/ 53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>
            <a:extLst>
              <a:ext uri="{FF2B5EF4-FFF2-40B4-BE49-F238E27FC236}">
                <a16:creationId xmlns:a16="http://schemas.microsoft.com/office/drawing/2014/main" id="{FAE41556-0DDF-E7AC-7398-457D5A780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308" y="3453091"/>
            <a:ext cx="4475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1800" b="1" i="0" baseline="-25000">
                <a:solidFill>
                  <a:srgbClr val="0000FF"/>
                </a:solidFill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44036" name="Text Box 3">
            <a:extLst>
              <a:ext uri="{FF2B5EF4-FFF2-40B4-BE49-F238E27FC236}">
                <a16:creationId xmlns:a16="http://schemas.microsoft.com/office/drawing/2014/main" id="{C1A27326-5C0A-5BE0-DB44-0E98FE308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308" y="1929091"/>
            <a:ext cx="4475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 dirty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1800" b="1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44037" name="Line 4">
            <a:extLst>
              <a:ext uri="{FF2B5EF4-FFF2-40B4-BE49-F238E27FC236}">
                <a16:creationId xmlns:a16="http://schemas.microsoft.com/office/drawing/2014/main" id="{F5B61659-3CB4-93F1-BF5B-2D1E302FE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2813050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Text Box 5">
            <a:extLst>
              <a:ext uri="{FF2B5EF4-FFF2-40B4-BE49-F238E27FC236}">
                <a16:creationId xmlns:a16="http://schemas.microsoft.com/office/drawing/2014/main" id="{B101BAA7-7ED4-0A91-E2C5-23175FB51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2808288"/>
            <a:ext cx="588963" cy="28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0">
                <a:solidFill>
                  <a:schemeClr val="tx2"/>
                </a:solidFill>
                <a:latin typeface="Comic Sans MS" panose="030F0702030302020204" pitchFamily="66" charset="0"/>
              </a:rPr>
              <a:t>Time</a:t>
            </a:r>
            <a:endParaRPr lang="en-US" altLang="zh-CN" sz="1400" i="0">
              <a:latin typeface="Comic Sans MS" panose="030F0702030302020204" pitchFamily="66" charset="0"/>
            </a:endParaRPr>
          </a:p>
        </p:txBody>
      </p:sp>
      <p:sp>
        <p:nvSpPr>
          <p:cNvPr id="635910" name="Text Box 6">
            <a:extLst>
              <a:ext uri="{FF2B5EF4-FFF2-40B4-BE49-F238E27FC236}">
                <a16:creationId xmlns:a16="http://schemas.microsoft.com/office/drawing/2014/main" id="{31D21A7F-3961-B8CC-FD53-B15B29700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0" y="3597275"/>
            <a:ext cx="2157413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tx2"/>
                    </a:gs>
                    <a:gs pos="50000">
                      <a:schemeClr val="tx2">
                        <a:gamma/>
                        <a:shade val="46275"/>
                        <a:invGamma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85000"/>
              </a:lnSpc>
              <a:defRPr/>
            </a:pPr>
            <a:r>
              <a:rPr lang="en-US" altLang="zh-CN" sz="2000" i="0">
                <a:latin typeface="Comic Sans MS" pitchFamily="66" charset="0"/>
              </a:rPr>
              <a:t>Select count (*) </a:t>
            </a:r>
            <a:br>
              <a:rPr lang="en-US" altLang="zh-CN" sz="2000" i="0">
                <a:latin typeface="Comic Sans MS" pitchFamily="66" charset="0"/>
              </a:rPr>
            </a:br>
            <a:r>
              <a:rPr lang="en-US" altLang="zh-CN" sz="2000" i="0">
                <a:latin typeface="Comic Sans MS" pitchFamily="66" charset="0"/>
              </a:rPr>
              <a:t>where rank &gt; 3</a:t>
            </a:r>
            <a:br>
              <a:rPr lang="en-US" altLang="zh-CN" sz="2000" i="0">
                <a:latin typeface="Comic Sans MS" pitchFamily="66" charset="0"/>
              </a:rPr>
            </a:br>
            <a:endParaRPr lang="en-US" altLang="zh-CN" sz="2000" i="0">
              <a:latin typeface="Comic Sans MS" pitchFamily="66" charset="0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altLang="zh-CN" sz="2000" i="0">
                <a:latin typeface="Comic Sans MS" pitchFamily="66" charset="0"/>
              </a:rPr>
              <a:t>2 rows returned</a:t>
            </a:r>
          </a:p>
        </p:txBody>
      </p:sp>
      <p:grpSp>
        <p:nvGrpSpPr>
          <p:cNvPr id="635911" name="Group 7">
            <a:extLst>
              <a:ext uri="{FF2B5EF4-FFF2-40B4-BE49-F238E27FC236}">
                <a16:creationId xmlns:a16="http://schemas.microsoft.com/office/drawing/2014/main" id="{6BF26D0B-DBD6-01E3-9B6E-D4B981CFDAF8}"/>
              </a:ext>
            </a:extLst>
          </p:cNvPr>
          <p:cNvGrpSpPr>
            <a:grpSpLocks/>
          </p:cNvGrpSpPr>
          <p:nvPr/>
        </p:nvGrpSpPr>
        <p:grpSpPr bwMode="auto">
          <a:xfrm>
            <a:off x="3302000" y="1476375"/>
            <a:ext cx="1435100" cy="1130300"/>
            <a:chOff x="2022" y="804"/>
            <a:chExt cx="904" cy="712"/>
          </a:xfrm>
        </p:grpSpPr>
        <p:sp>
          <p:nvSpPr>
            <p:cNvPr id="635912" name="AutoShape 8">
              <a:extLst>
                <a:ext uri="{FF2B5EF4-FFF2-40B4-BE49-F238E27FC236}">
                  <a16:creationId xmlns:a16="http://schemas.microsoft.com/office/drawing/2014/main" id="{0AB9AC10-41C7-DD9D-979D-42CD132AC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132"/>
              <a:ext cx="672" cy="384"/>
            </a:xfrm>
            <a:prstGeom prst="lightningBol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</a:rPr>
                <a:t>Insert</a:t>
              </a:r>
            </a:p>
          </p:txBody>
        </p:sp>
        <p:sp>
          <p:nvSpPr>
            <p:cNvPr id="635913" name="AutoShape 9">
              <a:extLst>
                <a:ext uri="{FF2B5EF4-FFF2-40B4-BE49-F238E27FC236}">
                  <a16:creationId xmlns:a16="http://schemas.microsoft.com/office/drawing/2014/main" id="{A87CC235-21D2-5432-C5C9-D367ACA5D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804"/>
              <a:ext cx="672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rPr>
                <a:t>Jones,6</a:t>
              </a:r>
            </a:p>
          </p:txBody>
        </p:sp>
      </p:grpSp>
      <p:grpSp>
        <p:nvGrpSpPr>
          <p:cNvPr id="635914" name="Group 10">
            <a:extLst>
              <a:ext uri="{FF2B5EF4-FFF2-40B4-BE49-F238E27FC236}">
                <a16:creationId xmlns:a16="http://schemas.microsoft.com/office/drawing/2014/main" id="{9A2F71F8-8700-2ACD-B444-364AE6CA2380}"/>
              </a:ext>
            </a:extLst>
          </p:cNvPr>
          <p:cNvGrpSpPr>
            <a:grpSpLocks/>
          </p:cNvGrpSpPr>
          <p:nvPr/>
        </p:nvGrpSpPr>
        <p:grpSpPr bwMode="auto">
          <a:xfrm>
            <a:off x="4721225" y="1974850"/>
            <a:ext cx="2687638" cy="1676400"/>
            <a:chOff x="2974" y="1100"/>
            <a:chExt cx="1693" cy="1056"/>
          </a:xfrm>
        </p:grpSpPr>
        <p:sp>
          <p:nvSpPr>
            <p:cNvPr id="635915" name="Oval 11">
              <a:extLst>
                <a:ext uri="{FF2B5EF4-FFF2-40B4-BE49-F238E27FC236}">
                  <a16:creationId xmlns:a16="http://schemas.microsoft.com/office/drawing/2014/main" id="{19DB328B-21C5-F7D0-731D-AB9D66FD9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4" y="1100"/>
              <a:ext cx="1693" cy="105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5916" name="AutoShape 12">
              <a:extLst>
                <a:ext uri="{FF2B5EF4-FFF2-40B4-BE49-F238E27FC236}">
                  <a16:creationId xmlns:a16="http://schemas.microsoft.com/office/drawing/2014/main" id="{980F78B0-3BD9-A426-EE89-76160DA18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0" y="1434"/>
              <a:ext cx="672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rPr>
                <a:t>Smith,4</a:t>
              </a:r>
            </a:p>
          </p:txBody>
        </p:sp>
        <p:sp>
          <p:nvSpPr>
            <p:cNvPr id="635917" name="AutoShape 13">
              <a:extLst>
                <a:ext uri="{FF2B5EF4-FFF2-40B4-BE49-F238E27FC236}">
                  <a16:creationId xmlns:a16="http://schemas.microsoft.com/office/drawing/2014/main" id="{4C9FF0FA-0290-64BF-9D38-1F9DBE1DD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762"/>
              <a:ext cx="768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rPr>
                <a:t>Brewer,7</a:t>
              </a:r>
            </a:p>
          </p:txBody>
        </p:sp>
        <p:sp>
          <p:nvSpPr>
            <p:cNvPr id="635918" name="AutoShape 14">
              <a:extLst>
                <a:ext uri="{FF2B5EF4-FFF2-40B4-BE49-F238E27FC236}">
                  <a16:creationId xmlns:a16="http://schemas.microsoft.com/office/drawing/2014/main" id="{15E27047-4910-CA0B-6A8B-EA4F47336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1322"/>
              <a:ext cx="672" cy="288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rPr>
                <a:t>Jones,6</a:t>
              </a:r>
            </a:p>
          </p:txBody>
        </p:sp>
      </p:grpSp>
      <p:sp>
        <p:nvSpPr>
          <p:cNvPr id="635919" name="Oval 15">
            <a:extLst>
              <a:ext uri="{FF2B5EF4-FFF2-40B4-BE49-F238E27FC236}">
                <a16:creationId xmlns:a16="http://schemas.microsoft.com/office/drawing/2014/main" id="{9B86E7C1-8945-AAE8-0956-D9B9277B0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1974850"/>
            <a:ext cx="2516188" cy="1676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5920" name="AutoShape 16">
            <a:extLst>
              <a:ext uri="{FF2B5EF4-FFF2-40B4-BE49-F238E27FC236}">
                <a16:creationId xmlns:a16="http://schemas.microsoft.com/office/drawing/2014/main" id="{58FA34CA-3CF0-425B-5A4F-BF9A4CCBE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2311400"/>
            <a:ext cx="10668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r>
              <a:rPr lang="en-US" altLang="zh-CN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Smith,4</a:t>
            </a:r>
          </a:p>
        </p:txBody>
      </p:sp>
      <p:sp>
        <p:nvSpPr>
          <p:cNvPr id="635921" name="AutoShape 17">
            <a:extLst>
              <a:ext uri="{FF2B5EF4-FFF2-40B4-BE49-F238E27FC236}">
                <a16:creationId xmlns:a16="http://schemas.microsoft.com/office/drawing/2014/main" id="{74B6E229-FFC7-9924-361D-81EAD3A72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2860675"/>
            <a:ext cx="12192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r>
              <a:rPr lang="en-US" altLang="zh-CN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Brewer,7</a:t>
            </a:r>
          </a:p>
        </p:txBody>
      </p:sp>
      <p:sp>
        <p:nvSpPr>
          <p:cNvPr id="635922" name="Text Box 18">
            <a:extLst>
              <a:ext uri="{FF2B5EF4-FFF2-40B4-BE49-F238E27FC236}">
                <a16:creationId xmlns:a16="http://schemas.microsoft.com/office/drawing/2014/main" id="{2BE99439-E358-2CE9-D5D9-4CCFF3466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3581400"/>
            <a:ext cx="21574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tx2"/>
                    </a:gs>
                    <a:gs pos="50000">
                      <a:schemeClr val="tx2">
                        <a:gamma/>
                        <a:shade val="46275"/>
                        <a:invGamma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85000"/>
              </a:lnSpc>
              <a:defRPr/>
            </a:pPr>
            <a:r>
              <a:rPr lang="en-US" altLang="zh-CN" sz="2000" i="0">
                <a:latin typeface="Comic Sans MS" pitchFamily="66" charset="0"/>
              </a:rPr>
              <a:t>Select count (*) </a:t>
            </a:r>
            <a:br>
              <a:rPr lang="en-US" altLang="zh-CN" sz="2000" i="0">
                <a:latin typeface="Comic Sans MS" pitchFamily="66" charset="0"/>
              </a:rPr>
            </a:br>
            <a:r>
              <a:rPr lang="en-US" altLang="zh-CN" sz="2000" i="0">
                <a:latin typeface="Comic Sans MS" pitchFamily="66" charset="0"/>
              </a:rPr>
              <a:t>where rank &gt; 3</a:t>
            </a:r>
          </a:p>
        </p:txBody>
      </p:sp>
      <p:sp>
        <p:nvSpPr>
          <p:cNvPr id="635923" name="Text Box 19">
            <a:extLst>
              <a:ext uri="{FF2B5EF4-FFF2-40B4-BE49-F238E27FC236}">
                <a16:creationId xmlns:a16="http://schemas.microsoft.com/office/drawing/2014/main" id="{A8FB0151-D078-510C-F366-652E06B12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0" y="4373563"/>
            <a:ext cx="210185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tx2"/>
                    </a:gs>
                    <a:gs pos="50000">
                      <a:schemeClr val="tx2">
                        <a:gamma/>
                        <a:shade val="46275"/>
                        <a:invGamma/>
                      </a:schemeClr>
                    </a:gs>
                    <a:gs pos="100000">
                      <a:schemeClr val="tx2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85000"/>
              </a:lnSpc>
              <a:defRPr/>
            </a:pPr>
            <a:r>
              <a:rPr lang="en-US" altLang="zh-CN" sz="2000" i="0">
                <a:latin typeface="Comic Sans MS" pitchFamily="66" charset="0"/>
              </a:rPr>
              <a:t>3 rows returned</a:t>
            </a:r>
          </a:p>
        </p:txBody>
      </p:sp>
      <p:sp>
        <p:nvSpPr>
          <p:cNvPr id="44047" name="Rectangle 20">
            <a:extLst>
              <a:ext uri="{FF2B5EF4-FFF2-40B4-BE49-F238E27FC236}">
                <a16:creationId xmlns:a16="http://schemas.microsoft.com/office/drawing/2014/main" id="{D597B2D1-17D8-E91D-2047-38ECD47E4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事务隔离性级别：</a:t>
            </a:r>
            <a:r>
              <a:rPr lang="zh-CN" altLang="en-US" b="1" dirty="0">
                <a:solidFill>
                  <a:srgbClr val="0000FF"/>
                </a:solidFill>
              </a:rPr>
              <a:t>发生幻象</a:t>
            </a:r>
          </a:p>
        </p:txBody>
      </p:sp>
      <p:sp>
        <p:nvSpPr>
          <p:cNvPr id="635925" name="Rectangle 21">
            <a:extLst>
              <a:ext uri="{FF2B5EF4-FFF2-40B4-BE49-F238E27FC236}">
                <a16:creationId xmlns:a16="http://schemas.microsoft.com/office/drawing/2014/main" id="{32E9F598-85F2-9C8A-E62F-CD4FF17CB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80" y="5032652"/>
            <a:ext cx="8151812" cy="1311879"/>
          </a:xfrm>
          <a:prstGeom prst="rect">
            <a:avLst/>
          </a:prstGeom>
          <a:solidFill>
            <a:srgbClr val="00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108000" bIns="72000" anchor="ctr"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事务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i="0" baseline="-25000" dirty="0">
                <a:latin typeface="Helvetica" panose="020B0604020202020204" pitchFamily="34" charset="0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按一定条件读取了某些数据后，事务</a:t>
            </a:r>
            <a:r>
              <a:rPr kumimoji="1" lang="en-US" altLang="zh-CN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i="0" baseline="-25000" dirty="0">
                <a:solidFill>
                  <a:srgbClr val="0000FF"/>
                </a:solidFill>
                <a:latin typeface="Helvetica" panose="020B0604020202020204" pitchFamily="34" charset="0"/>
              </a:rPr>
              <a:t>1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插入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了一些满足这些条件的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，当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i="0" baseline="-25000" dirty="0">
                <a:latin typeface="Helvetica" panose="020B0604020202020204" pitchFamily="34" charset="0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再次按相同条件读取数据时，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发现多出了一些记录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5FBDC4-5C25-437A-A934-C601AEE1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72FA4-CAD0-4815-A379-D505BB59FDD2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ADEB2C-3731-4237-99A7-940F5D55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0F5C0-77C3-4816-A3E9-24C114B0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50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3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3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5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5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35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5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 tmFilter="0,0; .5, 1; 1, 1"/>
                                        <p:tgtEl>
                                          <p:spTgt spid="63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22" grpId="0"/>
      <p:bldP spid="635923" grpId="0"/>
      <p:bldP spid="6359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2">
            <a:extLst>
              <a:ext uri="{FF2B5EF4-FFF2-40B4-BE49-F238E27FC236}">
                <a16:creationId xmlns:a16="http://schemas.microsoft.com/office/drawing/2014/main" id="{11C4D1AC-399E-BDB5-02A3-5EFC5E832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03" y="3859491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 dirty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2000" b="1" i="0" baseline="-25000" dirty="0">
                <a:solidFill>
                  <a:srgbClr val="0000FF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40964" name="Text Box 3">
            <a:extLst>
              <a:ext uri="{FF2B5EF4-FFF2-40B4-BE49-F238E27FC236}">
                <a16:creationId xmlns:a16="http://schemas.microsoft.com/office/drawing/2014/main" id="{640904CA-DB18-8E92-49FD-6EE8C2C1C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66" y="1878291"/>
            <a:ext cx="466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 dirty="0">
                <a:solidFill>
                  <a:srgbClr val="0000FF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2000" b="1" i="0" baseline="-25000" dirty="0">
                <a:solidFill>
                  <a:srgbClr val="0000FF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40965" name="Line 4">
            <a:extLst>
              <a:ext uri="{FF2B5EF4-FFF2-40B4-BE49-F238E27FC236}">
                <a16:creationId xmlns:a16="http://schemas.microsoft.com/office/drawing/2014/main" id="{ED29A3B4-37AB-6BDF-0074-C685A46ED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160713"/>
            <a:ext cx="7620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Text Box 5">
            <a:extLst>
              <a:ext uri="{FF2B5EF4-FFF2-40B4-BE49-F238E27FC236}">
                <a16:creationId xmlns:a16="http://schemas.microsoft.com/office/drawing/2014/main" id="{643C985A-C309-5AF2-5624-1D11241DA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3155950"/>
            <a:ext cx="58896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0">
                <a:latin typeface="Comic Sans MS" panose="030F0702030302020204" pitchFamily="66" charset="0"/>
              </a:rPr>
              <a:t>Time</a:t>
            </a:r>
            <a:endParaRPr lang="en-US" altLang="zh-CN" sz="1200" i="0">
              <a:latin typeface="Comic Sans MS" panose="030F0702030302020204" pitchFamily="66" charset="0"/>
            </a:endParaRPr>
          </a:p>
        </p:txBody>
      </p:sp>
      <p:sp>
        <p:nvSpPr>
          <p:cNvPr id="632838" name="AutoShape 6">
            <a:extLst>
              <a:ext uri="{FF2B5EF4-FFF2-40B4-BE49-F238E27FC236}">
                <a16:creationId xmlns:a16="http://schemas.microsoft.com/office/drawing/2014/main" id="{032ED026-3468-5699-2866-575C341E9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55913"/>
            <a:ext cx="7620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r>
              <a:rPr lang="en-US" altLang="zh-CN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X=10</a:t>
            </a:r>
          </a:p>
        </p:txBody>
      </p:sp>
      <p:grpSp>
        <p:nvGrpSpPr>
          <p:cNvPr id="632839" name="Group 7">
            <a:extLst>
              <a:ext uri="{FF2B5EF4-FFF2-40B4-BE49-F238E27FC236}">
                <a16:creationId xmlns:a16="http://schemas.microsoft.com/office/drawing/2014/main" id="{4DAC124B-26E6-F78F-31D0-E10B7EFEDBD9}"/>
              </a:ext>
            </a:extLst>
          </p:cNvPr>
          <p:cNvGrpSpPr>
            <a:grpSpLocks/>
          </p:cNvGrpSpPr>
          <p:nvPr/>
        </p:nvGrpSpPr>
        <p:grpSpPr bwMode="auto">
          <a:xfrm>
            <a:off x="2214563" y="3236913"/>
            <a:ext cx="1100137" cy="1128712"/>
            <a:chOff x="1147" y="1872"/>
            <a:chExt cx="693" cy="711"/>
          </a:xfrm>
        </p:grpSpPr>
        <p:sp>
          <p:nvSpPr>
            <p:cNvPr id="40990" name="Text Box 8">
              <a:extLst>
                <a:ext uri="{FF2B5EF4-FFF2-40B4-BE49-F238E27FC236}">
                  <a16:creationId xmlns:a16="http://schemas.microsoft.com/office/drawing/2014/main" id="{8218DE82-4879-5492-FCD8-1669115DA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7" y="2179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40991" name="Line 9">
              <a:extLst>
                <a:ext uri="{FF2B5EF4-FFF2-40B4-BE49-F238E27FC236}">
                  <a16:creationId xmlns:a16="http://schemas.microsoft.com/office/drawing/2014/main" id="{672005DB-9E84-8668-7CD5-16ED58BBD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0" y="1872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2842" name="Group 10">
            <a:extLst>
              <a:ext uri="{FF2B5EF4-FFF2-40B4-BE49-F238E27FC236}">
                <a16:creationId xmlns:a16="http://schemas.microsoft.com/office/drawing/2014/main" id="{323F69CA-5796-050E-6FDA-E0F0F9D0039A}"/>
              </a:ext>
            </a:extLst>
          </p:cNvPr>
          <p:cNvGrpSpPr>
            <a:grpSpLocks/>
          </p:cNvGrpSpPr>
          <p:nvPr/>
        </p:nvGrpSpPr>
        <p:grpSpPr bwMode="auto">
          <a:xfrm>
            <a:off x="2760663" y="1819275"/>
            <a:ext cx="1100137" cy="1189038"/>
            <a:chOff x="1491" y="979"/>
            <a:chExt cx="693" cy="749"/>
          </a:xfrm>
        </p:grpSpPr>
        <p:sp>
          <p:nvSpPr>
            <p:cNvPr id="40988" name="Text Box 11">
              <a:extLst>
                <a:ext uri="{FF2B5EF4-FFF2-40B4-BE49-F238E27FC236}">
                  <a16:creationId xmlns:a16="http://schemas.microsoft.com/office/drawing/2014/main" id="{7FAAEA2D-07D5-024C-E4C1-B13C73D62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1" y="979"/>
              <a:ext cx="6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Read X </a:t>
              </a:r>
              <a:br>
                <a:rPr lang="en-US" altLang="zh-CN" sz="2000" i="0">
                  <a:latin typeface="Comic Sans MS" panose="030F0702030302020204" pitchFamily="66" charset="0"/>
                </a:rPr>
              </a:br>
              <a:r>
                <a:rPr lang="en-US" altLang="zh-CN" sz="2000" i="0">
                  <a:latin typeface="Comic Sans MS" panose="030F0702030302020204" pitchFamily="66" charset="0"/>
                </a:rPr>
                <a:t>(10)</a:t>
              </a:r>
            </a:p>
          </p:txBody>
        </p:sp>
        <p:sp>
          <p:nvSpPr>
            <p:cNvPr id="40989" name="Line 12">
              <a:extLst>
                <a:ext uri="{FF2B5EF4-FFF2-40B4-BE49-F238E27FC236}">
                  <a16:creationId xmlns:a16="http://schemas.microsoft.com/office/drawing/2014/main" id="{B02C2E64-705B-C48B-F304-53921715A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1440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2845" name="Group 13">
            <a:extLst>
              <a:ext uri="{FF2B5EF4-FFF2-40B4-BE49-F238E27FC236}">
                <a16:creationId xmlns:a16="http://schemas.microsoft.com/office/drawing/2014/main" id="{DDD3403C-C651-8988-2C8F-C46C8AD887C0}"/>
              </a:ext>
            </a:extLst>
          </p:cNvPr>
          <p:cNvGrpSpPr>
            <a:grpSpLocks/>
          </p:cNvGrpSpPr>
          <p:nvPr/>
        </p:nvGrpSpPr>
        <p:grpSpPr bwMode="auto">
          <a:xfrm>
            <a:off x="3433763" y="3236913"/>
            <a:ext cx="1957387" cy="1128712"/>
            <a:chOff x="1915" y="1872"/>
            <a:chExt cx="1233" cy="711"/>
          </a:xfrm>
        </p:grpSpPr>
        <p:sp>
          <p:nvSpPr>
            <p:cNvPr id="632846" name="Text Box 14">
              <a:extLst>
                <a:ext uri="{FF2B5EF4-FFF2-40B4-BE49-F238E27FC236}">
                  <a16:creationId xmlns:a16="http://schemas.microsoft.com/office/drawing/2014/main" id="{8A858DE3-673B-86C2-7D50-E2E2B2400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2179"/>
              <a:ext cx="123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i="0">
                  <a:latin typeface="Comic Sans MS" pitchFamily="66" charset="0"/>
                </a:rPr>
                <a:t>Compute X -= 1</a:t>
              </a:r>
            </a:p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i="0">
                  <a:latin typeface="Comic Sans MS" pitchFamily="66" charset="0"/>
                </a:rPr>
                <a:t>(9</a:t>
              </a: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)</a:t>
              </a:r>
            </a:p>
          </p:txBody>
        </p:sp>
        <p:sp>
          <p:nvSpPr>
            <p:cNvPr id="40987" name="Line 15">
              <a:extLst>
                <a:ext uri="{FF2B5EF4-FFF2-40B4-BE49-F238E27FC236}">
                  <a16:creationId xmlns:a16="http://schemas.microsoft.com/office/drawing/2014/main" id="{6D74348E-7724-5610-9F93-CD7C9E94F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1872"/>
              <a:ext cx="0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2848" name="Group 16">
            <a:extLst>
              <a:ext uri="{FF2B5EF4-FFF2-40B4-BE49-F238E27FC236}">
                <a16:creationId xmlns:a16="http://schemas.microsoft.com/office/drawing/2014/main" id="{92A2A3A4-0693-40D8-6FCF-5682D877B33F}"/>
              </a:ext>
            </a:extLst>
          </p:cNvPr>
          <p:cNvGrpSpPr>
            <a:grpSpLocks/>
          </p:cNvGrpSpPr>
          <p:nvPr/>
        </p:nvGrpSpPr>
        <p:grpSpPr bwMode="auto">
          <a:xfrm>
            <a:off x="4119563" y="1819275"/>
            <a:ext cx="1957387" cy="1265238"/>
            <a:chOff x="2347" y="979"/>
            <a:chExt cx="1233" cy="797"/>
          </a:xfrm>
        </p:grpSpPr>
        <p:sp>
          <p:nvSpPr>
            <p:cNvPr id="40984" name="Text Box 17">
              <a:extLst>
                <a:ext uri="{FF2B5EF4-FFF2-40B4-BE49-F238E27FC236}">
                  <a16:creationId xmlns:a16="http://schemas.microsoft.com/office/drawing/2014/main" id="{2ACA1B52-CF02-AAE1-726A-B69FB9C7A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979"/>
              <a:ext cx="123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Compute X -= 1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(9)</a:t>
              </a:r>
            </a:p>
          </p:txBody>
        </p:sp>
        <p:sp>
          <p:nvSpPr>
            <p:cNvPr id="40985" name="Line 18">
              <a:extLst>
                <a:ext uri="{FF2B5EF4-FFF2-40B4-BE49-F238E27FC236}">
                  <a16:creationId xmlns:a16="http://schemas.microsoft.com/office/drawing/2014/main" id="{14BD46BA-599D-0B34-F823-DDCCF7079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1392"/>
              <a:ext cx="0" cy="38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2851" name="Group 19">
            <a:extLst>
              <a:ext uri="{FF2B5EF4-FFF2-40B4-BE49-F238E27FC236}">
                <a16:creationId xmlns:a16="http://schemas.microsoft.com/office/drawing/2014/main" id="{97BA4AA1-72F9-49A8-BB9B-458163A76336}"/>
              </a:ext>
            </a:extLst>
          </p:cNvPr>
          <p:cNvGrpSpPr>
            <a:grpSpLocks/>
          </p:cNvGrpSpPr>
          <p:nvPr/>
        </p:nvGrpSpPr>
        <p:grpSpPr bwMode="auto">
          <a:xfrm>
            <a:off x="5437188" y="2855913"/>
            <a:ext cx="1160462" cy="1295400"/>
            <a:chOff x="3177" y="1632"/>
            <a:chExt cx="731" cy="816"/>
          </a:xfrm>
        </p:grpSpPr>
        <p:sp>
          <p:nvSpPr>
            <p:cNvPr id="40980" name="Text Box 20">
              <a:extLst>
                <a:ext uri="{FF2B5EF4-FFF2-40B4-BE49-F238E27FC236}">
                  <a16:creationId xmlns:a16="http://schemas.microsoft.com/office/drawing/2014/main" id="{27F015A4-F241-D521-DDF0-837D900D8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7" y="2217"/>
              <a:ext cx="73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Write X</a:t>
              </a:r>
            </a:p>
          </p:txBody>
        </p:sp>
        <p:grpSp>
          <p:nvGrpSpPr>
            <p:cNvPr id="40981" name="Group 21">
              <a:extLst>
                <a:ext uri="{FF2B5EF4-FFF2-40B4-BE49-F238E27FC236}">
                  <a16:creationId xmlns:a16="http://schemas.microsoft.com/office/drawing/2014/main" id="{ADFF6C18-8D69-E120-945C-CEF494CB0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4" y="1632"/>
              <a:ext cx="480" cy="576"/>
              <a:chOff x="3304" y="1632"/>
              <a:chExt cx="480" cy="576"/>
            </a:xfrm>
          </p:grpSpPr>
          <p:sp>
            <p:nvSpPr>
              <p:cNvPr id="632854" name="AutoShape 22">
                <a:extLst>
                  <a:ext uri="{FF2B5EF4-FFF2-40B4-BE49-F238E27FC236}">
                    <a16:creationId xmlns:a16="http://schemas.microsoft.com/office/drawing/2014/main" id="{B84010DC-B2D3-1F97-E563-0DEF7E6BC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1632"/>
                <a:ext cx="480" cy="384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90000"/>
                  </a:lnSpc>
                  <a:defRPr/>
                </a:pPr>
                <a:r>
                  <a:rPr lang="en-US" altLang="zh-CN" sz="2000" b="1" i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charset="0"/>
                  </a:rPr>
                  <a:t>X=9</a:t>
                </a:r>
              </a:p>
            </p:txBody>
          </p:sp>
          <p:sp>
            <p:nvSpPr>
              <p:cNvPr id="40983" name="Line 23">
                <a:extLst>
                  <a:ext uri="{FF2B5EF4-FFF2-40B4-BE49-F238E27FC236}">
                    <a16:creationId xmlns:a16="http://schemas.microsoft.com/office/drawing/2014/main" id="{22F564EC-DF4B-C0DB-AA72-AA4CDE86A7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4" y="2064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32856" name="Group 24">
            <a:extLst>
              <a:ext uri="{FF2B5EF4-FFF2-40B4-BE49-F238E27FC236}">
                <a16:creationId xmlns:a16="http://schemas.microsoft.com/office/drawing/2014/main" id="{A7D6F66B-595A-C9B6-8719-0C4D6A9F81E4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1847850"/>
            <a:ext cx="1160462" cy="1581150"/>
            <a:chOff x="4195" y="1187"/>
            <a:chExt cx="731" cy="996"/>
          </a:xfrm>
        </p:grpSpPr>
        <p:sp>
          <p:nvSpPr>
            <p:cNvPr id="632857" name="AutoShape 25">
              <a:extLst>
                <a:ext uri="{FF2B5EF4-FFF2-40B4-BE49-F238E27FC236}">
                  <a16:creationId xmlns:a16="http://schemas.microsoft.com/office/drawing/2014/main" id="{ABB75411-8C2A-7A0F-EE5C-261684E65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799"/>
              <a:ext cx="480" cy="38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zh-CN" sz="2000" b="1" i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charset="0"/>
                </a:rPr>
                <a:t>X = 9</a:t>
              </a:r>
            </a:p>
          </p:txBody>
        </p:sp>
        <p:sp>
          <p:nvSpPr>
            <p:cNvPr id="40978" name="Text Box 26">
              <a:extLst>
                <a:ext uri="{FF2B5EF4-FFF2-40B4-BE49-F238E27FC236}">
                  <a16:creationId xmlns:a16="http://schemas.microsoft.com/office/drawing/2014/main" id="{673BE891-AAFF-1C54-C69D-FC28E0730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87"/>
              <a:ext cx="73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>
                  <a:latin typeface="Comic Sans MS" panose="030F0702030302020204" pitchFamily="66" charset="0"/>
                </a:rPr>
                <a:t>Write X</a:t>
              </a:r>
            </a:p>
          </p:txBody>
        </p:sp>
        <p:sp>
          <p:nvSpPr>
            <p:cNvPr id="40979" name="Line 27">
              <a:extLst>
                <a:ext uri="{FF2B5EF4-FFF2-40B4-BE49-F238E27FC236}">
                  <a16:creationId xmlns:a16="http://schemas.microsoft.com/office/drawing/2014/main" id="{7259D397-6516-419D-5453-75084B059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1418"/>
              <a:ext cx="0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32860" name="AutoShape 28">
            <a:extLst>
              <a:ext uri="{FF2B5EF4-FFF2-40B4-BE49-F238E27FC236}">
                <a16:creationId xmlns:a16="http://schemas.microsoft.com/office/drawing/2014/main" id="{EFDFEE25-8E05-C909-688A-69B18F518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0213" y="2740025"/>
            <a:ext cx="1012825" cy="879475"/>
          </a:xfrm>
          <a:prstGeom prst="irregularSeal1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zh-CN" sz="2000" b="1" i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X=9</a:t>
            </a:r>
          </a:p>
        </p:txBody>
      </p:sp>
      <p:sp>
        <p:nvSpPr>
          <p:cNvPr id="40975" name="Rectangle 29">
            <a:extLst>
              <a:ext uri="{FF2B5EF4-FFF2-40B4-BE49-F238E27FC236}">
                <a16:creationId xmlns:a16="http://schemas.microsoft.com/office/drawing/2014/main" id="{2B29D2C3-33F3-28F5-34A9-469399319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事务隔离性级别：</a:t>
            </a:r>
            <a:r>
              <a:rPr lang="zh-CN" altLang="en-US" b="1" dirty="0">
                <a:solidFill>
                  <a:srgbClr val="0000FF"/>
                </a:solidFill>
              </a:rPr>
              <a:t>丢失修改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632862" name="Rectangle 30">
            <a:extLst>
              <a:ext uri="{FF2B5EF4-FFF2-40B4-BE49-F238E27FC236}">
                <a16:creationId xmlns:a16="http://schemas.microsoft.com/office/drawing/2014/main" id="{7ECD75E2-50C3-9AFC-A5AF-3E5C19C96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31" y="4913373"/>
            <a:ext cx="7704137" cy="924081"/>
          </a:xfrm>
          <a:prstGeom prst="rect">
            <a:avLst/>
          </a:prstGeom>
          <a:solidFill>
            <a:srgbClr val="00FF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  <a:flatTx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两个事务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kumimoji="1" lang="en-US" altLang="zh-CN" sz="2800" i="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kumimoji="1" lang="en-US" altLang="zh-CN" sz="2800" i="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读入同一数据并修改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kumimoji="1" lang="en-US" altLang="zh-CN" sz="2800" i="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提交的结果</a:t>
            </a:r>
            <a:r>
              <a:rPr kumimoji="1" lang="zh-CN" altLang="en-US" sz="2800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破坏了</a:t>
            </a:r>
            <a:r>
              <a:rPr kumimoji="1" lang="en-US" altLang="zh-CN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kumimoji="1" lang="en-US" altLang="zh-CN" sz="2800" i="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提交的结果，导致</a:t>
            </a:r>
            <a:r>
              <a:rPr kumimoji="1" lang="en-US" altLang="zh-CN" sz="2800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kumimoji="1" lang="en-US" altLang="zh-CN" sz="2800" i="0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8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kumimoji="1" lang="zh-CN" altLang="en-US" sz="2800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修改丢失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937DB0-D0A4-4E2E-8F49-E8B1849A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BA5C9-7650-437F-B172-BFD4864C3F2D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7748BE-1E29-4A5F-9276-C67280DE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0FEC3A-01EF-4629-91B7-A5DD4ED2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51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328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328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32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632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60" grpId="0" animBg="1"/>
      <p:bldP spid="63286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3" name="Rectangle 16">
            <a:extLst>
              <a:ext uri="{FF2B5EF4-FFF2-40B4-BE49-F238E27FC236}">
                <a16:creationId xmlns:a16="http://schemas.microsoft.com/office/drawing/2014/main" id="{92013077-E00E-5791-20BC-064654FED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事务隔离性级别的实现</a:t>
            </a:r>
            <a:endParaRPr lang="en-US" altLang="zh-CN" b="1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E506AB-47CE-493A-99FF-4C91A37D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C1BD-084C-457C-AE42-A9F6A908FBC8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0ECFB0-3C9A-4E0F-85A1-A7165B54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B72650-A2E4-47CC-89A3-458A13A5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300C0-A7A1-47FC-A065-154498F4EC9F}" type="slidenum">
              <a:rPr lang="en-US" altLang="zh-CN" smtClean="0"/>
              <a:pPr/>
              <a:t>52</a:t>
            </a:fld>
            <a:r>
              <a:rPr lang="en-US" altLang="zh-CN"/>
              <a:t>/ 53</a:t>
            </a:r>
            <a:endParaRPr lang="zh-CN" alt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19F31E5-999D-8EE2-6ABC-D61CCBE657B6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340768"/>
            <a:ext cx="8101012" cy="551723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40000"/>
              </a:spcBef>
            </a:pPr>
            <a:r>
              <a:rPr lang="zh-CN" altLang="en-US" sz="2400" kern="0" dirty="0">
                <a:solidFill>
                  <a:srgbClr val="0000FF"/>
                </a:solidFill>
              </a:rPr>
              <a:t>锁</a:t>
            </a:r>
            <a:endParaRPr lang="en-US" altLang="zh-CN" sz="2400" kern="0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000" kern="0" dirty="0">
                <a:solidFill>
                  <a:schemeClr val="tx2"/>
                </a:solidFill>
              </a:rPr>
              <a:t>一个</a:t>
            </a:r>
            <a:r>
              <a:rPr lang="zh-CN" altLang="en-US" sz="2000" dirty="0">
                <a:solidFill>
                  <a:schemeClr val="tx2"/>
                </a:solidFill>
              </a:rPr>
              <a:t>事务</a:t>
            </a:r>
            <a:r>
              <a:rPr lang="en-US" altLang="zh-CN" sz="2000" dirty="0">
                <a:solidFill>
                  <a:schemeClr val="tx2"/>
                </a:solidFill>
              </a:rPr>
              <a:t>T</a:t>
            </a:r>
            <a:r>
              <a:rPr lang="zh-CN" altLang="en-US" sz="2000" dirty="0">
                <a:solidFill>
                  <a:schemeClr val="tx2"/>
                </a:solidFill>
              </a:rPr>
              <a:t>在开始前</a:t>
            </a:r>
            <a:r>
              <a:rPr lang="zh-CN" altLang="en-US" sz="2000" dirty="0"/>
              <a:t>先</a:t>
            </a:r>
            <a:r>
              <a:rPr lang="zh-CN" altLang="en-US" sz="2000" dirty="0">
                <a:solidFill>
                  <a:srgbClr val="0000FF"/>
                </a:solidFill>
              </a:rPr>
              <a:t>获得</a:t>
            </a:r>
            <a:r>
              <a:rPr lang="zh-CN" altLang="en-US" sz="2000" b="1" dirty="0"/>
              <a:t>整个</a:t>
            </a:r>
            <a:r>
              <a:rPr lang="zh-CN" altLang="en-US" sz="2000" b="1" dirty="0">
                <a:solidFill>
                  <a:srgbClr val="C00000"/>
                </a:solidFill>
              </a:rPr>
              <a:t>数据库</a:t>
            </a:r>
            <a:r>
              <a:rPr lang="zh-CN" altLang="en-US" sz="2000" dirty="0"/>
              <a:t>上的</a:t>
            </a:r>
            <a:r>
              <a:rPr lang="zh-CN" altLang="en-US" sz="2000" dirty="0">
                <a:solidFill>
                  <a:srgbClr val="0000FF"/>
                </a:solidFill>
              </a:rPr>
              <a:t>锁</a:t>
            </a:r>
            <a:r>
              <a:rPr lang="en-US" altLang="zh-CN" sz="2000" dirty="0">
                <a:solidFill>
                  <a:srgbClr val="0000FF"/>
                </a:solidFill>
              </a:rPr>
              <a:t>(lock)</a:t>
            </a:r>
            <a:r>
              <a:rPr lang="zh-CN" altLang="en-US" sz="2000" dirty="0"/>
              <a:t>，并且再它</a:t>
            </a:r>
            <a:r>
              <a:rPr lang="zh-CN" altLang="en-US" sz="2000" dirty="0">
                <a:solidFill>
                  <a:srgbClr val="0000FF"/>
                </a:solidFill>
              </a:rPr>
              <a:t>提交之后</a:t>
            </a:r>
            <a:r>
              <a:rPr lang="zh-CN" altLang="en-US" sz="2000" dirty="0"/>
              <a:t>再</a:t>
            </a:r>
            <a:r>
              <a:rPr lang="zh-CN" altLang="en-US" sz="2000" dirty="0">
                <a:solidFill>
                  <a:srgbClr val="0000FF"/>
                </a:solidFill>
              </a:rPr>
              <a:t>释放锁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>
              <a:lnSpc>
                <a:spcPct val="100000"/>
              </a:lnSpc>
              <a:spcBef>
                <a:spcPct val="40000"/>
              </a:spcBef>
            </a:pPr>
            <a:r>
              <a:rPr lang="zh-CN" altLang="en-US" sz="1800" kern="0" dirty="0"/>
              <a:t>只会产生串行的调度</a:t>
            </a:r>
            <a:endParaRPr lang="en-US" altLang="zh-CN" sz="1800" kern="0" dirty="0"/>
          </a:p>
          <a:p>
            <a:pPr lvl="2">
              <a:lnSpc>
                <a:spcPct val="100000"/>
              </a:lnSpc>
              <a:spcBef>
                <a:spcPct val="40000"/>
              </a:spcBef>
            </a:pPr>
            <a:r>
              <a:rPr lang="zh-CN" altLang="en-US" sz="1800" kern="0" dirty="0"/>
              <a:t>并发度低</a:t>
            </a:r>
            <a:endParaRPr lang="en-US" altLang="zh-CN" sz="1800" kern="0" dirty="0"/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zh-CN" altLang="en-US" sz="2000" kern="0" dirty="0"/>
              <a:t>事务可以只封锁它需要访问的那些</a:t>
            </a:r>
            <a:r>
              <a:rPr lang="zh-CN" altLang="en-US" sz="20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数据项</a:t>
            </a:r>
            <a:r>
              <a:rPr lang="zh-CN" altLang="en-US" sz="2000" kern="0" dirty="0"/>
              <a:t>，而不是整个数据库（详见下一章）。</a:t>
            </a:r>
            <a:endParaRPr lang="en-US" altLang="zh-CN" sz="2000" kern="0" dirty="0"/>
          </a:p>
          <a:p>
            <a:pPr>
              <a:lnSpc>
                <a:spcPct val="100000"/>
              </a:lnSpc>
              <a:spcBef>
                <a:spcPct val="40000"/>
              </a:spcBef>
            </a:pPr>
            <a:r>
              <a:rPr lang="zh-CN" altLang="en-US" sz="2400" kern="0" dirty="0"/>
              <a:t>时间戳</a:t>
            </a:r>
            <a:endParaRPr lang="en-US" altLang="zh-CN" sz="2400" kern="0" dirty="0"/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zh-CN" altLang="en-US" sz="2000" kern="0" dirty="0"/>
              <a:t>事务开始的时候，为其分配一个时间戳，</a:t>
            </a:r>
            <a:r>
              <a:rPr lang="zh-CN" altLang="en-US" sz="2000" kern="0" dirty="0">
                <a:solidFill>
                  <a:srgbClr val="0000FF"/>
                </a:solidFill>
              </a:rPr>
              <a:t>读时间戳</a:t>
            </a:r>
            <a:r>
              <a:rPr lang="zh-CN" altLang="en-US" sz="2000" kern="0" dirty="0"/>
              <a:t>和</a:t>
            </a:r>
            <a:r>
              <a:rPr lang="zh-CN" altLang="en-US" sz="2000" kern="0" dirty="0">
                <a:solidFill>
                  <a:srgbClr val="0000FF"/>
                </a:solidFill>
              </a:rPr>
              <a:t>写时间戳</a:t>
            </a:r>
            <a:r>
              <a:rPr lang="zh-CN" altLang="en-US" sz="2000" kern="0" dirty="0"/>
              <a:t>；事务按照</a:t>
            </a:r>
            <a:r>
              <a:rPr lang="zh-CN" altLang="en-US" sz="2000" b="1" kern="0" dirty="0"/>
              <a:t>时间戳的顺序</a:t>
            </a:r>
            <a:r>
              <a:rPr lang="zh-CN" altLang="en-US" sz="2000" kern="0" dirty="0"/>
              <a:t>来访问每个数据项。</a:t>
            </a:r>
            <a:endParaRPr lang="en-US" altLang="zh-CN" sz="2000" kern="0" dirty="0"/>
          </a:p>
          <a:p>
            <a:pPr>
              <a:lnSpc>
                <a:spcPct val="100000"/>
              </a:lnSpc>
              <a:spcBef>
                <a:spcPct val="40000"/>
              </a:spcBef>
            </a:pPr>
            <a:r>
              <a:rPr lang="zh-CN" altLang="en-US" sz="2400" kern="0" dirty="0"/>
              <a:t>多版本和快照隔离</a:t>
            </a:r>
            <a:endParaRPr lang="en-US" altLang="zh-CN" sz="2400" kern="0" dirty="0"/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zh-CN" altLang="en-US" sz="2000" kern="0" dirty="0"/>
              <a:t>维护多个版本</a:t>
            </a:r>
            <a:endParaRPr lang="en-US" altLang="zh-CN" sz="2000" kern="0" dirty="0"/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zh-CN" altLang="en-US" sz="2000" kern="0" dirty="0"/>
              <a:t>事务开始前，拥有自己的数据库版本或快照；事务的执行也针对私有版本；提交后才真正更新至数据库。</a:t>
            </a:r>
            <a:endParaRPr lang="en-US" altLang="zh-CN" sz="2000" kern="0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10244" name="Picture 4" descr="smi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9E5FB2-5252-4686-B11D-ED8EA3E4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B839-9484-4892-AB67-8012A8E2ED41}" type="datetime1">
              <a:rPr lang="zh-CN" altLang="en-US" smtClean="0"/>
              <a:t>2025/12/4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DEEB1-245A-4FB9-A371-9107E4A6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第10章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363351-3DD6-4432-848E-1F4484BE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406-283F-451D-84C5-166B4C21804C}" type="slidenum">
              <a:rPr lang="en-US" altLang="zh-CN" smtClean="0"/>
              <a:pPr/>
              <a:t>53</a:t>
            </a:fld>
            <a:r>
              <a:rPr lang="en-US" altLang="zh-CN"/>
              <a:t>/53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PPT_DBNAME" val="62a27a9a-a290-4204-abad-34ebc026eff8.mdb"/>
  <p:tag name="ARS_RESPONSE_PERSONNUM" val="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3938</TotalTime>
  <Words>4793</Words>
  <Application>Microsoft Office PowerPoint</Application>
  <PresentationFormat>全屏显示(4:3)</PresentationFormat>
  <Paragraphs>656</Paragraphs>
  <Slides>53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6" baseType="lpstr">
      <vt:lpstr>Monotype Sorts</vt:lpstr>
      <vt:lpstr>华文新魏</vt:lpstr>
      <vt:lpstr>楷体_GB2312</vt:lpstr>
      <vt:lpstr>宋体</vt:lpstr>
      <vt:lpstr>Arial</vt:lpstr>
      <vt:lpstr>Comic Sans MS</vt:lpstr>
      <vt:lpstr>Helvetica</vt:lpstr>
      <vt:lpstr>Symbol</vt:lpstr>
      <vt:lpstr>Tahoma</vt:lpstr>
      <vt:lpstr>Times New Roman</vt:lpstr>
      <vt:lpstr>Wingdings</vt:lpstr>
      <vt:lpstr>Blends</vt:lpstr>
      <vt:lpstr>Clip</vt:lpstr>
      <vt:lpstr>数据库系统原理  Database System Principles</vt:lpstr>
      <vt:lpstr>第13章 事务管理</vt:lpstr>
      <vt:lpstr>本章目录</vt:lpstr>
      <vt:lpstr>1 事务的基本概念</vt:lpstr>
      <vt:lpstr>1 事务的基本概念</vt:lpstr>
      <vt:lpstr>事务的基本概念</vt:lpstr>
      <vt:lpstr>事务的基本概念</vt:lpstr>
      <vt:lpstr>事务的基本概念</vt:lpstr>
      <vt:lpstr>事务的基本概念</vt:lpstr>
      <vt:lpstr>事务的基本概念</vt:lpstr>
      <vt:lpstr>事务的基本概念</vt:lpstr>
      <vt:lpstr>事务的基本概念</vt:lpstr>
      <vt:lpstr>事务的基本概念</vt:lpstr>
      <vt:lpstr>事务的基本概念</vt:lpstr>
      <vt:lpstr>本章目录</vt:lpstr>
      <vt:lpstr>事务状态</vt:lpstr>
      <vt:lpstr>事务状态图</vt:lpstr>
      <vt:lpstr>本章目录</vt:lpstr>
      <vt:lpstr>事务调度</vt:lpstr>
      <vt:lpstr>例：令T1 从A 转账$50到B，T2 从A 转账余额的10%到B（A=1000，B=2000）</vt:lpstr>
      <vt:lpstr>例：令T1 从A 转账$50到B，T2 从A 转账余额的10%到B（A=1000，B=2000）</vt:lpstr>
      <vt:lpstr>调度3，等价于调度1</vt:lpstr>
      <vt:lpstr>调度4：未能保持A +B的和</vt:lpstr>
      <vt:lpstr>事务调度</vt:lpstr>
      <vt:lpstr>并行调度 VS 串行调度</vt:lpstr>
      <vt:lpstr>本章目录</vt:lpstr>
      <vt:lpstr>并发调度的可串行性</vt:lpstr>
      <vt:lpstr>11.4 并发调度的可串行性</vt:lpstr>
      <vt:lpstr>可串行化</vt:lpstr>
      <vt:lpstr>冲突语义</vt:lpstr>
      <vt:lpstr>冲突语义</vt:lpstr>
      <vt:lpstr>冲突可串行化 </vt:lpstr>
      <vt:lpstr>冲突可串行化示例</vt:lpstr>
      <vt:lpstr>冲突可串行化 </vt:lpstr>
      <vt:lpstr>优先图(precedence graph)</vt:lpstr>
      <vt:lpstr>示例</vt:lpstr>
      <vt:lpstr>冲突可串行化判定</vt:lpstr>
      <vt:lpstr>与冲突可串行化等价的串行顺序</vt:lpstr>
      <vt:lpstr>可串行化的其它概念</vt:lpstr>
      <vt:lpstr>并发控制 vs. 可串行化检测</vt:lpstr>
      <vt:lpstr>本章目录</vt:lpstr>
      <vt:lpstr>可恢复调度(事务的隔离性和原子性)</vt:lpstr>
      <vt:lpstr>无级联调度</vt:lpstr>
      <vt:lpstr>本章目录</vt:lpstr>
      <vt:lpstr>隔离性</vt:lpstr>
      <vt:lpstr>事务隔离性级别</vt:lpstr>
      <vt:lpstr>事务隔离性级别</vt:lpstr>
      <vt:lpstr>事务隔离性级别：读脏数据</vt:lpstr>
      <vt:lpstr>事务隔离性级别：不能重复读</vt:lpstr>
      <vt:lpstr>事务隔离性级别：发生幻象</vt:lpstr>
      <vt:lpstr>事务隔离性级别：丢失修改</vt:lpstr>
      <vt:lpstr>事务隔离性级别的实现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1280</cp:revision>
  <dcterms:created xsi:type="dcterms:W3CDTF">2009-08-07T14:32:50Z</dcterms:created>
  <dcterms:modified xsi:type="dcterms:W3CDTF">2025-12-04T02:54:13Z</dcterms:modified>
</cp:coreProperties>
</file>