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8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05"/>
  </p:notesMasterIdLst>
  <p:sldIdLst>
    <p:sldId id="258" r:id="rId2"/>
    <p:sldId id="259" r:id="rId3"/>
    <p:sldId id="317" r:id="rId4"/>
    <p:sldId id="318" r:id="rId5"/>
    <p:sldId id="379" r:id="rId6"/>
    <p:sldId id="378" r:id="rId7"/>
    <p:sldId id="320" r:id="rId8"/>
    <p:sldId id="381" r:id="rId9"/>
    <p:sldId id="321" r:id="rId10"/>
    <p:sldId id="383" r:id="rId11"/>
    <p:sldId id="382" r:id="rId12"/>
    <p:sldId id="323" r:id="rId13"/>
    <p:sldId id="324" r:id="rId14"/>
    <p:sldId id="384" r:id="rId15"/>
    <p:sldId id="385" r:id="rId16"/>
    <p:sldId id="386" r:id="rId17"/>
    <p:sldId id="388" r:id="rId18"/>
    <p:sldId id="387" r:id="rId19"/>
    <p:sldId id="370" r:id="rId20"/>
    <p:sldId id="325" r:id="rId21"/>
    <p:sldId id="326" r:id="rId22"/>
    <p:sldId id="327" r:id="rId23"/>
    <p:sldId id="371" r:id="rId24"/>
    <p:sldId id="328" r:id="rId25"/>
    <p:sldId id="329" r:id="rId26"/>
    <p:sldId id="404" r:id="rId27"/>
    <p:sldId id="405" r:id="rId28"/>
    <p:sldId id="433" r:id="rId29"/>
    <p:sldId id="417" r:id="rId30"/>
    <p:sldId id="428" r:id="rId31"/>
    <p:sldId id="434" r:id="rId32"/>
    <p:sldId id="435" r:id="rId33"/>
    <p:sldId id="436" r:id="rId34"/>
    <p:sldId id="439" r:id="rId35"/>
    <p:sldId id="438" r:id="rId36"/>
    <p:sldId id="440" r:id="rId37"/>
    <p:sldId id="441" r:id="rId38"/>
    <p:sldId id="442" r:id="rId39"/>
    <p:sldId id="443" r:id="rId40"/>
    <p:sldId id="437" r:id="rId41"/>
    <p:sldId id="431" r:id="rId42"/>
    <p:sldId id="429" r:id="rId43"/>
    <p:sldId id="430" r:id="rId44"/>
    <p:sldId id="419" r:id="rId45"/>
    <p:sldId id="444" r:id="rId46"/>
    <p:sldId id="426" r:id="rId47"/>
    <p:sldId id="427" r:id="rId48"/>
    <p:sldId id="411" r:id="rId49"/>
    <p:sldId id="412" r:id="rId50"/>
    <p:sldId id="413" r:id="rId51"/>
    <p:sldId id="414" r:id="rId52"/>
    <p:sldId id="415" r:id="rId53"/>
    <p:sldId id="416" r:id="rId54"/>
    <p:sldId id="333" r:id="rId55"/>
    <p:sldId id="334" r:id="rId56"/>
    <p:sldId id="335" r:id="rId57"/>
    <p:sldId id="336" r:id="rId58"/>
    <p:sldId id="338" r:id="rId59"/>
    <p:sldId id="339" r:id="rId60"/>
    <p:sldId id="446" r:id="rId61"/>
    <p:sldId id="389" r:id="rId62"/>
    <p:sldId id="390" r:id="rId63"/>
    <p:sldId id="391" r:id="rId64"/>
    <p:sldId id="392" r:id="rId65"/>
    <p:sldId id="393" r:id="rId66"/>
    <p:sldId id="372" r:id="rId67"/>
    <p:sldId id="340" r:id="rId68"/>
    <p:sldId id="445" r:id="rId69"/>
    <p:sldId id="341" r:id="rId70"/>
    <p:sldId id="447" r:id="rId71"/>
    <p:sldId id="342" r:id="rId72"/>
    <p:sldId id="343" r:id="rId73"/>
    <p:sldId id="344" r:id="rId74"/>
    <p:sldId id="345" r:id="rId75"/>
    <p:sldId id="346" r:id="rId76"/>
    <p:sldId id="347" r:id="rId77"/>
    <p:sldId id="348" r:id="rId78"/>
    <p:sldId id="349" r:id="rId79"/>
    <p:sldId id="350" r:id="rId80"/>
    <p:sldId id="351" r:id="rId81"/>
    <p:sldId id="352" r:id="rId82"/>
    <p:sldId id="353" r:id="rId83"/>
    <p:sldId id="354" r:id="rId84"/>
    <p:sldId id="355" r:id="rId85"/>
    <p:sldId id="356" r:id="rId86"/>
    <p:sldId id="357" r:id="rId87"/>
    <p:sldId id="358" r:id="rId88"/>
    <p:sldId id="359" r:id="rId89"/>
    <p:sldId id="360" r:id="rId90"/>
    <p:sldId id="373" r:id="rId91"/>
    <p:sldId id="361" r:id="rId92"/>
    <p:sldId id="377" r:id="rId93"/>
    <p:sldId id="362" r:id="rId94"/>
    <p:sldId id="374" r:id="rId95"/>
    <p:sldId id="363" r:id="rId96"/>
    <p:sldId id="364" r:id="rId97"/>
    <p:sldId id="375" r:id="rId98"/>
    <p:sldId id="365" r:id="rId99"/>
    <p:sldId id="366" r:id="rId100"/>
    <p:sldId id="367" r:id="rId101"/>
    <p:sldId id="376" r:id="rId102"/>
    <p:sldId id="368" r:id="rId103"/>
    <p:sldId id="260" r:id="rId104"/>
  </p:sldIdLst>
  <p:sldSz cx="9144000" cy="6858000" type="screen4x3"/>
  <p:notesSz cx="6858000" cy="9144000"/>
  <p:custDataLst>
    <p:tags r:id="rId106"/>
  </p:custData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0080"/>
    <a:srgbClr val="003300"/>
    <a:srgbClr val="CC0000"/>
    <a:srgbClr val="00660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471" autoAdjust="0"/>
  </p:normalViewPr>
  <p:slideViewPr>
    <p:cSldViewPr>
      <p:cViewPr varScale="1">
        <p:scale>
          <a:sx n="114" d="100"/>
          <a:sy n="114" d="100"/>
        </p:scale>
        <p:origin x="130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gs" Target="tags/tag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0" sz="1200">
                <a:latin typeface="Arial" charset="0"/>
              </a:defRPr>
            </a:lvl1pPr>
          </a:lstStyle>
          <a:p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Arial" charset="0"/>
              </a:defRPr>
            </a:lvl1pPr>
          </a:lstStyle>
          <a:p>
            <a:fld id="{9FD51761-DD81-4BDA-AAA4-E709C44BC16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4908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D51761-DD81-4BDA-AAA4-E709C44BC16E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0432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D51761-DD81-4BDA-AAA4-E709C44BC16E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5704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charset="0"/>
            </a:endParaRPr>
          </a:p>
        </p:txBody>
      </p:sp>
      <p:sp>
        <p:nvSpPr>
          <p:cNvPr id="13312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BAC192C4-9A3A-4F31-B301-A4B298E3E527}" type="slidenum">
              <a:rPr lang="en-US" altLang="zh-CN" smtClean="0"/>
              <a:pPr eaLnBrk="1" hangingPunct="1">
                <a:spcBef>
                  <a:spcPct val="0"/>
                </a:spcBef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9145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</a:rPr>
              <a:t>参与性约束 ？</a:t>
            </a:r>
          </a:p>
        </p:txBody>
      </p:sp>
      <p:sp>
        <p:nvSpPr>
          <p:cNvPr id="1341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E120780-0C33-4230-B41F-3E9B69357DC5}" type="slidenum">
              <a:rPr lang="en-US" altLang="zh-CN" smtClean="0"/>
              <a:pPr eaLnBrk="1" hangingPunct="1">
                <a:spcBef>
                  <a:spcPct val="0"/>
                </a:spcBef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7510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</a:rPr>
              <a:t>参与性约束 ？</a:t>
            </a:r>
          </a:p>
        </p:txBody>
      </p:sp>
      <p:sp>
        <p:nvSpPr>
          <p:cNvPr id="1341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E120780-0C33-4230-B41F-3E9B69357DC5}" type="slidenum">
              <a:rPr lang="en-US" altLang="zh-CN" smtClean="0"/>
              <a:pPr eaLnBrk="1" hangingPunct="1">
                <a:spcBef>
                  <a:spcPct val="0"/>
                </a:spcBef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7510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>
                <a:latin typeface="Arial" charset="0"/>
              </a:rPr>
              <a:t>参与性约束 ？</a:t>
            </a:r>
          </a:p>
        </p:txBody>
      </p:sp>
      <p:sp>
        <p:nvSpPr>
          <p:cNvPr id="1341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FE120780-0C33-4230-B41F-3E9B69357DC5}" type="slidenum">
              <a:rPr lang="en-US" altLang="zh-CN" smtClean="0"/>
              <a:pPr eaLnBrk="1" hangingPunct="1">
                <a:spcBef>
                  <a:spcPct val="0"/>
                </a:spcBef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7510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D51761-DD81-4BDA-AAA4-E709C44BC16E}" type="slidenum">
              <a:rPr lang="zh-CN" altLang="en-US" smtClean="0"/>
              <a:pPr/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366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D51761-DD81-4BDA-AAA4-E709C44BC16E}" type="slidenum">
              <a:rPr lang="zh-CN" altLang="en-US" smtClean="0"/>
              <a:pPr/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421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371600"/>
            <a:ext cx="7772400" cy="1462088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4E5A0DC-F837-4CBD-854B-89CB6FEC717B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/>
              <a:t>《数据库系统概论》- 第7章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n-lt"/>
              </a:defRPr>
            </a:lvl1pPr>
          </a:lstStyle>
          <a:p>
            <a:fld id="{230F86D8-38BF-447E-95A0-6FE5911F1E5A}" type="slidenum">
              <a:rPr lang="en-US" altLang="zh-CN"/>
              <a:pPr/>
              <a:t>‹#›</a:t>
            </a:fld>
            <a:endParaRPr lang="en-US" altLang="zh-CN"/>
          </a:p>
        </p:txBody>
      </p:sp>
      <p:graphicFrame>
        <p:nvGraphicFramePr>
          <p:cNvPr id="5127" name="Object 7"/>
          <p:cNvGraphicFramePr>
            <a:graphicFrameLocks/>
          </p:cNvGraphicFramePr>
          <p:nvPr/>
        </p:nvGraphicFramePr>
        <p:xfrm>
          <a:off x="533400" y="3124200"/>
          <a:ext cx="83058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6857143" imgH="48963" progId="">
                  <p:embed/>
                </p:oleObj>
              </mc:Choice>
              <mc:Fallback>
                <p:oleObj name="Clip" r:id="rId2" imgW="6857143" imgH="48963" progId="">
                  <p:embed/>
                  <p:pic>
                    <p:nvPicPr>
                      <p:cNvPr id="0" name="Picture 28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124200"/>
                        <a:ext cx="83058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B63102-B64D-4E5F-9271-CECB19224FE2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DAE538-733A-466A-8FC9-B10511EC22B2}" type="slidenum">
              <a:rPr lang="en-US" altLang="zh-CN" smtClean="0"/>
              <a:pPr/>
              <a:t>‹#›</a:t>
            </a:fld>
            <a:r>
              <a:rPr lang="en-US" altLang="zh-CN" dirty="0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265348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444007A-6A0D-4B36-87A9-FF3C720C2B8A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42DB5B-DAB0-4048-9EC3-F46CFCA02212}" type="slidenum">
              <a:rPr lang="en-US" altLang="zh-CN" smtClean="0"/>
              <a:pPr/>
              <a:t>‹#›</a:t>
            </a:fld>
            <a:r>
              <a:rPr lang="en-US" altLang="zh-CN" dirty="0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850251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667172-90E9-4842-A62C-74CFF6E18847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第7章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ED4677-2961-4A27-93BA-C3C550CA0E62}" type="slidenum">
              <a:rPr lang="en-US" altLang="zh-CN" smtClean="0"/>
              <a:pPr/>
              <a:t>‹#›</a:t>
            </a:fld>
            <a:r>
              <a:rPr lang="en-US" altLang="zh-CN" dirty="0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683421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D171325-F07C-4372-82CE-15FFCE03F78E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第7章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3BD50B-0B9B-4919-AD0E-6DDB576B4B92}" type="slidenum">
              <a:rPr lang="en-US" altLang="zh-CN" smtClean="0"/>
              <a:pPr/>
              <a:t>‹#›</a:t>
            </a:fld>
            <a:r>
              <a:rPr lang="en-US" altLang="zh-CN" dirty="0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078889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B904F4-B531-4352-8CE9-22C469D5C75D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第7章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CD3AB-757A-433F-8064-C91B6EC58E86}" type="slidenum">
              <a:rPr lang="en-US" altLang="zh-CN" smtClean="0"/>
              <a:pPr/>
              <a:t>‹#›</a:t>
            </a:fld>
            <a:r>
              <a:rPr lang="en-US" altLang="zh-CN" dirty="0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807432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7BCB3FF-41C0-47E5-91AF-8940FC7A7A5E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第7章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9506BE-3ECF-4657-A630-8BFD5BFA9C56}" type="slidenum">
              <a:rPr lang="en-US" altLang="zh-CN" smtClean="0"/>
              <a:pPr/>
              <a:t>‹#›</a:t>
            </a:fld>
            <a:r>
              <a:rPr lang="en-US" altLang="zh-CN" dirty="0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3144635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AB9C29-1D65-4FD3-BA9D-58787941D177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第7章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A9B467-44C0-4A5B-B918-C1DBFEF7D432}" type="slidenum">
              <a:rPr lang="en-US" altLang="zh-CN" smtClean="0"/>
              <a:pPr/>
              <a:t>‹#›</a:t>
            </a:fld>
            <a:r>
              <a:rPr lang="en-US" altLang="zh-CN" dirty="0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401054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AA2BF53-4FB7-4DFF-9BFF-0C9220444423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第7章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0C40C1-774B-477A-9C5C-0CB977AE2AA5}" type="slidenum">
              <a:rPr lang="en-US" altLang="zh-CN" smtClean="0"/>
              <a:pPr/>
              <a:t>‹#›</a:t>
            </a:fld>
            <a:r>
              <a:rPr lang="en-US" altLang="zh-CN" dirty="0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14072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996C317-D6BB-429D-9BC8-483F6E11ABFF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EBD96C-3ED6-499D-AC92-35B9D09E05F4}" type="slidenum">
              <a:rPr lang="en-US" altLang="zh-CN" smtClean="0"/>
              <a:pPr/>
              <a:t>‹#›</a:t>
            </a:fld>
            <a:r>
              <a:rPr lang="en-US" altLang="zh-CN" dirty="0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144787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9113" y="381000"/>
            <a:ext cx="2085975" cy="5751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6107113" cy="5751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8059BFE-F8E5-42D1-B5AC-3DEAA423BFE4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29578A-F720-421E-921A-E59879A27560}" type="slidenum">
              <a:rPr lang="en-US" altLang="zh-CN" smtClean="0"/>
              <a:pPr/>
              <a:t>‹#›</a:t>
            </a:fld>
            <a:r>
              <a:rPr lang="en-US" altLang="zh-CN" dirty="0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289626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8345488" cy="468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400"/>
            </a:lvl1pPr>
          </a:lstStyle>
          <a:p>
            <a:fld id="{C5DF9C5F-3261-423D-8C8B-89127F6FF1AF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r>
              <a:rPr lang="en-US" altLang="zh-CN"/>
              <a:t>《数据库系统概论》- 第7章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Times New Roman" pitchFamily="18" charset="0"/>
              </a:defRPr>
            </a:lvl1pPr>
          </a:lstStyle>
          <a:p>
            <a:fld id="{D20FF3DD-91ED-4BE8-8921-22FD3B600C33}" type="slidenum">
              <a:rPr lang="en-US" altLang="zh-CN" smtClean="0"/>
              <a:pPr/>
              <a:t>‹#›</a:t>
            </a:fld>
            <a:r>
              <a:rPr lang="en-US" altLang="zh-CN" dirty="0"/>
              <a:t>/81</a:t>
            </a:r>
            <a:endParaRPr lang="zh-CN" altLang="en-US" dirty="0"/>
          </a:p>
        </p:txBody>
      </p:sp>
      <p:pic>
        <p:nvPicPr>
          <p:cNvPr id="4103" name="Picture 7" descr="redBa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7924800" cy="15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>
    <p:fade/>
  </p:transition>
  <p:hf hdr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000">
                <a:latin typeface="Times New Roman" pitchFamily="18" charset="0"/>
              </a:rPr>
              <a:t>数据库系统原理</a:t>
            </a:r>
            <a:br>
              <a:rPr lang="zh-CN" altLang="en-US" sz="4000">
                <a:latin typeface="Times New Roman" pitchFamily="18" charset="0"/>
              </a:rPr>
            </a:br>
            <a:br>
              <a:rPr lang="zh-CN" altLang="en-US" sz="900">
                <a:latin typeface="Times New Roman" pitchFamily="18" charset="0"/>
              </a:rPr>
            </a:br>
            <a:r>
              <a:rPr lang="en-US" altLang="zh-CN" sz="2800">
                <a:latin typeface="Times New Roman" pitchFamily="18" charset="0"/>
              </a:rPr>
              <a:t>Database System Principles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438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四川大学计算机学院</a:t>
            </a:r>
          </a:p>
          <a:p>
            <a:pPr>
              <a:lnSpc>
                <a:spcPct val="90000"/>
              </a:lnSpc>
            </a:pP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郭际香</a:t>
            </a:r>
            <a:endParaRPr lang="en-US" altLang="zh-CN" sz="24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guojixiang@scu.edu.cn</a:t>
            </a:r>
          </a:p>
          <a:p>
            <a:pPr>
              <a:lnSpc>
                <a:spcPct val="90000"/>
              </a:lnSpc>
            </a:pPr>
            <a:endParaRPr lang="en-US" altLang="zh-CN" sz="24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</a:rPr>
              <a:t>2025.10-11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838200"/>
            <a:ext cx="7772400" cy="1462088"/>
          </a:xfrm>
        </p:spPr>
        <p:txBody>
          <a:bodyPr/>
          <a:lstStyle/>
          <a:p>
            <a:r>
              <a:rPr lang="zh-CN" altLang="zh-CN"/>
              <a:t>第</a:t>
            </a:r>
            <a:r>
              <a:rPr lang="zh-CN" altLang="en-US"/>
              <a:t>七</a:t>
            </a:r>
            <a:r>
              <a:rPr lang="zh-CN" altLang="zh-CN"/>
              <a:t>章 </a:t>
            </a:r>
            <a:r>
              <a:rPr lang="zh-CN" altLang="en-US"/>
              <a:t>数据库设计</a:t>
            </a:r>
            <a:endParaRPr lang="en-US" altLang="zh-CN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3505200"/>
            <a:ext cx="7162800" cy="2514600"/>
          </a:xfrm>
        </p:spPr>
        <p:txBody>
          <a:bodyPr/>
          <a:lstStyle/>
          <a:p>
            <a:pPr algn="l">
              <a:lnSpc>
                <a:spcPct val="90000"/>
              </a:lnSpc>
              <a:buFont typeface="Wingdings" pitchFamily="2" charset="2"/>
              <a:buChar char="n"/>
            </a:pPr>
            <a:r>
              <a:rPr lang="zh-CN" altLang="en-US" sz="2400"/>
              <a:t> 成功的设计需要</a:t>
            </a:r>
          </a:p>
          <a:p>
            <a:pPr marL="457200" lvl="1" indent="0">
              <a:lnSpc>
                <a:spcPct val="90000"/>
              </a:lnSpc>
            </a:pPr>
            <a:r>
              <a:rPr lang="zh-CN" altLang="en-US" sz="2000"/>
              <a:t> 具有扎实的计算机科学基础</a:t>
            </a:r>
          </a:p>
          <a:p>
            <a:pPr marL="457200" lvl="1" indent="0">
              <a:lnSpc>
                <a:spcPct val="90000"/>
              </a:lnSpc>
            </a:pPr>
            <a:r>
              <a:rPr lang="zh-CN" altLang="en-US" sz="2000"/>
              <a:t> 全面深入地理解应用背景</a:t>
            </a:r>
          </a:p>
          <a:p>
            <a:pPr marL="457200" lvl="1" indent="0">
              <a:lnSpc>
                <a:spcPct val="90000"/>
              </a:lnSpc>
            </a:pPr>
            <a:r>
              <a:rPr lang="zh-CN" altLang="en-US" sz="2000"/>
              <a:t> 一定的开发经验</a:t>
            </a:r>
          </a:p>
          <a:p>
            <a:pPr marL="457200" lvl="1" indent="0">
              <a:lnSpc>
                <a:spcPct val="90000"/>
              </a:lnSpc>
            </a:pPr>
            <a:r>
              <a:rPr lang="zh-CN" altLang="en-US" sz="2000"/>
              <a:t> 规范的开发方法</a:t>
            </a:r>
          </a:p>
          <a:p>
            <a:pPr marL="457200" lvl="1" indent="0">
              <a:lnSpc>
                <a:spcPct val="90000"/>
              </a:lnSpc>
            </a:pPr>
            <a:r>
              <a:rPr lang="zh-CN" altLang="en-US" sz="2000"/>
              <a:t> 团结合作的开发团队</a:t>
            </a:r>
          </a:p>
          <a:p>
            <a:pPr marL="457200" lvl="1" indent="0">
              <a:lnSpc>
                <a:spcPct val="90000"/>
              </a:lnSpc>
            </a:pPr>
            <a:r>
              <a:rPr lang="en-US" altLang="zh-CN" sz="2000"/>
              <a:t> </a:t>
            </a:r>
            <a:r>
              <a:rPr lang="en-US" altLang="zh-CN" sz="2000">
                <a:latin typeface="Arial"/>
              </a:rPr>
              <a:t>……</a:t>
            </a:r>
            <a:endParaRPr lang="zh-CN" altLang="en-US" sz="2400">
              <a:latin typeface="Times New Roman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C43C9-7180-4C0B-B66D-53B83D68EB1F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 dirty="0"/>
              <a:t>7.1 </a:t>
            </a:r>
            <a:r>
              <a:rPr lang="zh-CN" altLang="en-US" dirty="0"/>
              <a:t>数据库设计概述</a:t>
            </a:r>
          </a:p>
          <a:p>
            <a:r>
              <a:rPr lang="en-US" altLang="zh-CN" dirty="0"/>
              <a:t>7.2 </a:t>
            </a:r>
            <a:r>
              <a:rPr lang="zh-CN" altLang="en-US" dirty="0"/>
              <a:t>需求分析</a:t>
            </a:r>
            <a:endParaRPr lang="zh-CN" altLang="en-US" dirty="0">
              <a:solidFill>
                <a:srgbClr val="CC0000"/>
              </a:solidFill>
            </a:endParaRPr>
          </a:p>
          <a:p>
            <a:r>
              <a:rPr lang="en-US" altLang="zh-CN" dirty="0"/>
              <a:t>7.3 </a:t>
            </a:r>
            <a:r>
              <a:rPr lang="zh-CN" altLang="en-US" dirty="0">
                <a:solidFill>
                  <a:srgbClr val="0000FF"/>
                </a:solidFill>
              </a:rPr>
              <a:t>概念结构设计</a:t>
            </a:r>
          </a:p>
          <a:p>
            <a:r>
              <a:rPr lang="en-US" altLang="zh-CN" dirty="0"/>
              <a:t>7.4 </a:t>
            </a:r>
            <a:r>
              <a:rPr lang="zh-CN" altLang="en-US" dirty="0"/>
              <a:t>逻辑结构设计</a:t>
            </a:r>
          </a:p>
          <a:p>
            <a:r>
              <a:rPr lang="en-US" altLang="zh-CN" dirty="0"/>
              <a:t>7.5 </a:t>
            </a:r>
            <a:r>
              <a:rPr lang="zh-CN" altLang="en-US" dirty="0"/>
              <a:t>数据库的物理设计</a:t>
            </a:r>
          </a:p>
          <a:p>
            <a:r>
              <a:rPr lang="en-US" altLang="zh-CN" dirty="0"/>
              <a:t>7.6 </a:t>
            </a:r>
            <a:r>
              <a:rPr lang="zh-CN" altLang="en-US" dirty="0"/>
              <a:t>数据库的实施</a:t>
            </a:r>
          </a:p>
          <a:p>
            <a:r>
              <a:rPr lang="en-US" altLang="zh-CN" dirty="0"/>
              <a:t>7.7 </a:t>
            </a:r>
            <a:r>
              <a:rPr lang="zh-CN" altLang="en-US" dirty="0"/>
              <a:t>数据库的运行与维护</a:t>
            </a:r>
            <a:endParaRPr lang="zh-CN" altLang="en-US" dirty="0">
              <a:solidFill>
                <a:srgbClr val="CC0000"/>
              </a:solidFill>
            </a:endParaRPr>
          </a:p>
        </p:txBody>
      </p:sp>
      <p:sp>
        <p:nvSpPr>
          <p:cNvPr id="253956" name="AutoShape 4"/>
          <p:cNvSpPr>
            <a:spLocks noChangeArrowheads="1"/>
          </p:cNvSpPr>
          <p:nvPr/>
        </p:nvSpPr>
        <p:spPr bwMode="auto">
          <a:xfrm>
            <a:off x="838200" y="17526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F18CF1-C413-4A3A-AB86-DC80CC989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6FE5F1-9D78-D83A-D0C5-ED45B62CB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3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3AD95-BFC2-4BB1-A4D3-0729F55E91C1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7.1 </a:t>
            </a:r>
            <a:r>
              <a:rPr lang="zh-CN" altLang="en-US"/>
              <a:t>数据库设计概述   </a:t>
            </a:r>
            <a:r>
              <a:rPr lang="zh-CN" altLang="en-US" sz="2000">
                <a:solidFill>
                  <a:schemeClr val="hlink"/>
                </a:solidFill>
              </a:rPr>
              <a:t>了解</a:t>
            </a:r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029200"/>
          </a:xfrm>
        </p:spPr>
        <p:txBody>
          <a:bodyPr/>
          <a:lstStyle/>
          <a:p>
            <a:r>
              <a:rPr lang="zh-CN" altLang="en-US" sz="2800" dirty="0"/>
              <a:t>数据库设计：</a:t>
            </a:r>
          </a:p>
          <a:p>
            <a:pPr>
              <a:buNone/>
            </a:pPr>
            <a:r>
              <a:rPr lang="zh-CN" altLang="en-US" sz="2800" dirty="0"/>
              <a:t>	数据库设计是指对于一个</a:t>
            </a:r>
            <a:r>
              <a:rPr lang="zh-CN" altLang="en-US" sz="2800" dirty="0">
                <a:solidFill>
                  <a:srgbClr val="C00000"/>
                </a:solidFill>
              </a:rPr>
              <a:t>给定的应用环境</a:t>
            </a:r>
            <a:r>
              <a:rPr lang="zh-CN" altLang="en-US" sz="2800" dirty="0"/>
              <a:t>，构造（设计）</a:t>
            </a:r>
            <a:r>
              <a:rPr lang="zh-CN" altLang="en-US" sz="2800" dirty="0">
                <a:solidFill>
                  <a:srgbClr val="FF0000"/>
                </a:solidFill>
              </a:rPr>
              <a:t>优化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rgbClr val="0000FF"/>
                </a:solidFill>
              </a:rPr>
              <a:t>数据库逻辑模式</a:t>
            </a: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rgbClr val="0000FF"/>
                </a:solidFill>
              </a:rPr>
              <a:t>物理结构</a:t>
            </a:r>
            <a:r>
              <a:rPr lang="zh-CN" altLang="en-US" sz="2800" dirty="0"/>
              <a:t>，并据此</a:t>
            </a:r>
            <a:r>
              <a:rPr lang="zh-CN" altLang="en-US" sz="2800" dirty="0">
                <a:solidFill>
                  <a:srgbClr val="FF0000"/>
                </a:solidFill>
              </a:rPr>
              <a:t>建立</a:t>
            </a:r>
            <a:r>
              <a:rPr lang="zh-CN" altLang="en-US" sz="2800" b="1" dirty="0">
                <a:solidFill>
                  <a:srgbClr val="7030A0"/>
                </a:solidFill>
              </a:rPr>
              <a:t>数据库</a:t>
            </a:r>
            <a:r>
              <a:rPr lang="zh-CN" altLang="en-US" sz="2800" dirty="0"/>
              <a:t>及其</a:t>
            </a:r>
            <a:r>
              <a:rPr lang="zh-CN" altLang="en-US" sz="2800" b="1" dirty="0">
                <a:solidFill>
                  <a:srgbClr val="7030A0"/>
                </a:solidFill>
              </a:rPr>
              <a:t>应用系统</a:t>
            </a:r>
            <a:r>
              <a:rPr lang="zh-CN" altLang="en-US" sz="2800" dirty="0"/>
              <a:t>，使之能够有效地</a:t>
            </a:r>
            <a:r>
              <a:rPr lang="zh-CN" altLang="en-US" sz="2800" dirty="0">
                <a:solidFill>
                  <a:srgbClr val="0000FF"/>
                </a:solidFill>
              </a:rPr>
              <a:t>存储</a:t>
            </a: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rgbClr val="0000FF"/>
                </a:solidFill>
              </a:rPr>
              <a:t>管理数据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FF0000"/>
                </a:solidFill>
              </a:rPr>
              <a:t>满足</a:t>
            </a:r>
            <a:r>
              <a:rPr lang="zh-CN" altLang="en-US" sz="2800" dirty="0"/>
              <a:t>各种用户的</a:t>
            </a:r>
            <a:r>
              <a:rPr lang="zh-CN" altLang="en-US" sz="2800" dirty="0">
                <a:solidFill>
                  <a:srgbClr val="0000FF"/>
                </a:solidFill>
              </a:rPr>
              <a:t>应用需求</a:t>
            </a:r>
            <a:r>
              <a:rPr lang="zh-CN" altLang="en-US" sz="2800" dirty="0"/>
              <a:t>，包括</a:t>
            </a:r>
            <a:r>
              <a:rPr lang="zh-CN" altLang="en-US" sz="2800" dirty="0">
                <a:solidFill>
                  <a:srgbClr val="0000FF"/>
                </a:solidFill>
              </a:rPr>
              <a:t>信息管理要求</a:t>
            </a: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rgbClr val="0000FF"/>
                </a:solidFill>
              </a:rPr>
              <a:t>数据操作要求</a:t>
            </a:r>
            <a:r>
              <a:rPr lang="zh-CN" altLang="en-US" sz="2800" dirty="0"/>
              <a:t>。</a:t>
            </a:r>
          </a:p>
          <a:p>
            <a:r>
              <a:rPr lang="zh-CN" altLang="en-US" sz="2800" u="sng" dirty="0"/>
              <a:t>信息管理要求</a:t>
            </a:r>
            <a:r>
              <a:rPr lang="zh-CN" altLang="en-US" sz="2800" dirty="0"/>
              <a:t>：在数据库中应该</a:t>
            </a:r>
            <a:r>
              <a:rPr lang="zh-CN" altLang="en-US" sz="2800" dirty="0">
                <a:solidFill>
                  <a:srgbClr val="0000FF"/>
                </a:solidFill>
              </a:rPr>
              <a:t>存储</a:t>
            </a: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rgbClr val="0000FF"/>
                </a:solidFill>
              </a:rPr>
              <a:t>管理哪些数据对象</a:t>
            </a:r>
            <a:r>
              <a:rPr lang="zh-CN" altLang="en-US" sz="2800" dirty="0"/>
              <a:t> 。</a:t>
            </a:r>
          </a:p>
          <a:p>
            <a:r>
              <a:rPr lang="zh-CN" altLang="en-US" sz="2800" u="sng" dirty="0"/>
              <a:t>数据操作要求</a:t>
            </a:r>
            <a:r>
              <a:rPr lang="zh-CN" altLang="en-US" sz="2800" dirty="0"/>
              <a:t>：对数据对象需要进行</a:t>
            </a:r>
            <a:r>
              <a:rPr lang="zh-CN" altLang="en-US" sz="2800" dirty="0">
                <a:solidFill>
                  <a:srgbClr val="0000FF"/>
                </a:solidFill>
              </a:rPr>
              <a:t>哪些操作</a:t>
            </a:r>
            <a:r>
              <a:rPr lang="zh-CN" altLang="en-US" sz="2800" dirty="0"/>
              <a:t>，如</a:t>
            </a:r>
            <a:r>
              <a:rPr lang="zh-CN" altLang="en-US" sz="2800" dirty="0">
                <a:solidFill>
                  <a:srgbClr val="0000FF"/>
                </a:solidFill>
              </a:rPr>
              <a:t>查询、增、删、改、统计</a:t>
            </a:r>
            <a:r>
              <a:rPr lang="zh-CN" altLang="en-US" sz="2800" dirty="0"/>
              <a:t>等操作。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1467DA-C8D1-AE97-0CAC-93A1738AE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4895B3-C806-27BA-F540-791B42F7B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4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43006-A51B-43E2-846A-25B33FEDD68A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7.1 </a:t>
            </a:r>
            <a:r>
              <a:rPr lang="zh-CN" altLang="en-US"/>
              <a:t>数据库设计概述   </a:t>
            </a:r>
            <a:r>
              <a:rPr lang="zh-CN" altLang="en-US" sz="2000">
                <a:solidFill>
                  <a:schemeClr val="hlink"/>
                </a:solidFill>
              </a:rPr>
              <a:t>了解</a:t>
            </a:r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029200"/>
          </a:xfrm>
        </p:spPr>
        <p:txBody>
          <a:bodyPr/>
          <a:lstStyle/>
          <a:p>
            <a:r>
              <a:rPr lang="zh-CN" altLang="en-US" sz="2800" dirty="0"/>
              <a:t>数据库设计：</a:t>
            </a:r>
          </a:p>
          <a:p>
            <a:pPr>
              <a:buNone/>
            </a:pPr>
            <a:r>
              <a:rPr lang="zh-CN" altLang="en-US" sz="2800" dirty="0"/>
              <a:t>	数据库设计的</a:t>
            </a:r>
            <a:r>
              <a:rPr lang="zh-CN" altLang="en-US" sz="2800" dirty="0">
                <a:solidFill>
                  <a:srgbClr val="FF0000"/>
                </a:solidFill>
              </a:rPr>
              <a:t>目标</a:t>
            </a:r>
            <a:r>
              <a:rPr lang="zh-CN" altLang="en-US" sz="2800" dirty="0"/>
              <a:t>是为用户和各种应用系统提供一个</a:t>
            </a:r>
            <a:r>
              <a:rPr lang="zh-CN" altLang="en-US" sz="2800" dirty="0">
                <a:solidFill>
                  <a:schemeClr val="tx2"/>
                </a:solidFill>
              </a:rPr>
              <a:t>信息基础设施</a:t>
            </a: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chemeClr val="tx2"/>
                </a:solidFill>
              </a:rPr>
              <a:t>高效率的运行环境 </a:t>
            </a:r>
            <a:r>
              <a:rPr lang="zh-CN" altLang="en-US" sz="2800" dirty="0"/>
              <a:t>。</a:t>
            </a:r>
          </a:p>
          <a:p>
            <a:r>
              <a:rPr lang="zh-CN" altLang="en-US" sz="2800" dirty="0"/>
              <a:t>高效率的运行环境</a:t>
            </a:r>
          </a:p>
          <a:p>
            <a:pPr lvl="1"/>
            <a:r>
              <a:rPr lang="zh-CN" altLang="en-US" sz="2400" dirty="0"/>
              <a:t>数据库数据的</a:t>
            </a:r>
            <a:r>
              <a:rPr lang="zh-CN" altLang="en-US" dirty="0">
                <a:solidFill>
                  <a:srgbClr val="800080"/>
                </a:solidFill>
                <a:cs typeface="+mn-cs"/>
              </a:rPr>
              <a:t>存取</a:t>
            </a:r>
            <a:r>
              <a:rPr lang="zh-CN" altLang="en-US" dirty="0">
                <a:solidFill>
                  <a:srgbClr val="0000FF"/>
                </a:solidFill>
                <a:cs typeface="+mn-cs"/>
              </a:rPr>
              <a:t>效率高</a:t>
            </a:r>
          </a:p>
          <a:p>
            <a:pPr lvl="1"/>
            <a:r>
              <a:rPr lang="zh-CN" altLang="en-US" sz="2400" dirty="0"/>
              <a:t>数据库</a:t>
            </a:r>
            <a:r>
              <a:rPr lang="zh-CN" altLang="en-US" dirty="0">
                <a:solidFill>
                  <a:srgbClr val="800080"/>
                </a:solidFill>
                <a:cs typeface="+mn-cs"/>
              </a:rPr>
              <a:t>存储空间</a:t>
            </a:r>
            <a:r>
              <a:rPr lang="zh-CN" altLang="en-US" dirty="0">
                <a:solidFill>
                  <a:srgbClr val="0000FF"/>
                </a:solidFill>
                <a:cs typeface="+mn-cs"/>
              </a:rPr>
              <a:t>的利用率高</a:t>
            </a:r>
          </a:p>
          <a:p>
            <a:pPr lvl="1"/>
            <a:r>
              <a:rPr lang="zh-CN" altLang="en-US" sz="2400" dirty="0"/>
              <a:t>数据库系统</a:t>
            </a:r>
            <a:r>
              <a:rPr lang="zh-CN" altLang="en-US" dirty="0">
                <a:solidFill>
                  <a:srgbClr val="800080"/>
                </a:solidFill>
                <a:cs typeface="+mn-cs"/>
              </a:rPr>
              <a:t>运行管理</a:t>
            </a:r>
            <a:r>
              <a:rPr lang="zh-CN" altLang="en-US" dirty="0">
                <a:solidFill>
                  <a:srgbClr val="0000FF"/>
                </a:solidFill>
                <a:cs typeface="+mn-cs"/>
              </a:rPr>
              <a:t>的效率高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982F8E-F868-51B2-D791-B17CB7BA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57038B-FA6B-FD3A-607C-DE3F59A8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5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87183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A5B75-174E-47D2-9175-35CB446F9935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7.1 </a:t>
            </a:r>
            <a:r>
              <a:rPr lang="zh-CN" altLang="en-US"/>
              <a:t>数据库设计概述   </a:t>
            </a:r>
            <a:r>
              <a:rPr lang="zh-CN" altLang="en-US" sz="2000">
                <a:solidFill>
                  <a:schemeClr val="hlink"/>
                </a:solidFill>
              </a:rPr>
              <a:t>了解</a:t>
            </a:r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029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sz="2800" dirty="0"/>
              <a:t>数据库应用系统：</a:t>
            </a:r>
          </a:p>
          <a:p>
            <a:pPr>
              <a:buFont typeface="Wingdings" pitchFamily="2" charset="2"/>
              <a:buNone/>
            </a:pPr>
            <a:r>
              <a:rPr lang="zh-CN" altLang="en-US" sz="2800" dirty="0"/>
              <a:t>	</a:t>
            </a:r>
            <a:r>
              <a:rPr lang="zh-CN" altLang="en-US" sz="2800" dirty="0">
                <a:solidFill>
                  <a:srgbClr val="C00000"/>
                </a:solidFill>
              </a:rPr>
              <a:t>使用</a:t>
            </a:r>
            <a:r>
              <a:rPr lang="zh-CN" altLang="en-US" sz="2800" dirty="0"/>
              <a:t>数据库的</a:t>
            </a:r>
            <a:r>
              <a:rPr lang="zh-CN" altLang="en-US" sz="2800" dirty="0">
                <a:solidFill>
                  <a:srgbClr val="C00000"/>
                </a:solidFill>
              </a:rPr>
              <a:t>各类</a:t>
            </a:r>
            <a:r>
              <a:rPr lang="zh-CN" altLang="en-US" sz="2800" b="1" dirty="0">
                <a:solidFill>
                  <a:schemeClr val="tx2"/>
                </a:solidFill>
              </a:rPr>
              <a:t>信息系统</a:t>
            </a:r>
            <a:r>
              <a:rPr lang="zh-CN" altLang="en-US" sz="2800" dirty="0"/>
              <a:t>统称为数据库应用系统。</a:t>
            </a:r>
          </a:p>
          <a:p>
            <a:pPr>
              <a:buFont typeface="Wingdings" pitchFamily="2" charset="2"/>
              <a:buNone/>
            </a:pPr>
            <a:r>
              <a:rPr lang="zh-CN" altLang="en-US" sz="2800" dirty="0"/>
              <a:t>信息系统</a:t>
            </a:r>
            <a:r>
              <a:rPr lang="zh-CN" altLang="en-US" sz="2800" dirty="0">
                <a:solidFill>
                  <a:srgbClr val="0000FF"/>
                </a:solidFill>
              </a:rPr>
              <a:t>和</a:t>
            </a:r>
            <a:r>
              <a:rPr lang="zh-CN" altLang="en-US" sz="2800" dirty="0"/>
              <a:t>数据库：</a:t>
            </a:r>
          </a:p>
          <a:p>
            <a:pPr>
              <a:buFont typeface="Wingdings" pitchFamily="2" charset="2"/>
              <a:buNone/>
            </a:pPr>
            <a:r>
              <a:rPr lang="zh-CN" altLang="en-US" sz="2800" dirty="0"/>
              <a:t>	从使用者角度看，</a:t>
            </a:r>
            <a:r>
              <a:rPr lang="zh-CN" altLang="en-US" sz="2800" dirty="0">
                <a:solidFill>
                  <a:srgbClr val="0000FF"/>
                </a:solidFill>
              </a:rPr>
              <a:t>信息系统</a:t>
            </a:r>
            <a:r>
              <a:rPr lang="zh-CN" altLang="en-US" sz="2800" dirty="0"/>
              <a:t>是提供信息、辅助人们对环境进行控制和进行决策的系统。而</a:t>
            </a:r>
            <a:r>
              <a:rPr lang="zh-CN" altLang="en-US" sz="2800" dirty="0">
                <a:solidFill>
                  <a:srgbClr val="0000FF"/>
                </a:solidFill>
              </a:rPr>
              <a:t>数据库</a:t>
            </a:r>
            <a:r>
              <a:rPr lang="zh-CN" altLang="en-US" sz="2800" dirty="0"/>
              <a:t>是信息系统的</a:t>
            </a:r>
            <a:r>
              <a:rPr lang="zh-CN" altLang="en-US" sz="2800" dirty="0">
                <a:solidFill>
                  <a:srgbClr val="0000FF"/>
                </a:solidFill>
              </a:rPr>
              <a:t>核心和基础</a:t>
            </a:r>
            <a:r>
              <a:rPr lang="zh-CN" altLang="en-US" sz="2800" dirty="0"/>
              <a:t>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6C4011-258C-368F-C62E-0C5B9B977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BF390A-3F4A-682A-3C59-AFEE68A9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6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37207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3E8C-F805-454B-8B96-70B1F67F1501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7.1.1 </a:t>
            </a:r>
            <a:r>
              <a:rPr lang="zh-CN" altLang="en-US" dirty="0"/>
              <a:t>数据库设计的特点</a:t>
            </a:r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345488" cy="4684713"/>
          </a:xfrm>
        </p:spPr>
        <p:txBody>
          <a:bodyPr/>
          <a:lstStyle/>
          <a:p>
            <a:r>
              <a:rPr lang="en-US" altLang="zh-CN" dirty="0">
                <a:latin typeface="Arial"/>
              </a:rPr>
              <a:t>1 </a:t>
            </a:r>
            <a:r>
              <a:rPr lang="zh-CN" altLang="en-US" dirty="0">
                <a:latin typeface="Arial"/>
              </a:rPr>
              <a:t>数据库建设的基本规律</a:t>
            </a:r>
            <a:endParaRPr lang="en-US" altLang="zh-CN" dirty="0">
              <a:latin typeface="Arial"/>
            </a:endParaRPr>
          </a:p>
          <a:p>
            <a:pPr lvl="1"/>
            <a:r>
              <a:rPr lang="zh-CN" altLang="en-US" dirty="0">
                <a:latin typeface="Arial"/>
              </a:rPr>
              <a:t>三分技术，七分管理，十二分基础数据</a:t>
            </a:r>
          </a:p>
          <a:p>
            <a:pPr lvl="2"/>
            <a:r>
              <a:rPr lang="zh-CN" altLang="en-US" dirty="0">
                <a:latin typeface="Arial"/>
              </a:rPr>
              <a:t>管理</a:t>
            </a:r>
          </a:p>
          <a:p>
            <a:pPr lvl="3"/>
            <a:r>
              <a:rPr lang="zh-CN" altLang="en-US" sz="1800" dirty="0">
                <a:latin typeface="Arial"/>
              </a:rPr>
              <a:t>数据库建设项目管理</a:t>
            </a:r>
          </a:p>
          <a:p>
            <a:pPr lvl="3"/>
            <a:r>
              <a:rPr lang="zh-CN" altLang="en-US" sz="1800" dirty="0">
                <a:latin typeface="Arial"/>
              </a:rPr>
              <a:t>企业（即应用部门）的业务管理</a:t>
            </a:r>
          </a:p>
          <a:p>
            <a:pPr lvl="2"/>
            <a:r>
              <a:rPr lang="zh-CN" altLang="en-US" dirty="0">
                <a:latin typeface="Arial"/>
              </a:rPr>
              <a:t>基础数据</a:t>
            </a:r>
          </a:p>
          <a:p>
            <a:pPr lvl="3"/>
            <a:r>
              <a:rPr lang="zh-CN" altLang="en-US" sz="1800" b="1" dirty="0">
                <a:latin typeface="Arial"/>
              </a:rPr>
              <a:t>数据的收集、整理、组织和不断更新</a:t>
            </a:r>
            <a:endParaRPr lang="zh-CN" altLang="en-US" sz="1800" b="1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0CEC32-FF22-780D-3DC8-EA0E5DE6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347986-397E-DB01-C6E9-975783295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7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4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4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4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4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4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4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4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4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4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4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EE9A7-5163-420F-BA49-B00A1575A557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7.1.1 </a:t>
            </a:r>
            <a:r>
              <a:rPr lang="zh-CN" altLang="en-US" dirty="0"/>
              <a:t>数据库设计的特点</a:t>
            </a:r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>
                <a:latin typeface="Arial"/>
              </a:rPr>
              <a:t>2 </a:t>
            </a:r>
            <a:r>
              <a:rPr lang="zh-CN" altLang="en-US" sz="2800" dirty="0">
                <a:latin typeface="Arial"/>
              </a:rPr>
              <a:t>结构（数据）设计和行为（处理）设计相结合</a:t>
            </a:r>
          </a:p>
          <a:p>
            <a:pPr lvl="1"/>
            <a:r>
              <a:rPr lang="zh-CN" altLang="en-US" sz="2400" dirty="0">
                <a:latin typeface="Arial"/>
              </a:rPr>
              <a:t>将</a:t>
            </a:r>
            <a:r>
              <a:rPr lang="zh-CN" altLang="en-US" sz="2400" dirty="0">
                <a:solidFill>
                  <a:srgbClr val="0000FF"/>
                </a:solidFill>
                <a:latin typeface="Arial"/>
              </a:rPr>
              <a:t>数据库结构设计</a:t>
            </a:r>
            <a:r>
              <a:rPr lang="zh-CN" altLang="en-US" sz="2400" dirty="0">
                <a:latin typeface="Arial"/>
              </a:rPr>
              <a:t>和</a:t>
            </a:r>
            <a:r>
              <a:rPr lang="zh-CN" altLang="en-US" sz="2400" dirty="0">
                <a:solidFill>
                  <a:srgbClr val="0000FF"/>
                </a:solidFill>
                <a:latin typeface="Arial"/>
              </a:rPr>
              <a:t>数据处理设计</a:t>
            </a:r>
            <a:r>
              <a:rPr lang="zh-CN" altLang="en-US" sz="2400" dirty="0">
                <a:latin typeface="Arial"/>
              </a:rPr>
              <a:t>（</a:t>
            </a:r>
            <a:r>
              <a:rPr lang="zh-CN" altLang="en-US" sz="2400" dirty="0">
                <a:solidFill>
                  <a:srgbClr val="0000FF"/>
                </a:solidFill>
                <a:latin typeface="Arial"/>
              </a:rPr>
              <a:t>应用系统的设计</a:t>
            </a:r>
            <a:r>
              <a:rPr lang="zh-CN" altLang="en-US" sz="2400" dirty="0">
                <a:latin typeface="Arial"/>
              </a:rPr>
              <a:t>）密切结合</a:t>
            </a:r>
          </a:p>
          <a:p>
            <a:r>
              <a:rPr lang="zh-CN" altLang="en-US" sz="2800" dirty="0">
                <a:latin typeface="Arial"/>
              </a:rPr>
              <a:t>早期的数据库设计：重 结构设计</a:t>
            </a:r>
          </a:p>
          <a:p>
            <a:pPr lvl="1"/>
            <a:r>
              <a:rPr lang="zh-CN" altLang="en-US" sz="2400" dirty="0">
                <a:latin typeface="Arial"/>
              </a:rPr>
              <a:t>致力于数据模型和数据库建模方法研究，忽视了行为设计对结构设计的影响</a:t>
            </a:r>
            <a:endParaRPr lang="en-US" altLang="zh-CN" sz="2400" dirty="0">
              <a:latin typeface="Arial"/>
            </a:endParaRPr>
          </a:p>
          <a:p>
            <a:r>
              <a:rPr lang="zh-CN" altLang="en-US" sz="2800" dirty="0">
                <a:latin typeface="Arial"/>
              </a:rPr>
              <a:t>传统的软件工程：重 行为设计</a:t>
            </a:r>
          </a:p>
          <a:p>
            <a:pPr lvl="1"/>
            <a:r>
              <a:rPr lang="zh-CN" altLang="en-US" sz="2400" dirty="0">
                <a:latin typeface="Arial"/>
              </a:rPr>
              <a:t>忽视对应用中数据语义的分析和抽象，只要有可能就尽量推迟数据结构设计的决策</a:t>
            </a:r>
          </a:p>
          <a:p>
            <a:r>
              <a:rPr lang="zh-CN" altLang="en-US" sz="2800" dirty="0">
                <a:latin typeface="Arial"/>
              </a:rPr>
              <a:t>如何将两者相结合，许多学者和专家进行了探讨和实践。</a:t>
            </a:r>
          </a:p>
          <a:p>
            <a:pPr lvl="1"/>
            <a:endParaRPr lang="zh-CN" altLang="en-US" sz="140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740D21-F7A5-747C-25B7-7C499B54B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DB492B-3C2B-4F79-880B-7117F40B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8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297991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FDEC5-F0A0-49A3-827D-9968C34B635D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7.1.2 </a:t>
            </a:r>
            <a:r>
              <a:rPr lang="zh-CN" altLang="en-US"/>
              <a:t>数据库设计方法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005536"/>
          </a:xfrm>
        </p:spPr>
        <p:txBody>
          <a:bodyPr/>
          <a:lstStyle/>
          <a:p>
            <a:r>
              <a:rPr lang="zh-CN" altLang="en-US" sz="2800" dirty="0"/>
              <a:t>大型数据库设计是涉及多学科的综合性技术，又是一项庞大的工程项目。</a:t>
            </a:r>
          </a:p>
          <a:p>
            <a:r>
              <a:rPr lang="zh-CN" altLang="en-US" sz="2800" dirty="0"/>
              <a:t>它要求多方面的知识和技术。主要包括：</a:t>
            </a:r>
          </a:p>
          <a:p>
            <a:pPr lvl="1"/>
            <a:r>
              <a:rPr lang="zh-CN" altLang="en-US" sz="2400" dirty="0"/>
              <a:t>计算机的基础知识</a:t>
            </a:r>
          </a:p>
          <a:p>
            <a:pPr lvl="1"/>
            <a:r>
              <a:rPr lang="zh-CN" altLang="en-US" sz="2400" dirty="0"/>
              <a:t>软件工程的原理和方法</a:t>
            </a:r>
          </a:p>
          <a:p>
            <a:pPr lvl="1"/>
            <a:r>
              <a:rPr lang="zh-CN" altLang="en-US" sz="2400" dirty="0"/>
              <a:t>程序设计的方法和技巧</a:t>
            </a:r>
          </a:p>
          <a:p>
            <a:pPr lvl="1"/>
            <a:r>
              <a:rPr lang="zh-CN" altLang="en-US" sz="2400" dirty="0"/>
              <a:t>数据库的基本知识</a:t>
            </a:r>
          </a:p>
          <a:p>
            <a:pPr lvl="1"/>
            <a:r>
              <a:rPr lang="zh-CN" altLang="en-US" sz="2400" dirty="0"/>
              <a:t>数据库设计技术</a:t>
            </a:r>
          </a:p>
          <a:p>
            <a:pPr lvl="1"/>
            <a:r>
              <a:rPr lang="zh-CN" altLang="en-US" sz="2400" dirty="0"/>
              <a:t>应用领域的知识</a:t>
            </a:r>
            <a:endParaRPr lang="en-US" altLang="zh-CN" sz="2400" dirty="0"/>
          </a:p>
          <a:p>
            <a:pPr marL="57150" indent="0">
              <a:buNone/>
            </a:pPr>
            <a:r>
              <a:rPr lang="zh-CN" altLang="en-US" sz="2600" dirty="0"/>
              <a:t>现在看来，一个系统要成功，</a:t>
            </a:r>
            <a:r>
              <a:rPr lang="zh-CN" altLang="en-US" sz="2600" dirty="0">
                <a:solidFill>
                  <a:srgbClr val="FF3300"/>
                </a:solidFill>
              </a:rPr>
              <a:t>应用领域知识十分重要</a:t>
            </a:r>
            <a:r>
              <a:rPr lang="en-US" altLang="zh-CN" sz="2600" dirty="0"/>
              <a:t>(</a:t>
            </a:r>
            <a:r>
              <a:rPr lang="zh-CN" altLang="en-US" sz="2600" dirty="0"/>
              <a:t>个人体会</a:t>
            </a:r>
            <a:r>
              <a:rPr lang="en-US" altLang="zh-CN" sz="2600" dirty="0"/>
              <a:t>)</a:t>
            </a:r>
            <a:r>
              <a:rPr lang="zh-CN" altLang="en-US" sz="2600" dirty="0"/>
              <a:t>。</a:t>
            </a:r>
          </a:p>
          <a:p>
            <a:pPr lvl="1"/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0BE858-DA8C-9399-B753-029B05709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62223D-69DE-EC5D-5D39-8971B9DC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9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DABFC-C813-4E70-A9EF-4C22D598BFB6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7.1.2 </a:t>
            </a:r>
            <a:r>
              <a:rPr lang="zh-CN" altLang="en-US" dirty="0"/>
              <a:t>数据库设计方法</a:t>
            </a:r>
            <a:r>
              <a:rPr lang="en-US" altLang="zh-CN" dirty="0"/>
              <a:t>---</a:t>
            </a:r>
            <a:r>
              <a:rPr lang="zh-CN" altLang="en-US" dirty="0"/>
              <a:t>早期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7772400" cy="4684713"/>
          </a:xfrm>
        </p:spPr>
        <p:txBody>
          <a:bodyPr/>
          <a:lstStyle/>
          <a:p>
            <a:r>
              <a:rPr lang="zh-CN" altLang="en-US" sz="2800" dirty="0"/>
              <a:t>手工试凑法</a:t>
            </a:r>
          </a:p>
          <a:p>
            <a:pPr lvl="1"/>
            <a:r>
              <a:rPr lang="zh-CN" altLang="en-US" sz="2400" b="1" dirty="0"/>
              <a:t>设计质量</a:t>
            </a:r>
            <a:r>
              <a:rPr lang="zh-CN" altLang="en-US" sz="2400" dirty="0"/>
              <a:t>与</a:t>
            </a:r>
            <a:r>
              <a:rPr lang="zh-CN" altLang="en-US" sz="2400" dirty="0">
                <a:solidFill>
                  <a:srgbClr val="0000FF"/>
                </a:solidFill>
              </a:rPr>
              <a:t>设计人员的经验和水平</a:t>
            </a:r>
            <a:r>
              <a:rPr lang="zh-CN" altLang="en-US" sz="2400" dirty="0"/>
              <a:t>有直接关系</a:t>
            </a:r>
          </a:p>
          <a:p>
            <a:pPr lvl="1"/>
            <a:r>
              <a:rPr lang="zh-CN" altLang="en-US" sz="2400" dirty="0"/>
              <a:t>缺乏科学理论和工程方法的支持，工程的质量难以保证</a:t>
            </a:r>
          </a:p>
          <a:p>
            <a:pPr lvl="1"/>
            <a:r>
              <a:rPr lang="zh-CN" altLang="en-US" sz="2400" dirty="0"/>
              <a:t>数据库运行一段时间后常常又不同程度地发现各种问题，增加了维护代价</a:t>
            </a:r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D21E7C-640E-E97E-072D-95AE5152D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6E467A-2656-F12C-C359-C68C96B1F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10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272920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FD236-5B7D-4222-A14C-F6FC36DCD79D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7.1.2 </a:t>
            </a:r>
            <a:r>
              <a:rPr lang="zh-CN" altLang="en-US"/>
              <a:t>数据库设计方法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345488" cy="4684713"/>
          </a:xfrm>
        </p:spPr>
        <p:txBody>
          <a:bodyPr/>
          <a:lstStyle/>
          <a:p>
            <a:r>
              <a:rPr lang="zh-CN" altLang="en-US" sz="2800" dirty="0"/>
              <a:t>十余年来人们努力探索，提出了各种数据库设计方法，这些方法运用</a:t>
            </a:r>
            <a:r>
              <a:rPr lang="zh-CN" altLang="en-US" sz="2800" u="sng" dirty="0">
                <a:solidFill>
                  <a:schemeClr val="tx2"/>
                </a:solidFill>
              </a:rPr>
              <a:t>软件工程</a:t>
            </a:r>
            <a:r>
              <a:rPr lang="zh-CN" altLang="en-US" sz="2800" u="sng" dirty="0"/>
              <a:t>的思想和方法</a:t>
            </a:r>
            <a:r>
              <a:rPr lang="zh-CN" altLang="en-US" sz="2800" dirty="0"/>
              <a:t>，提出了各种</a:t>
            </a:r>
            <a:r>
              <a:rPr lang="zh-CN" altLang="en-US" sz="2800" u="sng" dirty="0"/>
              <a:t>设计准则和规程</a:t>
            </a:r>
            <a:r>
              <a:rPr lang="zh-CN" altLang="en-US" sz="2800" dirty="0"/>
              <a:t>，都属于</a:t>
            </a:r>
            <a:r>
              <a:rPr lang="zh-CN" altLang="en-US" sz="2800" dirty="0">
                <a:solidFill>
                  <a:srgbClr val="C00000"/>
                </a:solidFill>
              </a:rPr>
              <a:t>规范设计法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pPr lvl="1"/>
            <a:r>
              <a:rPr lang="zh-CN" altLang="en-US" sz="2400" dirty="0"/>
              <a:t>基本思想是</a:t>
            </a:r>
            <a:r>
              <a:rPr lang="zh-CN" altLang="en-US" sz="2400" b="1" dirty="0">
                <a:solidFill>
                  <a:schemeClr val="tx2"/>
                </a:solidFill>
              </a:rPr>
              <a:t>过程迭代</a:t>
            </a:r>
            <a:r>
              <a:rPr lang="zh-CN" altLang="en-US" sz="2400" dirty="0"/>
              <a:t>和</a:t>
            </a:r>
            <a:r>
              <a:rPr lang="zh-CN" altLang="en-US" sz="2400" b="1" dirty="0">
                <a:solidFill>
                  <a:schemeClr val="tx2"/>
                </a:solidFill>
              </a:rPr>
              <a:t>逐步求精</a:t>
            </a:r>
            <a:endParaRPr lang="en-US" altLang="zh-CN" sz="2400" b="1" dirty="0">
              <a:solidFill>
                <a:schemeClr val="tx2"/>
              </a:solidFill>
            </a:endParaRPr>
          </a:p>
          <a:p>
            <a:pPr lvl="1"/>
            <a:r>
              <a:rPr lang="zh-CN" altLang="en-US" dirty="0"/>
              <a:t>典型方法 </a:t>
            </a:r>
          </a:p>
          <a:p>
            <a:pPr lvl="2"/>
            <a:r>
              <a:rPr lang="zh-CN" altLang="en-US" dirty="0"/>
              <a:t>新奥尔良方法：</a:t>
            </a:r>
          </a:p>
          <a:p>
            <a:pPr lvl="2">
              <a:buFont typeface="Wingdings" pitchFamily="2" charset="2"/>
              <a:buNone/>
            </a:pPr>
            <a:r>
              <a:rPr lang="zh-CN" altLang="en-US" dirty="0"/>
              <a:t>   将设计分四个阶段：需求、概念、逻辑和物理设计</a:t>
            </a:r>
          </a:p>
          <a:p>
            <a:pPr lvl="2"/>
            <a:r>
              <a:rPr lang="zh-CN" altLang="en-US" dirty="0"/>
              <a:t>基于</a:t>
            </a:r>
            <a:r>
              <a:rPr lang="en-US" altLang="zh-CN" dirty="0"/>
              <a:t>E-R</a:t>
            </a:r>
            <a:r>
              <a:rPr lang="zh-CN" altLang="en-US" dirty="0"/>
              <a:t>模型的数据库设计方法 </a:t>
            </a:r>
            <a:r>
              <a:rPr lang="zh-CN" altLang="en-US" dirty="0">
                <a:solidFill>
                  <a:schemeClr val="tx2"/>
                </a:solidFill>
              </a:rPr>
              <a:t>概念模型</a:t>
            </a:r>
            <a:endParaRPr lang="en-US" altLang="zh-CN" dirty="0">
              <a:solidFill>
                <a:schemeClr val="tx2"/>
              </a:solidFill>
            </a:endParaRPr>
          </a:p>
          <a:p>
            <a:pPr lvl="2"/>
            <a:r>
              <a:rPr lang="zh-CN" altLang="en-US" dirty="0"/>
              <a:t>基于</a:t>
            </a:r>
            <a:r>
              <a:rPr lang="en-US" altLang="zh-CN" dirty="0"/>
              <a:t>3NF</a:t>
            </a:r>
            <a:r>
              <a:rPr lang="zh-CN" altLang="en-US" dirty="0"/>
              <a:t>的设计方法  </a:t>
            </a:r>
            <a:r>
              <a:rPr lang="zh-CN" altLang="en-US" dirty="0">
                <a:solidFill>
                  <a:schemeClr val="tx2"/>
                </a:solidFill>
              </a:rPr>
              <a:t>逻辑模型</a:t>
            </a:r>
          </a:p>
          <a:p>
            <a:pPr lvl="2"/>
            <a:r>
              <a:rPr lang="en-US" altLang="zh-CN" dirty="0"/>
              <a:t>ODL</a:t>
            </a:r>
            <a:r>
              <a:rPr lang="zh-CN" altLang="en-US" dirty="0"/>
              <a:t>（对象定义语言）设计方法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5F3FF2-8435-3E24-D208-05F132594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01A102-35BA-596A-D6A7-A00BF363C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11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18160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5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5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5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5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5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5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5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5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5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5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C13B-35A2-4202-A03E-0A98980C9E64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数据库设计方法</a:t>
            </a:r>
          </a:p>
        </p:txBody>
      </p:sp>
      <p:sp>
        <p:nvSpPr>
          <p:cNvPr id="34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近年来，数据库</a:t>
            </a:r>
            <a:r>
              <a:rPr lang="zh-CN" altLang="en-US" dirty="0">
                <a:solidFill>
                  <a:schemeClr val="tx2"/>
                </a:solidFill>
              </a:rPr>
              <a:t>设计工具</a:t>
            </a:r>
            <a:r>
              <a:rPr lang="zh-CN" altLang="en-US" dirty="0"/>
              <a:t>已经</a:t>
            </a:r>
            <a:r>
              <a:rPr lang="zh-CN" altLang="en-US" dirty="0">
                <a:solidFill>
                  <a:srgbClr val="0000FF"/>
                </a:solidFill>
              </a:rPr>
              <a:t>实用化和产品化</a:t>
            </a:r>
            <a:r>
              <a:rPr lang="zh-CN" altLang="en-US" dirty="0"/>
              <a:t>。如</a:t>
            </a:r>
            <a:r>
              <a:rPr lang="en-US" altLang="zh-CN" dirty="0"/>
              <a:t>Designer 2000</a:t>
            </a:r>
            <a:r>
              <a:rPr lang="zh-CN" altLang="en-US" dirty="0"/>
              <a:t>和</a:t>
            </a:r>
            <a:r>
              <a:rPr lang="en-US" altLang="zh-CN" dirty="0" err="1"/>
              <a:t>PowerDesigner</a:t>
            </a:r>
            <a:r>
              <a:rPr lang="zh-CN" altLang="en-US" dirty="0"/>
              <a:t>分别是</a:t>
            </a:r>
            <a:r>
              <a:rPr lang="en-US" altLang="zh-CN" dirty="0"/>
              <a:t>ORACLE</a:t>
            </a:r>
            <a:r>
              <a:rPr lang="zh-CN" altLang="en-US" dirty="0"/>
              <a:t>公司和</a:t>
            </a:r>
            <a:r>
              <a:rPr lang="en-US" altLang="zh-CN" dirty="0"/>
              <a:t>SYBASE</a:t>
            </a:r>
            <a:r>
              <a:rPr lang="zh-CN" altLang="en-US" dirty="0"/>
              <a:t>公司推出的</a:t>
            </a:r>
            <a:r>
              <a:rPr lang="zh-CN" altLang="en-US" dirty="0">
                <a:solidFill>
                  <a:srgbClr val="0000FF"/>
                </a:solidFill>
              </a:rPr>
              <a:t>数据库设计工具软件</a:t>
            </a:r>
            <a:r>
              <a:rPr lang="zh-CN" altLang="en-US" dirty="0"/>
              <a:t>。它们可以自动或辅助设计人员完成数据库设计工作中的很多任务。</a:t>
            </a:r>
          </a:p>
          <a:p>
            <a:endParaRPr lang="zh-CN" altLang="en-US" sz="800" dirty="0"/>
          </a:p>
          <a:p>
            <a:r>
              <a:rPr lang="zh-CN" altLang="en-US" dirty="0">
                <a:solidFill>
                  <a:srgbClr val="0000FF"/>
                </a:solidFill>
              </a:rPr>
              <a:t>数据库设计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应用设计</a:t>
            </a:r>
            <a:r>
              <a:rPr lang="zh-CN" altLang="en-US" dirty="0"/>
              <a:t>应该</a:t>
            </a:r>
            <a:r>
              <a:rPr lang="zh-CN" altLang="en-US" dirty="0">
                <a:solidFill>
                  <a:srgbClr val="0000FF"/>
                </a:solidFill>
              </a:rPr>
              <a:t>同时进行</a:t>
            </a:r>
            <a:r>
              <a:rPr lang="zh-CN" altLang="en-US" dirty="0"/>
              <a:t>，目前许多</a:t>
            </a:r>
            <a:r>
              <a:rPr lang="en-US" altLang="zh-CN" dirty="0"/>
              <a:t>CASE</a:t>
            </a:r>
            <a:r>
              <a:rPr lang="zh-CN" altLang="en-US" dirty="0"/>
              <a:t>工具已经开始强调这两个方面的结合，</a:t>
            </a:r>
            <a:r>
              <a:rPr lang="en-US" altLang="zh-CN" dirty="0"/>
              <a:t>ER-Win</a:t>
            </a:r>
            <a:r>
              <a:rPr lang="zh-CN" altLang="en-US" dirty="0"/>
              <a:t>和</a:t>
            </a:r>
            <a:r>
              <a:rPr lang="en-US" altLang="zh-CN" dirty="0"/>
              <a:t>Rational Rose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143A8F-19C3-515A-D0E0-89AC34B27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CE52C7-AE0A-2FCF-C8DA-04EF2C32D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12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BC9CC-83DC-4119-8D42-80CAC0F2E9BF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7.1.3 </a:t>
            </a:r>
            <a:r>
              <a:rPr lang="zh-CN" altLang="en-US"/>
              <a:t>数据库设计基本步骤</a:t>
            </a:r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dirty="0"/>
              <a:t>数据库设计是在</a:t>
            </a:r>
            <a:r>
              <a:rPr lang="en-US" altLang="zh-CN" sz="2800" dirty="0">
                <a:solidFill>
                  <a:srgbClr val="0000FF"/>
                </a:solidFill>
              </a:rPr>
              <a:t>DBMS</a:t>
            </a:r>
            <a:r>
              <a:rPr lang="zh-CN" altLang="en-US" sz="2800" dirty="0"/>
              <a:t>支持下设计数据库应用系统（如管理信息系统）的过程。</a:t>
            </a:r>
          </a:p>
          <a:p>
            <a:pPr>
              <a:lnSpc>
                <a:spcPct val="80000"/>
              </a:lnSpc>
            </a:pPr>
            <a:r>
              <a:rPr lang="zh-CN" altLang="en-US" sz="2800" dirty="0"/>
              <a:t>以</a:t>
            </a:r>
            <a:r>
              <a:rPr lang="zh-CN" altLang="en-US" sz="2800" dirty="0">
                <a:solidFill>
                  <a:srgbClr val="C00000"/>
                </a:solidFill>
              </a:rPr>
              <a:t>概念结构设计、逻辑数据库设计</a:t>
            </a: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rgbClr val="C00000"/>
                </a:solidFill>
              </a:rPr>
              <a:t>物理数据库设计</a:t>
            </a:r>
            <a:r>
              <a:rPr lang="zh-CN" altLang="en-US" sz="2800" dirty="0">
                <a:solidFill>
                  <a:schemeClr val="tx2"/>
                </a:solidFill>
              </a:rPr>
              <a:t>为核心</a:t>
            </a:r>
            <a:r>
              <a:rPr lang="zh-CN" altLang="en-US" sz="2800" dirty="0"/>
              <a:t>的规范化设计。</a:t>
            </a:r>
          </a:p>
          <a:p>
            <a:pPr>
              <a:lnSpc>
                <a:spcPct val="80000"/>
              </a:lnSpc>
            </a:pPr>
            <a:r>
              <a:rPr lang="zh-CN" altLang="en-US" sz="2800" dirty="0"/>
              <a:t>一般分为如下六个阶段：</a:t>
            </a:r>
          </a:p>
          <a:p>
            <a:pPr lvl="1">
              <a:lnSpc>
                <a:spcPct val="80000"/>
              </a:lnSpc>
            </a:pPr>
            <a:r>
              <a:rPr lang="zh-CN" altLang="en-US" sz="2400" dirty="0">
                <a:solidFill>
                  <a:schemeClr val="tx2"/>
                </a:solidFill>
              </a:rPr>
              <a:t>需求分析</a:t>
            </a:r>
          </a:p>
          <a:p>
            <a:pPr lvl="1">
              <a:lnSpc>
                <a:spcPct val="80000"/>
              </a:lnSpc>
            </a:pPr>
            <a:r>
              <a:rPr lang="zh-CN" altLang="en-US" sz="2400" dirty="0">
                <a:solidFill>
                  <a:schemeClr val="tx2"/>
                </a:solidFill>
              </a:rPr>
              <a:t>概念结构设计  </a:t>
            </a:r>
            <a:r>
              <a:rPr lang="zh-CN" altLang="en-US" sz="2400" dirty="0"/>
              <a:t>构造</a:t>
            </a:r>
            <a:r>
              <a:rPr lang="en-US" altLang="zh-CN" sz="2400" dirty="0">
                <a:solidFill>
                  <a:schemeClr val="tx2"/>
                </a:solidFill>
              </a:rPr>
              <a:t>ER</a:t>
            </a:r>
            <a:r>
              <a:rPr lang="zh-CN" altLang="en-US" sz="2400" dirty="0">
                <a:solidFill>
                  <a:schemeClr val="tx2"/>
                </a:solidFill>
              </a:rPr>
              <a:t>模型</a:t>
            </a:r>
          </a:p>
          <a:p>
            <a:pPr lvl="1">
              <a:lnSpc>
                <a:spcPct val="80000"/>
              </a:lnSpc>
            </a:pPr>
            <a:r>
              <a:rPr lang="zh-CN" altLang="en-US" sz="2400" dirty="0">
                <a:solidFill>
                  <a:srgbClr val="C00000"/>
                </a:solidFill>
              </a:rPr>
              <a:t>逻辑结构设计</a:t>
            </a:r>
            <a:r>
              <a:rPr lang="zh-CN" altLang="en-US" sz="2400" dirty="0"/>
              <a:t>	生成一组</a:t>
            </a:r>
            <a:r>
              <a:rPr lang="zh-CN" altLang="en-US" sz="2400" dirty="0">
                <a:solidFill>
                  <a:schemeClr val="tx2"/>
                </a:solidFill>
              </a:rPr>
              <a:t>关系模式</a:t>
            </a:r>
          </a:p>
          <a:p>
            <a:pPr lvl="1">
              <a:lnSpc>
                <a:spcPct val="80000"/>
              </a:lnSpc>
            </a:pPr>
            <a:r>
              <a:rPr lang="zh-CN" altLang="en-US" sz="2400" dirty="0">
                <a:solidFill>
                  <a:srgbClr val="C00000"/>
                </a:solidFill>
              </a:rPr>
              <a:t>物理结构设计  </a:t>
            </a:r>
            <a:r>
              <a:rPr lang="zh-CN" altLang="en-US" sz="2400" dirty="0"/>
              <a:t>设计具体</a:t>
            </a:r>
            <a:r>
              <a:rPr lang="en-US" altLang="zh-CN" sz="2400" dirty="0"/>
              <a:t>DBMS</a:t>
            </a:r>
            <a:r>
              <a:rPr lang="zh-CN" altLang="en-US" sz="2400" dirty="0"/>
              <a:t>下的表、视图、索引</a:t>
            </a:r>
          </a:p>
          <a:p>
            <a:pPr lvl="1">
              <a:lnSpc>
                <a:spcPct val="80000"/>
              </a:lnSpc>
            </a:pPr>
            <a:r>
              <a:rPr lang="zh-CN" altLang="en-US" sz="2400" dirty="0"/>
              <a:t>数据库实施</a:t>
            </a:r>
          </a:p>
          <a:p>
            <a:pPr lvl="1">
              <a:lnSpc>
                <a:spcPct val="80000"/>
              </a:lnSpc>
            </a:pPr>
            <a:r>
              <a:rPr lang="zh-CN" altLang="en-US" sz="2400" dirty="0"/>
              <a:t>数据库运行和维护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EC3BBC-DC40-995E-CFFD-D248DF6F0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44AFAD-17B1-9E9C-A448-72AF43676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13</a:t>
            </a:fld>
            <a:r>
              <a:rPr lang="en-US" altLang="zh-CN"/>
              <a:t>/103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4953000" y="4842808"/>
            <a:ext cx="3962400" cy="1938992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需求分析和概念设计</a:t>
            </a:r>
            <a:r>
              <a:rPr lang="zh-CN" altLang="en-US" dirty="0">
                <a:solidFill>
                  <a:srgbClr val="0000FF"/>
                </a:solidFill>
              </a:rPr>
              <a:t>独立于</a:t>
            </a:r>
            <a:r>
              <a:rPr lang="zh-CN" altLang="en-US" dirty="0"/>
              <a:t>任何数据库管理系统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dirty="0"/>
              <a:t>逻辑设计和物理设计与选用的</a:t>
            </a:r>
            <a:r>
              <a:rPr lang="zh-CN" altLang="en-US" dirty="0">
                <a:solidFill>
                  <a:srgbClr val="0000FF"/>
                </a:solidFill>
              </a:rPr>
              <a:t>数据库管理系统密切相关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06E2C-AECE-41ED-B5BD-A1B76FC839D0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7.1.3 </a:t>
            </a:r>
            <a:r>
              <a:rPr lang="zh-CN" altLang="en-US"/>
              <a:t>数据库设计基本步骤</a:t>
            </a:r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zh-CN" altLang="en-US" sz="280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C49A3D-D896-02B1-5AE8-32527242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74AED6-40CA-6E6B-712A-E2E45C109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14</a:t>
            </a:fld>
            <a:r>
              <a:rPr lang="en-US" altLang="zh-CN"/>
              <a:t>/103</a:t>
            </a:r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0"/>
            <a:ext cx="6070210" cy="6908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3068415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6E64A-D432-43A4-95F6-59A05683CBF7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7.1.3 </a:t>
            </a:r>
            <a:r>
              <a:rPr lang="zh-CN" altLang="en-US"/>
              <a:t>数据库设计基本步骤</a:t>
            </a:r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077200" cy="4684713"/>
          </a:xfrm>
        </p:spPr>
        <p:txBody>
          <a:bodyPr/>
          <a:lstStyle/>
          <a:p>
            <a:r>
              <a:rPr lang="en-US" altLang="zh-CN" sz="2800" dirty="0"/>
              <a:t>1. </a:t>
            </a:r>
            <a:r>
              <a:rPr lang="zh-CN" altLang="en-US" sz="2800" dirty="0"/>
              <a:t>需求分析阶段</a:t>
            </a:r>
          </a:p>
          <a:p>
            <a:pPr lvl="1"/>
            <a:r>
              <a:rPr lang="zh-CN" altLang="en-US" sz="2400" dirty="0"/>
              <a:t>是否做得充分与准确，了构建数据库的速度和质量决定</a:t>
            </a:r>
          </a:p>
          <a:p>
            <a:r>
              <a:rPr lang="en-US" altLang="zh-CN" sz="2800" dirty="0"/>
              <a:t>2. </a:t>
            </a:r>
            <a:r>
              <a:rPr lang="zh-CN" altLang="en-US" sz="2800" dirty="0"/>
              <a:t>概念结构设计阶段</a:t>
            </a:r>
          </a:p>
          <a:p>
            <a:pPr lvl="1"/>
            <a:r>
              <a:rPr lang="zh-CN" altLang="en-US" sz="2400" dirty="0"/>
              <a:t>通过对用户需求进行</a:t>
            </a:r>
            <a:r>
              <a:rPr lang="zh-CN" altLang="en-US" sz="2400" dirty="0">
                <a:solidFill>
                  <a:srgbClr val="0000FF"/>
                </a:solidFill>
              </a:rPr>
              <a:t>综合、归纳与抽象</a:t>
            </a:r>
            <a:r>
              <a:rPr lang="zh-CN" altLang="en-US" sz="2400" dirty="0"/>
              <a:t>，形成一个</a:t>
            </a:r>
            <a:r>
              <a:rPr lang="zh-CN" altLang="en-US" sz="2400" dirty="0">
                <a:solidFill>
                  <a:schemeClr val="tx2"/>
                </a:solidFill>
              </a:rPr>
              <a:t>独立于具体数据库管理系统的</a:t>
            </a:r>
            <a:r>
              <a:rPr lang="zh-CN" altLang="en-US" sz="2400" b="1" dirty="0">
                <a:solidFill>
                  <a:srgbClr val="FF0000"/>
                </a:solidFill>
              </a:rPr>
              <a:t>概念模型</a:t>
            </a:r>
          </a:p>
          <a:p>
            <a:r>
              <a:rPr lang="en-US" altLang="zh-CN" sz="2800" dirty="0"/>
              <a:t>3. </a:t>
            </a:r>
            <a:r>
              <a:rPr lang="zh-CN" altLang="en-US" sz="2800" dirty="0"/>
              <a:t>逻辑结构设计阶段</a:t>
            </a:r>
          </a:p>
          <a:p>
            <a:pPr lvl="1"/>
            <a:r>
              <a:rPr lang="zh-CN" altLang="en-US" sz="2400" dirty="0"/>
              <a:t>将概念结构转换为某个</a:t>
            </a:r>
            <a:r>
              <a:rPr lang="zh-CN" altLang="en-US" sz="2400" dirty="0">
                <a:solidFill>
                  <a:srgbClr val="800080"/>
                </a:solidFill>
              </a:rPr>
              <a:t>数据库管理系统</a:t>
            </a:r>
            <a:r>
              <a:rPr lang="zh-CN" altLang="en-US" sz="2400" dirty="0">
                <a:solidFill>
                  <a:schemeClr val="tx2"/>
                </a:solidFill>
              </a:rPr>
              <a:t>所支持的</a:t>
            </a:r>
            <a:r>
              <a:rPr lang="zh-CN" altLang="en-US" sz="2400" b="1" dirty="0">
                <a:solidFill>
                  <a:srgbClr val="0000FF"/>
                </a:solidFill>
              </a:rPr>
              <a:t>数据模型</a:t>
            </a:r>
            <a:r>
              <a:rPr lang="zh-CN" altLang="en-US" sz="2400" dirty="0"/>
              <a:t>，并对其进行</a:t>
            </a:r>
            <a:r>
              <a:rPr lang="zh-CN" altLang="en-US" sz="2400" dirty="0">
                <a:solidFill>
                  <a:srgbClr val="0000FF"/>
                </a:solidFill>
              </a:rPr>
              <a:t>优化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FDE44A-3C25-DA74-2792-F53E6B734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E52962-C5E7-A268-743E-D9220E74D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15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00107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23421-597C-4855-86D5-A1645525A67A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7.1.3 </a:t>
            </a:r>
            <a:r>
              <a:rPr lang="zh-CN" altLang="en-US"/>
              <a:t>数据库设计基本步骤</a:t>
            </a:r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/>
              <a:t>4. </a:t>
            </a:r>
            <a:r>
              <a:rPr lang="zh-CN" altLang="en-US" sz="2800" dirty="0"/>
              <a:t>物理结构设计阶段</a:t>
            </a:r>
          </a:p>
          <a:p>
            <a:pPr lvl="1"/>
            <a:r>
              <a:rPr lang="zh-CN" altLang="en-US" sz="2400" dirty="0"/>
              <a:t>为逻辑数据结构选取一个最适合应用环境的物理结构</a:t>
            </a:r>
          </a:p>
          <a:p>
            <a:pPr lvl="1"/>
            <a:r>
              <a:rPr lang="zh-CN" altLang="en-US" sz="2400" dirty="0"/>
              <a:t>包括</a:t>
            </a:r>
            <a:r>
              <a:rPr lang="zh-CN" altLang="en-US" sz="2400" dirty="0">
                <a:solidFill>
                  <a:srgbClr val="0000FF"/>
                </a:solidFill>
              </a:rPr>
              <a:t>存储结构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00FF"/>
                </a:solidFill>
              </a:rPr>
              <a:t>存取方法</a:t>
            </a:r>
          </a:p>
          <a:p>
            <a:r>
              <a:rPr lang="en-US" altLang="zh-CN" sz="2800" dirty="0"/>
              <a:t>5. </a:t>
            </a:r>
            <a:r>
              <a:rPr lang="zh-CN" altLang="en-US" sz="2800" dirty="0"/>
              <a:t>数据库实施阶段</a:t>
            </a:r>
          </a:p>
          <a:p>
            <a:pPr lvl="1"/>
            <a:r>
              <a:rPr lang="zh-CN" altLang="en-US" sz="2400" dirty="0"/>
              <a:t>根据逻辑设计和物理设计的结果</a:t>
            </a:r>
            <a:r>
              <a:rPr lang="zh-CN" altLang="en-US" sz="2400" dirty="0">
                <a:solidFill>
                  <a:srgbClr val="0000FF"/>
                </a:solidFill>
              </a:rPr>
              <a:t>构建数据库</a:t>
            </a:r>
          </a:p>
          <a:p>
            <a:pPr lvl="1"/>
            <a:r>
              <a:rPr lang="zh-CN" altLang="en-US" sz="2400" dirty="0"/>
              <a:t>编写与调试</a:t>
            </a:r>
            <a:r>
              <a:rPr lang="zh-CN" altLang="en-US" sz="2400" dirty="0">
                <a:solidFill>
                  <a:srgbClr val="0000FF"/>
                </a:solidFill>
              </a:rPr>
              <a:t>应用程序</a:t>
            </a:r>
          </a:p>
          <a:p>
            <a:pPr lvl="1"/>
            <a:r>
              <a:rPr lang="zh-CN" altLang="en-US" sz="2400" dirty="0">
                <a:solidFill>
                  <a:srgbClr val="0000FF"/>
                </a:solidFill>
              </a:rPr>
              <a:t>组织数据入库</a:t>
            </a:r>
            <a:r>
              <a:rPr lang="zh-CN" altLang="en-US" sz="2400" dirty="0"/>
              <a:t>并进行试运行</a:t>
            </a:r>
          </a:p>
          <a:p>
            <a:r>
              <a:rPr lang="en-US" altLang="zh-CN" sz="2800" dirty="0"/>
              <a:t>6. </a:t>
            </a:r>
            <a:r>
              <a:rPr lang="zh-CN" altLang="en-US" sz="2800" dirty="0"/>
              <a:t>数据库运行和维护阶段</a:t>
            </a:r>
          </a:p>
          <a:p>
            <a:pPr lvl="1"/>
            <a:r>
              <a:rPr lang="zh-CN" altLang="en-US" sz="2400" dirty="0"/>
              <a:t>经过试运行后即可投入正式运行</a:t>
            </a:r>
          </a:p>
          <a:p>
            <a:pPr lvl="1"/>
            <a:r>
              <a:rPr lang="zh-CN" altLang="en-US" sz="2400" dirty="0"/>
              <a:t>在运行过程中必须</a:t>
            </a:r>
            <a:r>
              <a:rPr lang="zh-CN" altLang="en-US" sz="2400" dirty="0">
                <a:solidFill>
                  <a:srgbClr val="0000FF"/>
                </a:solidFill>
              </a:rPr>
              <a:t>不断对其进行评估、调整与修改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E334D9-86C7-B28F-1E05-2952A835A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E636E5-392B-C817-6FDA-6B4F623B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16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765780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A87AD-1B09-484E-8432-E15BEB88D3EA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7.1.3 </a:t>
            </a:r>
            <a:r>
              <a:rPr lang="zh-CN" altLang="en-US"/>
              <a:t>数据库设计基本步骤</a:t>
            </a:r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/>
              <a:t>设计一个完善的数据库应用系统，往往是上述</a:t>
            </a:r>
            <a:r>
              <a:rPr lang="en-US" altLang="zh-CN" sz="2800" dirty="0"/>
              <a:t>6</a:t>
            </a:r>
            <a:r>
              <a:rPr lang="zh-CN" altLang="en-US" sz="2800" dirty="0"/>
              <a:t>个阶段的</a:t>
            </a:r>
            <a:r>
              <a:rPr lang="zh-CN" altLang="en-US" sz="2800" dirty="0">
                <a:solidFill>
                  <a:srgbClr val="0000FF"/>
                </a:solidFill>
              </a:rPr>
              <a:t>不断反复</a:t>
            </a:r>
          </a:p>
          <a:p>
            <a:r>
              <a:rPr lang="zh-CN" altLang="en-US" sz="2800" dirty="0"/>
              <a:t>这个设计步骤既是</a:t>
            </a:r>
            <a:r>
              <a:rPr lang="zh-CN" altLang="en-US" sz="2800" dirty="0">
                <a:solidFill>
                  <a:srgbClr val="0000FF"/>
                </a:solidFill>
              </a:rPr>
              <a:t>数据库设计</a:t>
            </a:r>
            <a:r>
              <a:rPr lang="zh-CN" altLang="en-US" sz="2800" dirty="0"/>
              <a:t>的过程，也包括了</a:t>
            </a:r>
            <a:r>
              <a:rPr lang="zh-CN" altLang="en-US" sz="2800" dirty="0">
                <a:solidFill>
                  <a:srgbClr val="0000FF"/>
                </a:solidFill>
              </a:rPr>
              <a:t>数据库应用系统的设计</a:t>
            </a:r>
            <a:r>
              <a:rPr lang="zh-CN" altLang="en-US" sz="2800" dirty="0"/>
              <a:t>过程</a:t>
            </a:r>
          </a:p>
          <a:p>
            <a:r>
              <a:rPr lang="zh-CN" altLang="en-US" sz="2800" dirty="0"/>
              <a:t>把</a:t>
            </a:r>
            <a:r>
              <a:rPr lang="zh-CN" altLang="en-US" sz="2800" b="1" dirty="0">
                <a:solidFill>
                  <a:srgbClr val="0000FF"/>
                </a:solidFill>
              </a:rPr>
              <a:t>数据库</a:t>
            </a:r>
            <a:r>
              <a:rPr lang="zh-CN" altLang="en-US" sz="2800" dirty="0">
                <a:solidFill>
                  <a:schemeClr val="tx2"/>
                </a:solidFill>
              </a:rPr>
              <a:t>的设计</a:t>
            </a: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chemeClr val="tx2"/>
                </a:solidFill>
              </a:rPr>
              <a:t>对</a:t>
            </a:r>
            <a:r>
              <a:rPr lang="zh-CN" altLang="en-US" sz="2800" b="1" dirty="0">
                <a:solidFill>
                  <a:schemeClr val="tx2"/>
                </a:solidFill>
              </a:rPr>
              <a:t>数据库中</a:t>
            </a:r>
            <a:r>
              <a:rPr lang="zh-CN" altLang="en-US" sz="2800" b="1" dirty="0">
                <a:solidFill>
                  <a:srgbClr val="0000FF"/>
                </a:solidFill>
              </a:rPr>
              <a:t>数据处理（功能需求规格说明）</a:t>
            </a:r>
            <a:r>
              <a:rPr lang="zh-CN" altLang="en-US" sz="2800" dirty="0">
                <a:solidFill>
                  <a:schemeClr val="tx2"/>
                </a:solidFill>
              </a:rPr>
              <a:t>的设计</a:t>
            </a:r>
            <a:r>
              <a:rPr lang="zh-CN" altLang="en-US" sz="2800" dirty="0"/>
              <a:t>紧密结合起来，将这两个方面的需求分析、抽象、设计、实现在各个阶段同时进行，相互参照，相互补充，以完善两方面的设计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197CCF-82CF-6B18-3AAD-F8A0F530E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4CC15D-790F-F65C-327F-115B3DC3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17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591509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3026C-5E3B-4AAA-998C-1A3CF00FCE56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7.1.3 </a:t>
            </a:r>
            <a:r>
              <a:rPr lang="zh-CN" altLang="en-US"/>
              <a:t>数据库设计基本步骤</a:t>
            </a:r>
          </a:p>
        </p:txBody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zh-CN" altLang="en-US" sz="2800" dirty="0"/>
          </a:p>
        </p:txBody>
      </p:sp>
      <p:sp>
        <p:nvSpPr>
          <p:cNvPr id="2" name="矩形 1"/>
          <p:cNvSpPr/>
          <p:nvPr/>
        </p:nvSpPr>
        <p:spPr>
          <a:xfrm>
            <a:off x="-152400" y="2590800"/>
            <a:ext cx="1905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b="1" dirty="0"/>
              <a:t>7.3 </a:t>
            </a:r>
            <a:r>
              <a:rPr lang="zh-CN" altLang="en-US" dirty="0"/>
              <a:t>数据库设计各个阶段的</a:t>
            </a:r>
            <a:r>
              <a:rPr lang="zh-CN" altLang="en-US" dirty="0">
                <a:solidFill>
                  <a:srgbClr val="0000FF"/>
                </a:solidFill>
              </a:rPr>
              <a:t>数据设计</a:t>
            </a:r>
            <a:r>
              <a:rPr lang="zh-CN" altLang="en-US" dirty="0"/>
              <a:t>描述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0FECCA-F4F6-903E-0EFE-BEB7423F1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90A7E8-C7DD-D387-226A-DD059761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18</a:t>
            </a:fld>
            <a:r>
              <a:rPr lang="en-US" altLang="zh-CN"/>
              <a:t>/103</a:t>
            </a:r>
            <a:endParaRPr lang="zh-CN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548680"/>
            <a:ext cx="6276975" cy="621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8388359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F723E-5B16-48B5-A57C-5BEA1C2F8373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/>
              <a:t>7.1 </a:t>
            </a:r>
            <a:r>
              <a:rPr lang="zh-CN" altLang="en-US"/>
              <a:t>数据库设计概述</a:t>
            </a:r>
          </a:p>
          <a:p>
            <a:r>
              <a:rPr lang="en-US" altLang="zh-CN"/>
              <a:t>7.2 </a:t>
            </a:r>
            <a:r>
              <a:rPr lang="zh-CN" altLang="en-US"/>
              <a:t>需求分析</a:t>
            </a:r>
            <a:endParaRPr lang="zh-CN" altLang="en-US">
              <a:solidFill>
                <a:srgbClr val="CC0000"/>
              </a:solidFill>
            </a:endParaRPr>
          </a:p>
          <a:p>
            <a:r>
              <a:rPr lang="en-US" altLang="zh-CN"/>
              <a:t>7.3 </a:t>
            </a:r>
            <a:r>
              <a:rPr lang="zh-CN" altLang="en-US"/>
              <a:t>概念结构设计</a:t>
            </a:r>
          </a:p>
          <a:p>
            <a:r>
              <a:rPr lang="en-US" altLang="zh-CN"/>
              <a:t>7.4 </a:t>
            </a:r>
            <a:r>
              <a:rPr lang="zh-CN" altLang="en-US"/>
              <a:t>逻辑结构设计</a:t>
            </a:r>
          </a:p>
          <a:p>
            <a:r>
              <a:rPr lang="en-US" altLang="zh-CN"/>
              <a:t>7.5 </a:t>
            </a:r>
            <a:r>
              <a:rPr lang="zh-CN" altLang="en-US"/>
              <a:t>数据库的物理设计</a:t>
            </a:r>
          </a:p>
          <a:p>
            <a:r>
              <a:rPr lang="en-US" altLang="zh-CN"/>
              <a:t>7.6 </a:t>
            </a:r>
            <a:r>
              <a:rPr lang="zh-CN" altLang="en-US"/>
              <a:t>数据库的实施</a:t>
            </a:r>
          </a:p>
          <a:p>
            <a:r>
              <a:rPr lang="en-US" altLang="zh-CN"/>
              <a:t>7.7 </a:t>
            </a:r>
            <a:r>
              <a:rPr lang="zh-CN" altLang="en-US"/>
              <a:t>数据库的运行与维护</a:t>
            </a:r>
            <a:endParaRPr lang="zh-CN" altLang="en-US">
              <a:solidFill>
                <a:srgbClr val="CC0000"/>
              </a:solidFill>
            </a:endParaRPr>
          </a:p>
        </p:txBody>
      </p:sp>
      <p:sp>
        <p:nvSpPr>
          <p:cNvPr id="395268" name="AutoShape 4"/>
          <p:cNvSpPr>
            <a:spLocks noChangeArrowheads="1"/>
          </p:cNvSpPr>
          <p:nvPr/>
        </p:nvSpPr>
        <p:spPr bwMode="auto">
          <a:xfrm>
            <a:off x="838200" y="23622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4B23AD-2ED7-04CB-58BB-4B1A07790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F4329C-6D0C-B6E0-5C55-629BF2496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19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5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5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34FD-19A8-45A2-A9C2-9A88358F609B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7.2  </a:t>
            </a:r>
            <a:r>
              <a:rPr lang="zh-CN" altLang="en-US"/>
              <a:t>需求分析  </a:t>
            </a:r>
            <a:r>
              <a:rPr lang="zh-CN" altLang="en-US" sz="2000">
                <a:solidFill>
                  <a:schemeClr val="hlink"/>
                </a:solidFill>
              </a:rPr>
              <a:t>考虑自学</a:t>
            </a:r>
          </a:p>
        </p:txBody>
      </p:sp>
      <p:sp>
        <p:nvSpPr>
          <p:cNvPr id="34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dirty="0"/>
              <a:t>任务：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调查</a:t>
            </a:r>
            <a:r>
              <a:rPr lang="zh-CN" altLang="en-US" sz="2400" dirty="0">
                <a:solidFill>
                  <a:schemeClr val="tx2"/>
                </a:solidFill>
              </a:rPr>
              <a:t>信息要求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chemeClr val="tx2"/>
                </a:solidFill>
              </a:rPr>
              <a:t>处理要求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chemeClr val="tx2"/>
                </a:solidFill>
              </a:rPr>
              <a:t>完整性</a:t>
            </a:r>
            <a:r>
              <a:rPr lang="zh-CN" altLang="en-US" sz="2400" dirty="0"/>
              <a:t>（</a:t>
            </a:r>
            <a:r>
              <a:rPr lang="zh-CN" altLang="en-US" sz="2400" dirty="0">
                <a:solidFill>
                  <a:schemeClr val="hlink"/>
                </a:solidFill>
              </a:rPr>
              <a:t>安全性</a:t>
            </a:r>
            <a:r>
              <a:rPr lang="zh-CN" altLang="en-US" sz="2400" dirty="0"/>
              <a:t>）要求。</a:t>
            </a:r>
          </a:p>
          <a:p>
            <a:pPr>
              <a:lnSpc>
                <a:spcPct val="90000"/>
              </a:lnSpc>
            </a:pPr>
            <a:r>
              <a:rPr lang="zh-CN" altLang="en-US" sz="2800" dirty="0"/>
              <a:t>调查内容和步骤：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调查组织机构，各部门业务活动，明确用户对新系统的要求，确定新系统边界。</a:t>
            </a:r>
          </a:p>
          <a:p>
            <a:pPr>
              <a:lnSpc>
                <a:spcPct val="90000"/>
              </a:lnSpc>
            </a:pPr>
            <a:r>
              <a:rPr lang="zh-CN" altLang="en-US" sz="2800" dirty="0"/>
              <a:t>调查方法：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跟班作业，开调查会，请专人介绍，询问，设计调查表请用户填写，查阅相关数据记录。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chemeClr val="tx2"/>
                </a:solidFill>
              </a:rPr>
              <a:t>分析和表达方法</a:t>
            </a:r>
            <a:r>
              <a:rPr lang="zh-CN" altLang="en-US" sz="2800" dirty="0"/>
              <a:t>：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SADT(</a:t>
            </a:r>
            <a:r>
              <a:rPr lang="zh-CN" altLang="en-US" sz="2400" dirty="0"/>
              <a:t>结构分析与设计技术，</a:t>
            </a:r>
            <a:r>
              <a:rPr lang="zh-CN" altLang="en-US" sz="2400" dirty="0">
                <a:solidFill>
                  <a:schemeClr val="tx2"/>
                </a:solidFill>
              </a:rPr>
              <a:t>数据流图</a:t>
            </a:r>
            <a:r>
              <a:rPr lang="en-US" altLang="zh-CN" sz="2400" dirty="0">
                <a:solidFill>
                  <a:schemeClr val="tx2"/>
                </a:solidFill>
              </a:rPr>
              <a:t>DFD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chemeClr val="tx2"/>
                </a:solidFill>
              </a:rPr>
              <a:t>数据字典</a:t>
            </a:r>
            <a:r>
              <a:rPr lang="en-US" altLang="zh-CN" sz="2400" dirty="0">
                <a:solidFill>
                  <a:schemeClr val="tx2"/>
                </a:solidFill>
              </a:rPr>
              <a:t>DD</a:t>
            </a:r>
            <a:r>
              <a:rPr lang="zh-CN" altLang="en-US" sz="2400" dirty="0"/>
              <a:t>）。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944375-A1A2-1F26-1AA6-2EE188125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1F9E3E-56ED-2021-F5FC-CEFCD2C4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20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A5FA3-FB41-40C9-A744-32338A5E3421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数据流图和数据字典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数据流图表达了</a:t>
            </a:r>
            <a:r>
              <a:rPr lang="zh-CN" altLang="en-US" dirty="0">
                <a:solidFill>
                  <a:schemeClr val="tx2"/>
                </a:solidFill>
              </a:rPr>
              <a:t>数据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tx2"/>
                </a:solidFill>
              </a:rPr>
              <a:t>处理过程</a:t>
            </a:r>
            <a:r>
              <a:rPr lang="zh-CN" altLang="en-US" dirty="0"/>
              <a:t>的关系。</a:t>
            </a:r>
          </a:p>
        </p:txBody>
      </p:sp>
      <p:grpSp>
        <p:nvGrpSpPr>
          <p:cNvPr id="350212" name="Group 4"/>
          <p:cNvGrpSpPr>
            <a:grpSpLocks/>
          </p:cNvGrpSpPr>
          <p:nvPr/>
        </p:nvGrpSpPr>
        <p:grpSpPr bwMode="auto">
          <a:xfrm>
            <a:off x="1676400" y="2895600"/>
            <a:ext cx="5410200" cy="1981200"/>
            <a:chOff x="1296" y="1440"/>
            <a:chExt cx="3408" cy="1248"/>
          </a:xfrm>
        </p:grpSpPr>
        <p:sp>
          <p:nvSpPr>
            <p:cNvPr id="350213" name="Line 5"/>
            <p:cNvSpPr>
              <a:spLocks noChangeShapeType="1"/>
            </p:cNvSpPr>
            <p:nvPr/>
          </p:nvSpPr>
          <p:spPr bwMode="auto">
            <a:xfrm>
              <a:off x="3216" y="24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350214" name="Group 6"/>
            <p:cNvGrpSpPr>
              <a:grpSpLocks/>
            </p:cNvGrpSpPr>
            <p:nvPr/>
          </p:nvGrpSpPr>
          <p:grpSpPr bwMode="auto">
            <a:xfrm>
              <a:off x="1296" y="1440"/>
              <a:ext cx="3408" cy="1248"/>
              <a:chOff x="1296" y="1392"/>
              <a:chExt cx="3408" cy="1248"/>
            </a:xfrm>
          </p:grpSpPr>
          <p:sp>
            <p:nvSpPr>
              <p:cNvPr id="350215" name="AutoShape 7"/>
              <p:cNvSpPr>
                <a:spLocks noChangeArrowheads="1"/>
              </p:cNvSpPr>
              <p:nvPr/>
            </p:nvSpPr>
            <p:spPr bwMode="auto">
              <a:xfrm>
                <a:off x="2736" y="2160"/>
                <a:ext cx="480" cy="480"/>
              </a:xfrm>
              <a:prstGeom prst="flowChartConnector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>
                    <a:latin typeface="Times New Roman" pitchFamily="18" charset="0"/>
                  </a:rPr>
                  <a:t>处理</a:t>
                </a:r>
              </a:p>
            </p:txBody>
          </p:sp>
          <p:sp>
            <p:nvSpPr>
              <p:cNvPr id="350216" name="AutoShape 8"/>
              <p:cNvSpPr>
                <a:spLocks noChangeArrowheads="1"/>
              </p:cNvSpPr>
              <p:nvPr/>
            </p:nvSpPr>
            <p:spPr bwMode="auto">
              <a:xfrm>
                <a:off x="1296" y="2256"/>
                <a:ext cx="816" cy="288"/>
              </a:xfrm>
              <a:prstGeom prst="flowChartProcess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>
                    <a:latin typeface="Times New Roman" pitchFamily="18" charset="0"/>
                  </a:rPr>
                  <a:t>数据来源</a:t>
                </a:r>
              </a:p>
            </p:txBody>
          </p:sp>
          <p:sp>
            <p:nvSpPr>
              <p:cNvPr id="350217" name="AutoShape 9"/>
              <p:cNvSpPr>
                <a:spLocks noChangeArrowheads="1"/>
              </p:cNvSpPr>
              <p:nvPr/>
            </p:nvSpPr>
            <p:spPr bwMode="auto">
              <a:xfrm>
                <a:off x="3936" y="2256"/>
                <a:ext cx="768" cy="288"/>
              </a:xfrm>
              <a:prstGeom prst="flowChartProcess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>
                    <a:latin typeface="Times New Roman" pitchFamily="18" charset="0"/>
                  </a:rPr>
                  <a:t>数据输出</a:t>
                </a:r>
              </a:p>
            </p:txBody>
          </p:sp>
          <p:sp>
            <p:nvSpPr>
              <p:cNvPr id="350218" name="Line 10"/>
              <p:cNvSpPr>
                <a:spLocks noChangeShapeType="1"/>
              </p:cNvSpPr>
              <p:nvPr/>
            </p:nvSpPr>
            <p:spPr bwMode="auto">
              <a:xfrm>
                <a:off x="2976" y="1680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50219" name="Line 11"/>
              <p:cNvSpPr>
                <a:spLocks noChangeShapeType="1"/>
              </p:cNvSpPr>
              <p:nvPr/>
            </p:nvSpPr>
            <p:spPr bwMode="auto">
              <a:xfrm>
                <a:off x="2112" y="240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50220" name="Rectangle 12"/>
              <p:cNvSpPr>
                <a:spLocks noChangeArrowheads="1"/>
              </p:cNvSpPr>
              <p:nvPr/>
            </p:nvSpPr>
            <p:spPr bwMode="auto">
              <a:xfrm>
                <a:off x="2160" y="2112"/>
                <a:ext cx="528" cy="192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sz="2000">
                    <a:latin typeface="Times New Roman" pitchFamily="18" charset="0"/>
                  </a:rPr>
                  <a:t>数据流</a:t>
                </a:r>
              </a:p>
            </p:txBody>
          </p:sp>
          <p:sp>
            <p:nvSpPr>
              <p:cNvPr id="350221" name="Rectangle 13"/>
              <p:cNvSpPr>
                <a:spLocks noChangeArrowheads="1"/>
              </p:cNvSpPr>
              <p:nvPr/>
            </p:nvSpPr>
            <p:spPr bwMode="auto">
              <a:xfrm>
                <a:off x="3264" y="2112"/>
                <a:ext cx="528" cy="192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sz="2000">
                    <a:latin typeface="Times New Roman" pitchFamily="18" charset="0"/>
                  </a:rPr>
                  <a:t>数据流</a:t>
                </a:r>
              </a:p>
            </p:txBody>
          </p:sp>
          <p:sp>
            <p:nvSpPr>
              <p:cNvPr id="350222" name="AutoShape 14"/>
              <p:cNvSpPr>
                <a:spLocks noChangeArrowheads="1"/>
              </p:cNvSpPr>
              <p:nvPr/>
            </p:nvSpPr>
            <p:spPr bwMode="auto">
              <a:xfrm>
                <a:off x="2496" y="1392"/>
                <a:ext cx="1008" cy="288"/>
              </a:xfrm>
              <a:prstGeom prst="flowChartPredefinedProcess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sz="2000">
                    <a:latin typeface="Times New Roman" pitchFamily="18" charset="0"/>
                  </a:rPr>
                  <a:t>数据存储</a:t>
                </a:r>
              </a:p>
            </p:txBody>
          </p:sp>
        </p:grpSp>
      </p:grp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5CA655-C1F6-9A3C-4241-001EB159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8E3E15-2A38-5673-4C0C-7E51A99A5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21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539AE-10C9-4A16-B133-78D396987942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数据流图和数据字典</a:t>
            </a:r>
          </a:p>
        </p:txBody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数据字典</a:t>
            </a:r>
            <a:r>
              <a:rPr lang="en-US" altLang="zh-CN" dirty="0"/>
              <a:t>DD</a:t>
            </a:r>
          </a:p>
          <a:p>
            <a:pPr lvl="1"/>
            <a:r>
              <a:rPr lang="zh-CN" altLang="en-US" b="1" dirty="0"/>
              <a:t>数据字典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800080"/>
                </a:solidFill>
              </a:rPr>
              <a:t>即</a:t>
            </a:r>
            <a:r>
              <a:rPr lang="zh-CN" altLang="en-US" dirty="0">
                <a:solidFill>
                  <a:schemeClr val="tx2"/>
                </a:solidFill>
              </a:rPr>
              <a:t>描述数据</a:t>
            </a:r>
            <a:r>
              <a:rPr lang="zh-CN" altLang="en-US" dirty="0">
                <a:solidFill>
                  <a:srgbClr val="800080"/>
                </a:solidFill>
              </a:rPr>
              <a:t>的</a:t>
            </a:r>
            <a:r>
              <a:rPr lang="zh-CN" altLang="en-US" dirty="0">
                <a:solidFill>
                  <a:schemeClr val="tx2"/>
                </a:solidFill>
              </a:rPr>
              <a:t>数据</a:t>
            </a:r>
            <a:r>
              <a:rPr lang="zh-CN" altLang="en-US" dirty="0">
                <a:solidFill>
                  <a:srgbClr val="800080"/>
                </a:solidFill>
              </a:rPr>
              <a:t>，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C00000"/>
                </a:solidFill>
              </a:rPr>
              <a:t>各类数据描述的</a:t>
            </a:r>
            <a:r>
              <a:rPr lang="zh-CN" altLang="en-US" b="1" dirty="0">
                <a:solidFill>
                  <a:srgbClr val="C00000"/>
                </a:solidFill>
              </a:rPr>
              <a:t>集合</a:t>
            </a:r>
            <a:r>
              <a:rPr lang="zh-CN" altLang="en-US" dirty="0">
                <a:solidFill>
                  <a:srgbClr val="800080"/>
                </a:solidFill>
              </a:rPr>
              <a:t>，</a:t>
            </a:r>
            <a:r>
              <a:rPr lang="zh-CN" altLang="en-US" dirty="0"/>
              <a:t>是进行详细的</a:t>
            </a:r>
            <a:r>
              <a:rPr lang="zh-CN" altLang="en-US" u="sng" dirty="0"/>
              <a:t>数据收集和数据分析所得的主要结果</a:t>
            </a:r>
            <a:r>
              <a:rPr lang="zh-CN" altLang="en-US" dirty="0">
                <a:solidFill>
                  <a:srgbClr val="800080"/>
                </a:solidFill>
              </a:rPr>
              <a:t>。</a:t>
            </a:r>
          </a:p>
          <a:p>
            <a:pPr lvl="1">
              <a:spcBef>
                <a:spcPct val="40000"/>
              </a:spcBef>
            </a:pPr>
            <a:r>
              <a:rPr lang="en-US" altLang="zh-CN" dirty="0"/>
              <a:t>DD</a:t>
            </a:r>
            <a:r>
              <a:rPr lang="zh-CN" altLang="en-US" dirty="0"/>
              <a:t>将数据流图中的每个对象进行具体详尽的描述。包括</a:t>
            </a:r>
            <a:r>
              <a:rPr lang="zh-CN" altLang="en-US" dirty="0">
                <a:solidFill>
                  <a:schemeClr val="tx2"/>
                </a:solidFill>
              </a:rPr>
              <a:t>数据结构，数据项，数据流，数据存储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tx2"/>
                </a:solidFill>
              </a:rPr>
              <a:t>处理过程</a:t>
            </a:r>
            <a:r>
              <a:rPr lang="zh-CN" altLang="en-US" dirty="0"/>
              <a:t>描述。它为后续阶段提供了数据和处理的依据。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3F431F-6D14-2B0B-B28C-231480BA5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070E3A-5745-86DF-6052-526B0965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22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E85BE-E9AA-44EF-B22C-F8070A8B9DC9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</a:p>
        </p:txBody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/>
              <a:t>7.1 </a:t>
            </a:r>
            <a:r>
              <a:rPr lang="zh-CN" altLang="en-US"/>
              <a:t>数据库设计概述</a:t>
            </a:r>
          </a:p>
          <a:p>
            <a:r>
              <a:rPr lang="en-US" altLang="zh-CN"/>
              <a:t>7.2 </a:t>
            </a:r>
            <a:r>
              <a:rPr lang="zh-CN" altLang="en-US"/>
              <a:t>需求分析</a:t>
            </a:r>
            <a:endParaRPr lang="zh-CN" altLang="en-US">
              <a:solidFill>
                <a:srgbClr val="CC0000"/>
              </a:solidFill>
            </a:endParaRPr>
          </a:p>
          <a:p>
            <a:r>
              <a:rPr lang="en-US" altLang="zh-CN"/>
              <a:t>7.3 </a:t>
            </a:r>
            <a:r>
              <a:rPr lang="zh-CN" altLang="en-US"/>
              <a:t>概念结构设计</a:t>
            </a:r>
          </a:p>
          <a:p>
            <a:r>
              <a:rPr lang="en-US" altLang="zh-CN"/>
              <a:t>7.4 </a:t>
            </a:r>
            <a:r>
              <a:rPr lang="zh-CN" altLang="en-US"/>
              <a:t>逻辑结构设计</a:t>
            </a:r>
          </a:p>
          <a:p>
            <a:r>
              <a:rPr lang="en-US" altLang="zh-CN"/>
              <a:t>7.5 </a:t>
            </a:r>
            <a:r>
              <a:rPr lang="zh-CN" altLang="en-US"/>
              <a:t>数据库的物理设计</a:t>
            </a:r>
          </a:p>
          <a:p>
            <a:r>
              <a:rPr lang="en-US" altLang="zh-CN"/>
              <a:t>7.6 </a:t>
            </a:r>
            <a:r>
              <a:rPr lang="zh-CN" altLang="en-US"/>
              <a:t>数据库的实施</a:t>
            </a:r>
          </a:p>
          <a:p>
            <a:r>
              <a:rPr lang="en-US" altLang="zh-CN"/>
              <a:t>7.7 </a:t>
            </a:r>
            <a:r>
              <a:rPr lang="zh-CN" altLang="en-US"/>
              <a:t>数据库的运行与维护</a:t>
            </a:r>
            <a:endParaRPr lang="zh-CN" altLang="en-US">
              <a:solidFill>
                <a:srgbClr val="CC0000"/>
              </a:solidFill>
            </a:endParaRPr>
          </a:p>
        </p:txBody>
      </p:sp>
      <p:sp>
        <p:nvSpPr>
          <p:cNvPr id="396292" name="AutoShape 4"/>
          <p:cNvSpPr>
            <a:spLocks noChangeArrowheads="1"/>
          </p:cNvSpPr>
          <p:nvPr/>
        </p:nvSpPr>
        <p:spPr bwMode="auto">
          <a:xfrm>
            <a:off x="838200" y="28956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E40CCE-C860-1CE1-1AA2-F3FFEB5AA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30FEEE-E2A6-37CC-61B6-D4A2B23C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23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8FB5D-EB58-4F23-B3DB-52B626F5E344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7.3 </a:t>
            </a:r>
            <a:r>
              <a:rPr lang="zh-CN" altLang="en-US"/>
              <a:t>概念结构设计</a:t>
            </a:r>
          </a:p>
        </p:txBody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dirty="0"/>
              <a:t>产生整体数据库的</a:t>
            </a:r>
            <a:r>
              <a:rPr lang="zh-CN" altLang="en-US" sz="2800" dirty="0">
                <a:solidFill>
                  <a:srgbClr val="0000FF"/>
                </a:solidFill>
              </a:rPr>
              <a:t>概念结构</a:t>
            </a:r>
            <a:r>
              <a:rPr lang="zh-CN" altLang="en-US" sz="2800" dirty="0"/>
              <a:t>（概念模式），它是整个组织的各个用户关心的</a:t>
            </a:r>
            <a:r>
              <a:rPr lang="zh-CN" altLang="en-US" sz="2800" dirty="0">
                <a:solidFill>
                  <a:srgbClr val="FF0000"/>
                </a:solidFill>
              </a:rPr>
              <a:t>信息结构</a:t>
            </a:r>
            <a:r>
              <a:rPr lang="zh-CN" altLang="en-US" sz="2800" dirty="0"/>
              <a:t>，也是数据库设计的关键。</a:t>
            </a:r>
          </a:p>
          <a:p>
            <a:pPr>
              <a:lnSpc>
                <a:spcPct val="90000"/>
              </a:lnSpc>
            </a:pPr>
            <a:r>
              <a:rPr lang="zh-CN" altLang="en-US" sz="2800" dirty="0"/>
              <a:t>概念结构是各种数据模型的</a:t>
            </a:r>
            <a:r>
              <a:rPr lang="zh-CN" altLang="en-US" sz="2800" dirty="0">
                <a:solidFill>
                  <a:srgbClr val="0000FF"/>
                </a:solidFill>
              </a:rPr>
              <a:t>共同基础</a:t>
            </a:r>
            <a:r>
              <a:rPr lang="zh-CN" altLang="en-US" sz="2800" dirty="0"/>
              <a:t>，它比数据模型更</a:t>
            </a:r>
            <a:r>
              <a:rPr lang="zh-CN" altLang="en-US" sz="2800" b="1" dirty="0">
                <a:solidFill>
                  <a:srgbClr val="C00000"/>
                </a:solidFill>
              </a:rPr>
              <a:t>独立于</a:t>
            </a:r>
            <a:r>
              <a:rPr lang="zh-CN" altLang="en-US" sz="2800" dirty="0"/>
              <a:t>机器、更抽象，从而更加稳定。</a:t>
            </a:r>
          </a:p>
          <a:p>
            <a:pPr>
              <a:lnSpc>
                <a:spcPct val="90000"/>
              </a:lnSpc>
            </a:pPr>
            <a:r>
              <a:rPr lang="zh-CN" altLang="en-US" sz="2800" dirty="0"/>
              <a:t>特点：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	</a:t>
            </a:r>
            <a:r>
              <a:rPr lang="en-US" altLang="zh-CN" sz="2800" dirty="0"/>
              <a:t>1</a:t>
            </a:r>
            <a:r>
              <a:rPr lang="zh-CN" altLang="en-US" sz="2800" dirty="0"/>
              <a:t>、是对现实世界抽象的一个</a:t>
            </a:r>
            <a:r>
              <a:rPr lang="zh-CN" altLang="en-US" sz="2800" dirty="0">
                <a:solidFill>
                  <a:srgbClr val="FF0000"/>
                </a:solidFill>
              </a:rPr>
              <a:t>真实</a:t>
            </a:r>
            <a:r>
              <a:rPr lang="zh-CN" altLang="en-US" sz="2800" dirty="0"/>
              <a:t>模型。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	</a:t>
            </a:r>
            <a:r>
              <a:rPr lang="en-US" altLang="zh-CN" sz="2800" dirty="0"/>
              <a:t>2</a:t>
            </a:r>
            <a:r>
              <a:rPr lang="zh-CN" altLang="en-US" sz="2800" dirty="0"/>
              <a:t>、</a:t>
            </a:r>
            <a:r>
              <a:rPr lang="zh-CN" altLang="en-US" sz="2800" dirty="0">
                <a:solidFill>
                  <a:srgbClr val="FF0000"/>
                </a:solidFill>
              </a:rPr>
              <a:t>易于理解</a:t>
            </a:r>
            <a:r>
              <a:rPr lang="zh-CN" altLang="en-US" sz="2800" dirty="0"/>
              <a:t>。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	</a:t>
            </a:r>
            <a:r>
              <a:rPr lang="en-US" altLang="zh-CN" sz="2800" dirty="0"/>
              <a:t>3</a:t>
            </a:r>
            <a:r>
              <a:rPr lang="zh-CN" altLang="en-US" sz="2800" dirty="0"/>
              <a:t>、易于</a:t>
            </a:r>
            <a:r>
              <a:rPr lang="zh-CN" altLang="en-US" sz="2800" dirty="0">
                <a:solidFill>
                  <a:srgbClr val="FF0000"/>
                </a:solidFill>
              </a:rPr>
              <a:t>更改和扩充</a:t>
            </a:r>
            <a:r>
              <a:rPr lang="zh-CN" altLang="en-US" sz="2800" dirty="0"/>
              <a:t>。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/>
              <a:t>	</a:t>
            </a:r>
            <a:r>
              <a:rPr lang="en-US" altLang="zh-CN" sz="2800" dirty="0"/>
              <a:t>4</a:t>
            </a:r>
            <a:r>
              <a:rPr lang="zh-CN" altLang="en-US" sz="2800" dirty="0"/>
              <a:t>、易于</a:t>
            </a:r>
            <a:r>
              <a:rPr lang="zh-CN" altLang="en-US" sz="2800" dirty="0">
                <a:solidFill>
                  <a:srgbClr val="FF0000"/>
                </a:solidFill>
              </a:rPr>
              <a:t>向关系</a:t>
            </a:r>
            <a:r>
              <a:rPr lang="zh-CN" altLang="en-US" sz="2800" dirty="0"/>
              <a:t>等</a:t>
            </a:r>
            <a:r>
              <a:rPr lang="zh-CN" altLang="en-US" sz="2800" dirty="0">
                <a:solidFill>
                  <a:srgbClr val="FF0000"/>
                </a:solidFill>
              </a:rPr>
              <a:t>各种数据模型转换</a:t>
            </a:r>
            <a:r>
              <a:rPr lang="zh-CN" altLang="en-US" sz="2800" dirty="0">
                <a:solidFill>
                  <a:schemeClr val="tx2"/>
                </a:solidFill>
              </a:rPr>
              <a:t>（关系模型，非关模型）</a:t>
            </a:r>
            <a:r>
              <a:rPr lang="zh-CN" altLang="en-US" sz="2800" dirty="0"/>
              <a:t>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25047F-1A55-D3A2-F78B-D700ACB5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D576B3-DF72-C5B0-4ED4-10E918FB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24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84EDC-5320-4D6F-97DA-654EE7A59493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概念模型的基本概念</a:t>
            </a:r>
          </a:p>
        </p:txBody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描述概念模型的工具：</a:t>
            </a:r>
            <a:r>
              <a:rPr lang="en-US" altLang="zh-CN" dirty="0">
                <a:solidFill>
                  <a:srgbClr val="FF0000"/>
                </a:solidFill>
              </a:rPr>
              <a:t>E-R</a:t>
            </a:r>
            <a:r>
              <a:rPr lang="zh-CN" altLang="en-US" dirty="0">
                <a:solidFill>
                  <a:srgbClr val="FF0000"/>
                </a:solidFill>
              </a:rPr>
              <a:t>模型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实体 </a:t>
            </a:r>
            <a:r>
              <a:rPr lang="zh-CN" altLang="en-US" dirty="0"/>
              <a:t>（强实体、弱实体）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属性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联系</a:t>
            </a:r>
          </a:p>
          <a:p>
            <a:pPr lvl="2">
              <a:lnSpc>
                <a:spcPct val="90000"/>
              </a:lnSpc>
            </a:pPr>
            <a:r>
              <a:rPr lang="zh-CN" altLang="en-US" dirty="0"/>
              <a:t>基数约束（</a:t>
            </a:r>
            <a:r>
              <a:rPr lang="zh-CN" altLang="en-US" dirty="0">
                <a:solidFill>
                  <a:schemeClr val="tx2"/>
                </a:solidFill>
              </a:rPr>
              <a:t>一对一，一对多，多对多</a:t>
            </a:r>
            <a:r>
              <a:rPr lang="zh-CN" altLang="en-US" dirty="0"/>
              <a:t>）</a:t>
            </a:r>
          </a:p>
          <a:p>
            <a:pPr lvl="2">
              <a:lnSpc>
                <a:spcPct val="90000"/>
              </a:lnSpc>
            </a:pPr>
            <a:r>
              <a:rPr lang="zh-CN" altLang="en-US" dirty="0"/>
              <a:t>参与性约束  （全参与，部分参与）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zh-CN" altLang="en-US" dirty="0"/>
              <a:t>码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域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实体型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实体集</a:t>
            </a:r>
          </a:p>
          <a:p>
            <a:pPr lvl="2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3B7EA3-05A2-F671-A78F-1D98CB843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208FBE-3B6C-37F0-425D-7AD4D9B4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25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0468278-6218-47AA-9E9C-CDA322DF3183}" type="datetime1">
              <a:rPr lang="zh-CN" altLang="en-US" sz="1400" smtClean="0">
                <a:solidFill>
                  <a:schemeClr val="tx1"/>
                </a:solidFill>
                <a:latin typeface="Times New Roman" pitchFamily="18" charset="0"/>
              </a:rPr>
              <a:t>2025/10/24</a:t>
            </a:fld>
            <a:endParaRPr lang="en-US" altLang="zh-CN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概念模型的基本概念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38864" cy="5005536"/>
          </a:xfrm>
        </p:spPr>
        <p:txBody>
          <a:bodyPr/>
          <a:lstStyle/>
          <a:p>
            <a:pPr marL="812800" indent="-812800" eaLnBrk="1" hangingPunct="1">
              <a:buFont typeface="Wingdings" pitchFamily="2" charset="2"/>
              <a:buAutoNum type="ea1ChsPeriod"/>
            </a:pPr>
            <a:r>
              <a:rPr lang="zh-CN" altLang="en-US" dirty="0"/>
              <a:t>信息世界的基本概念</a:t>
            </a:r>
          </a:p>
          <a:p>
            <a:pPr marL="1168400" lvl="1" indent="-711200" eaLnBrk="1" hangingPunct="1">
              <a:buFont typeface="Wingdings" pitchFamily="2" charset="2"/>
              <a:buAutoNum type="arabicPeriod"/>
            </a:pPr>
            <a:r>
              <a:rPr lang="zh-CN" altLang="en-US" b="1" dirty="0"/>
              <a:t>实体</a:t>
            </a:r>
            <a:r>
              <a:rPr lang="zh-CN" altLang="en-US" dirty="0"/>
              <a:t>  </a:t>
            </a:r>
            <a:r>
              <a:rPr lang="zh-CN" altLang="en-US" dirty="0">
                <a:solidFill>
                  <a:schemeClr val="tx2"/>
                </a:solidFill>
              </a:rPr>
              <a:t>客观存在</a:t>
            </a:r>
            <a:r>
              <a:rPr lang="zh-CN" altLang="en-US" dirty="0"/>
              <a:t>并可</a:t>
            </a:r>
            <a:r>
              <a:rPr lang="zh-CN" altLang="en-US" b="1" dirty="0">
                <a:solidFill>
                  <a:srgbClr val="FF0000"/>
                </a:solidFill>
              </a:rPr>
              <a:t>相互区别</a:t>
            </a:r>
            <a:r>
              <a:rPr lang="zh-CN" altLang="en-US" dirty="0">
                <a:solidFill>
                  <a:schemeClr val="tx2"/>
                </a:solidFill>
              </a:rPr>
              <a:t>的事物</a:t>
            </a:r>
            <a:r>
              <a:rPr lang="zh-CN" altLang="en-US" dirty="0"/>
              <a:t>称为实体。</a:t>
            </a:r>
            <a:r>
              <a:rPr lang="zh-CN" altLang="en-US" dirty="0">
                <a:solidFill>
                  <a:srgbClr val="0000FF"/>
                </a:solidFill>
              </a:rPr>
              <a:t>注意：</a:t>
            </a:r>
            <a:r>
              <a:rPr lang="zh-CN" altLang="en-US" dirty="0"/>
              <a:t>不仅可以是具体的人、事、物，还可以是抽象的</a:t>
            </a:r>
            <a:r>
              <a:rPr lang="zh-CN" altLang="en-US" u="sng" dirty="0"/>
              <a:t>概念和联系</a:t>
            </a:r>
            <a:r>
              <a:rPr lang="zh-CN" altLang="en-US" dirty="0"/>
              <a:t>。</a:t>
            </a:r>
            <a:endParaRPr lang="en-US" altLang="zh-CN" dirty="0"/>
          </a:p>
          <a:p>
            <a:pPr marL="1168400" lvl="1" indent="-711200">
              <a:buFont typeface="Wingdings" pitchFamily="2" charset="2"/>
              <a:buAutoNum type="arabicPeriod"/>
            </a:pPr>
            <a:r>
              <a:rPr lang="zh-CN" altLang="en-US" b="1" dirty="0"/>
              <a:t>属性</a:t>
            </a:r>
            <a:r>
              <a:rPr lang="zh-CN" altLang="en-US" dirty="0"/>
              <a:t>  实体由</a:t>
            </a:r>
            <a:r>
              <a:rPr lang="zh-CN" altLang="en-US" u="sng" dirty="0"/>
              <a:t>若干</a:t>
            </a:r>
            <a:r>
              <a:rPr lang="zh-CN" altLang="en-US" u="sng" dirty="0">
                <a:solidFill>
                  <a:srgbClr val="FF0000"/>
                </a:solidFill>
              </a:rPr>
              <a:t>属性</a:t>
            </a:r>
            <a:r>
              <a:rPr lang="zh-CN" altLang="en-US" dirty="0"/>
              <a:t>刻画。每个实体有一组属性，并且</a:t>
            </a:r>
            <a:r>
              <a:rPr lang="zh-CN" altLang="en-US" u="sng" dirty="0"/>
              <a:t>某些属性集合的值必须唯一标识</a:t>
            </a:r>
            <a:r>
              <a:rPr lang="zh-CN" altLang="en-US" dirty="0"/>
              <a:t>一个实体。</a:t>
            </a:r>
            <a:endParaRPr lang="en-US" altLang="zh-CN" dirty="0"/>
          </a:p>
          <a:p>
            <a:pPr marL="1168400" lvl="1" indent="-711200">
              <a:buFont typeface="Wingdings" pitchFamily="2" charset="2"/>
              <a:buAutoNum type="arabicPeriod"/>
            </a:pPr>
            <a:endParaRPr lang="zh-CN" altLang="en-US" dirty="0"/>
          </a:p>
          <a:p>
            <a:pPr marL="723900" indent="-609600">
              <a:buFont typeface="Wingdings" pitchFamily="2" charset="2"/>
              <a:buNone/>
            </a:pPr>
            <a:r>
              <a:rPr lang="zh-CN" altLang="en-US" sz="2400" dirty="0"/>
              <a:t>   例：</a:t>
            </a:r>
            <a:r>
              <a:rPr lang="en-US" altLang="zh-CN" sz="2400" dirty="0"/>
              <a:t>(</a:t>
            </a:r>
            <a:r>
              <a:rPr lang="zh-CN" altLang="en-US" sz="2400" dirty="0"/>
              <a:t>李明</a:t>
            </a:r>
            <a:r>
              <a:rPr lang="en-US" altLang="zh-CN" sz="2400" dirty="0"/>
              <a:t>, </a:t>
            </a:r>
            <a:r>
              <a:rPr lang="zh-CN" altLang="en-US" sz="2400" dirty="0"/>
              <a:t>男</a:t>
            </a:r>
            <a:r>
              <a:rPr lang="en-US" altLang="zh-CN" sz="2400" dirty="0"/>
              <a:t>, 197205, </a:t>
            </a:r>
            <a:r>
              <a:rPr lang="zh-CN" altLang="en-US" sz="2400" dirty="0"/>
              <a:t>江苏省南京市</a:t>
            </a:r>
            <a:r>
              <a:rPr lang="en-US" altLang="zh-CN" sz="2400" dirty="0"/>
              <a:t>, </a:t>
            </a:r>
            <a:r>
              <a:rPr lang="zh-CN" altLang="en-US" sz="2400" dirty="0"/>
              <a:t>计算机系</a:t>
            </a:r>
            <a:r>
              <a:rPr lang="en-US" altLang="zh-CN" sz="2400" dirty="0"/>
              <a:t>, 1990)</a:t>
            </a: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BA5E6040-D7E3-4730-9D6E-76039A294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A355A69-28D4-EABD-2E16-E12DD43D5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26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0452277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3D24A04-102E-47DF-9E62-8234FE6E65D5}" type="datetime1">
              <a:rPr lang="zh-CN" altLang="en-US" sz="1400" smtClean="0">
                <a:solidFill>
                  <a:schemeClr val="tx1"/>
                </a:solidFill>
                <a:latin typeface="Times New Roman" pitchFamily="18" charset="0"/>
              </a:rPr>
              <a:t>2025/10/24</a:t>
            </a:fld>
            <a:endParaRPr lang="en-US" altLang="zh-CN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概念模型的基本概念</a:t>
            </a:r>
            <a:endParaRPr lang="en-US" altLang="zh-CN" dirty="0"/>
          </a:p>
        </p:txBody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1"/>
            <a:ext cx="7924800" cy="4572000"/>
          </a:xfrm>
        </p:spPr>
        <p:txBody>
          <a:bodyPr/>
          <a:lstStyle/>
          <a:p>
            <a:pPr marL="990600" lvl="1" indent="-533400" eaLnBrk="1" hangingPunct="1">
              <a:buFont typeface="Wingdings" pitchFamily="2" charset="2"/>
              <a:buAutoNum type="arabicPeriod" startAt="3"/>
            </a:pPr>
            <a:r>
              <a:rPr lang="zh-CN" altLang="en-US" b="1" dirty="0"/>
              <a:t>码</a:t>
            </a:r>
            <a:r>
              <a:rPr lang="zh-CN" altLang="en-US" dirty="0"/>
              <a:t>  唯一</a:t>
            </a:r>
            <a:r>
              <a:rPr lang="zh-CN" altLang="en-US" dirty="0">
                <a:solidFill>
                  <a:srgbClr val="FF0000"/>
                </a:solidFill>
              </a:rPr>
              <a:t>标识</a:t>
            </a:r>
            <a:r>
              <a:rPr lang="zh-CN" altLang="en-US" dirty="0"/>
              <a:t>实体的</a:t>
            </a:r>
            <a:r>
              <a:rPr lang="zh-CN" altLang="en-US" b="1" dirty="0"/>
              <a:t>属性集</a:t>
            </a:r>
            <a:r>
              <a:rPr lang="zh-CN" altLang="en-US" dirty="0"/>
              <a:t>称为码。注意码可以不唯一。反映语义范畴。</a:t>
            </a:r>
          </a:p>
          <a:p>
            <a:pPr marL="990600" lvl="1" indent="-533400" eaLnBrk="1" hangingPunct="1">
              <a:buFont typeface="Wingdings" pitchFamily="2" charset="2"/>
              <a:buAutoNum type="arabicPeriod" startAt="3"/>
            </a:pPr>
            <a:r>
              <a:rPr lang="zh-CN" altLang="en-US" b="1" dirty="0"/>
              <a:t>域</a:t>
            </a:r>
            <a:r>
              <a:rPr lang="zh-CN" altLang="en-US" dirty="0"/>
              <a:t>  属性的</a:t>
            </a:r>
            <a:r>
              <a:rPr lang="zh-CN" altLang="en-US" dirty="0">
                <a:solidFill>
                  <a:srgbClr val="FF0000"/>
                </a:solidFill>
              </a:rPr>
              <a:t>取值</a:t>
            </a:r>
            <a:r>
              <a:rPr lang="zh-CN" altLang="en-US" dirty="0"/>
              <a:t>范围。</a:t>
            </a:r>
          </a:p>
          <a:p>
            <a:pPr marL="990600" lvl="1" indent="-533400" eaLnBrk="1" hangingPunct="1">
              <a:buFont typeface="Wingdings" pitchFamily="2" charset="2"/>
              <a:buAutoNum type="arabicPeriod" startAt="3"/>
            </a:pPr>
            <a:r>
              <a:rPr lang="zh-CN" altLang="en-US" b="1" dirty="0"/>
              <a:t>实体</a:t>
            </a:r>
            <a:r>
              <a:rPr lang="zh-CN" altLang="en-US" b="1" dirty="0">
                <a:solidFill>
                  <a:srgbClr val="0000FF"/>
                </a:solidFill>
              </a:rPr>
              <a:t>型</a:t>
            </a:r>
            <a:r>
              <a:rPr lang="zh-CN" altLang="en-US" dirty="0"/>
              <a:t>  具有</a:t>
            </a:r>
            <a:r>
              <a:rPr lang="zh-CN" altLang="en-US" dirty="0">
                <a:solidFill>
                  <a:schemeClr val="tx2"/>
                </a:solidFill>
              </a:rPr>
              <a:t>相同属性</a:t>
            </a:r>
            <a:r>
              <a:rPr lang="zh-CN" altLang="en-US" dirty="0"/>
              <a:t>的实体具有</a:t>
            </a:r>
            <a:r>
              <a:rPr lang="zh-CN" altLang="en-US" u="sng" dirty="0"/>
              <a:t>共性</a:t>
            </a:r>
            <a:r>
              <a:rPr lang="zh-CN" altLang="en-US" dirty="0"/>
              <a:t>。用</a:t>
            </a:r>
            <a:r>
              <a:rPr lang="zh-CN" altLang="en-US" u="sng" dirty="0">
                <a:solidFill>
                  <a:srgbClr val="C00000"/>
                </a:solidFill>
              </a:rPr>
              <a:t>实体名</a:t>
            </a:r>
            <a:r>
              <a:rPr lang="zh-CN" altLang="en-US" u="sng" dirty="0"/>
              <a:t>及其</a:t>
            </a:r>
            <a:r>
              <a:rPr lang="zh-CN" altLang="en-US" u="sng" dirty="0">
                <a:solidFill>
                  <a:srgbClr val="C00000"/>
                </a:solidFill>
              </a:rPr>
              <a:t>属性名集合</a:t>
            </a:r>
            <a:r>
              <a:rPr lang="zh-CN" altLang="en-US" dirty="0"/>
              <a:t>来刻画同类实体，称为</a:t>
            </a:r>
            <a:r>
              <a:rPr lang="zh-CN" altLang="en-US" b="1" dirty="0">
                <a:solidFill>
                  <a:srgbClr val="0000FF"/>
                </a:solidFill>
              </a:rPr>
              <a:t>实体型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1" indent="0" eaLnBrk="1" hangingPunct="1">
              <a:buNone/>
            </a:pPr>
            <a:r>
              <a:rPr lang="zh-CN" altLang="en-US" dirty="0"/>
              <a:t>如：学生（学号、姓名、性别、</a:t>
            </a:r>
            <a:r>
              <a:rPr lang="en-US" altLang="zh-CN" dirty="0"/>
              <a:t>…</a:t>
            </a:r>
            <a:r>
              <a:rPr lang="zh-CN" altLang="en-US" dirty="0"/>
              <a:t>、入学时间）</a:t>
            </a:r>
          </a:p>
          <a:p>
            <a:pPr marL="990600" lvl="1" indent="-533400" eaLnBrk="1" hangingPunct="1">
              <a:buFont typeface="+mj-lt"/>
              <a:buAutoNum type="arabicPeriod" startAt="6"/>
            </a:pPr>
            <a:r>
              <a:rPr lang="zh-CN" altLang="en-US" b="1" dirty="0"/>
              <a:t>实体</a:t>
            </a:r>
            <a:r>
              <a:rPr lang="zh-CN" altLang="en-US" b="1" dirty="0">
                <a:solidFill>
                  <a:srgbClr val="0000FF"/>
                </a:solidFill>
              </a:rPr>
              <a:t>集</a:t>
            </a:r>
            <a:r>
              <a:rPr lang="zh-CN" altLang="en-US" dirty="0"/>
              <a:t>  </a:t>
            </a:r>
            <a:r>
              <a:rPr lang="zh-CN" altLang="en-US" dirty="0">
                <a:solidFill>
                  <a:srgbClr val="FF0000"/>
                </a:solidFill>
              </a:rPr>
              <a:t>同一</a:t>
            </a:r>
            <a:r>
              <a:rPr lang="zh-CN" altLang="en-US" dirty="0"/>
              <a:t>实体型实体的集合。</a:t>
            </a:r>
          </a:p>
          <a:p>
            <a:pPr marL="990600" lvl="1" indent="-533400" eaLnBrk="1" hangingPunct="1">
              <a:buFont typeface="Wingdings" pitchFamily="2" charset="2"/>
              <a:buAutoNum type="arabicPeriod" startAt="6"/>
            </a:pPr>
            <a:r>
              <a:rPr lang="zh-CN" altLang="en-US" b="1" dirty="0"/>
              <a:t>联系</a:t>
            </a:r>
            <a:r>
              <a:rPr lang="zh-CN" altLang="en-US" dirty="0"/>
              <a:t>  主要研究</a:t>
            </a:r>
            <a:r>
              <a:rPr lang="zh-CN" altLang="en-US" dirty="0">
                <a:solidFill>
                  <a:srgbClr val="FF0000"/>
                </a:solidFill>
              </a:rPr>
              <a:t>不同实体集</a:t>
            </a:r>
            <a:r>
              <a:rPr lang="zh-CN" altLang="en-US" dirty="0"/>
              <a:t>之间的相互关联。</a:t>
            </a: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0E995CB3-B092-BCB9-F033-62ABDD1B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C3BF27E-6FBC-B0AD-85AB-A44F2BA7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27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5928798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58379-4AC4-4AAA-84DB-76DE4B15EEEA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E-R</a:t>
            </a:r>
            <a:r>
              <a:rPr lang="zh-CN" altLang="en-US"/>
              <a:t>方法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 err="1"/>
              <a:t>概念模型的表示方法</a:t>
            </a:r>
            <a:r>
              <a:rPr lang="zh-CN" altLang="en-US" sz="2800" dirty="0"/>
              <a:t>：实体</a:t>
            </a:r>
            <a:r>
              <a:rPr lang="en-US" altLang="zh-CN" sz="2800" dirty="0"/>
              <a:t>-</a:t>
            </a:r>
            <a:r>
              <a:rPr lang="zh-CN" altLang="en-US" sz="2800" dirty="0"/>
              <a:t>联系</a:t>
            </a:r>
            <a:r>
              <a:rPr lang="en-US" altLang="zh-CN" sz="2800" dirty="0"/>
              <a:t>(Entity-Relationship)</a:t>
            </a:r>
            <a:r>
              <a:rPr lang="zh-CN" altLang="en-US" sz="2800" dirty="0"/>
              <a:t>方法，该方法用</a:t>
            </a:r>
            <a:r>
              <a:rPr lang="en-US" altLang="zh-CN" sz="2800" dirty="0">
                <a:solidFill>
                  <a:schemeClr val="tx2"/>
                </a:solidFill>
              </a:rPr>
              <a:t>E-R</a:t>
            </a:r>
            <a:r>
              <a:rPr lang="zh-CN" altLang="en-US" sz="2800" dirty="0">
                <a:solidFill>
                  <a:schemeClr val="tx2"/>
                </a:solidFill>
              </a:rPr>
              <a:t>图</a:t>
            </a:r>
            <a:r>
              <a:rPr lang="zh-CN" altLang="en-US" sz="2800" dirty="0"/>
              <a:t>来描述</a:t>
            </a:r>
            <a:r>
              <a:rPr lang="zh-CN" altLang="en-US" sz="2800" dirty="0">
                <a:solidFill>
                  <a:schemeClr val="tx2"/>
                </a:solidFill>
              </a:rPr>
              <a:t>现实世界的概念模型</a:t>
            </a:r>
            <a:r>
              <a:rPr lang="zh-CN" altLang="en-US" sz="2800" dirty="0"/>
              <a:t>，是建立概念模型的</a:t>
            </a:r>
            <a:r>
              <a:rPr lang="zh-CN" altLang="en-US" sz="2800" dirty="0">
                <a:solidFill>
                  <a:schemeClr val="tx2"/>
                </a:solidFill>
              </a:rPr>
              <a:t>有用工具</a:t>
            </a:r>
            <a:r>
              <a:rPr lang="zh-CN" altLang="en-US" sz="2800" dirty="0"/>
              <a:t>。</a:t>
            </a:r>
          </a:p>
          <a:p>
            <a:endParaRPr lang="zh-CN" altLang="en-US" sz="1000" dirty="0"/>
          </a:p>
          <a:p>
            <a:r>
              <a:rPr lang="en-US" altLang="zh-CN" sz="2800" dirty="0"/>
              <a:t>E-R</a:t>
            </a:r>
            <a:r>
              <a:rPr lang="zh-CN" altLang="en-US" sz="2800" dirty="0"/>
              <a:t>图提供了表示</a:t>
            </a:r>
            <a:r>
              <a:rPr lang="zh-CN" altLang="en-US" sz="2800" dirty="0">
                <a:solidFill>
                  <a:srgbClr val="FF0000"/>
                </a:solidFill>
              </a:rPr>
              <a:t>实体型、属性</a:t>
            </a:r>
            <a:r>
              <a:rPr lang="zh-CN" altLang="en-US" sz="2800" dirty="0"/>
              <a:t>和</a:t>
            </a:r>
            <a:r>
              <a:rPr lang="zh-CN" altLang="en-US" sz="2800" dirty="0">
                <a:solidFill>
                  <a:srgbClr val="FF0000"/>
                </a:solidFill>
              </a:rPr>
              <a:t>联系</a:t>
            </a:r>
            <a:r>
              <a:rPr lang="zh-CN" altLang="en-US" sz="2800" dirty="0"/>
              <a:t>的方法：</a:t>
            </a:r>
          </a:p>
          <a:p>
            <a:pPr lvl="1"/>
            <a:r>
              <a:rPr lang="zh-CN" altLang="en-US" sz="2400" b="1" dirty="0">
                <a:solidFill>
                  <a:schemeClr val="tx2"/>
                </a:solidFill>
              </a:rPr>
              <a:t>实体型</a:t>
            </a:r>
            <a:r>
              <a:rPr lang="zh-CN" altLang="en-US" sz="2400" dirty="0"/>
              <a:t>：客观世界具体的事物，用</a:t>
            </a:r>
            <a:r>
              <a:rPr lang="zh-CN" altLang="en-US" sz="2400" dirty="0">
                <a:solidFill>
                  <a:srgbClr val="0000FF"/>
                </a:solidFill>
              </a:rPr>
              <a:t>矩形框</a:t>
            </a:r>
            <a:r>
              <a:rPr lang="zh-CN" altLang="en-US" sz="2400" dirty="0"/>
              <a:t>表示。</a:t>
            </a:r>
          </a:p>
          <a:p>
            <a:pPr lvl="1"/>
            <a:r>
              <a:rPr lang="zh-CN" altLang="en-US" sz="2400" b="1" dirty="0">
                <a:solidFill>
                  <a:schemeClr val="tx2"/>
                </a:solidFill>
              </a:rPr>
              <a:t>属性</a:t>
            </a:r>
            <a:r>
              <a:rPr lang="zh-CN" altLang="en-US" sz="2400" dirty="0"/>
              <a:t>：实体型的特性。用</a:t>
            </a:r>
            <a:r>
              <a:rPr lang="zh-CN" altLang="en-US" sz="2400" dirty="0">
                <a:solidFill>
                  <a:srgbClr val="0000FF"/>
                </a:solidFill>
              </a:rPr>
              <a:t>椭圆形</a:t>
            </a:r>
            <a:r>
              <a:rPr lang="zh-CN" altLang="en-US" sz="2400" dirty="0"/>
              <a:t>表示，并用</a:t>
            </a:r>
            <a:r>
              <a:rPr lang="zh-CN" altLang="en-US" sz="2400" dirty="0">
                <a:solidFill>
                  <a:srgbClr val="0000FF"/>
                </a:solidFill>
              </a:rPr>
              <a:t>连线</a:t>
            </a:r>
            <a:r>
              <a:rPr lang="zh-CN" altLang="en-US" sz="2400" dirty="0"/>
              <a:t>与实体连接起来。</a:t>
            </a:r>
          </a:p>
          <a:p>
            <a:pPr lvl="1"/>
            <a:r>
              <a:rPr lang="zh-CN" altLang="en-US" sz="2400" b="1" dirty="0">
                <a:solidFill>
                  <a:schemeClr val="tx2"/>
                </a:solidFill>
              </a:rPr>
              <a:t>实体间的联系</a:t>
            </a:r>
            <a:r>
              <a:rPr lang="zh-CN" altLang="en-US" sz="2400" dirty="0"/>
              <a:t>：实体集之间的</a:t>
            </a:r>
            <a:r>
              <a:rPr lang="zh-CN" altLang="en-US" sz="2400" dirty="0">
                <a:solidFill>
                  <a:srgbClr val="0000FF"/>
                </a:solidFill>
              </a:rPr>
              <a:t>联系</a:t>
            </a:r>
            <a:r>
              <a:rPr lang="zh-CN" altLang="en-US" sz="2400" dirty="0"/>
              <a:t>，用</a:t>
            </a:r>
            <a:r>
              <a:rPr lang="zh-CN" altLang="en-US" sz="2400" dirty="0">
                <a:solidFill>
                  <a:srgbClr val="0000FF"/>
                </a:solidFill>
              </a:rPr>
              <a:t>菱形框</a:t>
            </a:r>
            <a:r>
              <a:rPr lang="zh-CN" altLang="en-US" sz="2400" dirty="0"/>
              <a:t>表示，框内标</a:t>
            </a:r>
            <a:r>
              <a:rPr lang="zh-CN" altLang="en-US" sz="2400" dirty="0">
                <a:solidFill>
                  <a:srgbClr val="0000FF"/>
                </a:solidFill>
              </a:rPr>
              <a:t>联系名称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2"/>
            <a:r>
              <a:rPr lang="zh-CN" altLang="en-US" sz="2000" dirty="0"/>
              <a:t>注意：</a:t>
            </a:r>
            <a:r>
              <a:rPr lang="zh-CN" altLang="en-US" sz="2000" u="sng" dirty="0">
                <a:solidFill>
                  <a:srgbClr val="0000FF"/>
                </a:solidFill>
              </a:rPr>
              <a:t>联系</a:t>
            </a:r>
            <a:r>
              <a:rPr lang="zh-CN" altLang="en-US" sz="2000" u="sng" dirty="0"/>
              <a:t>本身也可能有</a:t>
            </a:r>
            <a:r>
              <a:rPr lang="zh-CN" altLang="en-US" sz="2000" u="sng" dirty="0">
                <a:solidFill>
                  <a:srgbClr val="0000FF"/>
                </a:solidFill>
              </a:rPr>
              <a:t>属性</a:t>
            </a:r>
            <a:r>
              <a:rPr lang="zh-CN" altLang="en-US" sz="2000" dirty="0"/>
              <a:t>。</a:t>
            </a:r>
          </a:p>
          <a:p>
            <a:pPr lvl="2"/>
            <a:endParaRPr lang="zh-CN" altLang="en-US" sz="200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D762C9-CF6D-0A91-1FFF-38F00A139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718A16-AC02-6649-A43B-E1A7AFE2B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28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1637279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936E51E-0B3C-45AD-988B-4E85BEFDA55B}" type="datetime1">
              <a:rPr lang="zh-CN" altLang="en-US" sz="1400" smtClean="0">
                <a:solidFill>
                  <a:schemeClr val="tx1"/>
                </a:solidFill>
                <a:latin typeface="Times New Roman" pitchFamily="18" charset="0"/>
              </a:rPr>
              <a:t>2025/10/24</a:t>
            </a:fld>
            <a:endParaRPr lang="en-US" altLang="zh-CN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98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概念模型的基本概念</a:t>
            </a:r>
            <a:r>
              <a:rPr lang="en-US" altLang="zh-CN" dirty="0">
                <a:latin typeface="Arial" charset="0"/>
              </a:rPr>
              <a:t>–</a:t>
            </a:r>
            <a:r>
              <a:rPr lang="en-US" altLang="zh-CN" dirty="0"/>
              <a:t> E-R</a:t>
            </a:r>
            <a:r>
              <a:rPr lang="zh-CN" altLang="en-US" dirty="0"/>
              <a:t>图</a:t>
            </a:r>
          </a:p>
        </p:txBody>
      </p:sp>
      <p:sp>
        <p:nvSpPr>
          <p:cNvPr id="798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82880" cy="4684713"/>
          </a:xfrm>
        </p:spPr>
        <p:txBody>
          <a:bodyPr/>
          <a:lstStyle/>
          <a:p>
            <a:r>
              <a:rPr lang="en-US" altLang="zh-CN" dirty="0"/>
              <a:t>E-R(Entity-Relationship)图</a:t>
            </a:r>
            <a:endParaRPr lang="zh-CN" altLang="en-US" dirty="0"/>
          </a:p>
          <a:p>
            <a:pPr lvl="1"/>
            <a:r>
              <a:rPr lang="zh-CN" altLang="en-US" dirty="0"/>
              <a:t>实体型：用</a:t>
            </a:r>
            <a:r>
              <a:rPr lang="zh-CN" altLang="en-US" dirty="0">
                <a:solidFill>
                  <a:srgbClr val="0000FF"/>
                </a:solidFill>
              </a:rPr>
              <a:t>矩形</a:t>
            </a:r>
            <a:r>
              <a:rPr lang="zh-CN" altLang="en-US" dirty="0"/>
              <a:t>表示</a:t>
            </a:r>
          </a:p>
          <a:p>
            <a:pPr lvl="1"/>
            <a:r>
              <a:rPr lang="zh-CN" altLang="en-US" dirty="0"/>
              <a:t>属性：</a:t>
            </a:r>
            <a:r>
              <a:rPr lang="zh-CN" altLang="en-US" dirty="0">
                <a:solidFill>
                  <a:srgbClr val="0000FF"/>
                </a:solidFill>
              </a:rPr>
              <a:t>椭圆</a:t>
            </a:r>
            <a:r>
              <a:rPr lang="zh-CN" altLang="en-US" dirty="0"/>
              <a:t>形表示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注意：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本教材</a:t>
            </a:r>
            <a:r>
              <a:rPr lang="zh-CN" altLang="en-US" dirty="0"/>
              <a:t>中</a:t>
            </a:r>
            <a:r>
              <a:rPr lang="zh-CN" altLang="en-US" u="sng" dirty="0"/>
              <a:t>属性是放在实体型的矩形框内</a:t>
            </a:r>
            <a:r>
              <a:rPr lang="zh-CN" altLang="en-US" dirty="0"/>
              <a:t>，该矩形分为两个部分。</a:t>
            </a:r>
            <a:r>
              <a:rPr lang="zh-CN" altLang="en-US" u="sng" dirty="0"/>
              <a:t>第一部分</a:t>
            </a:r>
            <a:r>
              <a:rPr lang="zh-CN" altLang="en-US" dirty="0"/>
              <a:t>在本书中为蓝色阴影，它包含</a:t>
            </a:r>
            <a:r>
              <a:rPr lang="zh-CN" altLang="en-US" dirty="0">
                <a:solidFill>
                  <a:srgbClr val="0000FF"/>
                </a:solidFill>
              </a:rPr>
              <a:t>实体集的名称</a:t>
            </a:r>
            <a:r>
              <a:rPr lang="zh-CN" altLang="en-US" dirty="0"/>
              <a:t>。</a:t>
            </a:r>
            <a:r>
              <a:rPr lang="zh-CN" altLang="en-US" u="sng" dirty="0"/>
              <a:t>第二部分</a:t>
            </a:r>
            <a:r>
              <a:rPr lang="zh-CN" altLang="en-US" dirty="0"/>
              <a:t>包含实体集</a:t>
            </a:r>
            <a:r>
              <a:rPr lang="zh-CN" altLang="en-US" dirty="0">
                <a:solidFill>
                  <a:srgbClr val="0000FF"/>
                </a:solidFill>
              </a:rPr>
              <a:t>所有属性的名称</a:t>
            </a:r>
            <a:r>
              <a:rPr lang="zh-CN" altLang="en-US" dirty="0"/>
              <a:t>。作为</a:t>
            </a:r>
            <a:r>
              <a:rPr lang="zh-CN" altLang="en-US" u="sng" dirty="0">
                <a:solidFill>
                  <a:srgbClr val="0000FF"/>
                </a:solidFill>
              </a:rPr>
              <a:t>主码的属性下划线</a:t>
            </a:r>
            <a:r>
              <a:rPr lang="zh-CN" altLang="en-US" dirty="0"/>
              <a:t>表示。</a:t>
            </a:r>
            <a:endParaRPr lang="en-US" altLang="zh-CN" dirty="0"/>
          </a:p>
        </p:txBody>
      </p:sp>
      <p:grpSp>
        <p:nvGrpSpPr>
          <p:cNvPr id="13" name="组合 12"/>
          <p:cNvGrpSpPr/>
          <p:nvPr/>
        </p:nvGrpSpPr>
        <p:grpSpPr>
          <a:xfrm>
            <a:off x="5580112" y="1989384"/>
            <a:ext cx="3190055" cy="1321296"/>
            <a:chOff x="6228184" y="1916832"/>
            <a:chExt cx="3668330" cy="1321296"/>
          </a:xfrm>
        </p:grpSpPr>
        <p:sp>
          <p:nvSpPr>
            <p:cNvPr id="3" name="矩形 2"/>
            <p:cNvSpPr/>
            <p:nvPr/>
          </p:nvSpPr>
          <p:spPr bwMode="auto">
            <a:xfrm>
              <a:off x="6948264" y="1916832"/>
              <a:ext cx="1800200" cy="432048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altLang="zh-CN" dirty="0"/>
                <a:t>instructor</a:t>
              </a:r>
              <a:endParaRPr lang="zh-CN" altLang="en-US" dirty="0"/>
            </a:p>
          </p:txBody>
        </p:sp>
        <p:sp>
          <p:nvSpPr>
            <p:cNvPr id="4" name="椭圆 3"/>
            <p:cNvSpPr/>
            <p:nvPr/>
          </p:nvSpPr>
          <p:spPr bwMode="auto">
            <a:xfrm>
              <a:off x="6228184" y="2780928"/>
              <a:ext cx="914400" cy="4572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sng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  <a:cs typeface="Arial" charset="0"/>
                </a:rPr>
                <a:t>ID</a:t>
              </a:r>
              <a:endParaRPr kumimoji="1" lang="zh-CN" altLang="en-US" sz="24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7391164" y="2780928"/>
              <a:ext cx="1014881" cy="4572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  <a:cs typeface="Arial" charset="0"/>
                </a:rPr>
                <a:t>name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8654456" y="2780928"/>
              <a:ext cx="1242058" cy="45720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zh-CN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宋体" pitchFamily="2" charset="-122"/>
                  <a:cs typeface="Arial" charset="0"/>
                </a:rPr>
                <a:t>salary</a:t>
              </a: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endParaRPr>
            </a:p>
          </p:txBody>
        </p:sp>
        <p:cxnSp>
          <p:nvCxnSpPr>
            <p:cNvPr id="6" name="直接连接符 5"/>
            <p:cNvCxnSpPr>
              <a:stCxn id="3" idx="2"/>
              <a:endCxn id="4" idx="0"/>
            </p:cNvCxnSpPr>
            <p:nvPr/>
          </p:nvCxnSpPr>
          <p:spPr bwMode="auto">
            <a:xfrm flipH="1">
              <a:off x="6685384" y="2348880"/>
              <a:ext cx="116298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直接连接符 7"/>
            <p:cNvCxnSpPr>
              <a:stCxn id="3" idx="2"/>
            </p:cNvCxnSpPr>
            <p:nvPr/>
          </p:nvCxnSpPr>
          <p:spPr bwMode="auto">
            <a:xfrm>
              <a:off x="7848364" y="2348880"/>
              <a:ext cx="0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直接连接符 9"/>
            <p:cNvCxnSpPr>
              <a:endCxn id="12" idx="0"/>
            </p:cNvCxnSpPr>
            <p:nvPr/>
          </p:nvCxnSpPr>
          <p:spPr bwMode="auto">
            <a:xfrm>
              <a:off x="7848364" y="2348880"/>
              <a:ext cx="1427123" cy="4320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04B70C2D-3100-DCF8-2536-143150200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CFCD7C-82C8-D5F8-6422-0371989CF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29</a:t>
            </a:fld>
            <a:r>
              <a:rPr lang="en-US" altLang="zh-CN"/>
              <a:t>/103</a:t>
            </a:r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5733256"/>
            <a:ext cx="242887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54270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98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DFD62D9-B326-47DE-AD0D-F5B14C50912F}" type="datetime1">
              <a:rPr lang="zh-CN" altLang="en-US" sz="1400" smtClean="0">
                <a:solidFill>
                  <a:schemeClr val="tx1"/>
                </a:solidFill>
                <a:latin typeface="Times New Roman" pitchFamily="18" charset="0"/>
              </a:rPr>
              <a:t>2025/10/24</a:t>
            </a:fld>
            <a:endParaRPr lang="en-US" altLang="zh-CN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概念模型的基本概念</a:t>
            </a:r>
            <a:endParaRPr lang="en-US" altLang="zh-CN" dirty="0"/>
          </a:p>
        </p:txBody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29600" cy="468471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C00000"/>
                </a:solidFill>
              </a:rPr>
              <a:t>联系</a:t>
            </a:r>
            <a:r>
              <a:rPr lang="en-US" altLang="zh-CN" b="1" dirty="0">
                <a:solidFill>
                  <a:srgbClr val="C00000"/>
                </a:solidFill>
              </a:rPr>
              <a:t>: </a:t>
            </a:r>
            <a:r>
              <a:rPr lang="zh-CN" altLang="en-US" dirty="0">
                <a:solidFill>
                  <a:srgbClr val="0000FF"/>
                </a:solidFill>
              </a:rPr>
              <a:t>菱形</a:t>
            </a:r>
            <a:r>
              <a:rPr lang="zh-CN" altLang="en-US" dirty="0"/>
              <a:t>表示</a:t>
            </a:r>
            <a:r>
              <a:rPr lang="en-US" altLang="zh-CN" dirty="0"/>
              <a:t>, </a:t>
            </a:r>
            <a:r>
              <a:rPr lang="zh-CN" altLang="en-US" dirty="0"/>
              <a:t>通过线条连接到不同的实体型</a:t>
            </a:r>
            <a:r>
              <a:rPr lang="en-US" altLang="zh-CN" dirty="0"/>
              <a:t>(</a:t>
            </a:r>
            <a:r>
              <a:rPr lang="zh-CN" altLang="en-US" dirty="0"/>
              <a:t>矩形</a:t>
            </a:r>
            <a:r>
              <a:rPr lang="en-US" altLang="zh-CN" dirty="0"/>
              <a:t>)</a:t>
            </a: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lvl="1"/>
            <a:r>
              <a:rPr lang="zh-CN" altLang="en-US" dirty="0"/>
              <a:t>联系是在</a:t>
            </a:r>
            <a:r>
              <a:rPr lang="en-US" altLang="zh-CN" dirty="0">
                <a:solidFill>
                  <a:srgbClr val="0000FF"/>
                </a:solidFill>
              </a:rPr>
              <a:t>n&gt;=2</a:t>
            </a:r>
            <a:r>
              <a:rPr lang="zh-CN" altLang="en-US" dirty="0"/>
              <a:t>个实体上的数学关系。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联系也可以有属性</a:t>
            </a:r>
          </a:p>
          <a:p>
            <a:pPr eaLnBrk="1" hangingPunct="1"/>
            <a:endParaRPr lang="en-US" altLang="zh-CN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535284"/>
            <a:ext cx="5115669" cy="161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页脚占位符 1">
            <a:extLst>
              <a:ext uri="{FF2B5EF4-FFF2-40B4-BE49-F238E27FC236}">
                <a16:creationId xmlns:a16="http://schemas.microsoft.com/office/drawing/2014/main" id="{EBF77F12-1537-A4BD-9724-8CC25B3B6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B44A0C-0939-CC54-ABA4-8319495E1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30</a:t>
            </a:fld>
            <a:r>
              <a:rPr lang="en-US" altLang="zh-CN"/>
              <a:t>/103</a:t>
            </a:r>
            <a:endParaRPr lang="zh-CN" altLang="en-US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5273824"/>
            <a:ext cx="4667964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29751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E929EF2-5CAB-418D-A0CC-112793E5CAA6}" type="datetime1">
              <a:rPr lang="zh-CN" altLang="en-US" sz="1400" smtClean="0">
                <a:solidFill>
                  <a:schemeClr val="tx1"/>
                </a:solidFill>
                <a:latin typeface="Times New Roman" pitchFamily="18" charset="0"/>
              </a:rPr>
              <a:t>2025/10/24</a:t>
            </a:fld>
            <a:endParaRPr lang="en-US" altLang="zh-CN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概念模型的基本概念</a:t>
            </a:r>
            <a:endParaRPr lang="en-US" altLang="zh-CN" dirty="0"/>
          </a:p>
        </p:txBody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29600" cy="468471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C00000"/>
                </a:solidFill>
              </a:rPr>
              <a:t>联系</a:t>
            </a:r>
            <a:r>
              <a:rPr lang="en-US" altLang="zh-CN" b="1" dirty="0">
                <a:solidFill>
                  <a:srgbClr val="C00000"/>
                </a:solidFill>
              </a:rPr>
              <a:t>: </a:t>
            </a:r>
            <a:r>
              <a:rPr lang="zh-CN" altLang="en-US" dirty="0">
                <a:solidFill>
                  <a:srgbClr val="0000FF"/>
                </a:solidFill>
              </a:rPr>
              <a:t>菱形</a:t>
            </a:r>
            <a:r>
              <a:rPr lang="zh-CN" altLang="en-US" dirty="0"/>
              <a:t>表示</a:t>
            </a:r>
            <a:r>
              <a:rPr lang="en-US" altLang="zh-CN" dirty="0"/>
              <a:t>, </a:t>
            </a:r>
            <a:r>
              <a:rPr lang="zh-CN" altLang="en-US" dirty="0"/>
              <a:t>通过线条连接到不同的实体型</a:t>
            </a:r>
            <a:r>
              <a:rPr lang="en-US" altLang="zh-CN" dirty="0"/>
              <a:t>(</a:t>
            </a:r>
            <a:r>
              <a:rPr lang="zh-CN" altLang="en-US" dirty="0"/>
              <a:t>矩形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联系是在</a:t>
            </a:r>
            <a:r>
              <a:rPr lang="en-US" altLang="zh-CN" dirty="0"/>
              <a:t>n&gt;=2</a:t>
            </a:r>
            <a:r>
              <a:rPr lang="zh-CN" altLang="en-US" dirty="0"/>
              <a:t>个实体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800080"/>
                </a:solidFill>
              </a:rPr>
              <a:t>可能相同</a:t>
            </a:r>
            <a:r>
              <a:rPr lang="en-US" altLang="zh-CN" dirty="0"/>
              <a:t>)</a:t>
            </a:r>
            <a:r>
              <a:rPr lang="zh-CN" altLang="en-US" dirty="0"/>
              <a:t>上的数学关系。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联系也可以有属性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b="1" dirty="0"/>
              <a:t>联系的度</a:t>
            </a:r>
            <a:r>
              <a:rPr lang="zh-CN" altLang="en-US" dirty="0"/>
              <a:t>：参与联系的实体型的数目</a:t>
            </a:r>
          </a:p>
          <a:p>
            <a:pPr lvl="2"/>
            <a:r>
              <a:rPr lang="en-US" altLang="zh-CN" dirty="0"/>
              <a:t>2</a:t>
            </a:r>
            <a:r>
              <a:rPr lang="zh-CN" altLang="en-US" dirty="0"/>
              <a:t>个实体型之间的联系度为</a:t>
            </a:r>
            <a:r>
              <a:rPr lang="en-US" altLang="zh-CN" dirty="0"/>
              <a:t>2</a:t>
            </a:r>
            <a:r>
              <a:rPr lang="zh-CN" altLang="en-US" dirty="0"/>
              <a:t>，也称为二元联系；</a:t>
            </a:r>
          </a:p>
          <a:p>
            <a:pPr lvl="2"/>
            <a:r>
              <a:rPr lang="en-US" altLang="zh-CN" dirty="0"/>
              <a:t>3</a:t>
            </a:r>
            <a:r>
              <a:rPr lang="zh-CN" altLang="en-US" dirty="0"/>
              <a:t>个实体型之间的联系度为</a:t>
            </a:r>
            <a:r>
              <a:rPr lang="en-US" altLang="zh-CN" dirty="0"/>
              <a:t>3</a:t>
            </a:r>
            <a:r>
              <a:rPr lang="zh-CN" altLang="en-US" dirty="0"/>
              <a:t>，称为三元联系；</a:t>
            </a:r>
          </a:p>
          <a:p>
            <a:pPr lvl="2"/>
            <a:r>
              <a:rPr lang="en-US" altLang="zh-CN" dirty="0"/>
              <a:t>N</a:t>
            </a:r>
            <a:r>
              <a:rPr lang="zh-CN" altLang="en-US" dirty="0"/>
              <a:t>个实体型之间的联系度为</a:t>
            </a:r>
            <a:r>
              <a:rPr lang="en-US" altLang="zh-CN" dirty="0"/>
              <a:t>N</a:t>
            </a:r>
            <a:r>
              <a:rPr lang="zh-CN" altLang="en-US" dirty="0"/>
              <a:t>，也称为</a:t>
            </a:r>
            <a:r>
              <a:rPr lang="en-US" altLang="zh-CN" dirty="0"/>
              <a:t>N</a:t>
            </a:r>
            <a:r>
              <a:rPr lang="zh-CN" altLang="en-US" dirty="0"/>
              <a:t>元联系。</a:t>
            </a:r>
          </a:p>
          <a:p>
            <a:pPr lvl="1"/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endParaRPr lang="en-US" altLang="zh-CN" dirty="0"/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F6419E80-F1EA-E7F4-D2BB-F313D3938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FA189FF-7BF9-39A7-A07E-98E2F1F0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31</a:t>
            </a:fld>
            <a:r>
              <a:rPr lang="en-US" altLang="zh-CN"/>
              <a:t>/103</a:t>
            </a:r>
            <a:endParaRPr lang="zh-CN" altLang="en-US" dirty="0"/>
          </a:p>
        </p:txBody>
      </p:sp>
      <p:pic>
        <p:nvPicPr>
          <p:cNvPr id="9" name="图片 3" descr="110"/>
          <p:cNvPicPr>
            <a:picLocks noChangeAspect="1" noChangeArrowheads="1"/>
          </p:cNvPicPr>
          <p:nvPr/>
        </p:nvPicPr>
        <p:blipFill rotWithShape="1">
          <a:blip r:embed="rId3"/>
          <a:srcRect b="17430"/>
          <a:stretch/>
        </p:blipFill>
        <p:spPr bwMode="auto">
          <a:xfrm>
            <a:off x="2649384" y="5371739"/>
            <a:ext cx="4320480" cy="1521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893064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2529C3A-3FC1-41FB-99B0-E0E319967484}" type="datetime1">
              <a:rPr lang="zh-CN" altLang="en-US" sz="1400" smtClean="0">
                <a:solidFill>
                  <a:schemeClr val="tx1"/>
                </a:solidFill>
                <a:latin typeface="Times New Roman" pitchFamily="18" charset="0"/>
              </a:rPr>
              <a:t>2025/10/24</a:t>
            </a:fld>
            <a:endParaRPr lang="en-US" altLang="zh-CN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概念模型的基本概念</a:t>
            </a:r>
            <a:endParaRPr lang="en-US" altLang="zh-CN" dirty="0"/>
          </a:p>
        </p:txBody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29600" cy="468471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C00000"/>
                </a:solidFill>
              </a:rPr>
              <a:t>联系</a:t>
            </a:r>
            <a:r>
              <a:rPr lang="zh-CN" altLang="en-US" dirty="0">
                <a:solidFill>
                  <a:schemeClr val="tx1"/>
                </a:solidFill>
              </a:rPr>
              <a:t>的约束：映射基数</a:t>
            </a:r>
          </a:p>
          <a:p>
            <a:pPr lvl="1" eaLnBrk="1" hangingPunct="1"/>
            <a:r>
              <a:rPr lang="zh-CN" altLang="en-US" b="1" dirty="0"/>
              <a:t>基数约束 </a:t>
            </a:r>
            <a:r>
              <a:rPr lang="en-US" altLang="zh-CN" dirty="0"/>
              <a:t>cardinality ratio</a:t>
            </a:r>
          </a:p>
          <a:p>
            <a:pPr lvl="2" eaLnBrk="1" hangingPunct="1"/>
            <a:r>
              <a:rPr lang="zh-CN" altLang="en-US" dirty="0"/>
              <a:t>一个实体能通过一个联系集</a:t>
            </a:r>
            <a:r>
              <a:rPr lang="zh-CN" altLang="en-US" dirty="0">
                <a:solidFill>
                  <a:srgbClr val="0000FF"/>
                </a:solidFill>
              </a:rPr>
              <a:t>关联的</a:t>
            </a:r>
            <a:r>
              <a:rPr lang="zh-CN" altLang="en-US" dirty="0"/>
              <a:t>另一个实体的</a:t>
            </a:r>
            <a:r>
              <a:rPr lang="zh-CN" altLang="en-US" dirty="0">
                <a:solidFill>
                  <a:srgbClr val="0000FF"/>
                </a:solidFill>
              </a:rPr>
              <a:t>数量</a:t>
            </a:r>
            <a:r>
              <a:rPr lang="zh-CN" altLang="en-US" dirty="0"/>
              <a:t>；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包括</a:t>
            </a:r>
            <a:r>
              <a:rPr lang="en-US" altLang="zh-CN" dirty="0"/>
              <a:t>1:1</a:t>
            </a:r>
            <a:r>
              <a:rPr lang="zh-CN" altLang="en-US" dirty="0"/>
              <a:t>，</a:t>
            </a:r>
            <a:r>
              <a:rPr lang="en-US" altLang="zh-CN" dirty="0"/>
              <a:t>1:M/M:1</a:t>
            </a:r>
            <a:r>
              <a:rPr lang="zh-CN" altLang="en-US" dirty="0"/>
              <a:t>，</a:t>
            </a:r>
            <a:r>
              <a:rPr lang="en-US" altLang="zh-CN" dirty="0"/>
              <a:t>M:N</a:t>
            </a:r>
          </a:p>
          <a:p>
            <a:pPr lvl="1"/>
            <a:r>
              <a:rPr lang="zh-CN" altLang="en-US" dirty="0"/>
              <a:t>参与性约束 </a:t>
            </a:r>
            <a:r>
              <a:rPr lang="en-US" altLang="zh-CN" dirty="0"/>
              <a:t>participation</a:t>
            </a:r>
          </a:p>
          <a:p>
            <a:pPr lvl="2"/>
            <a:r>
              <a:rPr lang="zh-CN" altLang="en-US" dirty="0"/>
              <a:t>实体型的实体</a:t>
            </a:r>
            <a:r>
              <a:rPr lang="zh-CN" altLang="en-US" dirty="0">
                <a:solidFill>
                  <a:srgbClr val="0000FF"/>
                </a:solidFill>
              </a:rPr>
              <a:t>是否都参与</a:t>
            </a:r>
            <a:r>
              <a:rPr lang="zh-CN" altLang="en-US" dirty="0"/>
              <a:t>了联系</a:t>
            </a:r>
          </a:p>
          <a:p>
            <a:pPr lvl="2"/>
            <a:r>
              <a:rPr lang="zh-CN" altLang="en-US" dirty="0"/>
              <a:t>全参与</a:t>
            </a:r>
            <a:r>
              <a:rPr lang="en-US" altLang="zh-CN" dirty="0"/>
              <a:t>/</a:t>
            </a:r>
            <a:r>
              <a:rPr lang="zh-CN" altLang="en-US" dirty="0"/>
              <a:t>部分参与</a:t>
            </a:r>
          </a:p>
          <a:p>
            <a:pPr lvl="2" eaLnBrk="1" hangingPunct="1"/>
            <a:endParaRPr lang="en-US" altLang="zh-CN" dirty="0"/>
          </a:p>
          <a:p>
            <a:pPr marL="0" indent="0" eaLnBrk="1" hangingPunct="1">
              <a:buNone/>
            </a:pPr>
            <a:endParaRPr lang="en-US" altLang="zh-CN" dirty="0"/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630F930E-D035-0C7B-3E95-262E37C7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09B06C4-9452-2454-D80D-E5554D980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32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7634896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/>
              <a:t>E-R</a:t>
            </a:r>
            <a:r>
              <a:rPr lang="zh-CN" altLang="en-US" sz="3600" dirty="0"/>
              <a:t>模型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4294967295"/>
          </p:nvPr>
        </p:nvSpPr>
        <p:spPr>
          <a:xfrm>
            <a:off x="565181" y="1333521"/>
            <a:ext cx="8435975" cy="5095875"/>
          </a:xfrm>
        </p:spPr>
        <p:txBody>
          <a:bodyPr/>
          <a:lstStyle/>
          <a:p>
            <a:pPr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dirty="0"/>
              <a:t>1. </a:t>
            </a:r>
            <a:r>
              <a:rPr lang="zh-CN" altLang="en-US" dirty="0">
                <a:solidFill>
                  <a:srgbClr val="0000FF"/>
                </a:solidFill>
              </a:rPr>
              <a:t>两个实体型</a:t>
            </a:r>
            <a:r>
              <a:rPr lang="zh-CN" altLang="en-US" dirty="0"/>
              <a:t>之间的联系：</a:t>
            </a:r>
          </a:p>
          <a:p>
            <a:pPr lvl="1">
              <a:lnSpc>
                <a:spcPct val="125000"/>
              </a:lnSpc>
              <a:buSzPct val="87000"/>
              <a:buFont typeface="Arial" pitchFamily="34" charset="0"/>
              <a:buNone/>
            </a:pPr>
            <a:r>
              <a:rPr lang="zh-CN" altLang="en-US" sz="2000" dirty="0"/>
              <a:t>①一对一联系（</a:t>
            </a:r>
            <a:r>
              <a:rPr lang="en-US" altLang="zh-CN" sz="2000" dirty="0"/>
              <a:t>1∶1</a:t>
            </a:r>
            <a:r>
              <a:rPr lang="zh-CN" altLang="en-US" sz="2000" dirty="0"/>
              <a:t>）：</a:t>
            </a:r>
            <a:r>
              <a:rPr lang="en-US" altLang="zh-CN" sz="2000" dirty="0"/>
              <a:t>A 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FF0000"/>
                </a:solidFill>
              </a:rPr>
              <a:t>一个实体</a:t>
            </a:r>
            <a:r>
              <a:rPr lang="zh-CN" altLang="en-US" sz="2000" dirty="0">
                <a:solidFill>
                  <a:srgbClr val="0000FF"/>
                </a:solidFill>
              </a:rPr>
              <a:t>至多与</a:t>
            </a:r>
            <a:r>
              <a:rPr lang="en-US" altLang="zh-CN" sz="2000" dirty="0"/>
              <a:t>B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0000FF"/>
                </a:solidFill>
              </a:rPr>
              <a:t>一个实体</a:t>
            </a:r>
            <a:r>
              <a:rPr lang="zh-CN" altLang="en-US" sz="2000" dirty="0"/>
              <a:t>相关联，并且</a:t>
            </a:r>
            <a:r>
              <a:rPr lang="en-US" altLang="zh-CN" sz="2000" dirty="0"/>
              <a:t>B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0000FF"/>
                </a:solidFill>
              </a:rPr>
              <a:t>一个实体</a:t>
            </a:r>
            <a:r>
              <a:rPr lang="zh-CN" altLang="en-US" sz="2000" dirty="0"/>
              <a:t>也</a:t>
            </a:r>
            <a:r>
              <a:rPr lang="zh-CN" altLang="en-US" sz="2000" dirty="0">
                <a:solidFill>
                  <a:srgbClr val="0000FF"/>
                </a:solidFill>
              </a:rPr>
              <a:t>至多与</a:t>
            </a:r>
            <a:r>
              <a:rPr lang="en-US" altLang="zh-CN" sz="2000" dirty="0"/>
              <a:t>A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FF0000"/>
                </a:solidFill>
              </a:rPr>
              <a:t>一个实体</a:t>
            </a:r>
            <a:r>
              <a:rPr lang="zh-CN" altLang="en-US" sz="2000" dirty="0"/>
              <a:t>相关联；</a:t>
            </a:r>
            <a:endParaRPr lang="en-US" altLang="zh-CN" sz="2000" dirty="0"/>
          </a:p>
          <a:p>
            <a:pPr lvl="1">
              <a:lnSpc>
                <a:spcPct val="125000"/>
              </a:lnSpc>
              <a:buSzPct val="87000"/>
              <a:buFont typeface="Arial" pitchFamily="34" charset="0"/>
              <a:buNone/>
            </a:pPr>
            <a:r>
              <a:rPr lang="zh-CN" altLang="en-US" sz="2000" dirty="0"/>
              <a:t>例如：</a:t>
            </a:r>
            <a:r>
              <a:rPr lang="zh-CN" altLang="en-US" sz="2000" b="1" dirty="0"/>
              <a:t>班级</a:t>
            </a:r>
            <a:r>
              <a:rPr lang="zh-CN" altLang="en-US" sz="2000" dirty="0"/>
              <a:t>与</a:t>
            </a:r>
            <a:r>
              <a:rPr lang="zh-CN" altLang="en-US" sz="2000" b="1" dirty="0"/>
              <a:t>班长</a:t>
            </a:r>
            <a:r>
              <a:rPr lang="zh-CN" altLang="en-US" sz="2000" dirty="0"/>
              <a:t>之间的联系</a:t>
            </a:r>
            <a:r>
              <a:rPr lang="en-US" altLang="zh-CN" sz="2000" dirty="0"/>
              <a:t>:</a:t>
            </a:r>
            <a:r>
              <a:rPr lang="zh-CN" altLang="en-US" sz="2000" dirty="0"/>
              <a:t>一个班级只有一个正班长，一个班长只在一个班中任职；</a:t>
            </a:r>
            <a:endParaRPr lang="en-US" altLang="zh-CN" sz="2000" dirty="0"/>
          </a:p>
          <a:p>
            <a:pPr lvl="1">
              <a:lnSpc>
                <a:spcPct val="125000"/>
              </a:lnSpc>
              <a:buSzPct val="87000"/>
              <a:buFont typeface="Arial" pitchFamily="34" charset="0"/>
              <a:buNone/>
            </a:pPr>
            <a:r>
              <a:rPr lang="zh-CN" altLang="en-US" sz="2000" dirty="0"/>
              <a:t>②一对多联系（</a:t>
            </a:r>
            <a:r>
              <a:rPr lang="en-US" altLang="zh-CN" sz="2000" dirty="0"/>
              <a:t>1∶</a:t>
            </a:r>
            <a:r>
              <a:rPr lang="en-US" altLang="zh-CN" sz="2000" i="1" dirty="0"/>
              <a:t>n</a:t>
            </a:r>
            <a:r>
              <a:rPr lang="zh-CN" altLang="en-US" sz="2000" dirty="0"/>
              <a:t>）</a:t>
            </a:r>
            <a:r>
              <a:rPr lang="en-US" altLang="zh-CN" sz="2000" dirty="0"/>
              <a:t>A 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FF0000"/>
                </a:solidFill>
              </a:rPr>
              <a:t>一个实体</a:t>
            </a:r>
            <a:r>
              <a:rPr lang="zh-CN" altLang="en-US" sz="2000" dirty="0"/>
              <a:t>可以与</a:t>
            </a:r>
            <a:r>
              <a:rPr lang="en-US" altLang="zh-CN" sz="2000" dirty="0"/>
              <a:t>B</a:t>
            </a:r>
            <a:r>
              <a:rPr lang="zh-CN" altLang="en-US" sz="2000" dirty="0">
                <a:solidFill>
                  <a:srgbClr val="0000FF"/>
                </a:solidFill>
              </a:rPr>
              <a:t>中任意数量（零个或多个）的实体</a:t>
            </a:r>
            <a:r>
              <a:rPr lang="zh-CN" altLang="en-US" sz="2000" dirty="0"/>
              <a:t>相关联，而</a:t>
            </a:r>
            <a:r>
              <a:rPr lang="en-US" altLang="zh-CN" sz="2000" dirty="0"/>
              <a:t>B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0000FF"/>
                </a:solidFill>
              </a:rPr>
              <a:t>一个实体</a:t>
            </a:r>
            <a:r>
              <a:rPr lang="zh-CN" altLang="en-US" sz="2000" dirty="0"/>
              <a:t>至多与</a:t>
            </a:r>
            <a:r>
              <a:rPr lang="en-US" altLang="zh-CN" sz="2000" dirty="0"/>
              <a:t>A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FF0000"/>
                </a:solidFill>
              </a:rPr>
              <a:t>一个实体</a:t>
            </a:r>
            <a:r>
              <a:rPr lang="zh-CN" altLang="en-US" sz="2000" dirty="0"/>
              <a:t>相关联；</a:t>
            </a:r>
            <a:endParaRPr lang="en-US" altLang="zh-CN" sz="2000" dirty="0"/>
          </a:p>
          <a:p>
            <a:pPr lvl="1">
              <a:lnSpc>
                <a:spcPct val="125000"/>
              </a:lnSpc>
              <a:buSzPct val="87000"/>
              <a:buFont typeface="Arial" pitchFamily="34" charset="0"/>
              <a:buNone/>
            </a:pPr>
            <a:r>
              <a:rPr lang="zh-CN" altLang="en-US" sz="2000" dirty="0"/>
              <a:t>  多对一联系（</a:t>
            </a:r>
            <a:r>
              <a:rPr lang="en-US" altLang="zh-CN" sz="2000" dirty="0"/>
              <a:t>m∶1</a:t>
            </a:r>
            <a:r>
              <a:rPr lang="zh-CN" altLang="en-US" sz="2000" dirty="0"/>
              <a:t>）</a:t>
            </a:r>
            <a:r>
              <a:rPr lang="en-US" altLang="zh-CN" sz="2000" dirty="0"/>
              <a:t>A 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FF0000"/>
                </a:solidFill>
              </a:rPr>
              <a:t>一个实体</a:t>
            </a:r>
            <a:r>
              <a:rPr lang="zh-CN" altLang="en-US" sz="2000" dirty="0"/>
              <a:t>至多与</a:t>
            </a:r>
            <a:r>
              <a:rPr lang="en-US" altLang="zh-CN" sz="2000" dirty="0"/>
              <a:t>B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0000FF"/>
                </a:solidFill>
              </a:rPr>
              <a:t>一个实体</a:t>
            </a:r>
            <a:r>
              <a:rPr lang="zh-CN" altLang="en-US" sz="2000" dirty="0"/>
              <a:t>相关联，而</a:t>
            </a:r>
            <a:r>
              <a:rPr lang="en-US" altLang="zh-CN" sz="2000" dirty="0"/>
              <a:t>B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0000FF"/>
                </a:solidFill>
              </a:rPr>
              <a:t>一个实体</a:t>
            </a:r>
            <a:r>
              <a:rPr lang="zh-CN" altLang="en-US" sz="2000" dirty="0"/>
              <a:t>可以与 </a:t>
            </a:r>
            <a:r>
              <a:rPr lang="en-US" altLang="zh-CN" sz="2000" dirty="0"/>
              <a:t>A </a:t>
            </a:r>
            <a:r>
              <a:rPr lang="zh-CN" altLang="en-US" sz="2000" dirty="0"/>
              <a:t>中</a:t>
            </a:r>
            <a:r>
              <a:rPr lang="zh-CN" altLang="en-US" sz="2000" dirty="0">
                <a:solidFill>
                  <a:srgbClr val="FF0000"/>
                </a:solidFill>
              </a:rPr>
              <a:t>任意数量（零个或多个）的实体</a:t>
            </a:r>
            <a:r>
              <a:rPr lang="zh-CN" altLang="en-US" sz="2000" dirty="0"/>
              <a:t>相关联；</a:t>
            </a:r>
          </a:p>
          <a:p>
            <a:pPr lvl="2">
              <a:lnSpc>
                <a:spcPct val="125000"/>
              </a:lnSpc>
              <a:buSzPct val="87000"/>
              <a:buFont typeface="Wingdings" pitchFamily="2" charset="2"/>
              <a:buChar char="l"/>
            </a:pPr>
            <a:endParaRPr lang="zh-CN" altLang="en-US" dirty="0"/>
          </a:p>
          <a:p>
            <a:pPr lvl="2">
              <a:lnSpc>
                <a:spcPct val="125000"/>
              </a:lnSpc>
              <a:buSzPct val="87000"/>
              <a:buFont typeface="Wingdings" pitchFamily="2" charset="2"/>
              <a:buChar char="l"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3E810-6064-4126-98DE-1ABC3078C9F4}" type="datetime1">
              <a:rPr lang="zh-CN" altLang="en-US" smtClean="0"/>
              <a:t>2025/10/24</a:t>
            </a:fld>
            <a:endParaRPr lang="en-US" altLang="zh-C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0"/>
            <a:ext cx="1944216" cy="2116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6302254" y="4977294"/>
            <a:ext cx="1722660" cy="1902808"/>
            <a:chOff x="6302254" y="4977294"/>
            <a:chExt cx="1722660" cy="1902808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B576BD66-2E3B-6696-6A25-D2F43AC176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02254" y="4977294"/>
              <a:ext cx="1722660" cy="1902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76B63EF-7BAC-104B-3192-5EFB25BA9CCC}"/>
                </a:ext>
              </a:extLst>
            </p:cNvPr>
            <p:cNvSpPr txBox="1"/>
            <p:nvPr/>
          </p:nvSpPr>
          <p:spPr>
            <a:xfrm>
              <a:off x="6871631" y="4993482"/>
              <a:ext cx="8247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/>
                <a:t>m∶1</a:t>
              </a:r>
              <a:endParaRPr lang="zh-CN" altLang="en-US" sz="1800" dirty="0"/>
            </a:p>
          </p:txBody>
        </p:sp>
      </p:grp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CB7B4722-2E35-8F82-6629-A68905DF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7AB39085-8757-E598-5512-7C178434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506BE-3ECF-4657-A630-8BFD5BFA9C56}" type="slidenum">
              <a:rPr lang="en-US" altLang="zh-CN" smtClean="0"/>
              <a:pPr/>
              <a:t>33</a:t>
            </a:fld>
            <a:r>
              <a:rPr lang="en-US" altLang="zh-CN"/>
              <a:t>/103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4563739" y="4977293"/>
            <a:ext cx="1711743" cy="1902809"/>
            <a:chOff x="4563739" y="4977293"/>
            <a:chExt cx="1711743" cy="1902809"/>
          </a:xfrm>
        </p:grpSpPr>
        <p:pic>
          <p:nvPicPr>
            <p:cNvPr id="5" name="Picture 3">
              <a:extLst>
                <a:ext uri="{FF2B5EF4-FFF2-40B4-BE49-F238E27FC236}">
                  <a16:creationId xmlns:a16="http://schemas.microsoft.com/office/drawing/2014/main" id="{C3B67979-D6D0-C825-F7C0-CE4996C3FA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963"/>
            <a:stretch/>
          </p:blipFill>
          <p:spPr bwMode="auto">
            <a:xfrm>
              <a:off x="4563739" y="4977294"/>
              <a:ext cx="1711743" cy="1902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04F9912-AC91-7D8A-9B9F-A43EAABAC2B8}"/>
                </a:ext>
              </a:extLst>
            </p:cNvPr>
            <p:cNvSpPr txBox="1"/>
            <p:nvPr/>
          </p:nvSpPr>
          <p:spPr>
            <a:xfrm>
              <a:off x="4934875" y="4977293"/>
              <a:ext cx="96946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dirty="0"/>
                <a:t>1∶</a:t>
              </a:r>
              <a:r>
                <a:rPr lang="en-US" altLang="zh-CN" sz="1800" i="1" dirty="0"/>
                <a:t>n</a:t>
              </a:r>
              <a:endParaRPr lang="zh-CN" altLang="en-US" sz="18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866246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/>
              <a:t>E-R</a:t>
            </a:r>
            <a:r>
              <a:rPr lang="zh-CN" altLang="en-US" sz="3600" dirty="0"/>
              <a:t>模型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4294967295"/>
          </p:nvPr>
        </p:nvSpPr>
        <p:spPr>
          <a:xfrm>
            <a:off x="565181" y="1333521"/>
            <a:ext cx="8435975" cy="5095875"/>
          </a:xfrm>
        </p:spPr>
        <p:txBody>
          <a:bodyPr/>
          <a:lstStyle/>
          <a:p>
            <a:pPr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dirty="0"/>
              <a:t>1. </a:t>
            </a:r>
            <a:r>
              <a:rPr lang="zh-CN" altLang="en-US" dirty="0">
                <a:solidFill>
                  <a:srgbClr val="0000FF"/>
                </a:solidFill>
              </a:rPr>
              <a:t>两个实体型</a:t>
            </a:r>
            <a:r>
              <a:rPr lang="zh-CN" altLang="en-US" dirty="0"/>
              <a:t>之间的联系：</a:t>
            </a:r>
          </a:p>
          <a:p>
            <a:pPr lvl="1">
              <a:lnSpc>
                <a:spcPct val="125000"/>
              </a:lnSpc>
              <a:buSzPct val="87000"/>
              <a:buFont typeface="Arial" pitchFamily="34" charset="0"/>
              <a:buNone/>
            </a:pPr>
            <a:r>
              <a:rPr lang="zh-CN" altLang="en-US" sz="2000" dirty="0"/>
              <a:t>②一对多联系（</a:t>
            </a:r>
            <a:r>
              <a:rPr lang="en-US" altLang="zh-CN" sz="2000" dirty="0"/>
              <a:t>1∶</a:t>
            </a:r>
            <a:r>
              <a:rPr lang="en-US" altLang="zh-CN" sz="2000" i="1" dirty="0"/>
              <a:t>n</a:t>
            </a:r>
            <a:r>
              <a:rPr lang="zh-CN" altLang="en-US" sz="2000" dirty="0"/>
              <a:t>）</a:t>
            </a:r>
            <a:r>
              <a:rPr lang="en-US" altLang="zh-CN" sz="2000" dirty="0"/>
              <a:t>A 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FF0000"/>
                </a:solidFill>
              </a:rPr>
              <a:t>一个实体</a:t>
            </a:r>
            <a:r>
              <a:rPr lang="zh-CN" altLang="en-US" sz="2000" dirty="0"/>
              <a:t>可以与</a:t>
            </a:r>
            <a:r>
              <a:rPr lang="en-US" altLang="zh-CN" sz="2000" dirty="0"/>
              <a:t>B</a:t>
            </a:r>
            <a:r>
              <a:rPr lang="zh-CN" altLang="en-US" sz="2000" dirty="0">
                <a:solidFill>
                  <a:srgbClr val="0000FF"/>
                </a:solidFill>
              </a:rPr>
              <a:t>中任意数量（零个或多个）的实体</a:t>
            </a:r>
            <a:r>
              <a:rPr lang="zh-CN" altLang="en-US" sz="2000" dirty="0"/>
              <a:t>相关联，而</a:t>
            </a:r>
            <a:r>
              <a:rPr lang="en-US" altLang="zh-CN" sz="2000" dirty="0"/>
              <a:t>B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0000FF"/>
                </a:solidFill>
              </a:rPr>
              <a:t>一个实体</a:t>
            </a:r>
            <a:r>
              <a:rPr lang="zh-CN" altLang="en-US" sz="2000" dirty="0"/>
              <a:t>至多与</a:t>
            </a:r>
            <a:r>
              <a:rPr lang="en-US" altLang="zh-CN" sz="2000" dirty="0"/>
              <a:t>A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FF0000"/>
                </a:solidFill>
              </a:rPr>
              <a:t>一个实体</a:t>
            </a:r>
            <a:r>
              <a:rPr lang="zh-CN" altLang="en-US" sz="2000" dirty="0"/>
              <a:t>相关联；</a:t>
            </a:r>
            <a:endParaRPr lang="en-US" altLang="zh-CN" sz="2000" dirty="0"/>
          </a:p>
          <a:p>
            <a:pPr lvl="1">
              <a:lnSpc>
                <a:spcPct val="125000"/>
              </a:lnSpc>
              <a:buSzPct val="87000"/>
              <a:buFont typeface="Arial" pitchFamily="34" charset="0"/>
              <a:buNone/>
            </a:pPr>
            <a:r>
              <a:rPr lang="zh-CN" altLang="en-US" sz="2000" dirty="0"/>
              <a:t>  多对一联系（</a:t>
            </a:r>
            <a:r>
              <a:rPr lang="en-US" altLang="zh-CN" sz="2000" dirty="0"/>
              <a:t>m∶1</a:t>
            </a:r>
            <a:r>
              <a:rPr lang="zh-CN" altLang="en-US" sz="2000" dirty="0"/>
              <a:t>）</a:t>
            </a:r>
            <a:r>
              <a:rPr lang="en-US" altLang="zh-CN" sz="2000" dirty="0"/>
              <a:t>A 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FF0000"/>
                </a:solidFill>
              </a:rPr>
              <a:t>一个实体</a:t>
            </a:r>
            <a:r>
              <a:rPr lang="zh-CN" altLang="en-US" sz="2000" dirty="0"/>
              <a:t>至多与</a:t>
            </a:r>
            <a:r>
              <a:rPr lang="en-US" altLang="zh-CN" sz="2000" dirty="0"/>
              <a:t>B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0000FF"/>
                </a:solidFill>
              </a:rPr>
              <a:t>一个实体</a:t>
            </a:r>
            <a:r>
              <a:rPr lang="zh-CN" altLang="en-US" sz="2000" dirty="0"/>
              <a:t>相关联，而</a:t>
            </a:r>
            <a:r>
              <a:rPr lang="en-US" altLang="zh-CN" sz="2000" dirty="0"/>
              <a:t>B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0000FF"/>
                </a:solidFill>
              </a:rPr>
              <a:t>一个实体</a:t>
            </a:r>
            <a:r>
              <a:rPr lang="zh-CN" altLang="en-US" sz="2000" dirty="0"/>
              <a:t>可以与 </a:t>
            </a:r>
            <a:r>
              <a:rPr lang="en-US" altLang="zh-CN" sz="2000" dirty="0"/>
              <a:t>A </a:t>
            </a:r>
            <a:r>
              <a:rPr lang="zh-CN" altLang="en-US" sz="2000" dirty="0"/>
              <a:t>中</a:t>
            </a:r>
            <a:r>
              <a:rPr lang="zh-CN" altLang="en-US" sz="2000" dirty="0">
                <a:solidFill>
                  <a:srgbClr val="FF0000"/>
                </a:solidFill>
              </a:rPr>
              <a:t>任意数量（零个或多个）的实体</a:t>
            </a:r>
            <a:r>
              <a:rPr lang="zh-CN" altLang="en-US" sz="2000" dirty="0"/>
              <a:t>相关联；</a:t>
            </a:r>
          </a:p>
          <a:p>
            <a:pPr lvl="1">
              <a:lnSpc>
                <a:spcPct val="125000"/>
              </a:lnSpc>
              <a:buSzPct val="87000"/>
              <a:buFont typeface="Arial" pitchFamily="34" charset="0"/>
              <a:buNone/>
            </a:pPr>
            <a:endParaRPr lang="en-US" altLang="zh-CN" sz="2000" dirty="0"/>
          </a:p>
          <a:p>
            <a:pPr lvl="1">
              <a:lnSpc>
                <a:spcPct val="125000"/>
              </a:lnSpc>
              <a:buSzPct val="87000"/>
              <a:buFont typeface="Arial" pitchFamily="34" charset="0"/>
              <a:buNone/>
            </a:pPr>
            <a:r>
              <a:rPr lang="zh-CN" altLang="en-US" sz="2000" dirty="0"/>
              <a:t>例如：</a:t>
            </a:r>
            <a:r>
              <a:rPr lang="en-US" altLang="zh-CN" sz="2000" dirty="0"/>
              <a:t>advisor</a:t>
            </a:r>
            <a:r>
              <a:rPr lang="zh-CN" altLang="en-US" sz="2000" dirty="0"/>
              <a:t>联系，一个学生只能由一位老师指导，而一个老师可以指导多名学生，但学生和老师之间就是</a:t>
            </a:r>
            <a:r>
              <a:rPr lang="zh-CN" altLang="en-US" sz="2000" dirty="0">
                <a:solidFill>
                  <a:srgbClr val="FF0000"/>
                </a:solidFill>
              </a:rPr>
              <a:t>多对一</a:t>
            </a:r>
            <a:r>
              <a:rPr lang="zh-CN" altLang="en-US" sz="2000" dirty="0"/>
              <a:t>的联系；反过来老师和学生之间是</a:t>
            </a:r>
            <a:r>
              <a:rPr lang="zh-CN" altLang="en-US" sz="2000" dirty="0">
                <a:solidFill>
                  <a:srgbClr val="FF0000"/>
                </a:solidFill>
              </a:rPr>
              <a:t>一对多</a:t>
            </a:r>
            <a:r>
              <a:rPr lang="zh-CN" altLang="en-US" sz="2000" dirty="0"/>
              <a:t>的联系。</a:t>
            </a:r>
          </a:p>
          <a:p>
            <a:pPr lvl="2">
              <a:lnSpc>
                <a:spcPct val="125000"/>
              </a:lnSpc>
              <a:buSzPct val="87000"/>
              <a:buFont typeface="Wingdings" pitchFamily="2" charset="2"/>
              <a:buChar char="l"/>
            </a:pPr>
            <a:endParaRPr lang="zh-CN" altLang="en-US" dirty="0"/>
          </a:p>
          <a:p>
            <a:pPr lvl="2">
              <a:lnSpc>
                <a:spcPct val="125000"/>
              </a:lnSpc>
              <a:buSzPct val="87000"/>
              <a:buFont typeface="Wingdings" pitchFamily="2" charset="2"/>
              <a:buChar char="l"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9252E-365C-43C1-B785-0C806032C845}" type="datetime1">
              <a:rPr lang="zh-CN" altLang="en-US" smtClean="0"/>
              <a:t>2025/10/24</a:t>
            </a:fld>
            <a:endParaRPr lang="en-US" altLang="zh-CN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493" y="116632"/>
            <a:ext cx="4144069" cy="1307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4A7D24-85AA-1F76-B658-51C7160F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5AA6DF-373E-1996-C1B2-DA306FC3B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506BE-3ECF-4657-A630-8BFD5BFA9C56}" type="slidenum">
              <a:rPr lang="en-US" altLang="zh-CN" smtClean="0"/>
              <a:pPr/>
              <a:t>34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04908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/>
              <a:t>E-R</a:t>
            </a:r>
            <a:r>
              <a:rPr lang="zh-CN" altLang="en-US" sz="3600" dirty="0"/>
              <a:t>模型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4294967295"/>
          </p:nvPr>
        </p:nvSpPr>
        <p:spPr>
          <a:xfrm>
            <a:off x="565181" y="1333521"/>
            <a:ext cx="8435975" cy="5095875"/>
          </a:xfrm>
        </p:spPr>
        <p:txBody>
          <a:bodyPr/>
          <a:lstStyle/>
          <a:p>
            <a:pPr>
              <a:lnSpc>
                <a:spcPct val="125000"/>
              </a:lnSpc>
              <a:buFont typeface="Wingdings" pitchFamily="2" charset="2"/>
              <a:buNone/>
            </a:pPr>
            <a:r>
              <a:rPr lang="en-US" altLang="zh-CN" dirty="0"/>
              <a:t>1. </a:t>
            </a:r>
            <a:r>
              <a:rPr lang="zh-CN" altLang="en-US" dirty="0">
                <a:solidFill>
                  <a:srgbClr val="0000FF"/>
                </a:solidFill>
              </a:rPr>
              <a:t>两个实体型</a:t>
            </a:r>
            <a:r>
              <a:rPr lang="zh-CN" altLang="en-US" dirty="0"/>
              <a:t>之间的联系：</a:t>
            </a:r>
          </a:p>
          <a:p>
            <a:pPr lvl="1">
              <a:lnSpc>
                <a:spcPct val="125000"/>
              </a:lnSpc>
              <a:buSzPct val="87000"/>
              <a:buFont typeface="Arial" pitchFamily="34" charset="0"/>
              <a:buNone/>
            </a:pPr>
            <a:r>
              <a:rPr lang="zh-CN" altLang="en-US" sz="2000" dirty="0"/>
              <a:t>③多对多联系（</a:t>
            </a:r>
            <a:r>
              <a:rPr lang="en-US" altLang="zh-CN" sz="2000" i="1" dirty="0" err="1"/>
              <a:t>m</a:t>
            </a:r>
            <a:r>
              <a:rPr lang="en-US" altLang="zh-CN" sz="2000" dirty="0" err="1"/>
              <a:t>∶</a:t>
            </a:r>
            <a:r>
              <a:rPr lang="en-US" altLang="zh-CN" sz="2000" i="1" dirty="0" err="1"/>
              <a:t>n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>
              <a:lnSpc>
                <a:spcPct val="125000"/>
              </a:lnSpc>
              <a:buSzPct val="87000"/>
              <a:buFont typeface="Arial" pitchFamily="34" charset="0"/>
              <a:buNone/>
            </a:pPr>
            <a:r>
              <a:rPr lang="en-US" altLang="zh-CN" sz="2000" dirty="0"/>
              <a:t>A 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FF0000"/>
                </a:solidFill>
              </a:rPr>
              <a:t>一个实体</a:t>
            </a:r>
            <a:r>
              <a:rPr lang="zh-CN" altLang="en-US" sz="2000" dirty="0"/>
              <a:t>可以与</a:t>
            </a:r>
            <a:r>
              <a:rPr lang="en-US" altLang="zh-CN" sz="2000" dirty="0"/>
              <a:t>B</a:t>
            </a:r>
            <a:r>
              <a:rPr lang="zh-CN" altLang="en-US" sz="2000" dirty="0"/>
              <a:t>中</a:t>
            </a:r>
            <a:r>
              <a:rPr lang="zh-CN" altLang="en-US" sz="2000" dirty="0">
                <a:solidFill>
                  <a:srgbClr val="0000FF"/>
                </a:solidFill>
              </a:rPr>
              <a:t>任意数量（零个或多个）的实体</a:t>
            </a:r>
            <a:r>
              <a:rPr lang="zh-CN" altLang="en-US" sz="2000" dirty="0"/>
              <a:t>相关联，而且</a:t>
            </a:r>
            <a:r>
              <a:rPr lang="en-US" altLang="zh-CN" sz="2000" dirty="0"/>
              <a:t>B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0000FF"/>
                </a:solidFill>
              </a:rPr>
              <a:t>一个实体</a:t>
            </a:r>
            <a:r>
              <a:rPr lang="zh-CN" altLang="en-US" sz="2000" dirty="0"/>
              <a:t>也可以与</a:t>
            </a:r>
            <a:r>
              <a:rPr lang="en-US" altLang="zh-CN" sz="2000" dirty="0"/>
              <a:t>A</a:t>
            </a:r>
            <a:r>
              <a:rPr lang="zh-CN" altLang="en-US" sz="2000" dirty="0"/>
              <a:t>中</a:t>
            </a:r>
            <a:r>
              <a:rPr lang="zh-CN" altLang="en-US" sz="2000" dirty="0">
                <a:solidFill>
                  <a:srgbClr val="FF0000"/>
                </a:solidFill>
              </a:rPr>
              <a:t>任意数量（零个或多个）的实体</a:t>
            </a:r>
            <a:r>
              <a:rPr lang="zh-CN" altLang="en-US" sz="2000" dirty="0"/>
              <a:t>相关联；</a:t>
            </a:r>
            <a:endParaRPr lang="en-US" altLang="zh-CN" sz="2000" dirty="0"/>
          </a:p>
          <a:p>
            <a:pPr lvl="1">
              <a:lnSpc>
                <a:spcPct val="125000"/>
              </a:lnSpc>
              <a:buSzPct val="87000"/>
              <a:buFont typeface="Arial" pitchFamily="34" charset="0"/>
              <a:buNone/>
            </a:pPr>
            <a:r>
              <a:rPr lang="zh-CN" altLang="en-US" sz="2000" dirty="0"/>
              <a:t>例如：如果一个学生可以由多位老师指导，而一个老师也可以指导多名学生，则</a:t>
            </a:r>
            <a:r>
              <a:rPr lang="en-US" altLang="zh-CN" sz="2000" dirty="0"/>
              <a:t>advisor</a:t>
            </a:r>
            <a:r>
              <a:rPr lang="zh-CN" altLang="en-US" sz="2000" dirty="0"/>
              <a:t>是一个多对多的联系；</a:t>
            </a:r>
            <a:endParaRPr lang="en-US" altLang="zh-CN" sz="2000" dirty="0"/>
          </a:p>
          <a:p>
            <a:pPr lvl="1">
              <a:lnSpc>
                <a:spcPct val="125000"/>
              </a:lnSpc>
              <a:buSzPct val="87000"/>
              <a:buFont typeface="Arial" pitchFamily="34" charset="0"/>
              <a:buNone/>
            </a:pPr>
            <a:endParaRPr lang="en-US" altLang="zh-CN" sz="2000" dirty="0"/>
          </a:p>
          <a:p>
            <a:pPr lvl="1">
              <a:lnSpc>
                <a:spcPct val="125000"/>
              </a:lnSpc>
              <a:buSzPct val="87000"/>
              <a:buFont typeface="Arial" pitchFamily="34" charset="0"/>
              <a:buNone/>
            </a:pPr>
            <a:r>
              <a:rPr lang="zh-CN" altLang="en-US" sz="2000" dirty="0"/>
              <a:t>再如：学生 和  课程之间呢？</a:t>
            </a:r>
          </a:p>
          <a:p>
            <a:pPr lvl="2">
              <a:lnSpc>
                <a:spcPct val="125000"/>
              </a:lnSpc>
              <a:buSzPct val="87000"/>
              <a:buFont typeface="Wingdings" pitchFamily="2" charset="2"/>
              <a:buChar char="l"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04AA-5FD0-4166-BA14-9FBFB6137A86}" type="datetime1">
              <a:rPr lang="zh-CN" altLang="en-US" smtClean="0"/>
              <a:t>2025/10/24</a:t>
            </a:fld>
            <a:endParaRPr lang="en-US" altLang="zh-CN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"/>
            <a:ext cx="2160240" cy="224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3B14E7-E4A5-3A4F-D1E8-CEC41B149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EFAADE-5EB7-B66E-D11A-3FC2505BE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506BE-3ECF-4657-A630-8BFD5BFA9C56}" type="slidenum">
              <a:rPr lang="en-US" altLang="zh-CN" smtClean="0"/>
              <a:pPr/>
              <a:t>35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9821694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78A5BD9-072D-4BEB-8288-706407333FC2}" type="datetime1">
              <a:rPr lang="zh-CN" altLang="en-US" sz="1400" smtClean="0">
                <a:solidFill>
                  <a:schemeClr val="tx1"/>
                </a:solidFill>
                <a:latin typeface="Times New Roman" pitchFamily="18" charset="0"/>
              </a:rPr>
              <a:t>2025/10/24</a:t>
            </a:fld>
            <a:endParaRPr lang="en-US" altLang="zh-CN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14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概念模型的基本概念</a:t>
            </a:r>
            <a:endParaRPr lang="en-US" altLang="zh-CN" dirty="0"/>
          </a:p>
        </p:txBody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实体间的</a:t>
            </a:r>
            <a:r>
              <a:rPr lang="zh-CN" altLang="en-US" dirty="0">
                <a:solidFill>
                  <a:srgbClr val="0000FF"/>
                </a:solidFill>
              </a:rPr>
              <a:t>联系</a:t>
            </a:r>
            <a:r>
              <a:rPr lang="zh-CN" altLang="en-US" dirty="0">
                <a:solidFill>
                  <a:schemeClr val="tx1"/>
                </a:solidFill>
              </a:rPr>
              <a:t>与现实世界的</a:t>
            </a:r>
            <a:r>
              <a:rPr lang="zh-CN" altLang="en-US" dirty="0">
                <a:solidFill>
                  <a:schemeClr val="hlink"/>
                </a:solidFill>
              </a:rPr>
              <a:t>语义</a:t>
            </a:r>
            <a:r>
              <a:rPr lang="zh-CN" altLang="en-US" dirty="0">
                <a:solidFill>
                  <a:schemeClr val="tx1"/>
                </a:solidFill>
              </a:rPr>
              <a:t>环境关系密切。具体判断时，应根据分析语义，通过上述定义来判断联系的类型。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sz="1200" dirty="0">
              <a:solidFill>
                <a:schemeClr val="tx1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C2290A"/>
                </a:solidFill>
              </a:rPr>
              <a:t>	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C2290A"/>
                </a:solidFill>
              </a:rPr>
              <a:t>“具体问题，具体分析”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1800" dirty="0">
              <a:solidFill>
                <a:srgbClr val="C2290A"/>
              </a:solidFill>
            </a:endParaRP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5A9A6FD3-D951-9216-43B1-ADE40227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9FA48C3-6C56-BF09-A875-801180148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36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7956974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062F19F-F222-4E84-99D3-5A5A7E54C242}" type="datetime1">
              <a:rPr lang="zh-CN" altLang="en-US" sz="1400" smtClean="0">
                <a:solidFill>
                  <a:schemeClr val="tx1"/>
                </a:solidFill>
                <a:latin typeface="Times New Roman" pitchFamily="18" charset="0"/>
              </a:rPr>
              <a:t>2025/10/24</a:t>
            </a:fld>
            <a:endParaRPr lang="en-US" altLang="zh-CN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联系的约束</a:t>
            </a:r>
            <a:r>
              <a:rPr lang="en-US" altLang="zh-CN" dirty="0"/>
              <a:t>---ER</a:t>
            </a:r>
            <a:r>
              <a:rPr lang="zh-CN" altLang="en-US" dirty="0"/>
              <a:t>图表示</a:t>
            </a:r>
            <a:endParaRPr lang="en-US" altLang="zh-CN" dirty="0"/>
          </a:p>
        </p:txBody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itchFamily="2" charset="2"/>
              <a:buAutoNum type="arabicParenBoth"/>
            </a:pPr>
            <a:r>
              <a:rPr lang="zh-CN" altLang="en-US" dirty="0"/>
              <a:t>一对一联系：箭头指向“一”侧</a:t>
            </a:r>
          </a:p>
          <a:p>
            <a:pPr marL="990600" lvl="1" indent="-533400" eaLnBrk="1" hangingPunct="1"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zh-CN" altLang="en-US" sz="2400" dirty="0"/>
              <a:t>如果对于实体集</a:t>
            </a:r>
            <a:r>
              <a:rPr lang="en-US" altLang="zh-CN" sz="2400" dirty="0"/>
              <a:t>A</a:t>
            </a:r>
            <a:r>
              <a:rPr lang="zh-CN" altLang="en-US" sz="2400" dirty="0"/>
              <a:t>中的每一个实体，在实体集</a:t>
            </a:r>
            <a:r>
              <a:rPr lang="en-US" altLang="zh-CN" sz="2400" dirty="0"/>
              <a:t>B</a:t>
            </a:r>
            <a:r>
              <a:rPr lang="zh-CN" altLang="en-US" sz="2400" dirty="0"/>
              <a:t>中至多有一个实体与之联系。反之亦然。称实体集</a:t>
            </a:r>
            <a:r>
              <a:rPr lang="en-US" altLang="zh-CN" sz="2400" dirty="0"/>
              <a:t>A</a:t>
            </a:r>
            <a:r>
              <a:rPr lang="zh-CN" altLang="en-US" sz="2400" dirty="0"/>
              <a:t>与</a:t>
            </a:r>
            <a:r>
              <a:rPr lang="en-US" altLang="zh-CN" sz="2400" dirty="0"/>
              <a:t>B</a:t>
            </a:r>
            <a:r>
              <a:rPr lang="zh-CN" altLang="en-US" sz="2400" dirty="0"/>
              <a:t>具有一对一联系。</a:t>
            </a:r>
          </a:p>
          <a:p>
            <a:pPr marL="609600" indent="-609600" eaLnBrk="1" hangingPunct="1"/>
            <a:endParaRPr lang="en-US" altLang="zh-CN" dirty="0"/>
          </a:p>
        </p:txBody>
      </p:sp>
      <p:sp>
        <p:nvSpPr>
          <p:cNvPr id="58375" name="Rectangle 5"/>
          <p:cNvSpPr>
            <a:spLocks noChangeArrowheads="1"/>
          </p:cNvSpPr>
          <p:nvPr/>
        </p:nvSpPr>
        <p:spPr bwMode="auto">
          <a:xfrm>
            <a:off x="2590800" y="3429000"/>
            <a:ext cx="1066800" cy="60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58376" name="Rectangle 6"/>
          <p:cNvSpPr>
            <a:spLocks noChangeArrowheads="1"/>
          </p:cNvSpPr>
          <p:nvPr/>
        </p:nvSpPr>
        <p:spPr bwMode="auto">
          <a:xfrm>
            <a:off x="2590800" y="5410200"/>
            <a:ext cx="1066800" cy="60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58377" name="AutoShape 7"/>
          <p:cNvSpPr>
            <a:spLocks noChangeArrowheads="1"/>
          </p:cNvSpPr>
          <p:nvPr/>
        </p:nvSpPr>
        <p:spPr bwMode="auto">
          <a:xfrm>
            <a:off x="2667000" y="4419600"/>
            <a:ext cx="914400" cy="609600"/>
          </a:xfrm>
          <a:prstGeom prst="flowChartDecision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R</a:t>
            </a:r>
          </a:p>
        </p:txBody>
      </p:sp>
      <p:cxnSp>
        <p:nvCxnSpPr>
          <p:cNvPr id="58378" name="AutoShape 10"/>
          <p:cNvCxnSpPr>
            <a:cxnSpLocks noChangeShapeType="1"/>
            <a:stCxn id="58377" idx="2"/>
            <a:endCxn id="58376" idx="0"/>
          </p:cNvCxnSpPr>
          <p:nvPr/>
        </p:nvCxnSpPr>
        <p:spPr bwMode="auto">
          <a:xfrm>
            <a:off x="3124200" y="50292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79" name="AutoShape 11"/>
          <p:cNvCxnSpPr>
            <a:cxnSpLocks noChangeShapeType="1"/>
            <a:stCxn id="58377" idx="0"/>
            <a:endCxn id="58375" idx="2"/>
          </p:cNvCxnSpPr>
          <p:nvPr/>
        </p:nvCxnSpPr>
        <p:spPr bwMode="auto">
          <a:xfrm flipV="1">
            <a:off x="3124200" y="40386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380" name="Rectangle 12"/>
          <p:cNvSpPr>
            <a:spLocks noChangeArrowheads="1"/>
          </p:cNvSpPr>
          <p:nvPr/>
        </p:nvSpPr>
        <p:spPr bwMode="auto">
          <a:xfrm>
            <a:off x="5791200" y="3429000"/>
            <a:ext cx="1066800" cy="60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58381" name="Rectangle 13"/>
          <p:cNvSpPr>
            <a:spLocks noChangeArrowheads="1"/>
          </p:cNvSpPr>
          <p:nvPr/>
        </p:nvSpPr>
        <p:spPr bwMode="auto">
          <a:xfrm>
            <a:off x="5791200" y="5410200"/>
            <a:ext cx="1066800" cy="60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58382" name="AutoShape 14"/>
          <p:cNvSpPr>
            <a:spLocks noChangeArrowheads="1"/>
          </p:cNvSpPr>
          <p:nvPr/>
        </p:nvSpPr>
        <p:spPr bwMode="auto">
          <a:xfrm>
            <a:off x="5867400" y="4419600"/>
            <a:ext cx="914400" cy="609600"/>
          </a:xfrm>
          <a:prstGeom prst="flowChartDecision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R</a:t>
            </a:r>
          </a:p>
        </p:txBody>
      </p:sp>
      <p:cxnSp>
        <p:nvCxnSpPr>
          <p:cNvPr id="58383" name="AutoShape 15"/>
          <p:cNvCxnSpPr>
            <a:cxnSpLocks noChangeShapeType="1"/>
            <a:stCxn id="58382" idx="2"/>
            <a:endCxn id="58381" idx="0"/>
          </p:cNvCxnSpPr>
          <p:nvPr/>
        </p:nvCxnSpPr>
        <p:spPr bwMode="auto">
          <a:xfrm>
            <a:off x="6324600" y="50292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4" name="AutoShape 16"/>
          <p:cNvCxnSpPr>
            <a:cxnSpLocks noChangeShapeType="1"/>
            <a:stCxn id="58382" idx="0"/>
            <a:endCxn id="58380" idx="2"/>
          </p:cNvCxnSpPr>
          <p:nvPr/>
        </p:nvCxnSpPr>
        <p:spPr bwMode="auto">
          <a:xfrm flipV="1">
            <a:off x="6324600" y="40386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385" name="Text Box 17"/>
          <p:cNvSpPr txBox="1">
            <a:spLocks noChangeArrowheads="1"/>
          </p:cNvSpPr>
          <p:nvPr/>
        </p:nvSpPr>
        <p:spPr bwMode="auto">
          <a:xfrm>
            <a:off x="5867400" y="4038600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8386" name="Text Box 18"/>
          <p:cNvSpPr txBox="1">
            <a:spLocks noChangeArrowheads="1"/>
          </p:cNvSpPr>
          <p:nvPr/>
        </p:nvSpPr>
        <p:spPr bwMode="auto">
          <a:xfrm>
            <a:off x="5867400" y="4953000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BF1A2376-7A33-D217-AF2B-9B44E6D7B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27C5B26-895F-640F-5832-56D118C4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37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9511159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199710C-3E81-4873-8786-3B3CA90DAE5E}" type="datetime1">
              <a:rPr lang="zh-CN" altLang="en-US" sz="1400" smtClean="0">
                <a:solidFill>
                  <a:schemeClr val="tx1"/>
                </a:solidFill>
                <a:latin typeface="Times New Roman" pitchFamily="18" charset="0"/>
              </a:rPr>
              <a:t>2025/10/24</a:t>
            </a:fld>
            <a:endParaRPr lang="en-US" altLang="zh-CN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概念模型的基本概念</a:t>
            </a:r>
            <a:r>
              <a:rPr lang="en-US" altLang="zh-CN" dirty="0"/>
              <a:t>-- </a:t>
            </a:r>
            <a:r>
              <a:rPr lang="zh-CN" altLang="en-US" dirty="0"/>
              <a:t>联系的约束</a:t>
            </a:r>
            <a:endParaRPr lang="en-US" altLang="zh-CN" dirty="0"/>
          </a:p>
        </p:txBody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AutoNum type="arabicParenBoth" startAt="2"/>
            </a:pPr>
            <a:r>
              <a:rPr lang="en-US" altLang="zh-CN" dirty="0"/>
              <a:t> </a:t>
            </a:r>
            <a:r>
              <a:rPr lang="zh-CN" altLang="en-US" dirty="0"/>
              <a:t>一对多联系：箭头指向“一”侧</a:t>
            </a:r>
          </a:p>
          <a:p>
            <a:pPr marL="990600" lvl="1" indent="-533400" eaLnBrk="1" hangingPunct="1"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zh-CN" altLang="en-US" sz="2400" dirty="0"/>
              <a:t>如果对于实体集</a:t>
            </a:r>
            <a:r>
              <a:rPr lang="en-US" altLang="zh-CN" sz="2400" dirty="0"/>
              <a:t>A</a:t>
            </a:r>
            <a:r>
              <a:rPr lang="zh-CN" altLang="en-US" sz="2400" dirty="0"/>
              <a:t>中的每一个实体，在实体集</a:t>
            </a:r>
            <a:r>
              <a:rPr lang="en-US" altLang="zh-CN" sz="2400" dirty="0"/>
              <a:t>B</a:t>
            </a:r>
            <a:r>
              <a:rPr lang="zh-CN" altLang="en-US" sz="2400" dirty="0"/>
              <a:t>中有</a:t>
            </a:r>
            <a:r>
              <a:rPr lang="en-US" altLang="zh-CN" sz="2400" dirty="0"/>
              <a:t>n(n</a:t>
            </a:r>
            <a:r>
              <a:rPr lang="en-US" altLang="zh-CN" sz="2400" dirty="0">
                <a:cs typeface="Tahoma" pitchFamily="34" charset="0"/>
              </a:rPr>
              <a:t>≥</a:t>
            </a:r>
            <a:r>
              <a:rPr lang="en-US" altLang="zh-CN" sz="2400" dirty="0"/>
              <a:t>0)</a:t>
            </a:r>
            <a:r>
              <a:rPr lang="zh-CN" altLang="en-US" sz="2400" dirty="0"/>
              <a:t>个实体与之相联。反之，实体集</a:t>
            </a:r>
            <a:r>
              <a:rPr lang="en-US" altLang="zh-CN" sz="2400" dirty="0"/>
              <a:t>B</a:t>
            </a:r>
            <a:r>
              <a:rPr lang="zh-CN" altLang="en-US" sz="2400" dirty="0"/>
              <a:t>中的每一个实体在实体集</a:t>
            </a:r>
            <a:r>
              <a:rPr lang="en-US" altLang="zh-CN" sz="2400" dirty="0"/>
              <a:t>A</a:t>
            </a:r>
            <a:r>
              <a:rPr lang="zh-CN" altLang="en-US" sz="2400" dirty="0"/>
              <a:t>中至多有一个实体与之联系。称实体集</a:t>
            </a:r>
            <a:r>
              <a:rPr lang="en-US" altLang="zh-CN" sz="2400" dirty="0"/>
              <a:t>A</a:t>
            </a:r>
            <a:r>
              <a:rPr lang="zh-CN" altLang="en-US" sz="2400" dirty="0"/>
              <a:t>与</a:t>
            </a:r>
            <a:r>
              <a:rPr lang="en-US" altLang="zh-CN" sz="2400" dirty="0"/>
              <a:t>B</a:t>
            </a:r>
            <a:r>
              <a:rPr lang="zh-CN" altLang="en-US" sz="2400" dirty="0"/>
              <a:t>具有一对多联系。</a:t>
            </a:r>
            <a:endParaRPr lang="en-US" altLang="zh-CN" sz="2400" dirty="0"/>
          </a:p>
        </p:txBody>
      </p:sp>
      <p:sp>
        <p:nvSpPr>
          <p:cNvPr id="59399" name="Rectangle 4"/>
          <p:cNvSpPr>
            <a:spLocks noChangeArrowheads="1"/>
          </p:cNvSpPr>
          <p:nvPr/>
        </p:nvSpPr>
        <p:spPr bwMode="auto">
          <a:xfrm>
            <a:off x="2590800" y="3657600"/>
            <a:ext cx="1066800" cy="60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59400" name="Rectangle 5"/>
          <p:cNvSpPr>
            <a:spLocks noChangeArrowheads="1"/>
          </p:cNvSpPr>
          <p:nvPr/>
        </p:nvSpPr>
        <p:spPr bwMode="auto">
          <a:xfrm>
            <a:off x="2590800" y="5638800"/>
            <a:ext cx="1066800" cy="60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59401" name="AutoShape 6"/>
          <p:cNvSpPr>
            <a:spLocks noChangeArrowheads="1"/>
          </p:cNvSpPr>
          <p:nvPr/>
        </p:nvSpPr>
        <p:spPr bwMode="auto">
          <a:xfrm>
            <a:off x="2667000" y="4648200"/>
            <a:ext cx="914400" cy="609600"/>
          </a:xfrm>
          <a:prstGeom prst="flowChartDecision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R</a:t>
            </a:r>
          </a:p>
        </p:txBody>
      </p:sp>
      <p:cxnSp>
        <p:nvCxnSpPr>
          <p:cNvPr id="59402" name="AutoShape 7"/>
          <p:cNvCxnSpPr>
            <a:cxnSpLocks noChangeShapeType="1"/>
            <a:stCxn id="59401" idx="2"/>
            <a:endCxn id="59400" idx="0"/>
          </p:cNvCxnSpPr>
          <p:nvPr/>
        </p:nvCxnSpPr>
        <p:spPr bwMode="auto">
          <a:xfrm>
            <a:off x="3124200" y="52578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03" name="AutoShape 8"/>
          <p:cNvCxnSpPr>
            <a:cxnSpLocks noChangeShapeType="1"/>
            <a:stCxn id="59401" idx="0"/>
            <a:endCxn id="59399" idx="2"/>
          </p:cNvCxnSpPr>
          <p:nvPr/>
        </p:nvCxnSpPr>
        <p:spPr bwMode="auto">
          <a:xfrm flipV="1">
            <a:off x="3124200" y="42672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404" name="Rectangle 9"/>
          <p:cNvSpPr>
            <a:spLocks noChangeArrowheads="1"/>
          </p:cNvSpPr>
          <p:nvPr/>
        </p:nvSpPr>
        <p:spPr bwMode="auto">
          <a:xfrm>
            <a:off x="5791200" y="3733800"/>
            <a:ext cx="1066800" cy="60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59405" name="Rectangle 10"/>
          <p:cNvSpPr>
            <a:spLocks noChangeArrowheads="1"/>
          </p:cNvSpPr>
          <p:nvPr/>
        </p:nvSpPr>
        <p:spPr bwMode="auto">
          <a:xfrm>
            <a:off x="5791200" y="5715000"/>
            <a:ext cx="1066800" cy="60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59406" name="AutoShape 11"/>
          <p:cNvSpPr>
            <a:spLocks noChangeArrowheads="1"/>
          </p:cNvSpPr>
          <p:nvPr/>
        </p:nvSpPr>
        <p:spPr bwMode="auto">
          <a:xfrm>
            <a:off x="5867400" y="4724400"/>
            <a:ext cx="914400" cy="609600"/>
          </a:xfrm>
          <a:prstGeom prst="flowChartDecision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R</a:t>
            </a:r>
          </a:p>
        </p:txBody>
      </p:sp>
      <p:cxnSp>
        <p:nvCxnSpPr>
          <p:cNvPr id="59407" name="AutoShape 12"/>
          <p:cNvCxnSpPr>
            <a:cxnSpLocks noChangeShapeType="1"/>
            <a:stCxn id="59406" idx="2"/>
            <a:endCxn id="59405" idx="0"/>
          </p:cNvCxnSpPr>
          <p:nvPr/>
        </p:nvCxnSpPr>
        <p:spPr bwMode="auto">
          <a:xfrm>
            <a:off x="6324600" y="53340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08" name="AutoShape 13"/>
          <p:cNvCxnSpPr>
            <a:cxnSpLocks noChangeShapeType="1"/>
            <a:stCxn id="59406" idx="0"/>
            <a:endCxn id="59404" idx="2"/>
          </p:cNvCxnSpPr>
          <p:nvPr/>
        </p:nvCxnSpPr>
        <p:spPr bwMode="auto">
          <a:xfrm flipV="1">
            <a:off x="6324600" y="43434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409" name="Text Box 14"/>
          <p:cNvSpPr txBox="1">
            <a:spLocks noChangeArrowheads="1"/>
          </p:cNvSpPr>
          <p:nvPr/>
        </p:nvSpPr>
        <p:spPr bwMode="auto">
          <a:xfrm>
            <a:off x="5867400" y="4343400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8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9410" name="Text Box 15"/>
          <p:cNvSpPr txBox="1">
            <a:spLocks noChangeArrowheads="1"/>
          </p:cNvSpPr>
          <p:nvPr/>
        </p:nvSpPr>
        <p:spPr bwMode="auto">
          <a:xfrm>
            <a:off x="5867400" y="5257800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800" i="1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3082E5E9-0987-2EDD-A8AB-77C9D5170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842B657-869B-960B-8F42-C6A1C66AD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38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1213915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BBD6DE9-08DB-461F-878F-EC0BE073F65A}" type="datetime1">
              <a:rPr lang="zh-CN" altLang="en-US" sz="1400" smtClean="0">
                <a:solidFill>
                  <a:schemeClr val="tx1"/>
                </a:solidFill>
                <a:latin typeface="Times New Roman" pitchFamily="18" charset="0"/>
              </a:rPr>
              <a:t>2025/10/24</a:t>
            </a:fld>
            <a:endParaRPr lang="en-US" altLang="zh-CN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概念模型的基本概念</a:t>
            </a:r>
            <a:r>
              <a:rPr lang="en-US" altLang="zh-CN" dirty="0"/>
              <a:t>-- </a:t>
            </a:r>
            <a:r>
              <a:rPr lang="zh-CN" altLang="en-US" dirty="0"/>
              <a:t>联系的约束</a:t>
            </a:r>
            <a:endParaRPr lang="en-US" altLang="zh-CN" dirty="0"/>
          </a:p>
        </p:txBody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itchFamily="2" charset="2"/>
              <a:buAutoNum type="arabicParenBoth" startAt="3"/>
            </a:pPr>
            <a:r>
              <a:rPr lang="zh-CN" altLang="en-US" dirty="0"/>
              <a:t>多对多联系</a:t>
            </a:r>
          </a:p>
          <a:p>
            <a:pPr marL="609600" indent="-609600" eaLnBrk="1" hangingPunct="1"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zh-CN" altLang="en-US" sz="2400" dirty="0">
                <a:solidFill>
                  <a:schemeClr val="tx1"/>
                </a:solidFill>
              </a:rPr>
              <a:t>如果对于实体集</a:t>
            </a:r>
            <a:r>
              <a:rPr lang="en-US" altLang="zh-CN" sz="2400" dirty="0">
                <a:solidFill>
                  <a:schemeClr val="tx1"/>
                </a:solidFill>
              </a:rPr>
              <a:t>A</a:t>
            </a:r>
            <a:r>
              <a:rPr lang="zh-CN" altLang="en-US" sz="2400" dirty="0">
                <a:solidFill>
                  <a:schemeClr val="tx1"/>
                </a:solidFill>
              </a:rPr>
              <a:t>中的每一个实体，在实体集</a:t>
            </a:r>
            <a:r>
              <a:rPr lang="en-US" altLang="zh-CN" sz="2400" dirty="0">
                <a:solidFill>
                  <a:schemeClr val="tx1"/>
                </a:solidFill>
              </a:rPr>
              <a:t>B</a:t>
            </a:r>
            <a:r>
              <a:rPr lang="zh-CN" altLang="en-US" sz="2400" dirty="0">
                <a:solidFill>
                  <a:schemeClr val="tx1"/>
                </a:solidFill>
              </a:rPr>
              <a:t>中有</a:t>
            </a:r>
            <a:r>
              <a:rPr lang="en-US" altLang="zh-CN" sz="2400" dirty="0">
                <a:solidFill>
                  <a:schemeClr val="tx1"/>
                </a:solidFill>
              </a:rPr>
              <a:t>n(n</a:t>
            </a:r>
            <a:r>
              <a:rPr lang="en-US" altLang="zh-CN" sz="2400" dirty="0">
                <a:solidFill>
                  <a:schemeClr val="tx1"/>
                </a:solidFill>
                <a:cs typeface="Tahoma" pitchFamily="34" charset="0"/>
              </a:rPr>
              <a:t>≥</a:t>
            </a:r>
            <a:r>
              <a:rPr lang="en-US" altLang="zh-CN" sz="2400" dirty="0">
                <a:solidFill>
                  <a:schemeClr val="tx1"/>
                </a:solidFill>
              </a:rPr>
              <a:t>0)</a:t>
            </a:r>
            <a:r>
              <a:rPr lang="zh-CN" altLang="en-US" sz="2400" dirty="0">
                <a:solidFill>
                  <a:schemeClr val="tx1"/>
                </a:solidFill>
              </a:rPr>
              <a:t>个实体与之相联。反之，实体集</a:t>
            </a:r>
            <a:r>
              <a:rPr lang="en-US" altLang="zh-CN" sz="2400" dirty="0">
                <a:solidFill>
                  <a:schemeClr val="tx1"/>
                </a:solidFill>
              </a:rPr>
              <a:t>B</a:t>
            </a:r>
            <a:r>
              <a:rPr lang="zh-CN" altLang="en-US" sz="2400" dirty="0">
                <a:solidFill>
                  <a:schemeClr val="tx1"/>
                </a:solidFill>
              </a:rPr>
              <a:t>中的每一个实体在实体集</a:t>
            </a:r>
            <a:r>
              <a:rPr lang="en-US" altLang="zh-CN" sz="2400" dirty="0">
                <a:solidFill>
                  <a:schemeClr val="tx1"/>
                </a:solidFill>
              </a:rPr>
              <a:t>A</a:t>
            </a:r>
            <a:r>
              <a:rPr lang="zh-CN" altLang="en-US" sz="2400" dirty="0">
                <a:solidFill>
                  <a:schemeClr val="tx1"/>
                </a:solidFill>
              </a:rPr>
              <a:t>中也有</a:t>
            </a:r>
            <a:r>
              <a:rPr lang="en-US" altLang="zh-CN" sz="2400" dirty="0">
                <a:solidFill>
                  <a:schemeClr val="tx1"/>
                </a:solidFill>
              </a:rPr>
              <a:t>n(n</a:t>
            </a:r>
            <a:r>
              <a:rPr lang="en-US" altLang="en-US" sz="2400" dirty="0">
                <a:solidFill>
                  <a:schemeClr val="tx1"/>
                </a:solidFill>
              </a:rPr>
              <a:t>≥</a:t>
            </a:r>
            <a:r>
              <a:rPr lang="en-US" altLang="zh-CN" sz="2400" dirty="0">
                <a:solidFill>
                  <a:schemeClr val="tx1"/>
                </a:solidFill>
              </a:rPr>
              <a:t>0)</a:t>
            </a:r>
            <a:r>
              <a:rPr lang="zh-CN" altLang="en-US" sz="2400" dirty="0">
                <a:solidFill>
                  <a:schemeClr val="tx1"/>
                </a:solidFill>
              </a:rPr>
              <a:t>个实体与之联系。称实体集</a:t>
            </a:r>
            <a:r>
              <a:rPr lang="en-US" altLang="zh-CN" sz="2400" dirty="0">
                <a:solidFill>
                  <a:schemeClr val="tx1"/>
                </a:solidFill>
              </a:rPr>
              <a:t>A</a:t>
            </a:r>
            <a:r>
              <a:rPr lang="zh-CN" altLang="en-US" sz="2400" dirty="0">
                <a:solidFill>
                  <a:schemeClr val="tx1"/>
                </a:solidFill>
              </a:rPr>
              <a:t>与</a:t>
            </a:r>
            <a:r>
              <a:rPr lang="en-US" altLang="zh-CN" sz="2400" dirty="0">
                <a:solidFill>
                  <a:schemeClr val="tx1"/>
                </a:solidFill>
              </a:rPr>
              <a:t>B</a:t>
            </a:r>
            <a:r>
              <a:rPr lang="zh-CN" altLang="en-US" sz="2400" dirty="0">
                <a:solidFill>
                  <a:schemeClr val="tx1"/>
                </a:solidFill>
              </a:rPr>
              <a:t>具有多对多联系。</a:t>
            </a:r>
          </a:p>
          <a:p>
            <a:pPr marL="609600" indent="-609600" eaLnBrk="1" hangingPunct="1">
              <a:buClr>
                <a:schemeClr val="hlink"/>
              </a:buClr>
              <a:buSzPct val="55000"/>
              <a:buFont typeface="Wingdings" pitchFamily="2" charset="2"/>
              <a:buNone/>
            </a:pP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60423" name="Rectangle 4"/>
          <p:cNvSpPr>
            <a:spLocks noChangeArrowheads="1"/>
          </p:cNvSpPr>
          <p:nvPr/>
        </p:nvSpPr>
        <p:spPr bwMode="auto">
          <a:xfrm>
            <a:off x="2590800" y="3733800"/>
            <a:ext cx="1066800" cy="60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60424" name="Rectangle 5"/>
          <p:cNvSpPr>
            <a:spLocks noChangeArrowheads="1"/>
          </p:cNvSpPr>
          <p:nvPr/>
        </p:nvSpPr>
        <p:spPr bwMode="auto">
          <a:xfrm>
            <a:off x="2590800" y="5715000"/>
            <a:ext cx="1066800" cy="60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60425" name="AutoShape 6"/>
          <p:cNvSpPr>
            <a:spLocks noChangeArrowheads="1"/>
          </p:cNvSpPr>
          <p:nvPr/>
        </p:nvSpPr>
        <p:spPr bwMode="auto">
          <a:xfrm>
            <a:off x="2667000" y="4724400"/>
            <a:ext cx="914400" cy="609600"/>
          </a:xfrm>
          <a:prstGeom prst="flowChartDecision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R</a:t>
            </a:r>
          </a:p>
        </p:txBody>
      </p:sp>
      <p:cxnSp>
        <p:nvCxnSpPr>
          <p:cNvPr id="60426" name="AutoShape 7"/>
          <p:cNvCxnSpPr>
            <a:cxnSpLocks noChangeShapeType="1"/>
            <a:stCxn id="60425" idx="2"/>
            <a:endCxn id="60424" idx="0"/>
          </p:cNvCxnSpPr>
          <p:nvPr/>
        </p:nvCxnSpPr>
        <p:spPr bwMode="auto">
          <a:xfrm>
            <a:off x="3124200" y="53340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27" name="AutoShape 8"/>
          <p:cNvCxnSpPr>
            <a:cxnSpLocks noChangeShapeType="1"/>
            <a:stCxn id="60425" idx="0"/>
            <a:endCxn id="60423" idx="2"/>
          </p:cNvCxnSpPr>
          <p:nvPr/>
        </p:nvCxnSpPr>
        <p:spPr bwMode="auto">
          <a:xfrm flipV="1">
            <a:off x="3124200" y="43434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428" name="Rectangle 9"/>
          <p:cNvSpPr>
            <a:spLocks noChangeArrowheads="1"/>
          </p:cNvSpPr>
          <p:nvPr/>
        </p:nvSpPr>
        <p:spPr bwMode="auto">
          <a:xfrm>
            <a:off x="5791200" y="3733800"/>
            <a:ext cx="1066800" cy="60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60429" name="Rectangle 10"/>
          <p:cNvSpPr>
            <a:spLocks noChangeArrowheads="1"/>
          </p:cNvSpPr>
          <p:nvPr/>
        </p:nvSpPr>
        <p:spPr bwMode="auto">
          <a:xfrm>
            <a:off x="5791200" y="5715000"/>
            <a:ext cx="1066800" cy="609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B</a:t>
            </a:r>
          </a:p>
        </p:txBody>
      </p:sp>
      <p:sp>
        <p:nvSpPr>
          <p:cNvPr id="60430" name="AutoShape 11"/>
          <p:cNvSpPr>
            <a:spLocks noChangeArrowheads="1"/>
          </p:cNvSpPr>
          <p:nvPr/>
        </p:nvSpPr>
        <p:spPr bwMode="auto">
          <a:xfrm>
            <a:off x="5867400" y="4724400"/>
            <a:ext cx="914400" cy="609600"/>
          </a:xfrm>
          <a:prstGeom prst="flowChartDecision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kumimoji="1" lang="en-US" altLang="zh-CN" sz="2400">
                <a:solidFill>
                  <a:schemeClr val="tx2"/>
                </a:solidFill>
              </a:rPr>
              <a:t>R</a:t>
            </a:r>
          </a:p>
        </p:txBody>
      </p:sp>
      <p:cxnSp>
        <p:nvCxnSpPr>
          <p:cNvPr id="60431" name="AutoShape 12"/>
          <p:cNvCxnSpPr>
            <a:cxnSpLocks noChangeShapeType="1"/>
            <a:stCxn id="60430" idx="2"/>
            <a:endCxn id="60429" idx="0"/>
          </p:cNvCxnSpPr>
          <p:nvPr/>
        </p:nvCxnSpPr>
        <p:spPr bwMode="auto">
          <a:xfrm>
            <a:off x="6324600" y="53340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432" name="AutoShape 13"/>
          <p:cNvCxnSpPr>
            <a:cxnSpLocks noChangeShapeType="1"/>
            <a:stCxn id="60430" idx="0"/>
            <a:endCxn id="60428" idx="2"/>
          </p:cNvCxnSpPr>
          <p:nvPr/>
        </p:nvCxnSpPr>
        <p:spPr bwMode="auto">
          <a:xfrm flipV="1">
            <a:off x="6324600" y="4343400"/>
            <a:ext cx="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433" name="Text Box 14"/>
          <p:cNvSpPr txBox="1">
            <a:spLocks noChangeArrowheads="1"/>
          </p:cNvSpPr>
          <p:nvPr/>
        </p:nvSpPr>
        <p:spPr bwMode="auto">
          <a:xfrm>
            <a:off x="5867400" y="4343400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800" i="1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60434" name="Text Box 15"/>
          <p:cNvSpPr txBox="1">
            <a:spLocks noChangeArrowheads="1"/>
          </p:cNvSpPr>
          <p:nvPr/>
        </p:nvSpPr>
        <p:spPr bwMode="auto">
          <a:xfrm>
            <a:off x="5867400" y="5257800"/>
            <a:ext cx="533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1800" i="1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114108CF-2DE7-1033-F197-155BE0A4E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03833B8-B43A-F08C-C6CF-77E90400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39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0274340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/>
              <a:t>E-R</a:t>
            </a:r>
            <a:r>
              <a:rPr lang="zh-CN" altLang="en-US" sz="3600"/>
              <a:t>模型（续）</a:t>
            </a:r>
          </a:p>
        </p:txBody>
      </p:sp>
      <p:pic>
        <p:nvPicPr>
          <p:cNvPr id="58371" name="图片 3" descr="1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8888" y="1538288"/>
            <a:ext cx="6481762" cy="3475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6324" name="文本框 4"/>
          <p:cNvSpPr txBox="1">
            <a:spLocks noChangeArrowheads="1"/>
          </p:cNvSpPr>
          <p:nvPr/>
        </p:nvSpPr>
        <p:spPr bwMode="auto">
          <a:xfrm>
            <a:off x="2771775" y="5229225"/>
            <a:ext cx="36750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latin typeface="+mn-lt"/>
              </a:rPr>
              <a:t>图</a:t>
            </a:r>
            <a:r>
              <a:rPr lang="en-US" altLang="zh-CN" b="1" dirty="0">
                <a:latin typeface="+mn-lt"/>
              </a:rPr>
              <a:t>7.6 </a:t>
            </a:r>
            <a:r>
              <a:rPr lang="zh-CN" altLang="en-US" b="1" dirty="0">
                <a:latin typeface="宋体" pitchFamily="2" charset="-122"/>
              </a:rPr>
              <a:t>两个实体型之间的三类联系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88125-AFDE-4784-9549-F5B56D87B531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4119DD-9482-E01C-09D5-AC99A596D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D326B7-AAF5-79BD-FF4A-6E3E1A89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506BE-3ECF-4657-A630-8BFD5BFA9C56}" type="slidenum">
              <a:rPr lang="en-US" altLang="zh-CN" smtClean="0"/>
              <a:pPr/>
              <a:t>40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9822143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/>
              <a:t>E-R</a:t>
            </a:r>
            <a:r>
              <a:rPr lang="zh-CN" altLang="en-US" sz="3600"/>
              <a:t>模型（续）</a:t>
            </a:r>
          </a:p>
        </p:txBody>
      </p:sp>
      <p:sp>
        <p:nvSpPr>
          <p:cNvPr id="61443" name="内容占位符 2"/>
          <p:cNvSpPr>
            <a:spLocks noGrp="1"/>
          </p:cNvSpPr>
          <p:nvPr>
            <p:ph idx="4294967295"/>
          </p:nvPr>
        </p:nvSpPr>
        <p:spPr>
          <a:xfrm>
            <a:off x="457200" y="1404959"/>
            <a:ext cx="8229600" cy="5095875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FF"/>
                </a:solidFill>
              </a:rPr>
              <a:t>2. </a:t>
            </a:r>
            <a:r>
              <a:rPr lang="zh-CN" altLang="en-US" dirty="0">
                <a:solidFill>
                  <a:srgbClr val="0000FF"/>
                </a:solidFill>
              </a:rPr>
              <a:t>单个实体型</a:t>
            </a:r>
            <a:r>
              <a:rPr lang="zh-CN" altLang="en-US" dirty="0"/>
              <a:t>内的联系</a:t>
            </a:r>
          </a:p>
          <a:p>
            <a:pPr lvl="2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en-US" dirty="0">
                <a:solidFill>
                  <a:srgbClr val="0000FF"/>
                </a:solidFill>
              </a:rPr>
              <a:t>同一个实体集</a:t>
            </a:r>
            <a:r>
              <a:rPr lang="zh-CN" altLang="en-US" dirty="0"/>
              <a:t>内的</a:t>
            </a:r>
            <a:r>
              <a:rPr lang="zh-CN" altLang="en-US" dirty="0">
                <a:solidFill>
                  <a:srgbClr val="0000FF"/>
                </a:solidFill>
              </a:rPr>
              <a:t>各实体之间</a:t>
            </a:r>
            <a:r>
              <a:rPr lang="zh-CN" altLang="en-US" dirty="0"/>
              <a:t>也可以存在一对一、一对多、多对多的联系。</a:t>
            </a:r>
            <a:endParaRPr lang="en-US" dirty="0"/>
          </a:p>
          <a:p>
            <a:pPr lvl="2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en-US" dirty="0"/>
              <a:t>例如，</a:t>
            </a:r>
            <a:r>
              <a:rPr lang="zh-CN" altLang="en-US" b="1" dirty="0"/>
              <a:t>职工实体型</a:t>
            </a:r>
            <a:r>
              <a:rPr lang="zh-CN" altLang="en-US" dirty="0"/>
              <a:t>内部具有领导与被领导的联系，即某一职工（干部）“领导”若干名职工，而一个职工仅被另外一个职工直接领导，因此这是一对多的联系。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1324E-DEA7-475D-AFC0-6CE1509AED2C}" type="datetime1">
              <a:rPr lang="zh-CN" altLang="en-US" smtClean="0"/>
              <a:t>2025/10/24</a:t>
            </a:fld>
            <a:endParaRPr lang="en-US" altLang="zh-CN"/>
          </a:p>
        </p:txBody>
      </p:sp>
      <p:pic>
        <p:nvPicPr>
          <p:cNvPr id="7" name="图片 4" descr="1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24128" y="4614077"/>
            <a:ext cx="1656184" cy="1623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BBFB5B-9AEC-1BA6-2727-D26F059E6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A2887D-301A-F4DD-29EA-7D8CBB436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506BE-3ECF-4657-A630-8BFD5BFA9C56}" type="slidenum">
              <a:rPr lang="en-US" altLang="zh-CN" smtClean="0"/>
              <a:pPr/>
              <a:t>41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9291967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/>
              <a:t>E-R</a:t>
            </a:r>
            <a:r>
              <a:rPr lang="zh-CN" altLang="en-US" sz="3600"/>
              <a:t>模型（续）</a:t>
            </a:r>
          </a:p>
        </p:txBody>
      </p:sp>
      <p:sp>
        <p:nvSpPr>
          <p:cNvPr id="59395" name="内容占位符 2"/>
          <p:cNvSpPr>
            <a:spLocks noGrp="1"/>
          </p:cNvSpPr>
          <p:nvPr>
            <p:ph idx="4294967295"/>
          </p:nvPr>
        </p:nvSpPr>
        <p:spPr>
          <a:xfrm>
            <a:off x="457200" y="1384324"/>
            <a:ext cx="8229600" cy="5473700"/>
          </a:xfrm>
        </p:spPr>
        <p:txBody>
          <a:bodyPr/>
          <a:lstStyle/>
          <a:p>
            <a:pPr lvl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/>
              <a:t>3. </a:t>
            </a:r>
            <a:r>
              <a:rPr lang="zh-CN" altLang="en-US" dirty="0">
                <a:solidFill>
                  <a:srgbClr val="0000FF"/>
                </a:solidFill>
              </a:rPr>
              <a:t>两个以上</a:t>
            </a:r>
            <a:r>
              <a:rPr lang="zh-CN" altLang="en-US" dirty="0"/>
              <a:t>的实体型之间的联系</a:t>
            </a:r>
          </a:p>
          <a:p>
            <a:pPr lvl="2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en-US" dirty="0"/>
              <a:t>一般地，</a:t>
            </a:r>
            <a:r>
              <a:rPr lang="zh-CN" altLang="en-US" dirty="0">
                <a:solidFill>
                  <a:srgbClr val="0000FF"/>
                </a:solidFill>
              </a:rPr>
              <a:t>两个以上的实体型</a:t>
            </a:r>
            <a:r>
              <a:rPr lang="zh-CN" altLang="en-US" dirty="0"/>
              <a:t>之间也存在着</a:t>
            </a:r>
            <a:r>
              <a:rPr lang="zh-CN" altLang="en-US" dirty="0">
                <a:solidFill>
                  <a:srgbClr val="0000FF"/>
                </a:solidFill>
              </a:rPr>
              <a:t>一对一、一对多、多对多联系</a:t>
            </a:r>
            <a:r>
              <a:rPr lang="zh-CN" altLang="en-US" dirty="0"/>
              <a:t>。</a:t>
            </a:r>
          </a:p>
          <a:p>
            <a:pPr lvl="2">
              <a:lnSpc>
                <a:spcPct val="120000"/>
              </a:lnSpc>
              <a:buSzPct val="87000"/>
              <a:buFont typeface="Wingdings" pitchFamily="2" charset="2"/>
              <a:buChar char="l"/>
            </a:pPr>
            <a:r>
              <a:rPr lang="zh-CN" altLang="en-US" dirty="0"/>
              <a:t>对于课程、教师与参考书</a:t>
            </a:r>
            <a:r>
              <a:rPr lang="en-US" altLang="zh-CN" dirty="0"/>
              <a:t>3</a:t>
            </a:r>
            <a:r>
              <a:rPr lang="zh-CN" altLang="en-US" dirty="0"/>
              <a:t>个实体型，如果</a:t>
            </a:r>
            <a:r>
              <a:rPr lang="zh-CN" altLang="en-US" i="1" dirty="0"/>
              <a:t>一门课程</a:t>
            </a:r>
            <a:r>
              <a:rPr lang="zh-CN" altLang="en-US" dirty="0"/>
              <a:t>可以</a:t>
            </a:r>
            <a:r>
              <a:rPr lang="zh-CN" altLang="en-US" i="1" dirty="0"/>
              <a:t>有若干个教师讲授</a:t>
            </a:r>
            <a:r>
              <a:rPr lang="zh-CN" altLang="en-US" dirty="0"/>
              <a:t>，使用</a:t>
            </a:r>
            <a:r>
              <a:rPr lang="zh-CN" altLang="en-US" i="1" dirty="0"/>
              <a:t>若干本参考书</a:t>
            </a:r>
            <a:r>
              <a:rPr lang="zh-CN" altLang="en-US" dirty="0"/>
              <a:t>，而</a:t>
            </a:r>
            <a:r>
              <a:rPr lang="zh-CN" altLang="en-US" dirty="0">
                <a:solidFill>
                  <a:srgbClr val="0000FF"/>
                </a:solidFill>
              </a:rPr>
              <a:t>每一个教师</a:t>
            </a:r>
            <a:r>
              <a:rPr lang="zh-CN" altLang="en-US" dirty="0"/>
              <a:t>只</a:t>
            </a:r>
            <a:r>
              <a:rPr lang="zh-CN" altLang="en-US" dirty="0">
                <a:solidFill>
                  <a:srgbClr val="0000FF"/>
                </a:solidFill>
              </a:rPr>
              <a:t>讲授一门课程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每一本参考书</a:t>
            </a:r>
            <a:r>
              <a:rPr lang="zh-CN" altLang="en-US" dirty="0"/>
              <a:t>只</a:t>
            </a:r>
            <a:r>
              <a:rPr lang="zh-CN" altLang="en-US" dirty="0">
                <a:solidFill>
                  <a:srgbClr val="0000FF"/>
                </a:solidFill>
              </a:rPr>
              <a:t>供一门课程使用</a:t>
            </a:r>
            <a:r>
              <a:rPr lang="zh-CN" altLang="en-US" dirty="0"/>
              <a:t>，则课程与教师、参考书之间的联系是一对多的，如图</a:t>
            </a:r>
            <a:r>
              <a:rPr lang="en-US" altLang="zh-CN" dirty="0"/>
              <a:t>7.7(a)</a:t>
            </a:r>
            <a:r>
              <a:rPr lang="zh-CN" altLang="en-US" dirty="0"/>
              <a:t>所示。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0C817-73F8-46A3-81F0-FB7DBC115504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4EE531-72B5-5BAC-D80F-94764BCA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F7A7D4-6E16-4B2D-FA2F-9D9CAECB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506BE-3ECF-4657-A630-8BFD5BFA9C56}" type="slidenum">
              <a:rPr lang="en-US" altLang="zh-CN" smtClean="0"/>
              <a:pPr/>
              <a:t>42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7174443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/>
              <a:t>E-R</a:t>
            </a:r>
            <a:r>
              <a:rPr lang="zh-CN" altLang="en-US" sz="3600"/>
              <a:t>模型（续）</a:t>
            </a:r>
          </a:p>
        </p:txBody>
      </p:sp>
      <p:pic>
        <p:nvPicPr>
          <p:cNvPr id="60419" name="图片 3" descr="1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1663" y="2205038"/>
            <a:ext cx="5400675" cy="2303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252" name="文本框 4"/>
          <p:cNvSpPr txBox="1">
            <a:spLocks noChangeArrowheads="1"/>
          </p:cNvSpPr>
          <p:nvPr/>
        </p:nvSpPr>
        <p:spPr bwMode="auto">
          <a:xfrm>
            <a:off x="2857500" y="4860925"/>
            <a:ext cx="50048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b="1" dirty="0">
                <a:latin typeface="宋体" pitchFamily="2" charset="-122"/>
              </a:rPr>
              <a:t>图</a:t>
            </a:r>
            <a:r>
              <a:rPr lang="en-US" altLang="zh-CN" b="1" dirty="0">
                <a:latin typeface="+mn-lt"/>
              </a:rPr>
              <a:t>7.7</a:t>
            </a:r>
            <a:r>
              <a:rPr lang="en-US" altLang="zh-CN" b="1" dirty="0">
                <a:latin typeface="宋体" pitchFamily="2" charset="-122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latin typeface="宋体" pitchFamily="2" charset="-122"/>
              </a:rPr>
              <a:t>三个实体型</a:t>
            </a:r>
            <a:r>
              <a:rPr lang="zh-CN" altLang="en-US" b="1" dirty="0">
                <a:latin typeface="宋体" pitchFamily="2" charset="-122"/>
              </a:rPr>
              <a:t>之间的联系示例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A96DC-033A-46CD-BB45-671EC6FC6480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187C64-F380-EF47-9A5E-8B1018E14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60D3E0-3A1C-5E80-4346-938B6487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506BE-3ECF-4657-A630-8BFD5BFA9C56}" type="slidenum">
              <a:rPr lang="en-US" altLang="zh-CN" smtClean="0"/>
              <a:pPr/>
              <a:t>43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8389952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11AEF-2873-44AA-A727-1D7BD9AE2881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E-R</a:t>
            </a:r>
            <a:r>
              <a:rPr lang="zh-CN" altLang="en-US"/>
              <a:t>方法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/>
              <a:t>参与性约束 </a:t>
            </a:r>
            <a:r>
              <a:rPr lang="en-US" altLang="zh-CN" sz="2800" dirty="0"/>
              <a:t>participation</a:t>
            </a:r>
          </a:p>
          <a:p>
            <a:pPr lvl="1"/>
            <a:r>
              <a:rPr lang="zh-CN" altLang="en-US" sz="2400" dirty="0"/>
              <a:t>实体型的实体</a:t>
            </a:r>
            <a:r>
              <a:rPr lang="zh-CN" altLang="en-US" sz="2400" b="1" dirty="0">
                <a:solidFill>
                  <a:srgbClr val="FF0000"/>
                </a:solidFill>
              </a:rPr>
              <a:t>是否都</a:t>
            </a:r>
            <a:r>
              <a:rPr lang="zh-CN" altLang="en-US" sz="2400" dirty="0"/>
              <a:t>参与了联系</a:t>
            </a:r>
          </a:p>
          <a:p>
            <a:pPr lvl="1"/>
            <a:r>
              <a:rPr lang="zh-CN" altLang="en-US" sz="2400" dirty="0"/>
              <a:t>全参与</a:t>
            </a:r>
            <a:r>
              <a:rPr lang="en-US" altLang="zh-CN" sz="2400" dirty="0"/>
              <a:t>/</a:t>
            </a:r>
            <a:r>
              <a:rPr lang="zh-CN" altLang="en-US" sz="2400" dirty="0"/>
              <a:t>部分参与：</a:t>
            </a:r>
            <a:endParaRPr lang="en-US" altLang="zh-CN" sz="2400" dirty="0"/>
          </a:p>
          <a:p>
            <a:pPr lvl="2"/>
            <a:r>
              <a:rPr lang="zh-CN" altLang="en-US" sz="2000" dirty="0"/>
              <a:t>如果实体集</a:t>
            </a:r>
            <a:r>
              <a:rPr lang="en-US" altLang="zh-CN" sz="2000" dirty="0"/>
              <a:t>E</a:t>
            </a:r>
            <a:r>
              <a:rPr lang="zh-CN" altLang="en-US" sz="2000" dirty="0"/>
              <a:t>中的</a:t>
            </a:r>
            <a:r>
              <a:rPr lang="zh-CN" altLang="en-US" sz="2000" dirty="0">
                <a:solidFill>
                  <a:srgbClr val="0000FF"/>
                </a:solidFill>
              </a:rPr>
              <a:t>每个实体都必须参与到联系集</a:t>
            </a:r>
            <a:r>
              <a:rPr lang="en-US" altLang="zh-CN" sz="2000" dirty="0">
                <a:solidFill>
                  <a:srgbClr val="0000FF"/>
                </a:solidFill>
              </a:rPr>
              <a:t>R</a:t>
            </a:r>
            <a:r>
              <a:rPr lang="zh-CN" altLang="en-US" sz="2000" dirty="0">
                <a:solidFill>
                  <a:srgbClr val="FF0000"/>
                </a:solidFill>
              </a:rPr>
              <a:t>中的至少一个联系</a:t>
            </a:r>
            <a:r>
              <a:rPr lang="zh-CN" altLang="en-US" sz="2000" dirty="0"/>
              <a:t>中，那么实体集</a:t>
            </a:r>
            <a:r>
              <a:rPr lang="en-US" altLang="zh-CN" sz="2000" dirty="0"/>
              <a:t>E</a:t>
            </a:r>
            <a:r>
              <a:rPr lang="zh-CN" altLang="en-US" sz="2000" dirty="0"/>
              <a:t>在联系集</a:t>
            </a:r>
            <a:r>
              <a:rPr lang="en-US" altLang="zh-CN" sz="2000" dirty="0"/>
              <a:t>R</a:t>
            </a:r>
            <a:r>
              <a:rPr lang="zh-CN" altLang="en-US" sz="2000" dirty="0"/>
              <a:t>中的参与就被称为是</a:t>
            </a:r>
            <a:r>
              <a:rPr lang="zh-CN" altLang="en-US" sz="2000" dirty="0">
                <a:solidFill>
                  <a:srgbClr val="FF0000"/>
                </a:solidFill>
              </a:rPr>
              <a:t>全部的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2"/>
            <a:r>
              <a:rPr lang="zh-CN" altLang="en-US" sz="2000" dirty="0"/>
              <a:t>如果</a:t>
            </a:r>
            <a:r>
              <a:rPr lang="en-US" altLang="zh-CN" sz="2000" dirty="0"/>
              <a:t>E</a:t>
            </a:r>
            <a:r>
              <a:rPr lang="zh-CN" altLang="en-US" sz="2000" dirty="0"/>
              <a:t>中</a:t>
            </a:r>
            <a:r>
              <a:rPr lang="zh-CN" altLang="en-US" sz="2000" dirty="0">
                <a:solidFill>
                  <a:srgbClr val="FF0000"/>
                </a:solidFill>
              </a:rPr>
              <a:t>一些实体可能不参与到</a:t>
            </a:r>
            <a:r>
              <a:rPr lang="en-US" altLang="zh-CN" sz="2000" dirty="0">
                <a:solidFill>
                  <a:srgbClr val="FF0000"/>
                </a:solidFill>
              </a:rPr>
              <a:t>R</a:t>
            </a:r>
            <a:r>
              <a:rPr lang="zh-CN" altLang="en-US" sz="2000" dirty="0">
                <a:solidFill>
                  <a:srgbClr val="FF0000"/>
                </a:solidFill>
              </a:rPr>
              <a:t>的联系中</a:t>
            </a:r>
            <a:r>
              <a:rPr lang="zh-CN" altLang="en-US" sz="2000" dirty="0"/>
              <a:t>，那么实体集</a:t>
            </a:r>
            <a:r>
              <a:rPr lang="en-US" altLang="zh-CN" sz="2000" dirty="0"/>
              <a:t>E</a:t>
            </a:r>
            <a:r>
              <a:rPr lang="zh-CN" altLang="en-US" sz="2000" dirty="0"/>
              <a:t>在联系集</a:t>
            </a:r>
            <a:r>
              <a:rPr lang="en-US" altLang="zh-CN" sz="2000" dirty="0"/>
              <a:t>R</a:t>
            </a:r>
            <a:r>
              <a:rPr lang="zh-CN" altLang="en-US" sz="2000" dirty="0"/>
              <a:t>中的参与就被称为是</a:t>
            </a:r>
            <a:r>
              <a:rPr lang="zh-CN" altLang="en-US" sz="2000" dirty="0">
                <a:solidFill>
                  <a:srgbClr val="FF0000"/>
                </a:solidFill>
              </a:rPr>
              <a:t>部分的</a:t>
            </a:r>
            <a:r>
              <a:rPr lang="zh-CN" altLang="en-US" sz="2000" dirty="0"/>
              <a:t>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981F6C-A6CC-EA6C-B3A6-ECC94E146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74E020-6056-2251-94AE-9788EB391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44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9312302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6418C-F4CF-4DA2-910B-2D4ED68306E8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E-R</a:t>
            </a:r>
            <a:r>
              <a:rPr lang="zh-CN" altLang="en-US"/>
              <a:t>方法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/>
              <a:t>参与性约束 </a:t>
            </a:r>
            <a:r>
              <a:rPr lang="en-US" altLang="zh-CN" sz="2800" dirty="0"/>
              <a:t>participation</a:t>
            </a:r>
          </a:p>
          <a:p>
            <a:pPr lvl="1"/>
            <a:r>
              <a:rPr lang="zh-CN" altLang="en-US" sz="2400" dirty="0"/>
              <a:t>一般用</a:t>
            </a:r>
            <a:r>
              <a:rPr lang="zh-CN" altLang="en-US" sz="2400" b="1" dirty="0">
                <a:solidFill>
                  <a:srgbClr val="0000FF"/>
                </a:solidFill>
              </a:rPr>
              <a:t>双线</a:t>
            </a:r>
            <a:r>
              <a:rPr lang="zh-CN" altLang="en-US" sz="2400" dirty="0"/>
              <a:t>表示一个实体在联系集中的</a:t>
            </a:r>
            <a:r>
              <a:rPr lang="zh-CN" altLang="en-US" sz="2400" dirty="0">
                <a:solidFill>
                  <a:srgbClr val="FF0000"/>
                </a:solidFill>
              </a:rPr>
              <a:t>全部参与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5" name="矩形 4"/>
          <p:cNvSpPr/>
          <p:nvPr/>
        </p:nvSpPr>
        <p:spPr>
          <a:xfrm>
            <a:off x="920569" y="2553360"/>
            <a:ext cx="748883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000" dirty="0"/>
              <a:t>例如，一所大学可能要求</a:t>
            </a:r>
            <a:r>
              <a:rPr lang="zh-CN" altLang="en-US" sz="2000" b="1" dirty="0"/>
              <a:t>每名学生至少有一位导师</a:t>
            </a:r>
            <a:r>
              <a:rPr lang="zh-CN" altLang="en-US" sz="2000" dirty="0"/>
              <a:t>；在</a:t>
            </a:r>
            <a:r>
              <a:rPr lang="en-US" altLang="zh-CN" sz="2000" dirty="0"/>
              <a:t>E-R</a:t>
            </a:r>
            <a:r>
              <a:rPr lang="zh-CN" altLang="en-US" sz="2000" dirty="0"/>
              <a:t>模型中，这相当于要求每个</a:t>
            </a:r>
            <a:r>
              <a:rPr lang="en-US" altLang="zh-CN" sz="2000" dirty="0"/>
              <a:t>student</a:t>
            </a:r>
            <a:r>
              <a:rPr lang="zh-CN" altLang="en-US" sz="2000" dirty="0"/>
              <a:t>实体通过</a:t>
            </a:r>
            <a:r>
              <a:rPr lang="en-US" altLang="zh-CN" sz="2000" dirty="0"/>
              <a:t>advisor</a:t>
            </a:r>
            <a:r>
              <a:rPr lang="zh-CN" altLang="en-US" sz="2000" dirty="0"/>
              <a:t>联系至少与一位教师相关联。因而，</a:t>
            </a:r>
            <a:r>
              <a:rPr lang="en-US" altLang="zh-CN" sz="2000" dirty="0"/>
              <a:t>student</a:t>
            </a:r>
            <a:r>
              <a:rPr lang="zh-CN" altLang="en-US" sz="2000" dirty="0"/>
              <a:t>在</a:t>
            </a:r>
            <a:r>
              <a:rPr lang="en-US" altLang="zh-CN" sz="2000" dirty="0"/>
              <a:t>advisor</a:t>
            </a:r>
            <a:r>
              <a:rPr lang="zh-CN" altLang="en-US" sz="2000" dirty="0"/>
              <a:t>联系集中的</a:t>
            </a:r>
            <a:r>
              <a:rPr lang="zh-CN" altLang="en-US" sz="2000" u="sng" dirty="0">
                <a:solidFill>
                  <a:srgbClr val="0000FF"/>
                </a:solidFill>
              </a:rPr>
              <a:t>参与是全部的</a:t>
            </a:r>
            <a:r>
              <a:rPr lang="zh-CN" altLang="en-US" sz="2000" dirty="0"/>
              <a:t>。而一位教师</a:t>
            </a:r>
            <a:r>
              <a:rPr lang="zh-CN" altLang="en-US" sz="2000" b="1" dirty="0"/>
              <a:t>不是必须要指导学生</a:t>
            </a:r>
            <a:r>
              <a:rPr lang="zh-CN" altLang="en-US" sz="2000" dirty="0"/>
              <a:t>。因此，可能</a:t>
            </a:r>
            <a:r>
              <a:rPr lang="zh-CN" altLang="en-US" sz="2000" dirty="0">
                <a:solidFill>
                  <a:srgbClr val="0000FF"/>
                </a:solidFill>
              </a:rPr>
              <a:t>只有某些</a:t>
            </a:r>
            <a:r>
              <a:rPr lang="en-US" altLang="zh-CN" sz="2000" dirty="0">
                <a:solidFill>
                  <a:srgbClr val="0000FF"/>
                </a:solidFill>
              </a:rPr>
              <a:t>instructor</a:t>
            </a:r>
            <a:r>
              <a:rPr lang="zh-CN" altLang="en-US" sz="2000" dirty="0">
                <a:solidFill>
                  <a:srgbClr val="0000FF"/>
                </a:solidFill>
              </a:rPr>
              <a:t>实体</a:t>
            </a:r>
            <a:r>
              <a:rPr lang="zh-CN" altLang="en-US" sz="2000" dirty="0">
                <a:solidFill>
                  <a:srgbClr val="FF0000"/>
                </a:solidFill>
              </a:rPr>
              <a:t>通过</a:t>
            </a:r>
            <a:r>
              <a:rPr lang="en-US" altLang="zh-CN" sz="2000" dirty="0">
                <a:solidFill>
                  <a:srgbClr val="FF0000"/>
                </a:solidFill>
              </a:rPr>
              <a:t>advisor</a:t>
            </a:r>
            <a:r>
              <a:rPr lang="zh-CN" altLang="en-US" sz="2000" dirty="0">
                <a:solidFill>
                  <a:srgbClr val="FF0000"/>
                </a:solidFill>
              </a:rPr>
              <a:t>联系</a:t>
            </a:r>
            <a:r>
              <a:rPr lang="zh-CN" altLang="en-US" sz="2000" dirty="0"/>
              <a:t>同</a:t>
            </a:r>
            <a:r>
              <a:rPr lang="en-US" altLang="zh-CN" sz="2000" dirty="0">
                <a:solidFill>
                  <a:srgbClr val="0000FF"/>
                </a:solidFill>
              </a:rPr>
              <a:t>student</a:t>
            </a:r>
            <a:r>
              <a:rPr lang="zh-CN" altLang="en-US" sz="2000" dirty="0">
                <a:solidFill>
                  <a:srgbClr val="0000FF"/>
                </a:solidFill>
              </a:rPr>
              <a:t>实体集</a:t>
            </a:r>
            <a:r>
              <a:rPr lang="zh-CN" altLang="en-US" sz="2000" dirty="0"/>
              <a:t>相关联，那么</a:t>
            </a:r>
            <a:r>
              <a:rPr lang="en-US" altLang="zh-CN" sz="2000" dirty="0"/>
              <a:t>instructor</a:t>
            </a:r>
            <a:r>
              <a:rPr lang="zh-CN" altLang="en-US" sz="2000" dirty="0"/>
              <a:t>在</a:t>
            </a:r>
            <a:r>
              <a:rPr lang="en-US" altLang="zh-CN" sz="2000" dirty="0"/>
              <a:t>advisor </a:t>
            </a:r>
            <a:r>
              <a:rPr lang="zh-CN" altLang="en-US" sz="2000" dirty="0"/>
              <a:t>联系集中的</a:t>
            </a:r>
            <a:r>
              <a:rPr lang="zh-CN" altLang="en-US" sz="2000" u="sng" dirty="0">
                <a:solidFill>
                  <a:srgbClr val="0000FF"/>
                </a:solidFill>
              </a:rPr>
              <a:t>参与是部分的</a:t>
            </a:r>
            <a:r>
              <a:rPr lang="zh-CN" altLang="en-US" sz="2000" dirty="0"/>
              <a:t>。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6F8B00-11E0-994D-29B9-17D8D450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2F0D28-1680-9FB6-7346-C46CBB6E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45</a:t>
            </a:fld>
            <a:r>
              <a:rPr lang="en-US" altLang="zh-CN"/>
              <a:t>/103</a:t>
            </a:r>
            <a:endParaRPr lang="zh-CN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85" y="4833985"/>
            <a:ext cx="5854799" cy="1866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04526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54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AFC6C-4745-46B8-999F-5F777A09E63F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总结：</a:t>
            </a:r>
            <a:r>
              <a:rPr lang="en-US" altLang="zh-CN"/>
              <a:t>ER</a:t>
            </a:r>
            <a:r>
              <a:rPr lang="zh-CN" altLang="en-US"/>
              <a:t>模型的记号</a:t>
            </a:r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553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1" t="1402" r="22781" b="53848"/>
          <a:stretch>
            <a:fillRect/>
          </a:stretch>
        </p:blipFill>
        <p:spPr bwMode="auto">
          <a:xfrm>
            <a:off x="1016000" y="1295400"/>
            <a:ext cx="6935788" cy="5313363"/>
          </a:xfrm>
          <a:prstGeom prst="rect">
            <a:avLst/>
          </a:prstGeom>
          <a:noFill/>
          <a:ln w="76200">
            <a:solidFill>
              <a:srgbClr val="00CC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5333" name="AutoShape 5"/>
          <p:cNvSpPr>
            <a:spLocks noChangeArrowheads="1"/>
          </p:cNvSpPr>
          <p:nvPr/>
        </p:nvSpPr>
        <p:spPr bwMode="auto">
          <a:xfrm>
            <a:off x="261938" y="2765425"/>
            <a:ext cx="652462" cy="1255713"/>
          </a:xfrm>
          <a:prstGeom prst="wedgeRoundRectCallout">
            <a:avLst>
              <a:gd name="adj1" fmla="val 161992"/>
              <a:gd name="adj2" fmla="val 109329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kumimoji="0" lang="zh-CN" altLang="en-US" sz="2000">
                <a:solidFill>
                  <a:schemeClr val="hlink"/>
                </a:solidFill>
                <a:latin typeface="Arial" charset="0"/>
              </a:rPr>
              <a:t>弱实体</a:t>
            </a:r>
          </a:p>
        </p:txBody>
      </p:sp>
      <p:sp>
        <p:nvSpPr>
          <p:cNvPr id="355334" name="AutoShape 6"/>
          <p:cNvSpPr>
            <a:spLocks noChangeArrowheads="1"/>
          </p:cNvSpPr>
          <p:nvPr/>
        </p:nvSpPr>
        <p:spPr bwMode="auto">
          <a:xfrm>
            <a:off x="8066088" y="3111500"/>
            <a:ext cx="784225" cy="942975"/>
          </a:xfrm>
          <a:prstGeom prst="wedgeRoundRectCallout">
            <a:avLst>
              <a:gd name="adj1" fmla="val -183403"/>
              <a:gd name="adj2" fmla="val 113468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kumimoji="0" lang="zh-CN" altLang="en-US" sz="2000">
                <a:solidFill>
                  <a:schemeClr val="hlink"/>
                </a:solidFill>
                <a:latin typeface="Arial" charset="0"/>
              </a:rPr>
              <a:t>全参与</a:t>
            </a:r>
          </a:p>
        </p:txBody>
      </p:sp>
      <p:sp>
        <p:nvSpPr>
          <p:cNvPr id="355335" name="AutoShape 7"/>
          <p:cNvSpPr>
            <a:spLocks noChangeArrowheads="1"/>
          </p:cNvSpPr>
          <p:nvPr/>
        </p:nvSpPr>
        <p:spPr bwMode="auto">
          <a:xfrm>
            <a:off x="7812088" y="4660900"/>
            <a:ext cx="914400" cy="1084263"/>
          </a:xfrm>
          <a:prstGeom prst="wedgeRoundRectCallout">
            <a:avLst>
              <a:gd name="adj1" fmla="val -91148"/>
              <a:gd name="adj2" fmla="val 74745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kumimoji="0" lang="zh-CN" altLang="en-US" sz="2000">
                <a:solidFill>
                  <a:schemeClr val="hlink"/>
                </a:solidFill>
                <a:latin typeface="Arial" charset="0"/>
              </a:rPr>
              <a:t>弱实体鉴别器</a:t>
            </a:r>
          </a:p>
        </p:txBody>
      </p:sp>
      <p:sp>
        <p:nvSpPr>
          <p:cNvPr id="355336" name="Line 8"/>
          <p:cNvSpPr>
            <a:spLocks noChangeShapeType="1"/>
          </p:cNvSpPr>
          <p:nvPr/>
        </p:nvSpPr>
        <p:spPr bwMode="auto">
          <a:xfrm flipV="1">
            <a:off x="749300" y="2582863"/>
            <a:ext cx="914400" cy="55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" name="椭圆 11"/>
          <p:cNvSpPr/>
          <p:nvPr/>
        </p:nvSpPr>
        <p:spPr bwMode="auto">
          <a:xfrm>
            <a:off x="1000100" y="1000108"/>
            <a:ext cx="6215106" cy="1357322"/>
          </a:xfrm>
          <a:prstGeom prst="ellipse">
            <a:avLst/>
          </a:prstGeom>
          <a:noFill/>
          <a:ln w="25400" cap="flat" cmpd="sng" algn="ctr">
            <a:solidFill>
              <a:srgbClr val="0000FF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13" name="椭圆 12"/>
          <p:cNvSpPr/>
          <p:nvPr/>
        </p:nvSpPr>
        <p:spPr bwMode="auto">
          <a:xfrm>
            <a:off x="1071538" y="2928934"/>
            <a:ext cx="3500462" cy="1357322"/>
          </a:xfrm>
          <a:prstGeom prst="ellipse">
            <a:avLst/>
          </a:prstGeom>
          <a:noFill/>
          <a:ln w="25400" cap="flat" cmpd="sng" algn="ctr">
            <a:solidFill>
              <a:srgbClr val="0000FF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1079799" y="5745162"/>
            <a:ext cx="3500462" cy="863601"/>
          </a:xfrm>
          <a:prstGeom prst="ellipse">
            <a:avLst/>
          </a:prstGeom>
          <a:noFill/>
          <a:ln w="25400" cap="flat" cmpd="sng" algn="ctr">
            <a:solidFill>
              <a:srgbClr val="0000FF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8C25EE-422B-80A4-634D-F9253FFB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5A708C-9E38-F220-F7EF-50DAEE97D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46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52242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7597D-534B-4EBE-A5A2-C7BCF8F8FC7A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总结：</a:t>
            </a:r>
            <a:r>
              <a:rPr lang="en-US" altLang="zh-CN"/>
              <a:t>ER</a:t>
            </a:r>
            <a:r>
              <a:rPr lang="zh-CN" altLang="en-US"/>
              <a:t>模型的记号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563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1" t="46487" r="22781" b="6075"/>
          <a:stretch>
            <a:fillRect/>
          </a:stretch>
        </p:blipFill>
        <p:spPr bwMode="auto">
          <a:xfrm>
            <a:off x="1181100" y="1295400"/>
            <a:ext cx="7581900" cy="5160963"/>
          </a:xfrm>
          <a:prstGeom prst="rect">
            <a:avLst/>
          </a:prstGeom>
          <a:noFill/>
          <a:ln w="76200">
            <a:solidFill>
              <a:srgbClr val="00CC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6357" name="AutoShape 5"/>
          <p:cNvSpPr>
            <a:spLocks noChangeArrowheads="1"/>
          </p:cNvSpPr>
          <p:nvPr/>
        </p:nvSpPr>
        <p:spPr bwMode="auto">
          <a:xfrm>
            <a:off x="171450" y="3630613"/>
            <a:ext cx="823913" cy="668337"/>
          </a:xfrm>
          <a:prstGeom prst="wedgeRoundRectCallout">
            <a:avLst>
              <a:gd name="adj1" fmla="val 78519"/>
              <a:gd name="adj2" fmla="val 56176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0" hangingPunct="0"/>
            <a:r>
              <a:rPr kumimoji="0" lang="zh-CN" altLang="en-US" sz="2000">
                <a:solidFill>
                  <a:schemeClr val="hlink"/>
                </a:solidFill>
                <a:latin typeface="Arial" charset="0"/>
              </a:rPr>
              <a:t>角色</a:t>
            </a:r>
          </a:p>
        </p:txBody>
      </p:sp>
      <p:sp>
        <p:nvSpPr>
          <p:cNvPr id="13" name="任意多边形 12"/>
          <p:cNvSpPr/>
          <p:nvPr/>
        </p:nvSpPr>
        <p:spPr bwMode="auto">
          <a:xfrm>
            <a:off x="77788" y="1006475"/>
            <a:ext cx="9634537" cy="2989262"/>
          </a:xfrm>
          <a:custGeom>
            <a:avLst/>
            <a:gdLst>
              <a:gd name="connsiteX0" fmla="*/ 1217612 w 9634537"/>
              <a:gd name="connsiteY0" fmla="*/ 374650 h 2989262"/>
              <a:gd name="connsiteX1" fmla="*/ 8637587 w 9634537"/>
              <a:gd name="connsiteY1" fmla="*/ 365125 h 2989262"/>
              <a:gd name="connsiteX2" fmla="*/ 7199312 w 9634537"/>
              <a:gd name="connsiteY2" fmla="*/ 1355725 h 2989262"/>
              <a:gd name="connsiteX3" fmla="*/ 7199312 w 9634537"/>
              <a:gd name="connsiteY3" fmla="*/ 1355725 h 2989262"/>
              <a:gd name="connsiteX4" fmla="*/ 5075237 w 9634537"/>
              <a:gd name="connsiteY4" fmla="*/ 1365250 h 2989262"/>
              <a:gd name="connsiteX5" fmla="*/ 4608512 w 9634537"/>
              <a:gd name="connsiteY5" fmla="*/ 2632075 h 2989262"/>
              <a:gd name="connsiteX6" fmla="*/ 1331912 w 9634537"/>
              <a:gd name="connsiteY6" fmla="*/ 2613025 h 2989262"/>
              <a:gd name="connsiteX7" fmla="*/ 1217612 w 9634537"/>
              <a:gd name="connsiteY7" fmla="*/ 374650 h 2989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34537" h="2989262">
                <a:moveTo>
                  <a:pt x="1217612" y="374650"/>
                </a:moveTo>
                <a:cubicBezTo>
                  <a:pt x="2435225" y="0"/>
                  <a:pt x="7640637" y="201613"/>
                  <a:pt x="8637587" y="365125"/>
                </a:cubicBezTo>
                <a:cubicBezTo>
                  <a:pt x="9634537" y="528638"/>
                  <a:pt x="7199312" y="1355725"/>
                  <a:pt x="7199312" y="1355725"/>
                </a:cubicBezTo>
                <a:lnTo>
                  <a:pt x="7199312" y="1355725"/>
                </a:lnTo>
                <a:cubicBezTo>
                  <a:pt x="6845300" y="1357312"/>
                  <a:pt x="5507037" y="1152525"/>
                  <a:pt x="5075237" y="1365250"/>
                </a:cubicBezTo>
                <a:cubicBezTo>
                  <a:pt x="4643437" y="1577975"/>
                  <a:pt x="5232399" y="2424113"/>
                  <a:pt x="4608512" y="2632075"/>
                </a:cubicBezTo>
                <a:cubicBezTo>
                  <a:pt x="3984625" y="2840037"/>
                  <a:pt x="1897062" y="2989262"/>
                  <a:pt x="1331912" y="2613025"/>
                </a:cubicBezTo>
                <a:cubicBezTo>
                  <a:pt x="766762" y="2236788"/>
                  <a:pt x="0" y="749300"/>
                  <a:pt x="1217612" y="374650"/>
                </a:cubicBezTo>
                <a:close/>
              </a:path>
            </a:pathLst>
          </a:custGeom>
          <a:noFill/>
          <a:ln w="25400" cap="flat" cmpd="sng" algn="ctr">
            <a:solidFill>
              <a:srgbClr val="0000FF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E8B7F5-529F-D26E-FB56-8B339B19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CF049D-7CB4-78DB-10BF-85A3BC1F1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47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42726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7EBAE8A-0D13-43E7-AD41-61F80A6BB0A0}" type="datetime1">
              <a:rPr lang="zh-CN" altLang="en-US" sz="1400" smtClean="0">
                <a:solidFill>
                  <a:schemeClr val="tx1"/>
                </a:solidFill>
                <a:latin typeface="Times New Roman" pitchFamily="18" charset="0"/>
              </a:rPr>
              <a:t>2025/10/24</a:t>
            </a:fld>
            <a:endParaRPr lang="en-US" altLang="zh-CN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24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r>
              <a:rPr lang="en-US" altLang="zh-CN"/>
              <a:t>1.1</a:t>
            </a:r>
          </a:p>
        </p:txBody>
      </p:sp>
      <p:sp>
        <p:nvSpPr>
          <p:cNvPr id="624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1"/>
                </a:solidFill>
              </a:rPr>
              <a:t>图书馆借阅管理系统，读者与图书的联系问题。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>
                <a:solidFill>
                  <a:schemeClr val="tx1"/>
                </a:solidFill>
              </a:rPr>
              <a:t>	</a:t>
            </a:r>
            <a:endParaRPr lang="en-US" altLang="zh-CN"/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5B386EFA-7364-CA2B-E6FF-BCAE1B9C9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442A860-678B-45E3-1BE6-C8B69587C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48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9032519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99FF2A2-BECD-426F-8FE2-9B819A5F1391}" type="datetime1">
              <a:rPr lang="zh-CN" altLang="en-US" sz="1400" smtClean="0">
                <a:solidFill>
                  <a:schemeClr val="tx1"/>
                </a:solidFill>
                <a:latin typeface="Times New Roman" pitchFamily="18" charset="0"/>
              </a:rPr>
              <a:t>2025/10/24</a:t>
            </a:fld>
            <a:endParaRPr lang="en-US" altLang="zh-CN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34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r>
              <a:rPr lang="en-US" altLang="zh-CN"/>
              <a:t>1.1</a:t>
            </a:r>
          </a:p>
        </p:txBody>
      </p:sp>
      <p:sp>
        <p:nvSpPr>
          <p:cNvPr id="634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图书馆借阅管理系统，</a:t>
            </a:r>
            <a:r>
              <a:rPr lang="zh-CN" altLang="en-US" dirty="0">
                <a:solidFill>
                  <a:srgbClr val="FF0000"/>
                </a:solidFill>
              </a:rPr>
              <a:t>读者</a:t>
            </a:r>
            <a:r>
              <a:rPr lang="zh-CN" altLang="en-US" dirty="0">
                <a:solidFill>
                  <a:schemeClr val="tx1"/>
                </a:solidFill>
              </a:rPr>
              <a:t>与</a:t>
            </a:r>
            <a:r>
              <a:rPr lang="zh-CN" altLang="en-US" dirty="0">
                <a:solidFill>
                  <a:srgbClr val="FF0000"/>
                </a:solidFill>
              </a:rPr>
              <a:t>图书</a:t>
            </a:r>
            <a:r>
              <a:rPr lang="zh-CN" altLang="en-US" dirty="0">
                <a:solidFill>
                  <a:schemeClr val="tx1"/>
                </a:solidFill>
              </a:rPr>
              <a:t>的联系问题。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chemeClr val="tx1"/>
                </a:solidFill>
              </a:rPr>
              <a:t>	</a:t>
            </a:r>
            <a:endParaRPr lang="en-US" altLang="zh-CN" dirty="0">
              <a:solidFill>
                <a:srgbClr val="006600"/>
              </a:solidFill>
            </a:endParaRPr>
          </a:p>
          <a:p>
            <a:pPr lvl="1" eaLnBrk="1" hangingPunct="1">
              <a:buFont typeface="Wingdings" pitchFamily="2" charset="2"/>
              <a:buNone/>
            </a:pPr>
            <a:endParaRPr lang="zh-CN" altLang="en-US" dirty="0">
              <a:solidFill>
                <a:srgbClr val="006600"/>
              </a:solidFill>
            </a:endParaRPr>
          </a:p>
          <a:p>
            <a:pPr lvl="1" eaLnBrk="1" hangingPunct="1"/>
            <a:r>
              <a:rPr lang="en-US" altLang="zh-CN" dirty="0">
                <a:solidFill>
                  <a:srgbClr val="006600"/>
                </a:solidFill>
              </a:rPr>
              <a:t>1-N ?</a:t>
            </a:r>
            <a:endParaRPr lang="en-US" altLang="zh-CN" dirty="0"/>
          </a:p>
          <a:p>
            <a:pPr lvl="1" eaLnBrk="1" hangingPunct="1">
              <a:buFont typeface="Wingdings" pitchFamily="2" charset="2"/>
              <a:buNone/>
            </a:pPr>
            <a:endParaRPr lang="en-US" altLang="zh-CN" dirty="0"/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733CEFFC-2D5C-41CF-3ABA-05B1226F8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F230010-E4A8-831A-1FE7-EF6C88D2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49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4584563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9485FCB-0007-479C-923B-091D1A93D992}" type="datetime1">
              <a:rPr lang="zh-CN" altLang="en-US" sz="1400" smtClean="0">
                <a:solidFill>
                  <a:schemeClr val="tx1"/>
                </a:solidFill>
                <a:latin typeface="Times New Roman" pitchFamily="18" charset="0"/>
              </a:rPr>
              <a:t>2025/10/24</a:t>
            </a:fld>
            <a:endParaRPr lang="en-US" altLang="zh-CN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45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r>
              <a:rPr lang="en-US" altLang="zh-CN"/>
              <a:t>1.1: 1-N?</a:t>
            </a:r>
          </a:p>
        </p:txBody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zh-CN" altLang="en-US"/>
              <a:t>一位借阅者</a:t>
            </a:r>
            <a:r>
              <a:rPr lang="zh-CN" altLang="en-US">
                <a:solidFill>
                  <a:schemeClr val="hlink"/>
                </a:solidFill>
              </a:rPr>
              <a:t>一次</a:t>
            </a:r>
            <a:r>
              <a:rPr lang="zh-CN" altLang="en-US"/>
              <a:t>可以借阅多本图书</a:t>
            </a:r>
          </a:p>
          <a:p>
            <a:pPr lvl="1" eaLnBrk="1" hangingPunct="1"/>
            <a:r>
              <a:rPr lang="zh-CN" altLang="en-US"/>
              <a:t>一本图书</a:t>
            </a:r>
            <a:r>
              <a:rPr lang="zh-CN" altLang="en-US">
                <a:solidFill>
                  <a:schemeClr val="hlink"/>
                </a:solidFill>
              </a:rPr>
              <a:t>一次</a:t>
            </a:r>
            <a:r>
              <a:rPr lang="zh-CN" altLang="en-US"/>
              <a:t>只能被一位借阅者借阅</a:t>
            </a:r>
          </a:p>
          <a:p>
            <a:pPr lvl="1" eaLnBrk="1" hangingPunct="1"/>
            <a:r>
              <a:rPr lang="zh-CN" altLang="en-US"/>
              <a:t>在此情况下满足</a:t>
            </a:r>
            <a:r>
              <a:rPr lang="en-US" altLang="zh-CN"/>
              <a:t>1-N</a:t>
            </a:r>
            <a:r>
              <a:rPr lang="zh-CN" altLang="en-US"/>
              <a:t>，可以解决</a:t>
            </a:r>
            <a:r>
              <a:rPr lang="zh-CN" altLang="en-US">
                <a:latin typeface="Arial" charset="0"/>
              </a:rPr>
              <a:t>“</a:t>
            </a:r>
            <a:r>
              <a:rPr lang="zh-CN" altLang="en-US">
                <a:solidFill>
                  <a:srgbClr val="006600"/>
                </a:solidFill>
              </a:rPr>
              <a:t>某本图书当前是否被借出，被谁所借</a:t>
            </a:r>
            <a:r>
              <a:rPr lang="zh-CN" altLang="en-US">
                <a:latin typeface="Arial" charset="0"/>
              </a:rPr>
              <a:t>”</a:t>
            </a:r>
            <a:r>
              <a:rPr lang="zh-CN" altLang="en-US"/>
              <a:t>之类的问题。</a:t>
            </a:r>
          </a:p>
          <a:p>
            <a:pPr lvl="1" eaLnBrk="1" hangingPunct="1"/>
            <a:endParaRPr lang="zh-CN" altLang="en-US"/>
          </a:p>
          <a:p>
            <a:pPr lvl="1" eaLnBrk="1" hangingPunct="1"/>
            <a:r>
              <a:rPr lang="zh-CN" altLang="en-US"/>
              <a:t>但如果需求涉及</a:t>
            </a:r>
            <a:r>
              <a:rPr lang="zh-CN" altLang="en-US">
                <a:solidFill>
                  <a:schemeClr val="tx2"/>
                </a:solidFill>
              </a:rPr>
              <a:t>“某本书在</a:t>
            </a:r>
            <a:r>
              <a:rPr lang="en-US" altLang="zh-CN">
                <a:solidFill>
                  <a:schemeClr val="tx2"/>
                </a:solidFill>
              </a:rPr>
              <a:t>2008</a:t>
            </a:r>
            <a:r>
              <a:rPr lang="zh-CN" altLang="en-US">
                <a:solidFill>
                  <a:schemeClr val="tx2"/>
                </a:solidFill>
              </a:rPr>
              <a:t>年被哪些借阅者借过”</a:t>
            </a:r>
            <a:r>
              <a:rPr lang="zh-CN" altLang="en-US"/>
              <a:t>，</a:t>
            </a:r>
            <a:r>
              <a:rPr lang="en-US" altLang="zh-CN"/>
              <a:t>1-N</a:t>
            </a:r>
            <a:r>
              <a:rPr lang="zh-CN" altLang="en-US"/>
              <a:t>能否满足？</a:t>
            </a:r>
            <a:endParaRPr lang="en-US" altLang="zh-CN"/>
          </a:p>
        </p:txBody>
      </p:sp>
      <p:sp>
        <p:nvSpPr>
          <p:cNvPr id="64519" name="Rectangle 4"/>
          <p:cNvSpPr>
            <a:spLocks noChangeArrowheads="1"/>
          </p:cNvSpPr>
          <p:nvPr/>
        </p:nvSpPr>
        <p:spPr bwMode="auto">
          <a:xfrm>
            <a:off x="533400" y="3581400"/>
            <a:ext cx="8458200" cy="2057400"/>
          </a:xfrm>
          <a:prstGeom prst="rect">
            <a:avLst/>
          </a:prstGeom>
          <a:solidFill>
            <a:srgbClr val="FFFFFF">
              <a:alpha val="8196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0A29066B-E59C-9EDA-97C0-0ACC6B790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1E773C1-AD89-2579-97C7-178EDD8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50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5869014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61EE1DB-AE3C-4A43-9E27-E3925F3D5C88}" type="datetime1">
              <a:rPr lang="zh-CN" altLang="en-US" sz="1400" smtClean="0">
                <a:solidFill>
                  <a:schemeClr val="tx1"/>
                </a:solidFill>
                <a:latin typeface="Times New Roman" pitchFamily="18" charset="0"/>
              </a:rPr>
              <a:t>2025/10/24</a:t>
            </a:fld>
            <a:endParaRPr lang="en-US" altLang="zh-CN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r>
              <a:rPr lang="en-US" altLang="zh-CN"/>
              <a:t>1.1: 1-N?</a:t>
            </a:r>
          </a:p>
        </p:txBody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zh-CN" altLang="en-US" dirty="0"/>
              <a:t>一位借阅者</a:t>
            </a:r>
            <a:r>
              <a:rPr lang="zh-CN" altLang="en-US" dirty="0">
                <a:solidFill>
                  <a:schemeClr val="hlink"/>
                </a:solidFill>
              </a:rPr>
              <a:t>一次</a:t>
            </a:r>
            <a:r>
              <a:rPr lang="zh-CN" altLang="en-US" dirty="0"/>
              <a:t>可以借阅多本图书</a:t>
            </a:r>
          </a:p>
          <a:p>
            <a:pPr lvl="1" eaLnBrk="1" hangingPunct="1"/>
            <a:r>
              <a:rPr lang="zh-CN" altLang="en-US" dirty="0"/>
              <a:t>一本图书</a:t>
            </a:r>
            <a:r>
              <a:rPr lang="zh-CN" altLang="en-US" dirty="0">
                <a:solidFill>
                  <a:schemeClr val="hlink"/>
                </a:solidFill>
              </a:rPr>
              <a:t>一次</a:t>
            </a:r>
            <a:r>
              <a:rPr lang="zh-CN" altLang="en-US" dirty="0"/>
              <a:t>只能被一位借阅者借阅</a:t>
            </a:r>
          </a:p>
          <a:p>
            <a:pPr lvl="1" eaLnBrk="1" hangingPunct="1"/>
            <a:r>
              <a:rPr lang="zh-CN" altLang="en-US" dirty="0"/>
              <a:t>在此情况下满足</a:t>
            </a:r>
            <a:r>
              <a:rPr lang="en-US" altLang="zh-CN" dirty="0"/>
              <a:t>1-N</a:t>
            </a:r>
            <a:r>
              <a:rPr lang="zh-CN" altLang="en-US" dirty="0"/>
              <a:t>，可以解决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>
                <a:solidFill>
                  <a:srgbClr val="006600"/>
                </a:solidFill>
              </a:rPr>
              <a:t>某本图书当前是否被借出，被谁所借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/>
              <a:t>之类的问题。</a:t>
            </a:r>
          </a:p>
          <a:p>
            <a:pPr lvl="1" eaLnBrk="1" hangingPunct="1"/>
            <a:endParaRPr lang="zh-CN" altLang="en-US" dirty="0"/>
          </a:p>
          <a:p>
            <a:pPr lvl="1" eaLnBrk="1" hangingPunct="1"/>
            <a:r>
              <a:rPr lang="zh-CN" altLang="en-US" dirty="0"/>
              <a:t>但如果需求涉及</a:t>
            </a:r>
            <a:r>
              <a:rPr lang="zh-CN" altLang="en-US" dirty="0">
                <a:solidFill>
                  <a:schemeClr val="tx2"/>
                </a:solidFill>
              </a:rPr>
              <a:t>“某本书在</a:t>
            </a:r>
            <a:r>
              <a:rPr lang="en-US" altLang="zh-CN" dirty="0">
                <a:solidFill>
                  <a:schemeClr val="tx2"/>
                </a:solidFill>
              </a:rPr>
              <a:t>2013</a:t>
            </a:r>
            <a:r>
              <a:rPr lang="zh-CN" altLang="en-US" dirty="0">
                <a:solidFill>
                  <a:schemeClr val="tx2"/>
                </a:solidFill>
              </a:rPr>
              <a:t>年被哪些借阅者借过”</a:t>
            </a:r>
            <a:r>
              <a:rPr lang="zh-CN" altLang="en-US" dirty="0"/>
              <a:t>，</a:t>
            </a:r>
            <a:r>
              <a:rPr lang="en-US" altLang="zh-CN" dirty="0"/>
              <a:t>1-N</a:t>
            </a:r>
            <a:r>
              <a:rPr lang="zh-CN" altLang="en-US" dirty="0"/>
              <a:t>能否满足？</a:t>
            </a:r>
            <a:endParaRPr lang="en-US" altLang="zh-CN" dirty="0"/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8A682B9E-F5B2-A4FB-110C-BBFD084D8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BC883C3-3972-0D8B-AFB6-3DE03CDDB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51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9679427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198989C-9748-4C5B-8952-38DA9F62231B}" type="datetime1">
              <a:rPr lang="zh-CN" altLang="en-US" sz="1400" smtClean="0">
                <a:solidFill>
                  <a:schemeClr val="tx1"/>
                </a:solidFill>
                <a:latin typeface="Times New Roman" pitchFamily="18" charset="0"/>
              </a:rPr>
              <a:t>2025/10/24</a:t>
            </a:fld>
            <a:endParaRPr lang="en-US" altLang="zh-CN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65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r>
              <a:rPr lang="en-US" altLang="zh-CN"/>
              <a:t>1.1: M-N</a:t>
            </a:r>
          </a:p>
        </p:txBody>
      </p:sp>
      <p:sp>
        <p:nvSpPr>
          <p:cNvPr id="665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通过考虑</a:t>
            </a:r>
            <a:r>
              <a:rPr lang="zh-CN" altLang="en-US" dirty="0">
                <a:solidFill>
                  <a:srgbClr val="0000FF"/>
                </a:solidFill>
              </a:rPr>
              <a:t>借阅时间</a:t>
            </a:r>
            <a:r>
              <a:rPr lang="zh-CN" altLang="en-US" dirty="0">
                <a:solidFill>
                  <a:schemeClr val="tx1"/>
                </a:solidFill>
              </a:rPr>
              <a:t>等因素：</a:t>
            </a:r>
          </a:p>
          <a:p>
            <a:pPr lvl="1" eaLnBrk="1" hangingPunct="1"/>
            <a:r>
              <a:rPr lang="zh-CN" altLang="en-US" dirty="0"/>
              <a:t>一位借阅者可以借阅</a:t>
            </a:r>
            <a:r>
              <a:rPr lang="zh-CN" altLang="en-US" dirty="0">
                <a:solidFill>
                  <a:srgbClr val="0000FF"/>
                </a:solidFill>
              </a:rPr>
              <a:t>多本</a:t>
            </a:r>
            <a:r>
              <a:rPr lang="zh-CN" altLang="en-US" dirty="0"/>
              <a:t>图书</a:t>
            </a:r>
          </a:p>
          <a:p>
            <a:pPr lvl="1" eaLnBrk="1" hangingPunct="1"/>
            <a:r>
              <a:rPr lang="zh-CN" altLang="en-US" dirty="0"/>
              <a:t>一本图书可以借给</a:t>
            </a:r>
            <a:r>
              <a:rPr lang="zh-CN" altLang="en-US" dirty="0">
                <a:solidFill>
                  <a:srgbClr val="0000FF"/>
                </a:solidFill>
              </a:rPr>
              <a:t>多位</a:t>
            </a:r>
            <a:r>
              <a:rPr lang="zh-CN" altLang="en-US" dirty="0"/>
              <a:t>借阅者</a:t>
            </a: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此</a:t>
            </a:r>
            <a:r>
              <a:rPr lang="zh-CN" altLang="en-US" dirty="0">
                <a:solidFill>
                  <a:srgbClr val="FF0000"/>
                </a:solidFill>
              </a:rPr>
              <a:t>联系</a:t>
            </a:r>
            <a:r>
              <a:rPr lang="zh-CN" altLang="en-US" dirty="0">
                <a:solidFill>
                  <a:schemeClr val="tx1"/>
                </a:solidFill>
              </a:rPr>
              <a:t>应该具有联系</a:t>
            </a:r>
            <a:r>
              <a:rPr lang="zh-CN" altLang="en-US" dirty="0">
                <a:solidFill>
                  <a:srgbClr val="FF0000"/>
                </a:solidFill>
              </a:rPr>
              <a:t>属性</a:t>
            </a:r>
          </a:p>
          <a:p>
            <a:pPr lvl="1" eaLnBrk="1" hangingPunct="1"/>
            <a:r>
              <a:rPr lang="zh-CN" altLang="en-US" dirty="0"/>
              <a:t>如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/>
              <a:t>借阅流水号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/>
              <a:t>、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/>
              <a:t>借阅时间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/>
              <a:t>和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/>
              <a:t>归还时间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/>
              <a:t>等</a:t>
            </a:r>
            <a:endParaRPr lang="en-US" altLang="zh-CN" dirty="0"/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A16D81D7-F694-589F-C4E6-4E4CCB88B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0EEC6CC-6B3F-8ECC-35BD-A68459B58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52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4938616"/>
      </p:ext>
    </p:extLst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rgbClr val="993300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buClr>
                <a:schemeClr val="hlink"/>
              </a:buClr>
              <a:buSzPct val="55000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buSzPct val="50000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buClr>
                <a:schemeClr val="accent2"/>
              </a:buClr>
              <a:buSzPct val="55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buClr>
                <a:schemeClr val="accent1"/>
              </a:buClr>
              <a:buSzPct val="50000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A6867ED-BEF4-4D00-AA1D-AAECDB634079}" type="datetime1">
              <a:rPr lang="zh-CN" altLang="en-US" sz="1400" smtClean="0">
                <a:solidFill>
                  <a:schemeClr val="tx1"/>
                </a:solidFill>
                <a:latin typeface="Times New Roman" pitchFamily="18" charset="0"/>
              </a:rPr>
              <a:t>2025/10/24</a:t>
            </a:fld>
            <a:endParaRPr lang="en-US" altLang="zh-CN" sz="14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75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实例</a:t>
            </a:r>
            <a:r>
              <a:rPr lang="en-US" altLang="zh-CN"/>
              <a:t>1.1</a:t>
            </a:r>
            <a:r>
              <a:rPr lang="zh-CN" altLang="en-US"/>
              <a:t>结论</a:t>
            </a:r>
            <a:endParaRPr lang="en-US" altLang="zh-CN"/>
          </a:p>
        </p:txBody>
      </p:sp>
      <p:sp>
        <p:nvSpPr>
          <p:cNvPr id="675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联系类型应由</a:t>
            </a:r>
            <a:r>
              <a:rPr lang="zh-CN" altLang="en-US" dirty="0">
                <a:solidFill>
                  <a:schemeClr val="hlink"/>
                </a:solidFill>
              </a:rPr>
              <a:t>需求</a:t>
            </a:r>
            <a:r>
              <a:rPr lang="zh-CN" altLang="en-US" dirty="0">
                <a:solidFill>
                  <a:schemeClr val="tx1"/>
                </a:solidFill>
              </a:rPr>
              <a:t>，即现实世界的</a:t>
            </a:r>
            <a:r>
              <a:rPr lang="zh-CN" altLang="en-US" dirty="0">
                <a:solidFill>
                  <a:schemeClr val="hlink"/>
                </a:solidFill>
              </a:rPr>
              <a:t>语义</a:t>
            </a:r>
            <a:r>
              <a:rPr lang="zh-CN" altLang="en-US" dirty="0">
                <a:solidFill>
                  <a:schemeClr val="tx1"/>
                </a:solidFill>
              </a:rPr>
              <a:t>来</a:t>
            </a:r>
            <a:r>
              <a:rPr lang="zh-CN" altLang="en-US" dirty="0">
                <a:solidFill>
                  <a:srgbClr val="0000FF"/>
                </a:solidFill>
              </a:rPr>
              <a:t>确定</a:t>
            </a:r>
          </a:p>
          <a:p>
            <a:pPr eaLnBrk="1" hangingPunct="1"/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不同角度的不同用户，看问题可能不同，造成冲突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65341A8F-DAFD-D955-6836-E28FA6D52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6F8AD0B-6A4E-24D4-D53D-01B3F6DB3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53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1280179"/>
      </p:ext>
    </p:extLst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A8E41-DE4C-4491-B625-52137A272CFB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实例</a:t>
            </a:r>
            <a:r>
              <a:rPr lang="en-US" altLang="zh-CN"/>
              <a:t>: </a:t>
            </a:r>
            <a:r>
              <a:rPr lang="zh-CN" altLang="en-US"/>
              <a:t>一个简单的教学管理的概念模型</a:t>
            </a:r>
          </a:p>
        </p:txBody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57380" name="Line 4"/>
          <p:cNvSpPr>
            <a:spLocks noChangeShapeType="1"/>
          </p:cNvSpPr>
          <p:nvPr/>
        </p:nvSpPr>
        <p:spPr bwMode="auto">
          <a:xfrm flipV="1">
            <a:off x="3200400" y="26670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381" name="Rectangle 5"/>
          <p:cNvSpPr>
            <a:spLocks noChangeArrowheads="1"/>
          </p:cNvSpPr>
          <p:nvPr/>
        </p:nvSpPr>
        <p:spPr bwMode="auto">
          <a:xfrm>
            <a:off x="2057400" y="2895600"/>
            <a:ext cx="11430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 dirty="0">
                <a:latin typeface="Times New Roman" pitchFamily="18" charset="0"/>
              </a:rPr>
              <a:t>学生</a:t>
            </a:r>
          </a:p>
        </p:txBody>
      </p:sp>
      <p:sp>
        <p:nvSpPr>
          <p:cNvPr id="357382" name="Rectangle 6"/>
          <p:cNvSpPr>
            <a:spLocks noChangeArrowheads="1"/>
          </p:cNvSpPr>
          <p:nvPr/>
        </p:nvSpPr>
        <p:spPr bwMode="auto">
          <a:xfrm>
            <a:off x="6096000" y="3200400"/>
            <a:ext cx="11430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>
                <a:latin typeface="Times New Roman" pitchFamily="18" charset="0"/>
              </a:rPr>
              <a:t>课程</a:t>
            </a:r>
          </a:p>
        </p:txBody>
      </p:sp>
      <p:sp>
        <p:nvSpPr>
          <p:cNvPr id="357383" name="Line 7"/>
          <p:cNvSpPr>
            <a:spLocks noChangeShapeType="1"/>
          </p:cNvSpPr>
          <p:nvPr/>
        </p:nvSpPr>
        <p:spPr bwMode="auto">
          <a:xfrm flipH="1" flipV="1">
            <a:off x="1676400" y="2438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384" name="Oval 8"/>
          <p:cNvSpPr>
            <a:spLocks noChangeArrowheads="1"/>
          </p:cNvSpPr>
          <p:nvPr/>
        </p:nvSpPr>
        <p:spPr bwMode="auto">
          <a:xfrm>
            <a:off x="990600" y="2133600"/>
            <a:ext cx="685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000">
                <a:latin typeface="Times New Roman" pitchFamily="18" charset="0"/>
              </a:rPr>
              <a:t>学号</a:t>
            </a:r>
          </a:p>
        </p:txBody>
      </p:sp>
      <p:sp>
        <p:nvSpPr>
          <p:cNvPr id="357385" name="Oval 9"/>
          <p:cNvSpPr>
            <a:spLocks noChangeArrowheads="1"/>
          </p:cNvSpPr>
          <p:nvPr/>
        </p:nvSpPr>
        <p:spPr bwMode="auto">
          <a:xfrm>
            <a:off x="990600" y="2743200"/>
            <a:ext cx="685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000">
                <a:latin typeface="Times New Roman" pitchFamily="18" charset="0"/>
              </a:rPr>
              <a:t>姓名</a:t>
            </a:r>
          </a:p>
        </p:txBody>
      </p:sp>
      <p:sp>
        <p:nvSpPr>
          <p:cNvPr id="357386" name="Oval 10"/>
          <p:cNvSpPr>
            <a:spLocks noChangeArrowheads="1"/>
          </p:cNvSpPr>
          <p:nvPr/>
        </p:nvSpPr>
        <p:spPr bwMode="auto">
          <a:xfrm>
            <a:off x="990600" y="3276600"/>
            <a:ext cx="685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000">
                <a:latin typeface="Times New Roman" pitchFamily="18" charset="0"/>
              </a:rPr>
              <a:t>年龄</a:t>
            </a:r>
          </a:p>
        </p:txBody>
      </p:sp>
      <p:sp>
        <p:nvSpPr>
          <p:cNvPr id="357387" name="Oval 11"/>
          <p:cNvSpPr>
            <a:spLocks noChangeArrowheads="1"/>
          </p:cNvSpPr>
          <p:nvPr/>
        </p:nvSpPr>
        <p:spPr bwMode="auto">
          <a:xfrm>
            <a:off x="990600" y="3810000"/>
            <a:ext cx="685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000">
                <a:latin typeface="Times New Roman" pitchFamily="18" charset="0"/>
              </a:rPr>
              <a:t>性别</a:t>
            </a:r>
          </a:p>
        </p:txBody>
      </p:sp>
      <p:sp>
        <p:nvSpPr>
          <p:cNvPr id="357388" name="Line 12"/>
          <p:cNvSpPr>
            <a:spLocks noChangeShapeType="1"/>
          </p:cNvSpPr>
          <p:nvPr/>
        </p:nvSpPr>
        <p:spPr bwMode="auto">
          <a:xfrm>
            <a:off x="1676400" y="2971800"/>
            <a:ext cx="304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389" name="Line 13"/>
          <p:cNvSpPr>
            <a:spLocks noChangeShapeType="1"/>
          </p:cNvSpPr>
          <p:nvPr/>
        </p:nvSpPr>
        <p:spPr bwMode="auto">
          <a:xfrm flipV="1">
            <a:off x="1676400" y="32766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390" name="Line 14"/>
          <p:cNvSpPr>
            <a:spLocks noChangeShapeType="1"/>
          </p:cNvSpPr>
          <p:nvPr/>
        </p:nvSpPr>
        <p:spPr bwMode="auto">
          <a:xfrm flipH="1">
            <a:off x="1676400" y="3276600"/>
            <a:ext cx="609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391" name="Line 15"/>
          <p:cNvSpPr>
            <a:spLocks noChangeShapeType="1"/>
          </p:cNvSpPr>
          <p:nvPr/>
        </p:nvSpPr>
        <p:spPr bwMode="auto">
          <a:xfrm flipH="1">
            <a:off x="4648200" y="22098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392" name="Oval 16"/>
          <p:cNvSpPr>
            <a:spLocks noChangeArrowheads="1"/>
          </p:cNvSpPr>
          <p:nvPr/>
        </p:nvSpPr>
        <p:spPr bwMode="auto">
          <a:xfrm>
            <a:off x="4267200" y="1828800"/>
            <a:ext cx="685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000" dirty="0">
                <a:latin typeface="Times New Roman" pitchFamily="18" charset="0"/>
              </a:rPr>
              <a:t>分数</a:t>
            </a:r>
          </a:p>
        </p:txBody>
      </p:sp>
      <p:sp>
        <p:nvSpPr>
          <p:cNvPr id="357393" name="Line 17"/>
          <p:cNvSpPr>
            <a:spLocks noChangeShapeType="1"/>
          </p:cNvSpPr>
          <p:nvPr/>
        </p:nvSpPr>
        <p:spPr bwMode="auto">
          <a:xfrm flipV="1">
            <a:off x="7239000" y="2819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394" name="Line 18"/>
          <p:cNvSpPr>
            <a:spLocks noChangeShapeType="1"/>
          </p:cNvSpPr>
          <p:nvPr/>
        </p:nvSpPr>
        <p:spPr bwMode="auto">
          <a:xfrm>
            <a:off x="7239000" y="3581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395" name="Oval 19"/>
          <p:cNvSpPr>
            <a:spLocks noChangeArrowheads="1"/>
          </p:cNvSpPr>
          <p:nvPr/>
        </p:nvSpPr>
        <p:spPr bwMode="auto">
          <a:xfrm>
            <a:off x="7772400" y="2514600"/>
            <a:ext cx="685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000">
                <a:latin typeface="Times New Roman" pitchFamily="18" charset="0"/>
              </a:rPr>
              <a:t>课号</a:t>
            </a:r>
          </a:p>
        </p:txBody>
      </p:sp>
      <p:sp>
        <p:nvSpPr>
          <p:cNvPr id="357396" name="Oval 20"/>
          <p:cNvSpPr>
            <a:spLocks noChangeArrowheads="1"/>
          </p:cNvSpPr>
          <p:nvPr/>
        </p:nvSpPr>
        <p:spPr bwMode="auto">
          <a:xfrm>
            <a:off x="7848600" y="3810000"/>
            <a:ext cx="685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000">
                <a:latin typeface="Times New Roman" pitchFamily="18" charset="0"/>
              </a:rPr>
              <a:t>课名</a:t>
            </a:r>
          </a:p>
        </p:txBody>
      </p:sp>
      <p:sp>
        <p:nvSpPr>
          <p:cNvPr id="357397" name="Line 21"/>
          <p:cNvSpPr>
            <a:spLocks noChangeShapeType="1"/>
          </p:cNvSpPr>
          <p:nvPr/>
        </p:nvSpPr>
        <p:spPr bwMode="auto">
          <a:xfrm flipH="1">
            <a:off x="4648200" y="4419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398" name="Line 22"/>
          <p:cNvSpPr>
            <a:spLocks noChangeShapeType="1"/>
          </p:cNvSpPr>
          <p:nvPr/>
        </p:nvSpPr>
        <p:spPr bwMode="auto">
          <a:xfrm flipH="1">
            <a:off x="4267200" y="43434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399" name="Line 23"/>
          <p:cNvSpPr>
            <a:spLocks noChangeShapeType="1"/>
          </p:cNvSpPr>
          <p:nvPr/>
        </p:nvSpPr>
        <p:spPr bwMode="auto">
          <a:xfrm>
            <a:off x="4953000" y="43434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400" name="Oval 24"/>
          <p:cNvSpPr>
            <a:spLocks noChangeArrowheads="1"/>
          </p:cNvSpPr>
          <p:nvPr/>
        </p:nvSpPr>
        <p:spPr bwMode="auto">
          <a:xfrm>
            <a:off x="4114800" y="5410200"/>
            <a:ext cx="1143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000">
                <a:latin typeface="Times New Roman" pitchFamily="18" charset="0"/>
              </a:rPr>
              <a:t>教师姓名</a:t>
            </a:r>
          </a:p>
        </p:txBody>
      </p:sp>
      <p:sp>
        <p:nvSpPr>
          <p:cNvPr id="357401" name="Oval 25"/>
          <p:cNvSpPr>
            <a:spLocks noChangeArrowheads="1"/>
          </p:cNvSpPr>
          <p:nvPr/>
        </p:nvSpPr>
        <p:spPr bwMode="auto">
          <a:xfrm>
            <a:off x="3886200" y="4876800"/>
            <a:ext cx="6858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000">
                <a:latin typeface="Times New Roman" pitchFamily="18" charset="0"/>
              </a:rPr>
              <a:t>课时</a:t>
            </a:r>
          </a:p>
        </p:txBody>
      </p:sp>
      <p:sp>
        <p:nvSpPr>
          <p:cNvPr id="357402" name="Oval 26"/>
          <p:cNvSpPr>
            <a:spLocks noChangeArrowheads="1"/>
          </p:cNvSpPr>
          <p:nvPr/>
        </p:nvSpPr>
        <p:spPr bwMode="auto">
          <a:xfrm>
            <a:off x="4800600" y="4876800"/>
            <a:ext cx="12954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000" dirty="0">
                <a:latin typeface="Times New Roman" pitchFamily="18" charset="0"/>
              </a:rPr>
              <a:t>时间安排</a:t>
            </a:r>
          </a:p>
        </p:txBody>
      </p:sp>
      <p:sp>
        <p:nvSpPr>
          <p:cNvPr id="357403" name="Line 27"/>
          <p:cNvSpPr>
            <a:spLocks noChangeShapeType="1"/>
          </p:cNvSpPr>
          <p:nvPr/>
        </p:nvSpPr>
        <p:spPr bwMode="auto">
          <a:xfrm>
            <a:off x="5334000" y="2667000"/>
            <a:ext cx="762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404" name="AutoShape 28"/>
          <p:cNvSpPr>
            <a:spLocks noChangeArrowheads="1"/>
          </p:cNvSpPr>
          <p:nvPr/>
        </p:nvSpPr>
        <p:spPr bwMode="auto">
          <a:xfrm rot="17942">
            <a:off x="3887788" y="2362200"/>
            <a:ext cx="1446212" cy="609600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>
                <a:latin typeface="Times New Roman" pitchFamily="18" charset="0"/>
              </a:rPr>
              <a:t>选修</a:t>
            </a:r>
          </a:p>
        </p:txBody>
      </p:sp>
      <p:sp>
        <p:nvSpPr>
          <p:cNvPr id="357405" name="Rectangle 29"/>
          <p:cNvSpPr>
            <a:spLocks noChangeArrowheads="1"/>
          </p:cNvSpPr>
          <p:nvPr/>
        </p:nvSpPr>
        <p:spPr bwMode="auto">
          <a:xfrm>
            <a:off x="3429000" y="2667000"/>
            <a:ext cx="152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2000">
                <a:latin typeface="Times New Roman" pitchFamily="18" charset="0"/>
              </a:rPr>
              <a:t>m</a:t>
            </a:r>
          </a:p>
        </p:txBody>
      </p:sp>
      <p:sp>
        <p:nvSpPr>
          <p:cNvPr id="357406" name="Rectangle 30"/>
          <p:cNvSpPr>
            <a:spLocks noChangeArrowheads="1"/>
          </p:cNvSpPr>
          <p:nvPr/>
        </p:nvSpPr>
        <p:spPr bwMode="auto">
          <a:xfrm>
            <a:off x="5638800" y="2667000"/>
            <a:ext cx="152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2000">
                <a:latin typeface="Times New Roman" pitchFamily="18" charset="0"/>
              </a:rPr>
              <a:t>n</a:t>
            </a:r>
          </a:p>
        </p:txBody>
      </p:sp>
      <p:sp>
        <p:nvSpPr>
          <p:cNvPr id="357407" name="AutoShape 31"/>
          <p:cNvSpPr>
            <a:spLocks noChangeArrowheads="1"/>
          </p:cNvSpPr>
          <p:nvPr/>
        </p:nvSpPr>
        <p:spPr bwMode="auto">
          <a:xfrm>
            <a:off x="3810000" y="3733800"/>
            <a:ext cx="1752600" cy="685800"/>
          </a:xfrm>
          <a:prstGeom prst="diamond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zh-CN" altLang="en-US" sz="2000">
                <a:latin typeface="Times New Roman" pitchFamily="18" charset="0"/>
              </a:rPr>
              <a:t>开课</a:t>
            </a:r>
            <a:r>
              <a:rPr lang="zh-CN" altLang="en-US" sz="3200">
                <a:latin typeface="Times New Roman" pitchFamily="18" charset="0"/>
              </a:rPr>
              <a:t> </a:t>
            </a:r>
          </a:p>
        </p:txBody>
      </p:sp>
      <p:sp>
        <p:nvSpPr>
          <p:cNvPr id="357408" name="Line 32"/>
          <p:cNvSpPr>
            <a:spLocks noChangeShapeType="1"/>
          </p:cNvSpPr>
          <p:nvPr/>
        </p:nvSpPr>
        <p:spPr bwMode="auto">
          <a:xfrm flipV="1">
            <a:off x="5562600" y="3581400"/>
            <a:ext cx="533400" cy="495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7409" name="Oval 33"/>
          <p:cNvSpPr>
            <a:spLocks noChangeArrowheads="1"/>
          </p:cNvSpPr>
          <p:nvPr/>
        </p:nvSpPr>
        <p:spPr bwMode="auto">
          <a:xfrm>
            <a:off x="990600" y="4648200"/>
            <a:ext cx="9906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000">
                <a:latin typeface="Times New Roman" pitchFamily="18" charset="0"/>
              </a:rPr>
              <a:t>班级号</a:t>
            </a:r>
          </a:p>
        </p:txBody>
      </p:sp>
      <p:sp>
        <p:nvSpPr>
          <p:cNvPr id="357410" name="Rectangle 34"/>
          <p:cNvSpPr>
            <a:spLocks noChangeArrowheads="1"/>
          </p:cNvSpPr>
          <p:nvPr/>
        </p:nvSpPr>
        <p:spPr bwMode="auto">
          <a:xfrm>
            <a:off x="5486400" y="3276600"/>
            <a:ext cx="152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2000">
                <a:latin typeface="Times New Roman" pitchFamily="18" charset="0"/>
              </a:rPr>
              <a:t>m</a:t>
            </a:r>
          </a:p>
        </p:txBody>
      </p:sp>
      <p:sp>
        <p:nvSpPr>
          <p:cNvPr id="357411" name="Rectangle 35"/>
          <p:cNvSpPr>
            <a:spLocks noChangeArrowheads="1"/>
          </p:cNvSpPr>
          <p:nvPr/>
        </p:nvSpPr>
        <p:spPr bwMode="auto">
          <a:xfrm>
            <a:off x="3505200" y="3886200"/>
            <a:ext cx="152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2000">
                <a:latin typeface="Times New Roman" pitchFamily="18" charset="0"/>
              </a:rPr>
              <a:t>n</a:t>
            </a:r>
          </a:p>
        </p:txBody>
      </p:sp>
      <p:sp>
        <p:nvSpPr>
          <p:cNvPr id="357412" name="Line 36"/>
          <p:cNvSpPr>
            <a:spLocks noChangeShapeType="1"/>
          </p:cNvSpPr>
          <p:nvPr/>
        </p:nvSpPr>
        <p:spPr bwMode="auto">
          <a:xfrm flipV="1">
            <a:off x="3276600" y="4076700"/>
            <a:ext cx="533400" cy="1143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7413" name="Rectangle 37"/>
          <p:cNvSpPr>
            <a:spLocks noChangeArrowheads="1"/>
          </p:cNvSpPr>
          <p:nvPr/>
        </p:nvSpPr>
        <p:spPr bwMode="auto">
          <a:xfrm>
            <a:off x="2133600" y="4191000"/>
            <a:ext cx="11430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000" dirty="0">
                <a:latin typeface="Times New Roman" pitchFamily="18" charset="0"/>
              </a:rPr>
              <a:t>班级</a:t>
            </a:r>
          </a:p>
        </p:txBody>
      </p:sp>
      <p:sp>
        <p:nvSpPr>
          <p:cNvPr id="357414" name="AutoShape 38"/>
          <p:cNvSpPr>
            <a:spLocks noChangeArrowheads="1"/>
          </p:cNvSpPr>
          <p:nvPr/>
        </p:nvSpPr>
        <p:spPr bwMode="auto">
          <a:xfrm>
            <a:off x="2133600" y="3429000"/>
            <a:ext cx="990600" cy="533400"/>
          </a:xfrm>
          <a:prstGeom prst="diamond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ingdings" pitchFamily="2" charset="2"/>
              <a:buNone/>
            </a:pPr>
            <a:r>
              <a:rPr lang="zh-CN" altLang="en-US" sz="1600" dirty="0">
                <a:latin typeface="Times New Roman" pitchFamily="18" charset="0"/>
              </a:rPr>
              <a:t>属于</a:t>
            </a:r>
            <a:r>
              <a:rPr lang="zh-CN" altLang="en-US" sz="3200" dirty="0">
                <a:latin typeface="Times New Roman" pitchFamily="18" charset="0"/>
              </a:rPr>
              <a:t> </a:t>
            </a:r>
          </a:p>
        </p:txBody>
      </p:sp>
      <p:sp>
        <p:nvSpPr>
          <p:cNvPr id="357415" name="Line 39"/>
          <p:cNvSpPr>
            <a:spLocks noChangeShapeType="1"/>
          </p:cNvSpPr>
          <p:nvPr/>
        </p:nvSpPr>
        <p:spPr bwMode="auto">
          <a:xfrm>
            <a:off x="2633663" y="3276600"/>
            <a:ext cx="0" cy="1524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7416" name="Line 40"/>
          <p:cNvSpPr>
            <a:spLocks noChangeShapeType="1"/>
          </p:cNvSpPr>
          <p:nvPr/>
        </p:nvSpPr>
        <p:spPr bwMode="auto">
          <a:xfrm>
            <a:off x="2647950" y="3962400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7417" name="Rectangle 41"/>
          <p:cNvSpPr>
            <a:spLocks noChangeArrowheads="1"/>
          </p:cNvSpPr>
          <p:nvPr/>
        </p:nvSpPr>
        <p:spPr bwMode="auto">
          <a:xfrm>
            <a:off x="2895600" y="3352800"/>
            <a:ext cx="152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2000">
                <a:latin typeface="Times New Roman" pitchFamily="18" charset="0"/>
              </a:rPr>
              <a:t>n</a:t>
            </a:r>
          </a:p>
        </p:txBody>
      </p:sp>
      <p:sp>
        <p:nvSpPr>
          <p:cNvPr id="357418" name="Rectangle 42"/>
          <p:cNvSpPr>
            <a:spLocks noChangeArrowheads="1"/>
          </p:cNvSpPr>
          <p:nvPr/>
        </p:nvSpPr>
        <p:spPr bwMode="auto">
          <a:xfrm>
            <a:off x="2895600" y="3810000"/>
            <a:ext cx="152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zh-CN" sz="2000">
                <a:latin typeface="Times New Roman" pitchFamily="18" charset="0"/>
              </a:rPr>
              <a:t>1</a:t>
            </a:r>
          </a:p>
        </p:txBody>
      </p:sp>
      <p:sp>
        <p:nvSpPr>
          <p:cNvPr id="357419" name="Line 43"/>
          <p:cNvSpPr>
            <a:spLocks noChangeShapeType="1"/>
          </p:cNvSpPr>
          <p:nvPr/>
        </p:nvSpPr>
        <p:spPr bwMode="auto">
          <a:xfrm flipV="1">
            <a:off x="1752600" y="4495800"/>
            <a:ext cx="381000" cy="1524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733B73-B0C4-454F-6C5A-6B44F7570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D2FBF3-ED1D-418C-A73E-3247DCE52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54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31EEC-BECF-4B4E-AD58-842107EC8FD9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58405" name="Rectangle 5"/>
          <p:cNvSpPr>
            <a:spLocks noChangeArrowheads="1"/>
          </p:cNvSpPr>
          <p:nvPr/>
        </p:nvSpPr>
        <p:spPr bwMode="auto">
          <a:xfrm>
            <a:off x="323850" y="549275"/>
            <a:ext cx="2663825" cy="15128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dirty="0"/>
              <a:t>实例：一个简单</a:t>
            </a:r>
          </a:p>
          <a:p>
            <a:r>
              <a:rPr lang="zh-CN" altLang="en-US" dirty="0"/>
              <a:t>的图书馆管理</a:t>
            </a:r>
          </a:p>
          <a:p>
            <a:r>
              <a:rPr lang="zh-CN" altLang="en-US" dirty="0"/>
              <a:t>系统</a:t>
            </a:r>
            <a:r>
              <a:rPr lang="en-US" altLang="zh-CN" dirty="0"/>
              <a:t>ER</a:t>
            </a:r>
            <a:r>
              <a:rPr lang="zh-CN" altLang="en-US" dirty="0"/>
              <a:t>模型：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095D6F-B274-178D-DF68-69F3F4822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E24978-9E73-3AA4-20FE-86467FE1D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55</a:t>
            </a:fld>
            <a:r>
              <a:rPr lang="en-US" altLang="zh-CN"/>
              <a:t>/103</a:t>
            </a:r>
            <a:endParaRPr lang="zh-CN" altLang="en-US" dirty="0"/>
          </a:p>
        </p:txBody>
      </p:sp>
      <p:pic>
        <p:nvPicPr>
          <p:cNvPr id="358404" name="Picture 4" descr="lib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738" y="692696"/>
            <a:ext cx="6697662" cy="5891212"/>
          </a:xfrm>
          <a:prstGeom prst="rect">
            <a:avLst/>
          </a:prstGeom>
          <a:solidFill>
            <a:schemeClr val="bg1"/>
          </a:solidFill>
        </p:spPr>
      </p:pic>
    </p:spTree>
    <p:custDataLst>
      <p:tags r:id="rId1"/>
    </p:custData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81528-D559-4F00-B95B-C9AD17278436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概念结构设计的方法和步骤  </a:t>
            </a:r>
            <a:r>
              <a:rPr lang="zh-CN" altLang="en-US" sz="2000">
                <a:solidFill>
                  <a:schemeClr val="hlink"/>
                </a:solidFill>
              </a:rPr>
              <a:t>自学</a:t>
            </a:r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990600" lvl="1" indent="-533400"/>
            <a:r>
              <a:rPr lang="zh-CN" altLang="en-US" dirty="0"/>
              <a:t>自顶向下</a:t>
            </a:r>
          </a:p>
          <a:p>
            <a:pPr marL="990600" lvl="1" indent="-533400"/>
            <a:r>
              <a:rPr lang="zh-CN" altLang="en-US" dirty="0"/>
              <a:t>自底向上</a:t>
            </a:r>
          </a:p>
          <a:p>
            <a:pPr marL="990600" lvl="1" indent="-533400"/>
            <a:r>
              <a:rPr lang="zh-CN" altLang="en-US" dirty="0"/>
              <a:t>逐步扩张</a:t>
            </a:r>
          </a:p>
          <a:p>
            <a:pPr marL="990600" lvl="1" indent="-533400"/>
            <a:r>
              <a:rPr lang="zh-CN" altLang="en-US" dirty="0"/>
              <a:t>混合策略</a:t>
            </a:r>
          </a:p>
          <a:p>
            <a:pPr marL="609600" indent="-609600"/>
            <a:r>
              <a:rPr lang="zh-CN" altLang="en-US" dirty="0"/>
              <a:t>其中常用的是</a:t>
            </a:r>
            <a:r>
              <a:rPr lang="zh-CN" altLang="en-US" dirty="0">
                <a:solidFill>
                  <a:schemeClr val="tx2"/>
                </a:solidFill>
              </a:rPr>
              <a:t>自底向上</a:t>
            </a:r>
            <a:r>
              <a:rPr lang="zh-CN" altLang="en-US" dirty="0"/>
              <a:t>方法。先用</a:t>
            </a:r>
            <a:r>
              <a:rPr lang="zh-CN" altLang="en-US" dirty="0">
                <a:solidFill>
                  <a:schemeClr val="hlink"/>
                </a:solidFill>
              </a:rPr>
              <a:t>自顶向下</a:t>
            </a:r>
            <a:r>
              <a:rPr lang="zh-CN" altLang="en-US" dirty="0"/>
              <a:t>进行</a:t>
            </a:r>
            <a:r>
              <a:rPr lang="zh-CN" altLang="en-US" dirty="0">
                <a:solidFill>
                  <a:schemeClr val="hlink"/>
                </a:solidFill>
              </a:rPr>
              <a:t>需求分析</a:t>
            </a:r>
            <a:r>
              <a:rPr lang="zh-CN" altLang="en-US" dirty="0"/>
              <a:t>，然后再</a:t>
            </a:r>
            <a:r>
              <a:rPr lang="zh-CN" altLang="en-US" dirty="0">
                <a:solidFill>
                  <a:schemeClr val="hlink"/>
                </a:solidFill>
              </a:rPr>
              <a:t>自底向上地设计概念结构</a:t>
            </a:r>
            <a:r>
              <a:rPr lang="zh-CN" altLang="en-US" dirty="0"/>
              <a:t>。一般又分成两步：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zh-CN" altLang="en-US" dirty="0">
                <a:solidFill>
                  <a:schemeClr val="tx2"/>
                </a:solidFill>
              </a:rPr>
              <a:t>抽象数据</a:t>
            </a:r>
            <a:r>
              <a:rPr lang="zh-CN" altLang="en-US" dirty="0"/>
              <a:t>并设计</a:t>
            </a:r>
            <a:r>
              <a:rPr lang="zh-CN" altLang="en-US" dirty="0">
                <a:solidFill>
                  <a:schemeClr val="tx2"/>
                </a:solidFill>
              </a:rPr>
              <a:t>局部</a:t>
            </a:r>
            <a:r>
              <a:rPr lang="zh-CN" altLang="en-US" dirty="0"/>
              <a:t>视图；</a:t>
            </a:r>
          </a:p>
          <a:p>
            <a:pPr marL="990600" lvl="1" indent="-533400">
              <a:buFont typeface="Wingdings" pitchFamily="2" charset="2"/>
              <a:buAutoNum type="arabicPeriod"/>
            </a:pPr>
            <a:r>
              <a:rPr lang="zh-CN" altLang="en-US" dirty="0">
                <a:solidFill>
                  <a:schemeClr val="tx2"/>
                </a:solidFill>
              </a:rPr>
              <a:t>集成局部</a:t>
            </a:r>
            <a:r>
              <a:rPr lang="zh-CN" altLang="en-US" dirty="0"/>
              <a:t>视图，</a:t>
            </a:r>
            <a:r>
              <a:rPr lang="zh-CN" altLang="en-US" dirty="0">
                <a:solidFill>
                  <a:schemeClr val="tx2"/>
                </a:solidFill>
              </a:rPr>
              <a:t>得到全局</a:t>
            </a:r>
            <a:r>
              <a:rPr lang="zh-CN" altLang="en-US" dirty="0"/>
              <a:t>的概念结构。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D3B685-6D13-3447-3C62-C032C40FA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063D35-C792-305C-1FAB-7425D0F1C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56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BC913-EC14-41F2-8DED-E23F8A2684E9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步骤</a:t>
            </a:r>
            <a:r>
              <a:rPr lang="en-US" altLang="zh-CN" dirty="0"/>
              <a:t>1</a:t>
            </a:r>
            <a:r>
              <a:rPr lang="zh-CN" altLang="en-US" dirty="0"/>
              <a:t>：局部设计</a:t>
            </a:r>
          </a:p>
        </p:txBody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495300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/>
              <a:t>概念设计的第一步就是对需求分析阶段收集的</a:t>
            </a:r>
            <a:r>
              <a:rPr lang="zh-CN" altLang="en-US" sz="2400" dirty="0">
                <a:solidFill>
                  <a:schemeClr val="tx2"/>
                </a:solidFill>
              </a:rPr>
              <a:t>数据</a:t>
            </a:r>
            <a:r>
              <a:rPr lang="zh-CN" altLang="en-US" sz="2400" dirty="0"/>
              <a:t>进行</a:t>
            </a:r>
            <a:r>
              <a:rPr lang="zh-CN" altLang="en-US" sz="2400" dirty="0">
                <a:solidFill>
                  <a:schemeClr val="tx2"/>
                </a:solidFill>
              </a:rPr>
              <a:t>分类</a:t>
            </a:r>
            <a:r>
              <a:rPr lang="zh-CN" altLang="en-US" sz="2400" dirty="0"/>
              <a:t>、组织</a:t>
            </a:r>
            <a:r>
              <a:rPr lang="zh-CN" altLang="en-US" sz="2400" u="sng" dirty="0">
                <a:solidFill>
                  <a:srgbClr val="0000FF"/>
                </a:solidFill>
              </a:rPr>
              <a:t>形成实体、实体的属性，</a:t>
            </a:r>
            <a:r>
              <a:rPr lang="zh-CN" altLang="en-US" sz="2400" u="sng" dirty="0">
                <a:solidFill>
                  <a:srgbClr val="FF0000"/>
                </a:solidFill>
              </a:rPr>
              <a:t>标识实体的码</a:t>
            </a:r>
            <a:r>
              <a:rPr lang="zh-CN" altLang="en-US" sz="2400" u="sng" dirty="0">
                <a:solidFill>
                  <a:srgbClr val="0000FF"/>
                </a:solidFill>
              </a:rPr>
              <a:t>，确定实体之间的联系类型</a:t>
            </a:r>
            <a:r>
              <a:rPr lang="zh-CN" altLang="en-US" sz="2400" dirty="0"/>
              <a:t>，设计分</a:t>
            </a:r>
            <a:r>
              <a:rPr lang="en-US" altLang="zh-CN" sz="2400" dirty="0">
                <a:solidFill>
                  <a:srgbClr val="FF0000"/>
                </a:solidFill>
              </a:rPr>
              <a:t>E-R</a:t>
            </a:r>
            <a:r>
              <a:rPr lang="zh-CN" altLang="en-US" sz="2400" dirty="0">
                <a:solidFill>
                  <a:srgbClr val="FF0000"/>
                </a:solidFill>
              </a:rPr>
              <a:t>图</a:t>
            </a:r>
            <a:r>
              <a:rPr lang="zh-CN" altLang="en-US" sz="2400" dirty="0"/>
              <a:t>。</a:t>
            </a:r>
          </a:p>
          <a:p>
            <a:pPr>
              <a:lnSpc>
                <a:spcPct val="90000"/>
              </a:lnSpc>
            </a:pPr>
            <a:endParaRPr lang="en-US" altLang="zh-CN" sz="2800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划分实体和属性的准则</a:t>
            </a:r>
            <a:endParaRPr lang="en-US" altLang="zh-CN" sz="2800" dirty="0"/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作为“</a:t>
            </a:r>
            <a:r>
              <a:rPr lang="zh-CN" altLang="en-US" sz="2400" dirty="0">
                <a:solidFill>
                  <a:schemeClr val="tx2"/>
                </a:solidFill>
              </a:rPr>
              <a:t>属性</a:t>
            </a:r>
            <a:r>
              <a:rPr lang="zh-CN" altLang="en-US" sz="2400" dirty="0"/>
              <a:t>”，</a:t>
            </a:r>
            <a:r>
              <a:rPr lang="zh-CN" altLang="en-US" sz="2400" dirty="0">
                <a:solidFill>
                  <a:schemeClr val="tx2"/>
                </a:solidFill>
              </a:rPr>
              <a:t>不能再具有需要描述的性质</a:t>
            </a:r>
            <a:r>
              <a:rPr lang="zh-CN" altLang="en-US" sz="2400" dirty="0"/>
              <a:t>，必须是</a:t>
            </a:r>
            <a:r>
              <a:rPr lang="zh-CN" altLang="en-US" sz="2400" dirty="0">
                <a:solidFill>
                  <a:srgbClr val="0000FF"/>
                </a:solidFill>
              </a:rPr>
              <a:t>不可分</a:t>
            </a:r>
            <a:r>
              <a:rPr lang="zh-CN" altLang="en-US" sz="2400" dirty="0"/>
              <a:t>的，</a:t>
            </a:r>
            <a:r>
              <a:rPr lang="zh-CN" altLang="en-US" sz="2400" dirty="0">
                <a:solidFill>
                  <a:srgbClr val="0000FF"/>
                </a:solidFill>
              </a:rPr>
              <a:t>不能包含其他属性</a:t>
            </a:r>
            <a:r>
              <a:rPr lang="zh-CN" altLang="en-US" sz="2400" dirty="0"/>
              <a:t>。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“</a:t>
            </a:r>
            <a:r>
              <a:rPr lang="zh-CN" altLang="en-US" sz="2400" dirty="0">
                <a:solidFill>
                  <a:schemeClr val="tx2"/>
                </a:solidFill>
              </a:rPr>
              <a:t>属性</a:t>
            </a:r>
            <a:r>
              <a:rPr lang="zh-CN" altLang="en-US" sz="2400" dirty="0"/>
              <a:t>”</a:t>
            </a:r>
            <a:r>
              <a:rPr lang="zh-CN" altLang="en-US" sz="2400" dirty="0">
                <a:solidFill>
                  <a:srgbClr val="0000FF"/>
                </a:solidFill>
              </a:rPr>
              <a:t>不能与其他实体具有联系</a:t>
            </a:r>
            <a:r>
              <a:rPr lang="zh-CN" altLang="en-US" sz="2400" dirty="0"/>
              <a:t>，即</a:t>
            </a:r>
            <a:r>
              <a:rPr lang="en-US" altLang="zh-CN" sz="2400" dirty="0"/>
              <a:t>E-R</a:t>
            </a:r>
            <a:r>
              <a:rPr lang="zh-CN" altLang="en-US" sz="2400" dirty="0"/>
              <a:t>图中所表示的</a:t>
            </a:r>
            <a:r>
              <a:rPr lang="zh-CN" altLang="en-US" sz="2400" dirty="0">
                <a:solidFill>
                  <a:srgbClr val="0000FF"/>
                </a:solidFill>
              </a:rPr>
              <a:t>联系是实体之间的联系</a:t>
            </a:r>
            <a:r>
              <a:rPr lang="zh-CN" altLang="en-US" sz="2400" dirty="0"/>
              <a:t>。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*凡满足上述两条原则的事物，一般作属性对待。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231DB1-0B37-2646-24C3-D5A1BAF56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545BA1-0D63-9E70-9DA3-FEA1828C7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57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0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0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0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0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0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0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0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0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4779-D347-4776-A8FF-4D29AC3D5559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步骤</a:t>
            </a:r>
            <a:r>
              <a:rPr lang="en-US" altLang="zh-CN" dirty="0"/>
              <a:t>2</a:t>
            </a:r>
            <a:r>
              <a:rPr lang="zh-CN" altLang="en-US" dirty="0"/>
              <a:t>：集成局部设计，生成全局概念结构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集成的方式：</a:t>
            </a:r>
          </a:p>
          <a:p>
            <a:pPr lvl="1"/>
            <a:r>
              <a:rPr lang="zh-CN" altLang="en-US" sz="3200" dirty="0"/>
              <a:t>多个分</a:t>
            </a:r>
            <a:r>
              <a:rPr lang="en-US" altLang="zh-CN" sz="3200" dirty="0"/>
              <a:t>E-R</a:t>
            </a:r>
            <a:r>
              <a:rPr lang="zh-CN" altLang="en-US" sz="3200" dirty="0"/>
              <a:t>图一次集成。（难度大）</a:t>
            </a:r>
          </a:p>
          <a:p>
            <a:pPr lvl="1"/>
            <a:r>
              <a:rPr lang="zh-CN" altLang="en-US" sz="3200" dirty="0">
                <a:solidFill>
                  <a:srgbClr val="C00000"/>
                </a:solidFill>
              </a:rPr>
              <a:t>逐步集成</a:t>
            </a:r>
            <a:r>
              <a:rPr lang="zh-CN" altLang="en-US" sz="3200" dirty="0"/>
              <a:t>，用累加的方式</a:t>
            </a:r>
            <a:r>
              <a:rPr lang="zh-CN" altLang="en-US" sz="3200" dirty="0">
                <a:solidFill>
                  <a:srgbClr val="0000FF"/>
                </a:solidFill>
              </a:rPr>
              <a:t>每次</a:t>
            </a:r>
            <a:r>
              <a:rPr lang="zh-CN" altLang="en-US" sz="3200" dirty="0"/>
              <a:t>集成</a:t>
            </a:r>
            <a:r>
              <a:rPr lang="zh-CN" altLang="en-US" sz="3200" dirty="0">
                <a:solidFill>
                  <a:srgbClr val="C00000"/>
                </a:solidFill>
              </a:rPr>
              <a:t>两个</a:t>
            </a:r>
            <a:r>
              <a:rPr lang="en-US" altLang="zh-CN" sz="3200" dirty="0"/>
              <a:t>E-R</a:t>
            </a:r>
            <a:r>
              <a:rPr lang="zh-CN" altLang="en-US" sz="3200" dirty="0"/>
              <a:t>图。</a:t>
            </a:r>
          </a:p>
          <a:p>
            <a:r>
              <a:rPr lang="zh-CN" altLang="en-US" dirty="0"/>
              <a:t>具体的步骤：</a:t>
            </a:r>
          </a:p>
          <a:p>
            <a:pPr lvl="1"/>
            <a:r>
              <a:rPr lang="zh-CN" altLang="en-US" sz="3200" dirty="0"/>
              <a:t>合并：解决各</a:t>
            </a:r>
            <a:r>
              <a:rPr lang="en-US" altLang="zh-CN" sz="3200" dirty="0"/>
              <a:t>E-R</a:t>
            </a:r>
            <a:r>
              <a:rPr lang="zh-CN" altLang="en-US" sz="3200" dirty="0"/>
              <a:t>图之间的冲突，将各</a:t>
            </a:r>
            <a:r>
              <a:rPr lang="zh-CN" altLang="en-US" sz="3200" dirty="0">
                <a:solidFill>
                  <a:srgbClr val="800080"/>
                </a:solidFill>
              </a:rPr>
              <a:t>分</a:t>
            </a:r>
            <a:r>
              <a:rPr lang="en-US" altLang="zh-CN" sz="3200" dirty="0">
                <a:solidFill>
                  <a:srgbClr val="800080"/>
                </a:solidFill>
              </a:rPr>
              <a:t>E-R</a:t>
            </a:r>
            <a:r>
              <a:rPr lang="zh-CN" altLang="en-US" sz="3200" dirty="0">
                <a:solidFill>
                  <a:srgbClr val="800080"/>
                </a:solidFill>
              </a:rPr>
              <a:t>图</a:t>
            </a:r>
            <a:r>
              <a:rPr lang="zh-CN" altLang="en-US" sz="3200" dirty="0"/>
              <a:t>合并起来生成初步</a:t>
            </a:r>
            <a:r>
              <a:rPr lang="en-US" altLang="zh-CN" sz="3200" dirty="0"/>
              <a:t>E-R</a:t>
            </a:r>
            <a:r>
              <a:rPr lang="zh-CN" altLang="en-US" sz="3200" dirty="0"/>
              <a:t>图。</a:t>
            </a:r>
          </a:p>
          <a:p>
            <a:pPr lvl="2"/>
            <a:r>
              <a:rPr lang="zh-CN" altLang="en-US" sz="3200" dirty="0"/>
              <a:t>解决</a:t>
            </a:r>
            <a:r>
              <a:rPr lang="zh-CN" altLang="en-US" sz="3200" dirty="0">
                <a:solidFill>
                  <a:schemeClr val="tx2"/>
                </a:solidFill>
              </a:rPr>
              <a:t>属性冲突、命名冲突</a:t>
            </a:r>
            <a:r>
              <a:rPr lang="zh-CN" altLang="en-US" sz="3200" dirty="0"/>
              <a:t>和</a:t>
            </a:r>
            <a:r>
              <a:rPr lang="zh-CN" altLang="en-US" sz="3200" dirty="0">
                <a:solidFill>
                  <a:schemeClr val="tx2"/>
                </a:solidFill>
              </a:rPr>
              <a:t>结构冲突</a:t>
            </a:r>
            <a:r>
              <a:rPr lang="zh-CN" altLang="en-US" sz="3200" dirty="0"/>
              <a:t>。</a:t>
            </a:r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37B3A8-B582-B4A1-E8A1-F93D41705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CA60C9-45C5-2790-1C8F-6A0298644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58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05C43-B0BC-4E83-B2F2-54B3AA3A6F24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38864" cy="4684713"/>
          </a:xfrm>
        </p:spPr>
        <p:txBody>
          <a:bodyPr/>
          <a:lstStyle/>
          <a:p>
            <a:pPr lvl="1"/>
            <a:r>
              <a:rPr lang="zh-CN" altLang="en-US" dirty="0"/>
              <a:t>修改和重构：消除不必要的冗余，生成基本</a:t>
            </a:r>
            <a:r>
              <a:rPr lang="en-US" altLang="zh-CN" dirty="0"/>
              <a:t>E-R</a:t>
            </a:r>
            <a:r>
              <a:rPr lang="zh-CN" altLang="en-US" dirty="0"/>
              <a:t>图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冗余数据</a:t>
            </a:r>
            <a:r>
              <a:rPr lang="zh-CN" altLang="en-US" dirty="0"/>
              <a:t>指</a:t>
            </a:r>
            <a:r>
              <a:rPr lang="zh-CN" altLang="en-US" dirty="0">
                <a:solidFill>
                  <a:schemeClr val="tx2"/>
                </a:solidFill>
              </a:rPr>
              <a:t>可由基本数据导出的数据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C00000"/>
                </a:solidFill>
              </a:rPr>
              <a:t>冗余联系</a:t>
            </a:r>
            <a:r>
              <a:rPr lang="zh-CN" altLang="en-US" dirty="0"/>
              <a:t>指可由其他联系导出的联系，应当予以消除。它们</a:t>
            </a:r>
            <a:r>
              <a:rPr lang="zh-CN" altLang="en-US" b="1" dirty="0">
                <a:solidFill>
                  <a:srgbClr val="FF0000"/>
                </a:solidFill>
              </a:rPr>
              <a:t>容易破坏数据库的完整性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但不是所有的冗余数据和联系都必须加以消除，有时为了提高效率，不得不以冗余信息作为代价。</a:t>
            </a:r>
          </a:p>
          <a:p>
            <a:endParaRPr lang="zh-CN" altLang="en-US" sz="1000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zh-CN" altLang="en-US" kern="0" dirty="0"/>
              <a:t>步骤</a:t>
            </a:r>
            <a:r>
              <a:rPr kumimoji="0" lang="en-US" altLang="zh-CN" kern="0" dirty="0"/>
              <a:t>2</a:t>
            </a:r>
            <a:r>
              <a:rPr kumimoji="0" lang="zh-CN" altLang="en-US" kern="0" dirty="0"/>
              <a:t>：集成局部设计，生成全局概念结构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64CEC1-79E4-576B-CE88-B5D26CA7E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D2D9D8-BA30-9D88-C42E-4D074E3EE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59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96C2D-C00C-400F-9847-1B631CA9EAE7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138864" cy="4684713"/>
          </a:xfrm>
        </p:spPr>
        <p:txBody>
          <a:bodyPr/>
          <a:lstStyle/>
          <a:p>
            <a:pPr lvl="1"/>
            <a:r>
              <a:rPr lang="zh-CN" altLang="en-US" dirty="0"/>
              <a:t>修改和重构：消除不必要的冗余，生成基本</a:t>
            </a:r>
            <a:r>
              <a:rPr lang="en-US" altLang="zh-CN" dirty="0"/>
              <a:t>E-R</a:t>
            </a:r>
            <a:r>
              <a:rPr lang="zh-CN" altLang="en-US" dirty="0"/>
              <a:t>图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冗余数据</a:t>
            </a:r>
            <a:r>
              <a:rPr lang="zh-CN" altLang="en-US" dirty="0"/>
              <a:t>指</a:t>
            </a:r>
            <a:r>
              <a:rPr lang="zh-CN" altLang="en-US" dirty="0">
                <a:solidFill>
                  <a:schemeClr val="tx2"/>
                </a:solidFill>
              </a:rPr>
              <a:t>可由基本数据导出的数据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C00000"/>
                </a:solidFill>
              </a:rPr>
              <a:t>冗余联系</a:t>
            </a:r>
            <a:r>
              <a:rPr lang="zh-CN" altLang="en-US" dirty="0"/>
              <a:t>指可由其他联系导出的联系，应当予以消除。它们</a:t>
            </a:r>
            <a:r>
              <a:rPr lang="zh-CN" altLang="en-US" b="1" dirty="0">
                <a:solidFill>
                  <a:srgbClr val="FF0000"/>
                </a:solidFill>
              </a:rPr>
              <a:t>容易破坏数据库的完整性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但不是所有的冗余数据和联系都必须加以消除，有时为了提高效率，不得不以冗余信息作为代价。</a:t>
            </a:r>
          </a:p>
          <a:p>
            <a:endParaRPr lang="zh-CN" altLang="en-US" sz="1000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zh-CN" altLang="en-US" kern="0" dirty="0"/>
              <a:t>步骤</a:t>
            </a:r>
            <a:r>
              <a:rPr kumimoji="0" lang="en-US" altLang="zh-CN" kern="0" dirty="0"/>
              <a:t>2</a:t>
            </a:r>
            <a:r>
              <a:rPr kumimoji="0" lang="zh-CN" altLang="en-US" kern="0" dirty="0"/>
              <a:t>：集成局部设计，生成全局概念结构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34A501-64A6-1633-1DB4-1A71BE4E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19DAC7-E942-6134-11A2-795E6EDF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60</a:t>
            </a:fld>
            <a:r>
              <a:rPr lang="en-US" altLang="zh-CN"/>
              <a:t>/103</a:t>
            </a:r>
            <a:endParaRPr lang="zh-CN" alt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977" y="476672"/>
            <a:ext cx="6624736" cy="6295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8090619"/>
      </p:ext>
    </p:extLst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8D91C-5CC5-4800-B396-075B6B8D4217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9067800" cy="4684713"/>
          </a:xfrm>
        </p:spPr>
        <p:txBody>
          <a:bodyPr/>
          <a:lstStyle/>
          <a:p>
            <a:pPr marL="57150" indent="0">
              <a:buNone/>
            </a:pPr>
            <a:r>
              <a:rPr lang="zh-CN" altLang="en-US" sz="2800" dirty="0"/>
              <a:t>某个工厂物资管理的概念模型。</a:t>
            </a:r>
            <a:endParaRPr lang="en-US" altLang="zh-CN" sz="2800" dirty="0"/>
          </a:p>
          <a:p>
            <a:pPr marL="57150" indent="0">
              <a:buNone/>
            </a:pPr>
            <a:r>
              <a:rPr lang="zh-CN" altLang="en-US" sz="2800" dirty="0"/>
              <a:t>物资管理涉及的实体有：</a:t>
            </a:r>
          </a:p>
          <a:p>
            <a:pPr marL="514350" indent="-457200"/>
            <a:r>
              <a:rPr lang="zh-CN" altLang="en-US" sz="2600" dirty="0"/>
              <a:t>仓库：属性有仓库号、面积、电话号码</a:t>
            </a:r>
          </a:p>
          <a:p>
            <a:pPr marL="514350" indent="-457200"/>
            <a:r>
              <a:rPr lang="zh-CN" altLang="en-US" sz="2600" dirty="0"/>
              <a:t>零件：属性有零件号、名称、规格、单价、描述</a:t>
            </a:r>
          </a:p>
          <a:p>
            <a:pPr marL="514350" indent="-457200"/>
            <a:r>
              <a:rPr lang="zh-CN" altLang="en-US" sz="2600" dirty="0"/>
              <a:t>供应商：属性有供应商号、姓名、地址、电话号码、账号</a:t>
            </a:r>
          </a:p>
          <a:p>
            <a:pPr marL="514350" indent="-457200"/>
            <a:r>
              <a:rPr lang="zh-CN" altLang="en-US" sz="2600" dirty="0"/>
              <a:t>项目：属性有项目号、预算、开工日期</a:t>
            </a:r>
          </a:p>
          <a:p>
            <a:pPr marL="514350" indent="-457200"/>
            <a:r>
              <a:rPr lang="zh-CN" altLang="en-US" sz="2600" dirty="0"/>
              <a:t>职工：属性有职工号、姓名、年龄、职称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dirty="0"/>
              <a:t>实例：某个工厂物资管理的概念模型。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3A2B74-9486-C5D8-160D-DA429B19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76C159-31BC-41B7-AE25-6831C534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61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234692"/>
      </p:ext>
    </p:extLst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E25D2-57CA-4429-BFB3-356F19389D87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839200" cy="4684713"/>
          </a:xfrm>
        </p:spPr>
        <p:txBody>
          <a:bodyPr/>
          <a:lstStyle/>
          <a:p>
            <a:pPr marL="57150" indent="0">
              <a:buNone/>
            </a:pPr>
            <a:r>
              <a:rPr lang="zh-CN" altLang="en-US" sz="2800" dirty="0"/>
              <a:t>这些实体之间的联系如下：</a:t>
            </a:r>
          </a:p>
          <a:p>
            <a:pPr marL="5715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 一个仓库可以存放多种零件，一种零件可以存放在多个仓库中，因此</a:t>
            </a:r>
            <a:r>
              <a:rPr lang="zh-CN" altLang="en-US" sz="2400" dirty="0">
                <a:solidFill>
                  <a:srgbClr val="0000FF"/>
                </a:solidFill>
              </a:rPr>
              <a:t>仓库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00FF"/>
                </a:solidFill>
              </a:rPr>
              <a:t>零件具有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多对多</a:t>
            </a:r>
            <a:r>
              <a:rPr lang="zh-CN" altLang="en-US" sz="2400" dirty="0">
                <a:solidFill>
                  <a:srgbClr val="0000FF"/>
                </a:solidFill>
              </a:rPr>
              <a:t>的联系</a:t>
            </a:r>
            <a:r>
              <a:rPr lang="zh-CN" altLang="en-US" sz="2400" dirty="0"/>
              <a:t>。用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库存量</a:t>
            </a:r>
            <a:r>
              <a:rPr lang="zh-CN" altLang="en-US" sz="2400" dirty="0"/>
              <a:t>来表示某种零件在某个仓库中的数量。</a:t>
            </a:r>
          </a:p>
          <a:p>
            <a:pPr marL="5715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 一个仓库有多个职工当仓库保管员，一个职工只能在一个仓库工作，因此</a:t>
            </a:r>
            <a:r>
              <a:rPr lang="zh-CN" altLang="en-US" sz="2400" dirty="0">
                <a:solidFill>
                  <a:srgbClr val="0000FF"/>
                </a:solidFill>
              </a:rPr>
              <a:t>仓库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00FF"/>
                </a:solidFill>
              </a:rPr>
              <a:t>职工之间是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一对多</a:t>
            </a:r>
            <a:r>
              <a:rPr lang="zh-CN" altLang="en-US" sz="2400" dirty="0">
                <a:solidFill>
                  <a:srgbClr val="0000FF"/>
                </a:solidFill>
              </a:rPr>
              <a:t>的联系</a:t>
            </a:r>
            <a:r>
              <a:rPr lang="zh-CN" altLang="en-US" sz="2400" dirty="0"/>
              <a:t>。</a:t>
            </a:r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 职工之间具有领导与被领导关系。即仓库主任领导若干保管员，因此</a:t>
            </a:r>
            <a:r>
              <a:rPr lang="zh-CN" altLang="en-US" sz="2400" dirty="0">
                <a:solidFill>
                  <a:srgbClr val="0000FF"/>
                </a:solidFill>
              </a:rPr>
              <a:t>职工实体型中具有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一对多</a:t>
            </a:r>
            <a:r>
              <a:rPr lang="zh-CN" altLang="en-US" sz="2400" dirty="0">
                <a:solidFill>
                  <a:srgbClr val="0000FF"/>
                </a:solidFill>
              </a:rPr>
              <a:t>的联系</a:t>
            </a:r>
            <a:r>
              <a:rPr lang="zh-CN" altLang="en-US" sz="2400" dirty="0"/>
              <a:t>。 </a:t>
            </a:r>
          </a:p>
          <a:p>
            <a:pPr marL="0" indent="0"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 </a:t>
            </a:r>
            <a:r>
              <a:rPr lang="zh-CN" altLang="en-US" sz="2400" dirty="0">
                <a:solidFill>
                  <a:srgbClr val="0000FF"/>
                </a:solidFill>
              </a:rPr>
              <a:t>供应商、项目和零件三者之间具有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多对多</a:t>
            </a:r>
            <a:r>
              <a:rPr lang="zh-CN" altLang="en-US" sz="2400" dirty="0">
                <a:solidFill>
                  <a:srgbClr val="0000FF"/>
                </a:solidFill>
              </a:rPr>
              <a:t>的联系</a:t>
            </a:r>
            <a:r>
              <a:rPr lang="zh-CN" altLang="en-US" sz="2400" dirty="0"/>
              <a:t>。即一个供应商可以供给若干项目多种零件，每个项目可以使用不同供应商供应的零件，每种零件可由不同供应商供给。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dirty="0"/>
              <a:t>实例：某个工厂物资管理的概念模型。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E0F1CB-32D5-8748-2F1D-6C45889F3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A6D232-409A-C2E9-BB79-4FADF2CAE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62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183624"/>
      </p:ext>
    </p:extLst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558AA-C9FF-42BB-8674-6ADFA4C14BC0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dirty="0"/>
              <a:t>实例：某个工厂物资管理的概念模型。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7" y="2002971"/>
            <a:ext cx="9165511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B10E72-4625-EE1C-4C8F-986836212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6E9849-04E6-FDCB-0907-254F90C6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63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8689462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9C0B-98E6-46A1-B3E3-3F0132C5186E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dirty="0"/>
              <a:t>实例：某个工厂物资管理的概念模型。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62000" y="2009774"/>
            <a:ext cx="7741652" cy="3324225"/>
            <a:chOff x="762000" y="2009774"/>
            <a:chExt cx="7741652" cy="3324225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2009774"/>
              <a:ext cx="7741652" cy="3324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矩形 1"/>
            <p:cNvSpPr/>
            <p:nvPr/>
          </p:nvSpPr>
          <p:spPr bwMode="auto">
            <a:xfrm>
              <a:off x="1600200" y="2677886"/>
              <a:ext cx="914400" cy="381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endParaRPr>
            </a:p>
          </p:txBody>
        </p:sp>
      </p:grpSp>
      <p:sp>
        <p:nvSpPr>
          <p:cNvPr id="10" name="圆角矩形标注 9"/>
          <p:cNvSpPr/>
          <p:nvPr/>
        </p:nvSpPr>
        <p:spPr bwMode="auto">
          <a:xfrm>
            <a:off x="372308" y="1905000"/>
            <a:ext cx="1685092" cy="783193"/>
          </a:xfrm>
          <a:prstGeom prst="wedgeRoundRectCallout">
            <a:avLst>
              <a:gd name="adj1" fmla="val 86403"/>
              <a:gd name="adj2" fmla="val 155624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000" dirty="0"/>
              <a:t>三个实体型之间的联系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3F0E2C-9E1A-6FBD-D8E7-AEF5806BB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F0FBB4-74EA-F725-13EA-288A98F43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64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27120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210C-080C-4EBE-9687-996AB1D660D3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dirty="0"/>
              <a:t>实例：某个工厂物资管理的概念模型。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059759"/>
            <a:ext cx="84582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B980BF-FA16-66E0-BA81-EB377911F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A07433-F300-0EB8-2845-114B5D26B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65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8043391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B51B4-576A-49F6-8BB6-B801D6315BC2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</a:p>
        </p:txBody>
      </p:sp>
      <p:sp>
        <p:nvSpPr>
          <p:cNvPr id="397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/>
              <a:t>7.1 </a:t>
            </a:r>
            <a:r>
              <a:rPr lang="zh-CN" altLang="en-US"/>
              <a:t>数据库设计概述</a:t>
            </a:r>
          </a:p>
          <a:p>
            <a:r>
              <a:rPr lang="en-US" altLang="zh-CN"/>
              <a:t>7.2 </a:t>
            </a:r>
            <a:r>
              <a:rPr lang="zh-CN" altLang="en-US"/>
              <a:t>需求分析</a:t>
            </a:r>
            <a:endParaRPr lang="zh-CN" altLang="en-US">
              <a:solidFill>
                <a:srgbClr val="CC0000"/>
              </a:solidFill>
            </a:endParaRPr>
          </a:p>
          <a:p>
            <a:r>
              <a:rPr lang="en-US" altLang="zh-CN"/>
              <a:t>7.3 </a:t>
            </a:r>
            <a:r>
              <a:rPr lang="zh-CN" altLang="en-US"/>
              <a:t>概念结构设计</a:t>
            </a:r>
          </a:p>
          <a:p>
            <a:r>
              <a:rPr lang="en-US" altLang="zh-CN"/>
              <a:t>7.4 </a:t>
            </a:r>
            <a:r>
              <a:rPr lang="zh-CN" altLang="en-US"/>
              <a:t>逻辑结构设计</a:t>
            </a:r>
          </a:p>
          <a:p>
            <a:r>
              <a:rPr lang="en-US" altLang="zh-CN"/>
              <a:t>7.5 </a:t>
            </a:r>
            <a:r>
              <a:rPr lang="zh-CN" altLang="en-US"/>
              <a:t>数据库的物理设计</a:t>
            </a:r>
          </a:p>
          <a:p>
            <a:r>
              <a:rPr lang="en-US" altLang="zh-CN"/>
              <a:t>7.6 </a:t>
            </a:r>
            <a:r>
              <a:rPr lang="zh-CN" altLang="en-US"/>
              <a:t>数据库的实施</a:t>
            </a:r>
          </a:p>
          <a:p>
            <a:r>
              <a:rPr lang="en-US" altLang="zh-CN"/>
              <a:t>7.7 </a:t>
            </a:r>
            <a:r>
              <a:rPr lang="zh-CN" altLang="en-US"/>
              <a:t>数据库的运行与维护</a:t>
            </a:r>
            <a:endParaRPr lang="zh-CN" altLang="en-US">
              <a:solidFill>
                <a:srgbClr val="CC0000"/>
              </a:solidFill>
            </a:endParaRPr>
          </a:p>
        </p:txBody>
      </p:sp>
      <p:sp>
        <p:nvSpPr>
          <p:cNvPr id="397316" name="AutoShape 4"/>
          <p:cNvSpPr>
            <a:spLocks noChangeArrowheads="1"/>
          </p:cNvSpPr>
          <p:nvPr/>
        </p:nvSpPr>
        <p:spPr bwMode="auto">
          <a:xfrm>
            <a:off x="838200" y="35052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EBD04A-F52D-9E0F-329C-7A6847F01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345AD5-D88F-8969-66BB-EFB88500A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66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9AE07-F238-4D0D-9A67-6B66D45A7B9B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7.4 </a:t>
            </a:r>
            <a:r>
              <a:rPr lang="zh-CN" altLang="en-US"/>
              <a:t>逻辑结构设计</a:t>
            </a:r>
          </a:p>
        </p:txBody>
      </p:sp>
      <p:sp>
        <p:nvSpPr>
          <p:cNvPr id="364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/>
              <a:t>任务：</a:t>
            </a:r>
          </a:p>
          <a:p>
            <a:pPr lvl="1"/>
            <a:r>
              <a:rPr lang="zh-CN" altLang="en-US" sz="2400" dirty="0"/>
              <a:t>把概念结构设计阶段设计好的</a:t>
            </a:r>
            <a:r>
              <a:rPr lang="zh-CN" altLang="en-US" sz="2400" dirty="0">
                <a:solidFill>
                  <a:schemeClr val="tx2"/>
                </a:solidFill>
              </a:rPr>
              <a:t>基本</a:t>
            </a:r>
            <a:r>
              <a:rPr lang="en-US" altLang="zh-CN" sz="2400" dirty="0">
                <a:solidFill>
                  <a:schemeClr val="tx2"/>
                </a:solidFill>
              </a:rPr>
              <a:t>E-R</a:t>
            </a:r>
            <a:r>
              <a:rPr lang="zh-CN" altLang="en-US" sz="2400" dirty="0">
                <a:solidFill>
                  <a:schemeClr val="tx2"/>
                </a:solidFill>
              </a:rPr>
              <a:t>图</a:t>
            </a:r>
            <a:r>
              <a:rPr lang="zh-CN" altLang="en-US" sz="2400" dirty="0">
                <a:solidFill>
                  <a:srgbClr val="C00000"/>
                </a:solidFill>
              </a:rPr>
              <a:t>转换</a:t>
            </a:r>
            <a:r>
              <a:rPr lang="zh-CN" altLang="en-US" sz="2400" dirty="0"/>
              <a:t>为与选用</a:t>
            </a:r>
            <a:r>
              <a:rPr lang="en-US" altLang="zh-CN" sz="2400" dirty="0">
                <a:solidFill>
                  <a:schemeClr val="tx2"/>
                </a:solidFill>
              </a:rPr>
              <a:t>DBMS</a:t>
            </a:r>
            <a:r>
              <a:rPr lang="zh-CN" altLang="en-US" sz="2400" dirty="0">
                <a:solidFill>
                  <a:schemeClr val="tx2"/>
                </a:solidFill>
              </a:rPr>
              <a:t>产品所支持的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数据模型</a:t>
            </a:r>
            <a:r>
              <a:rPr lang="zh-CN" altLang="en-US" sz="2400" dirty="0"/>
              <a:t>相符合的</a:t>
            </a:r>
            <a:r>
              <a:rPr lang="zh-CN" altLang="en-US" sz="2400" dirty="0">
                <a:solidFill>
                  <a:schemeClr val="tx2"/>
                </a:solidFill>
              </a:rPr>
              <a:t>逻辑结构</a:t>
            </a:r>
            <a:r>
              <a:rPr lang="zh-CN" altLang="en-US" sz="2400" dirty="0"/>
              <a:t>。</a:t>
            </a:r>
          </a:p>
          <a:p>
            <a:pPr lvl="1"/>
            <a:r>
              <a:rPr lang="zh-CN" altLang="en-US" sz="2400" dirty="0"/>
              <a:t>完成后应得到系统的</a:t>
            </a:r>
            <a:r>
              <a:rPr lang="zh-CN" altLang="en-US" sz="2400" dirty="0">
                <a:solidFill>
                  <a:schemeClr val="tx2"/>
                </a:solidFill>
              </a:rPr>
              <a:t>关系模型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chemeClr val="tx2"/>
                </a:solidFill>
              </a:rPr>
              <a:t>各个关系的模式结构和各种完整性约束条件</a:t>
            </a:r>
            <a:r>
              <a:rPr lang="zh-CN" altLang="en-US" sz="2400" dirty="0"/>
              <a:t>（主要反映</a:t>
            </a:r>
            <a:r>
              <a:rPr lang="zh-CN" altLang="en-US" sz="2400" dirty="0">
                <a:solidFill>
                  <a:srgbClr val="C00000"/>
                </a:solidFill>
              </a:rPr>
              <a:t>为主码、外码约束</a:t>
            </a:r>
            <a:r>
              <a:rPr lang="zh-CN" altLang="en-US" sz="2400" dirty="0"/>
              <a:t>）。</a:t>
            </a:r>
          </a:p>
          <a:p>
            <a:endParaRPr lang="zh-CN" altLang="en-US" sz="800" dirty="0"/>
          </a:p>
          <a:p>
            <a:r>
              <a:rPr lang="zh-CN" altLang="en-US" sz="2800" dirty="0"/>
              <a:t>设计步骤：</a:t>
            </a:r>
          </a:p>
          <a:p>
            <a:pPr lvl="1"/>
            <a:r>
              <a:rPr lang="zh-CN" altLang="en-US" sz="2400" dirty="0"/>
              <a:t>将概念结构转换为一般的</a:t>
            </a:r>
            <a:r>
              <a:rPr lang="zh-CN" altLang="en-US" sz="2400" b="1" dirty="0">
                <a:solidFill>
                  <a:srgbClr val="FF0000"/>
                </a:solidFill>
              </a:rPr>
              <a:t>关系</a:t>
            </a:r>
            <a:r>
              <a:rPr lang="zh-CN" altLang="en-US" sz="2400" dirty="0">
                <a:solidFill>
                  <a:schemeClr val="tx2"/>
                </a:solidFill>
              </a:rPr>
              <a:t>、网状、层次模型</a:t>
            </a:r>
            <a:r>
              <a:rPr lang="zh-CN" altLang="en-US" sz="2400" dirty="0"/>
              <a:t>；</a:t>
            </a:r>
          </a:p>
          <a:p>
            <a:pPr lvl="1"/>
            <a:r>
              <a:rPr lang="zh-CN" altLang="en-US" sz="2400" dirty="0"/>
              <a:t>将转换来的关系、网状、层次模型向特定的</a:t>
            </a:r>
            <a:r>
              <a:rPr lang="en-US" altLang="zh-CN" sz="2400" dirty="0">
                <a:solidFill>
                  <a:schemeClr val="tx2"/>
                </a:solidFill>
              </a:rPr>
              <a:t>DBMS</a:t>
            </a:r>
            <a:r>
              <a:rPr lang="zh-CN" altLang="en-US" sz="2400" dirty="0">
                <a:solidFill>
                  <a:schemeClr val="tx2"/>
                </a:solidFill>
              </a:rPr>
              <a:t>支持下的数据模型转换</a:t>
            </a:r>
            <a:r>
              <a:rPr lang="zh-CN" altLang="en-US" sz="2400" dirty="0"/>
              <a:t>；（加入</a:t>
            </a:r>
            <a:r>
              <a:rPr lang="en-US" altLang="zh-CN" sz="2400" dirty="0"/>
              <a:t>DBMS</a:t>
            </a:r>
            <a:r>
              <a:rPr lang="zh-CN" altLang="en-US" sz="2400" dirty="0"/>
              <a:t>的特点和限制）</a:t>
            </a:r>
          </a:p>
          <a:p>
            <a:pPr lvl="1"/>
            <a:r>
              <a:rPr lang="zh-CN" altLang="en-US" sz="2400" dirty="0"/>
              <a:t>对</a:t>
            </a:r>
            <a:r>
              <a:rPr lang="zh-CN" altLang="en-US" sz="2400" dirty="0">
                <a:solidFill>
                  <a:schemeClr val="tx2"/>
                </a:solidFill>
              </a:rPr>
              <a:t>数据模型进行优化</a:t>
            </a:r>
            <a:r>
              <a:rPr lang="zh-CN" altLang="en-US" sz="2400" dirty="0"/>
              <a:t>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B39E21-5AD6-58C5-9391-DB09B6C25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73CA10-E194-7094-2BFF-E5AA9EA1B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67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4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4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4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4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4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4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4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4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C246A-A003-47ED-A768-052BCC395ED1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chemeClr val="tx1"/>
                </a:solidFill>
              </a:rPr>
              <a:t>E-R</a:t>
            </a:r>
            <a:r>
              <a:rPr lang="zh-CN" altLang="en-US" sz="2800" dirty="0">
                <a:solidFill>
                  <a:schemeClr val="tx1"/>
                </a:solidFill>
              </a:rPr>
              <a:t>图向</a:t>
            </a:r>
            <a:r>
              <a:rPr lang="zh-CN" altLang="en-US" sz="2800" dirty="0">
                <a:solidFill>
                  <a:srgbClr val="FF0000"/>
                </a:solidFill>
              </a:rPr>
              <a:t>关系模型</a:t>
            </a:r>
            <a:r>
              <a:rPr lang="zh-CN" altLang="en-US" sz="2800" dirty="0">
                <a:solidFill>
                  <a:schemeClr val="tx1"/>
                </a:solidFill>
              </a:rPr>
              <a:t>的转换原则：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10872" cy="4684713"/>
          </a:xfrm>
        </p:spPr>
        <p:txBody>
          <a:bodyPr/>
          <a:lstStyle/>
          <a:p>
            <a:r>
              <a:rPr lang="zh-CN" altLang="en-US" sz="2400" dirty="0"/>
              <a:t>一个</a:t>
            </a:r>
            <a:r>
              <a:rPr lang="zh-CN" altLang="en-US" sz="2400" dirty="0">
                <a:solidFill>
                  <a:srgbClr val="0000FF"/>
                </a:solidFill>
              </a:rPr>
              <a:t>实体型</a:t>
            </a:r>
            <a:r>
              <a:rPr lang="zh-CN" altLang="en-US" sz="2400" dirty="0"/>
              <a:t>转换为一个</a:t>
            </a:r>
            <a:r>
              <a:rPr lang="zh-CN" altLang="en-US" sz="2400" dirty="0">
                <a:solidFill>
                  <a:srgbClr val="C00000"/>
                </a:solidFill>
              </a:rPr>
              <a:t>关系模式</a:t>
            </a:r>
            <a:r>
              <a:rPr lang="zh-CN" altLang="en-US" sz="2400" dirty="0"/>
              <a:t>：实体的属性就是关系的属性，实体的码就是关系的码。</a:t>
            </a:r>
          </a:p>
          <a:p>
            <a:r>
              <a:rPr lang="zh-CN" altLang="en-US" sz="2400" dirty="0"/>
              <a:t>一个</a:t>
            </a:r>
            <a:r>
              <a:rPr lang="zh-CN" altLang="en-US" sz="2400" dirty="0">
                <a:solidFill>
                  <a:srgbClr val="0000FF"/>
                </a:solidFill>
              </a:rPr>
              <a:t>联系</a:t>
            </a:r>
            <a:r>
              <a:rPr lang="zh-CN" altLang="en-US" sz="2400" dirty="0"/>
              <a:t>转换为一个</a:t>
            </a:r>
            <a:r>
              <a:rPr lang="zh-CN" altLang="en-US" sz="2400" dirty="0">
                <a:solidFill>
                  <a:srgbClr val="C00000"/>
                </a:solidFill>
              </a:rPr>
              <a:t>关系模式</a:t>
            </a:r>
            <a:r>
              <a:rPr lang="zh-CN" altLang="en-US" sz="2400" dirty="0"/>
              <a:t>：与该联系</a:t>
            </a:r>
            <a:r>
              <a:rPr lang="zh-CN" altLang="en-US" sz="2400" dirty="0">
                <a:solidFill>
                  <a:srgbClr val="0000FF"/>
                </a:solidFill>
              </a:rPr>
              <a:t>相连的各实体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0000FF"/>
                </a:solidFill>
              </a:rPr>
              <a:t>码</a:t>
            </a:r>
            <a:r>
              <a:rPr lang="zh-CN" altLang="en-US" sz="2400" dirty="0"/>
              <a:t>以及</a:t>
            </a:r>
            <a:r>
              <a:rPr lang="zh-CN" altLang="en-US" sz="2400" dirty="0">
                <a:solidFill>
                  <a:srgbClr val="0000FF"/>
                </a:solidFill>
              </a:rPr>
              <a:t>联系自身的属性</a:t>
            </a:r>
            <a:r>
              <a:rPr lang="zh-CN" altLang="en-US" sz="2400" dirty="0"/>
              <a:t>转换为</a:t>
            </a:r>
            <a:r>
              <a:rPr lang="zh-CN" altLang="en-US" sz="2400" u="sng" dirty="0">
                <a:solidFill>
                  <a:srgbClr val="C00000"/>
                </a:solidFill>
              </a:rPr>
              <a:t>该关系的属性</a:t>
            </a:r>
            <a:r>
              <a:rPr lang="zh-CN" altLang="en-US" sz="2400" dirty="0"/>
              <a:t>。</a:t>
            </a:r>
            <a:r>
              <a:rPr lang="zh-CN" altLang="en-US" sz="2400" b="1" dirty="0"/>
              <a:t>该关系的</a:t>
            </a:r>
            <a:r>
              <a:rPr lang="zh-CN" altLang="en-US" sz="2400" b="1" dirty="0">
                <a:solidFill>
                  <a:srgbClr val="C00000"/>
                </a:solidFill>
              </a:rPr>
              <a:t>码如何确定？</a:t>
            </a:r>
            <a:r>
              <a:rPr lang="zh-CN" altLang="en-US" sz="2400" b="1" dirty="0"/>
              <a:t>有五种情况</a:t>
            </a:r>
            <a:r>
              <a:rPr lang="zh-CN" altLang="en-US" sz="2400" dirty="0"/>
              <a:t>：</a:t>
            </a:r>
          </a:p>
          <a:p>
            <a:pPr lvl="1"/>
            <a:r>
              <a:rPr lang="zh-CN" altLang="en-US" sz="2400" dirty="0"/>
              <a:t>若联系是</a:t>
            </a:r>
            <a:r>
              <a:rPr lang="en-US" altLang="zh-CN" sz="2400" dirty="0">
                <a:solidFill>
                  <a:srgbClr val="C00000"/>
                </a:solidFill>
              </a:rPr>
              <a:t>1:1</a:t>
            </a:r>
            <a:r>
              <a:rPr lang="zh-CN" altLang="en-US" sz="2400" dirty="0"/>
              <a:t>：则</a:t>
            </a:r>
            <a:r>
              <a:rPr lang="zh-CN" altLang="en-US" sz="2400" dirty="0">
                <a:solidFill>
                  <a:srgbClr val="0000FF"/>
                </a:solidFill>
              </a:rPr>
              <a:t>每个实体的码</a:t>
            </a:r>
            <a:r>
              <a:rPr lang="zh-CN" altLang="en-US" sz="2400" dirty="0">
                <a:solidFill>
                  <a:srgbClr val="FF0000"/>
                </a:solidFill>
              </a:rPr>
              <a:t>均是</a:t>
            </a:r>
            <a:r>
              <a:rPr lang="zh-CN" altLang="en-US" sz="2400" dirty="0"/>
              <a:t>该关系的</a:t>
            </a:r>
            <a:r>
              <a:rPr lang="zh-CN" altLang="en-US" sz="2400" dirty="0">
                <a:solidFill>
                  <a:srgbClr val="C00000"/>
                </a:solidFill>
              </a:rPr>
              <a:t>候选码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zh-CN" altLang="en-US" sz="2400" dirty="0"/>
              <a:t>若联系是</a:t>
            </a:r>
            <a:r>
              <a:rPr lang="en-US" altLang="zh-CN" sz="2400" dirty="0">
                <a:solidFill>
                  <a:srgbClr val="C00000"/>
                </a:solidFill>
              </a:rPr>
              <a:t>1:n</a:t>
            </a:r>
            <a:r>
              <a:rPr lang="zh-CN" altLang="en-US" sz="2400" dirty="0">
                <a:solidFill>
                  <a:srgbClr val="C00000"/>
                </a:solidFill>
              </a:rPr>
              <a:t>或</a:t>
            </a:r>
            <a:r>
              <a:rPr lang="en-US" altLang="zh-CN" sz="2400" dirty="0">
                <a:solidFill>
                  <a:srgbClr val="C00000"/>
                </a:solidFill>
              </a:rPr>
              <a:t>n:1</a:t>
            </a:r>
            <a:r>
              <a:rPr lang="zh-CN" altLang="en-US" sz="2400" dirty="0"/>
              <a:t>：则关系的</a:t>
            </a:r>
            <a:r>
              <a:rPr lang="zh-CN" altLang="en-US" sz="2400" dirty="0">
                <a:solidFill>
                  <a:srgbClr val="0000FF"/>
                </a:solidFill>
              </a:rPr>
              <a:t>码</a:t>
            </a:r>
            <a:r>
              <a:rPr lang="zh-CN" altLang="en-US" sz="2400" dirty="0"/>
              <a:t>是</a:t>
            </a:r>
            <a:r>
              <a:rPr lang="en-US" altLang="zh-CN" sz="2400" dirty="0">
                <a:solidFill>
                  <a:srgbClr val="C00000"/>
                </a:solidFill>
              </a:rPr>
              <a:t>n</a:t>
            </a:r>
            <a:r>
              <a:rPr lang="zh-CN" altLang="en-US" sz="2400" dirty="0">
                <a:solidFill>
                  <a:srgbClr val="C00000"/>
                </a:solidFill>
              </a:rPr>
              <a:t>端实体的码</a:t>
            </a:r>
            <a:r>
              <a:rPr lang="zh-CN" altLang="en-US" sz="2400" dirty="0"/>
              <a:t>。</a:t>
            </a:r>
          </a:p>
          <a:p>
            <a:pPr lvl="1"/>
            <a:r>
              <a:rPr lang="zh-CN" altLang="en-US" sz="2400" dirty="0"/>
              <a:t>若联系是</a:t>
            </a:r>
            <a:r>
              <a:rPr lang="en-US" altLang="zh-CN" sz="2400" dirty="0">
                <a:solidFill>
                  <a:srgbClr val="C00000"/>
                </a:solidFill>
              </a:rPr>
              <a:t>m:n</a:t>
            </a:r>
            <a:r>
              <a:rPr lang="zh-CN" altLang="en-US" sz="2400" dirty="0"/>
              <a:t>：则关系的</a:t>
            </a:r>
            <a:r>
              <a:rPr lang="zh-CN" altLang="en-US" sz="2400" dirty="0">
                <a:solidFill>
                  <a:srgbClr val="0000FF"/>
                </a:solidFill>
              </a:rPr>
              <a:t>码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0000FF"/>
                </a:solidFill>
              </a:rPr>
              <a:t>参加联系</a:t>
            </a:r>
            <a:r>
              <a:rPr lang="zh-CN" altLang="en-US" sz="2400" dirty="0"/>
              <a:t>的</a:t>
            </a:r>
            <a:r>
              <a:rPr lang="zh-CN" altLang="en-US" sz="2400" b="1" dirty="0">
                <a:solidFill>
                  <a:srgbClr val="C00000"/>
                </a:solidFill>
              </a:rPr>
              <a:t>诸实体的码</a:t>
            </a:r>
            <a:r>
              <a:rPr lang="zh-CN" altLang="en-US" sz="2400" dirty="0">
                <a:solidFill>
                  <a:srgbClr val="C00000"/>
                </a:solidFill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集合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zh-CN" altLang="en-US" sz="2400" dirty="0"/>
              <a:t>例如：</a:t>
            </a:r>
            <a:r>
              <a:rPr lang="en-US" altLang="zh-CN" sz="2400" dirty="0"/>
              <a:t>advisor </a:t>
            </a:r>
            <a:r>
              <a:rPr lang="zh-CN" altLang="en-US" sz="2400" dirty="0"/>
              <a:t>关系：</a:t>
            </a:r>
            <a:r>
              <a:rPr lang="en-US" altLang="zh-CN" sz="2400" dirty="0"/>
              <a:t>1:1, 1:n, m:n</a:t>
            </a:r>
          </a:p>
          <a:p>
            <a:pPr lvl="1">
              <a:lnSpc>
                <a:spcPct val="80000"/>
              </a:lnSpc>
            </a:pPr>
            <a:endParaRPr lang="zh-CN" altLang="en-US" sz="2400" dirty="0"/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4E64A017-64C6-7FF0-502B-045E1D9E4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C882F9-4F04-BAA2-C060-36D9B6C95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68</a:t>
            </a:fld>
            <a:r>
              <a:rPr lang="en-US" altLang="zh-CN"/>
              <a:t>/103</a:t>
            </a:r>
            <a:endParaRPr lang="zh-CN" alt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858"/>
          <a:stretch/>
        </p:blipFill>
        <p:spPr bwMode="auto">
          <a:xfrm>
            <a:off x="2527875" y="5603169"/>
            <a:ext cx="5115669" cy="1131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059813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6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6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6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65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65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5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65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65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65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65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65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65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65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65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65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FF6F8-E870-4E7B-9C26-3C87DA2EB793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chemeClr val="tx1"/>
                </a:solidFill>
              </a:rPr>
              <a:t>E-R</a:t>
            </a:r>
            <a:r>
              <a:rPr lang="zh-CN" altLang="en-US" sz="2800" dirty="0">
                <a:solidFill>
                  <a:schemeClr val="tx1"/>
                </a:solidFill>
              </a:rPr>
              <a:t>图向</a:t>
            </a:r>
            <a:r>
              <a:rPr lang="zh-CN" altLang="en-US" sz="2800" dirty="0">
                <a:solidFill>
                  <a:srgbClr val="FF0000"/>
                </a:solidFill>
              </a:rPr>
              <a:t>关系模型</a:t>
            </a:r>
            <a:r>
              <a:rPr lang="zh-CN" altLang="en-US" sz="2800" dirty="0">
                <a:solidFill>
                  <a:schemeClr val="tx1"/>
                </a:solidFill>
              </a:rPr>
              <a:t>的转换原则：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400" b="1" dirty="0"/>
              <a:t>有五种情况</a:t>
            </a:r>
            <a:r>
              <a:rPr lang="zh-CN" altLang="en-US" sz="2400" dirty="0"/>
              <a:t>：</a:t>
            </a:r>
          </a:p>
          <a:p>
            <a:pPr lvl="1"/>
            <a:r>
              <a:rPr lang="zh-CN" altLang="en-US" sz="2400" dirty="0"/>
              <a:t>若联系是</a:t>
            </a:r>
            <a:r>
              <a:rPr lang="en-US" altLang="zh-CN" sz="2400" dirty="0">
                <a:solidFill>
                  <a:srgbClr val="C00000"/>
                </a:solidFill>
              </a:rPr>
              <a:t>1:1</a:t>
            </a:r>
            <a:r>
              <a:rPr lang="zh-CN" altLang="en-US" sz="2400" dirty="0"/>
              <a:t>：则</a:t>
            </a:r>
            <a:r>
              <a:rPr lang="zh-CN" altLang="en-US" sz="2400" dirty="0">
                <a:solidFill>
                  <a:srgbClr val="0000FF"/>
                </a:solidFill>
              </a:rPr>
              <a:t>每个实体的码</a:t>
            </a:r>
            <a:r>
              <a:rPr lang="zh-CN" altLang="en-US" sz="2400" dirty="0">
                <a:solidFill>
                  <a:srgbClr val="FF0000"/>
                </a:solidFill>
              </a:rPr>
              <a:t>均是</a:t>
            </a:r>
            <a:r>
              <a:rPr lang="zh-CN" altLang="en-US" sz="2400" dirty="0"/>
              <a:t>该关系的</a:t>
            </a:r>
            <a:r>
              <a:rPr lang="zh-CN" altLang="en-US" sz="2400" dirty="0">
                <a:solidFill>
                  <a:srgbClr val="C00000"/>
                </a:solidFill>
              </a:rPr>
              <a:t>候选码</a:t>
            </a:r>
            <a:r>
              <a:rPr lang="zh-CN" altLang="en-US" sz="2400" dirty="0"/>
              <a:t>。</a:t>
            </a:r>
          </a:p>
          <a:p>
            <a:pPr lvl="1"/>
            <a:r>
              <a:rPr lang="zh-CN" altLang="en-US" sz="2400" dirty="0"/>
              <a:t>若联系是</a:t>
            </a:r>
            <a:r>
              <a:rPr lang="en-US" altLang="zh-CN" sz="2400" dirty="0">
                <a:solidFill>
                  <a:srgbClr val="C00000"/>
                </a:solidFill>
              </a:rPr>
              <a:t>1:n</a:t>
            </a:r>
            <a:r>
              <a:rPr lang="zh-CN" altLang="en-US" sz="2400" dirty="0"/>
              <a:t>：则关系的</a:t>
            </a:r>
            <a:r>
              <a:rPr lang="zh-CN" altLang="en-US" sz="2400" dirty="0">
                <a:solidFill>
                  <a:srgbClr val="0000FF"/>
                </a:solidFill>
              </a:rPr>
              <a:t>码</a:t>
            </a:r>
            <a:r>
              <a:rPr lang="zh-CN" altLang="en-US" sz="2400" dirty="0"/>
              <a:t>是</a:t>
            </a:r>
            <a:r>
              <a:rPr lang="en-US" altLang="zh-CN" sz="2400" dirty="0">
                <a:solidFill>
                  <a:srgbClr val="C00000"/>
                </a:solidFill>
              </a:rPr>
              <a:t>n</a:t>
            </a:r>
            <a:r>
              <a:rPr lang="zh-CN" altLang="en-US" sz="2400" dirty="0">
                <a:solidFill>
                  <a:srgbClr val="C00000"/>
                </a:solidFill>
              </a:rPr>
              <a:t>端实体的码</a:t>
            </a:r>
            <a:r>
              <a:rPr lang="zh-CN" altLang="en-US" sz="2400" dirty="0"/>
              <a:t>。</a:t>
            </a:r>
          </a:p>
          <a:p>
            <a:pPr lvl="1"/>
            <a:r>
              <a:rPr lang="zh-CN" altLang="en-US" sz="2400" dirty="0"/>
              <a:t>若联系是</a:t>
            </a:r>
            <a:r>
              <a:rPr lang="en-US" altLang="zh-CN" sz="2400" dirty="0">
                <a:solidFill>
                  <a:srgbClr val="C00000"/>
                </a:solidFill>
              </a:rPr>
              <a:t>m:n</a:t>
            </a:r>
            <a:r>
              <a:rPr lang="zh-CN" altLang="en-US" sz="2400" dirty="0"/>
              <a:t>：则关系的</a:t>
            </a:r>
            <a:r>
              <a:rPr lang="zh-CN" altLang="en-US" sz="2400" dirty="0">
                <a:solidFill>
                  <a:srgbClr val="0000FF"/>
                </a:solidFill>
              </a:rPr>
              <a:t>码</a:t>
            </a:r>
            <a:r>
              <a:rPr lang="zh-CN" altLang="en-US" sz="2400" dirty="0"/>
              <a:t>是</a:t>
            </a:r>
            <a:r>
              <a:rPr lang="zh-CN" altLang="en-US" sz="2400" dirty="0">
                <a:solidFill>
                  <a:srgbClr val="0000FF"/>
                </a:solidFill>
              </a:rPr>
              <a:t>参加联系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C00000"/>
                </a:solidFill>
              </a:rPr>
              <a:t>诸实体的码的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集合</a:t>
            </a:r>
            <a:r>
              <a:rPr lang="zh-CN" altLang="en-US" sz="2400" dirty="0"/>
              <a:t>。</a:t>
            </a:r>
          </a:p>
          <a:p>
            <a:pPr lvl="1"/>
            <a:r>
              <a:rPr lang="zh-CN" altLang="en-US" sz="2400" dirty="0"/>
              <a:t>若联系是三个或三个以上的实体的一个</a:t>
            </a:r>
            <a:r>
              <a:rPr lang="zh-CN" altLang="en-US" sz="2400" b="1" dirty="0">
                <a:solidFill>
                  <a:schemeClr val="tx2"/>
                </a:solidFill>
              </a:rPr>
              <a:t>多元联系，</a:t>
            </a:r>
            <a:r>
              <a:rPr lang="zh-CN" altLang="en-US" sz="2400" dirty="0"/>
              <a:t>可以转换为一个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cs"/>
              </a:rPr>
              <a:t>关系模式</a:t>
            </a:r>
            <a:r>
              <a:rPr lang="zh-CN" altLang="en-US" sz="2400" dirty="0"/>
              <a:t>，与该多元联系相连的</a:t>
            </a:r>
            <a:r>
              <a:rPr lang="zh-CN" altLang="en-US" sz="2400" dirty="0">
                <a:solidFill>
                  <a:schemeClr val="tx2"/>
                </a:solidFill>
              </a:rPr>
              <a:t>各实体的码</a:t>
            </a:r>
            <a:r>
              <a:rPr lang="zh-CN" altLang="en-US" sz="2400" dirty="0"/>
              <a:t>以及</a:t>
            </a:r>
            <a:r>
              <a:rPr lang="zh-CN" altLang="en-US" sz="2400" dirty="0">
                <a:solidFill>
                  <a:schemeClr val="tx2"/>
                </a:solidFill>
              </a:rPr>
              <a:t>联系本身的属性</a:t>
            </a:r>
            <a:r>
              <a:rPr lang="zh-CN" altLang="en-US" sz="2400" dirty="0"/>
              <a:t>均转换为一个关系模式，而</a:t>
            </a:r>
            <a:r>
              <a:rPr lang="zh-CN" altLang="en-US" sz="2400" dirty="0">
                <a:solidFill>
                  <a:srgbClr val="C00000"/>
                </a:solidFill>
              </a:rPr>
              <a:t>关系的码的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各实体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码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</a:t>
            </a:r>
            <a:r>
              <a:rPr lang="zh-CN" altLang="en-US" sz="2400" dirty="0"/>
              <a:t>。</a:t>
            </a:r>
          </a:p>
          <a:p>
            <a:pPr lvl="1"/>
            <a:r>
              <a:rPr lang="zh-CN" altLang="en-US" sz="2400" b="1" u="sng" dirty="0"/>
              <a:t>具有</a:t>
            </a:r>
            <a:r>
              <a:rPr lang="zh-CN" altLang="en-US" sz="2400" b="1" u="sng" dirty="0">
                <a:solidFill>
                  <a:srgbClr val="C00000"/>
                </a:solidFill>
              </a:rPr>
              <a:t>相同码</a:t>
            </a:r>
            <a:r>
              <a:rPr lang="zh-CN" altLang="en-US" sz="2400" b="1" u="sng" dirty="0"/>
              <a:t>的关系模式可以</a:t>
            </a:r>
            <a:r>
              <a:rPr lang="zh-CN" altLang="en-US" sz="2400" b="1" u="sng" dirty="0">
                <a:solidFill>
                  <a:srgbClr val="C00000"/>
                </a:solidFill>
              </a:rPr>
              <a:t>合并</a:t>
            </a:r>
            <a:r>
              <a:rPr lang="zh-CN" altLang="en-US" sz="2400" b="1" u="sng" dirty="0"/>
              <a:t>。</a:t>
            </a: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1B30195F-A6C5-F097-B1CA-2BCA2EF5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7C4655-4A68-0688-F7EA-A51C16697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69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65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6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6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6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65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65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5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65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65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65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65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65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65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65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65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65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428A5-F008-4826-B8F7-028FBC2922D4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chemeClr val="tx1"/>
                </a:solidFill>
              </a:rPr>
              <a:t>E-R</a:t>
            </a:r>
            <a:r>
              <a:rPr lang="zh-CN" altLang="en-US" sz="2800" dirty="0">
                <a:solidFill>
                  <a:schemeClr val="tx1"/>
                </a:solidFill>
              </a:rPr>
              <a:t>图向</a:t>
            </a:r>
            <a:r>
              <a:rPr lang="zh-CN" altLang="en-US" sz="2800" dirty="0">
                <a:solidFill>
                  <a:srgbClr val="FF0000"/>
                </a:solidFill>
              </a:rPr>
              <a:t>关系模型</a:t>
            </a:r>
            <a:r>
              <a:rPr lang="zh-CN" altLang="en-US" sz="2800" dirty="0">
                <a:solidFill>
                  <a:schemeClr val="tx1"/>
                </a:solidFill>
              </a:rPr>
              <a:t>的转换原则：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2162200" cy="468471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 b="1" dirty="0"/>
              <a:t>有五种情况</a:t>
            </a:r>
            <a:r>
              <a:rPr lang="zh-CN" altLang="en-US" sz="2400" dirty="0"/>
              <a:t>：</a:t>
            </a:r>
          </a:p>
          <a:p>
            <a:pPr lvl="1">
              <a:lnSpc>
                <a:spcPct val="80000"/>
              </a:lnSpc>
            </a:pPr>
            <a:r>
              <a:rPr lang="zh-CN" altLang="en-US" sz="2400" b="1" u="sng" dirty="0"/>
              <a:t>具有</a:t>
            </a:r>
            <a:r>
              <a:rPr lang="zh-CN" altLang="en-US" sz="2400" b="1" u="sng" dirty="0">
                <a:solidFill>
                  <a:srgbClr val="C00000"/>
                </a:solidFill>
              </a:rPr>
              <a:t>相同码</a:t>
            </a:r>
            <a:r>
              <a:rPr lang="zh-CN" altLang="en-US" sz="2400" b="1" u="sng" dirty="0"/>
              <a:t>的关系模式可以</a:t>
            </a:r>
            <a:r>
              <a:rPr lang="zh-CN" altLang="en-US" sz="2400" b="1" u="sng" dirty="0">
                <a:solidFill>
                  <a:srgbClr val="C00000"/>
                </a:solidFill>
              </a:rPr>
              <a:t>合并</a:t>
            </a:r>
            <a:r>
              <a:rPr lang="zh-CN" altLang="en-US" sz="2400" b="1" u="sng" dirty="0"/>
              <a:t>。</a:t>
            </a:r>
            <a:endParaRPr lang="en-US" altLang="zh-CN" sz="2400" b="1" u="sng" dirty="0"/>
          </a:p>
          <a:p>
            <a:pPr lvl="1">
              <a:lnSpc>
                <a:spcPct val="80000"/>
              </a:lnSpc>
            </a:pPr>
            <a:r>
              <a:rPr lang="en-US" altLang="zh-CN" sz="2400" dirty="0"/>
              <a:t>1</a:t>
            </a:r>
            <a:r>
              <a:rPr lang="zh-CN" altLang="en-US" sz="2400" dirty="0"/>
              <a:t>端实体的码作为外码加入。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196752"/>
            <a:ext cx="5818956" cy="5530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6560594" y="1103024"/>
            <a:ext cx="5806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1</a:t>
            </a:r>
            <a:r>
              <a:rPr lang="zh-CN" altLang="en-US" sz="2000" dirty="0">
                <a:solidFill>
                  <a:srgbClr val="0000FF"/>
                </a:solidFill>
              </a:rPr>
              <a:t>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4408" y="2677165"/>
            <a:ext cx="583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n</a:t>
            </a:r>
            <a:r>
              <a:rPr lang="zh-CN" altLang="en-US" sz="2000" dirty="0">
                <a:solidFill>
                  <a:srgbClr val="0000FF"/>
                </a:solidFill>
              </a:rPr>
              <a:t>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8187" y="3320085"/>
            <a:ext cx="583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</a:rPr>
              <a:t>n</a:t>
            </a:r>
            <a:r>
              <a:rPr lang="zh-CN" altLang="en-US" sz="2000" dirty="0">
                <a:solidFill>
                  <a:srgbClr val="0000FF"/>
                </a:solidFill>
              </a:rPr>
              <a:t>端</a:t>
            </a:r>
          </a:p>
        </p:txBody>
      </p:sp>
      <p:sp>
        <p:nvSpPr>
          <p:cNvPr id="5" name="矩形 4"/>
          <p:cNvSpPr/>
          <p:nvPr/>
        </p:nvSpPr>
        <p:spPr>
          <a:xfrm>
            <a:off x="35496" y="3973052"/>
            <a:ext cx="338434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/>
              <a:t>department(</a:t>
            </a:r>
            <a:r>
              <a:rPr lang="zh-CN" altLang="en-US" sz="2000" u="sng" dirty="0">
                <a:solidFill>
                  <a:srgbClr val="FF0000"/>
                </a:solidFill>
              </a:rPr>
              <a:t>dept</a:t>
            </a:r>
            <a:r>
              <a:rPr lang="en-US" altLang="zh-CN" sz="2000" u="sng" dirty="0">
                <a:solidFill>
                  <a:srgbClr val="FF0000"/>
                </a:solidFill>
              </a:rPr>
              <a:t>_</a:t>
            </a:r>
            <a:r>
              <a:rPr lang="zh-CN" altLang="en-US" sz="2000" u="sng" dirty="0">
                <a:solidFill>
                  <a:srgbClr val="FF0000"/>
                </a:solidFill>
              </a:rPr>
              <a:t>name</a:t>
            </a:r>
            <a:r>
              <a:rPr lang="zh-CN" altLang="en-US" sz="2000" dirty="0"/>
              <a:t>, building, budget)</a:t>
            </a:r>
            <a:r>
              <a:rPr lang="en-US" altLang="zh-CN" sz="2000" dirty="0"/>
              <a:t>;</a:t>
            </a:r>
          </a:p>
          <a:p>
            <a:pPr algn="l"/>
            <a:r>
              <a:rPr lang="zh-CN" altLang="en-US" sz="2000" dirty="0"/>
              <a:t>instructor(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name, </a:t>
            </a:r>
            <a:r>
              <a:rPr lang="zh-CN" altLang="en-US" sz="2000" dirty="0">
                <a:solidFill>
                  <a:srgbClr val="0000FF"/>
                </a:solidFill>
              </a:rPr>
              <a:t>dept</a:t>
            </a:r>
            <a:r>
              <a:rPr lang="en-US" altLang="zh-CN" sz="2000" dirty="0">
                <a:solidFill>
                  <a:srgbClr val="0000FF"/>
                </a:solidFill>
              </a:rPr>
              <a:t>_</a:t>
            </a:r>
            <a:r>
              <a:rPr lang="zh-CN" altLang="en-US" sz="2000" dirty="0">
                <a:solidFill>
                  <a:srgbClr val="0000FF"/>
                </a:solidFill>
              </a:rPr>
              <a:t>name</a:t>
            </a:r>
            <a:r>
              <a:rPr lang="zh-CN" altLang="en-US" sz="2000" dirty="0"/>
              <a:t>, salary)</a:t>
            </a:r>
            <a:r>
              <a:rPr lang="en-US" altLang="zh-CN" sz="2000" dirty="0"/>
              <a:t>;</a:t>
            </a:r>
          </a:p>
          <a:p>
            <a:pPr algn="l"/>
            <a:r>
              <a:rPr lang="zh-CN" altLang="en-US" sz="2000" dirty="0"/>
              <a:t>student(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name, </a:t>
            </a:r>
            <a:r>
              <a:rPr lang="zh-CN" altLang="en-US" sz="2000" dirty="0">
                <a:solidFill>
                  <a:srgbClr val="0000FF"/>
                </a:solidFill>
              </a:rPr>
              <a:t>dept</a:t>
            </a:r>
            <a:r>
              <a:rPr lang="en-US" altLang="zh-CN" sz="2000" dirty="0">
                <a:solidFill>
                  <a:srgbClr val="0000FF"/>
                </a:solidFill>
              </a:rPr>
              <a:t>_</a:t>
            </a:r>
            <a:r>
              <a:rPr lang="zh-CN" altLang="en-US" sz="2000" dirty="0">
                <a:solidFill>
                  <a:srgbClr val="0000FF"/>
                </a:solidFill>
              </a:rPr>
              <a:t>name</a:t>
            </a:r>
            <a:r>
              <a:rPr lang="zh-CN" altLang="en-US" sz="2000" dirty="0"/>
              <a:t>, tot</a:t>
            </a:r>
            <a:r>
              <a:rPr lang="en-US" altLang="zh-CN" sz="2000" dirty="0"/>
              <a:t>_</a:t>
            </a:r>
            <a:r>
              <a:rPr lang="zh-CN" altLang="en-US" sz="2000" dirty="0"/>
              <a:t>cred)</a:t>
            </a:r>
            <a:r>
              <a:rPr lang="en-US" altLang="zh-CN" sz="2000" dirty="0"/>
              <a:t>;</a:t>
            </a:r>
            <a:endParaRPr lang="zh-CN" altLang="en-US" sz="2000" dirty="0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0BE549A4-EBE7-B36B-22E3-09626BED3075}"/>
              </a:ext>
            </a:extLst>
          </p:cNvPr>
          <p:cNvSpPr/>
          <p:nvPr/>
        </p:nvSpPr>
        <p:spPr bwMode="auto">
          <a:xfrm>
            <a:off x="4644008" y="1700808"/>
            <a:ext cx="1080120" cy="976357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394C45E-1AD7-EB4A-618F-D85A12EC40CA}"/>
              </a:ext>
            </a:extLst>
          </p:cNvPr>
          <p:cNvSpPr/>
          <p:nvPr/>
        </p:nvSpPr>
        <p:spPr bwMode="auto">
          <a:xfrm>
            <a:off x="6914530" y="1628800"/>
            <a:ext cx="1080120" cy="976357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801FCD4-3E81-BA80-80EC-D21180A8F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0DBD33-6F34-9E27-72F5-DD224328A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70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30634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19B15-77CA-44E7-A99F-5D75D1010F2E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ER</a:t>
            </a:r>
            <a:r>
              <a:rPr lang="zh-CN" altLang="en-US"/>
              <a:t>模型到关系模型的</a:t>
            </a:r>
            <a:r>
              <a:rPr lang="en-US" altLang="zh-CN"/>
              <a:t>9</a:t>
            </a:r>
            <a:r>
              <a:rPr lang="zh-CN" altLang="en-US"/>
              <a:t>步映射算法</a:t>
            </a:r>
          </a:p>
        </p:txBody>
      </p:sp>
      <p:sp>
        <p:nvSpPr>
          <p:cNvPr id="366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C0000"/>
                </a:solidFill>
              </a:rPr>
              <a:t>S1</a:t>
            </a:r>
            <a:r>
              <a:rPr lang="en-US" altLang="zh-CN" dirty="0"/>
              <a:t>: </a:t>
            </a:r>
            <a:r>
              <a:rPr lang="zh-CN" altLang="en-US" dirty="0"/>
              <a:t>每一</a:t>
            </a:r>
            <a:r>
              <a:rPr lang="zh-CN" altLang="en-US" dirty="0">
                <a:solidFill>
                  <a:srgbClr val="C00000"/>
                </a:solidFill>
              </a:rPr>
              <a:t>强实体</a:t>
            </a:r>
            <a:r>
              <a:rPr lang="zh-CN" altLang="en-US" dirty="0"/>
              <a:t>用一个</a:t>
            </a:r>
            <a:r>
              <a:rPr lang="zh-CN" altLang="en-US" dirty="0">
                <a:solidFill>
                  <a:srgbClr val="C00000"/>
                </a:solidFill>
              </a:rPr>
              <a:t>新表</a:t>
            </a:r>
            <a:r>
              <a:rPr lang="zh-CN" altLang="en-US" dirty="0"/>
              <a:t>表示</a:t>
            </a:r>
          </a:p>
          <a:p>
            <a:pPr lvl="1">
              <a:spcBef>
                <a:spcPct val="40000"/>
              </a:spcBef>
            </a:pPr>
            <a:r>
              <a:rPr lang="zh-CN" altLang="en-US" dirty="0"/>
              <a:t>对</a:t>
            </a:r>
            <a:r>
              <a:rPr lang="en-US" altLang="zh-CN" dirty="0"/>
              <a:t>ER</a:t>
            </a:r>
            <a:r>
              <a:rPr lang="zh-CN" altLang="en-US" dirty="0"/>
              <a:t>模型中的每一实体</a:t>
            </a:r>
            <a:r>
              <a:rPr lang="en-US" altLang="zh-CN" dirty="0"/>
              <a:t>E</a:t>
            </a:r>
            <a:r>
              <a:rPr lang="zh-CN" altLang="en-US" b="1" u="sng" dirty="0">
                <a:solidFill>
                  <a:srgbClr val="C00000"/>
                </a:solidFill>
              </a:rPr>
              <a:t>创建</a:t>
            </a:r>
            <a:r>
              <a:rPr lang="zh-CN" altLang="en-US" dirty="0">
                <a:solidFill>
                  <a:srgbClr val="CC0000"/>
                </a:solidFill>
              </a:rPr>
              <a:t>对应的新表</a:t>
            </a:r>
            <a:r>
              <a:rPr lang="en-US" altLang="zh-CN" dirty="0">
                <a:solidFill>
                  <a:srgbClr val="CC0000"/>
                </a:solidFill>
              </a:rPr>
              <a:t>T</a:t>
            </a:r>
          </a:p>
          <a:p>
            <a:pPr lvl="1">
              <a:spcBef>
                <a:spcPct val="40000"/>
              </a:spcBef>
            </a:pPr>
            <a:r>
              <a:rPr lang="zh-CN" altLang="en-US" dirty="0">
                <a:solidFill>
                  <a:srgbClr val="CC0000"/>
                </a:solidFill>
              </a:rPr>
              <a:t>确定新表</a:t>
            </a:r>
            <a:r>
              <a:rPr lang="en-US" altLang="zh-CN" dirty="0">
                <a:solidFill>
                  <a:srgbClr val="CC0000"/>
                </a:solidFill>
              </a:rPr>
              <a:t>T</a:t>
            </a:r>
            <a:r>
              <a:rPr lang="zh-CN" altLang="en-US" dirty="0">
                <a:solidFill>
                  <a:srgbClr val="CC0000"/>
                </a:solidFill>
              </a:rPr>
              <a:t>的属性：</a:t>
            </a:r>
          </a:p>
          <a:p>
            <a:pPr lvl="2"/>
            <a:r>
              <a:rPr lang="en-US" altLang="zh-CN" dirty="0"/>
              <a:t>E</a:t>
            </a:r>
            <a:r>
              <a:rPr lang="zh-CN" altLang="en-US" dirty="0"/>
              <a:t>的所有简单属性转换为对应的表</a:t>
            </a:r>
            <a:r>
              <a:rPr lang="en-US" altLang="zh-CN" dirty="0"/>
              <a:t>T</a:t>
            </a:r>
            <a:r>
              <a:rPr lang="zh-CN" altLang="en-US" dirty="0"/>
              <a:t>的属性</a:t>
            </a:r>
          </a:p>
          <a:p>
            <a:pPr lvl="2"/>
            <a:r>
              <a:rPr lang="zh-CN" altLang="en-US" dirty="0"/>
              <a:t>对于</a:t>
            </a:r>
            <a:r>
              <a:rPr lang="en-US" altLang="zh-CN" dirty="0"/>
              <a:t>E</a:t>
            </a:r>
            <a:r>
              <a:rPr lang="zh-CN" altLang="en-US" dirty="0"/>
              <a:t>的复合属性，直接从其</a:t>
            </a:r>
            <a:r>
              <a:rPr lang="zh-CN" altLang="en-US" dirty="0">
                <a:solidFill>
                  <a:schemeClr val="tx2"/>
                </a:solidFill>
              </a:rPr>
              <a:t>简单成分</a:t>
            </a:r>
            <a:r>
              <a:rPr lang="zh-CN" altLang="en-US" dirty="0"/>
              <a:t>转换</a:t>
            </a:r>
          </a:p>
          <a:p>
            <a:pPr lvl="1">
              <a:spcBef>
                <a:spcPct val="40000"/>
              </a:spcBef>
            </a:pPr>
            <a:r>
              <a:rPr lang="zh-CN" altLang="en-US" dirty="0">
                <a:solidFill>
                  <a:srgbClr val="CC0000"/>
                </a:solidFill>
              </a:rPr>
              <a:t>确定</a:t>
            </a:r>
            <a:r>
              <a:rPr lang="en-US" altLang="zh-CN" dirty="0">
                <a:solidFill>
                  <a:srgbClr val="CC0000"/>
                </a:solidFill>
              </a:rPr>
              <a:t>T</a:t>
            </a:r>
            <a:r>
              <a:rPr lang="zh-CN" altLang="en-US" dirty="0">
                <a:solidFill>
                  <a:srgbClr val="CC0000"/>
                </a:solidFill>
              </a:rPr>
              <a:t>的主码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CC0000"/>
                </a:solidFill>
              </a:rPr>
              <a:t>Unique</a:t>
            </a:r>
            <a:r>
              <a:rPr lang="zh-CN" altLang="en-US" dirty="0">
                <a:solidFill>
                  <a:srgbClr val="CC0000"/>
                </a:solidFill>
              </a:rPr>
              <a:t>码</a:t>
            </a:r>
          </a:p>
          <a:p>
            <a:pPr lvl="2"/>
            <a:r>
              <a:rPr lang="en-US" altLang="zh-CN" dirty="0"/>
              <a:t>E</a:t>
            </a:r>
            <a:r>
              <a:rPr lang="zh-CN" altLang="en-US" dirty="0"/>
              <a:t>的码转换为候选码，选定一个（意义最明显的）为主码，其余作</a:t>
            </a:r>
            <a:r>
              <a:rPr lang="en-US" altLang="zh-CN" dirty="0"/>
              <a:t>Unique</a:t>
            </a:r>
            <a:r>
              <a:rPr lang="zh-CN" altLang="en-US" dirty="0"/>
              <a:t>码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CF3B1A-9FC7-F91C-2213-C31B72F37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5A4C85-0253-66D7-7C6F-7BC11812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71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C96C-FDFF-4C21-90B8-6163D9585E68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ER</a:t>
            </a:r>
            <a:r>
              <a:rPr lang="zh-CN" altLang="en-US"/>
              <a:t>模型到关系模型的</a:t>
            </a:r>
            <a:r>
              <a:rPr lang="en-US" altLang="zh-CN"/>
              <a:t>9</a:t>
            </a:r>
            <a:r>
              <a:rPr lang="zh-CN" altLang="en-US"/>
              <a:t>步映射算法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S2</a:t>
            </a:r>
            <a:r>
              <a:rPr lang="en-US" altLang="zh-CN" dirty="0"/>
              <a:t>: </a:t>
            </a:r>
            <a:r>
              <a:rPr lang="zh-CN" altLang="en-US" dirty="0"/>
              <a:t>处理</a:t>
            </a:r>
            <a:r>
              <a:rPr lang="en-US" altLang="zh-CN" dirty="0"/>
              <a:t>ER</a:t>
            </a:r>
            <a:r>
              <a:rPr lang="zh-CN" altLang="en-US" dirty="0"/>
              <a:t>模型中所有参与</a:t>
            </a:r>
            <a:r>
              <a:rPr lang="en-US" altLang="zh-CN" dirty="0">
                <a:solidFill>
                  <a:schemeClr val="tx2"/>
                </a:solidFill>
              </a:rPr>
              <a:t>1:1</a:t>
            </a:r>
            <a:r>
              <a:rPr lang="zh-CN" altLang="en-US" dirty="0"/>
              <a:t>标识联系的</a:t>
            </a:r>
            <a:r>
              <a:rPr lang="zh-CN" altLang="en-US" dirty="0">
                <a:solidFill>
                  <a:schemeClr val="tx2"/>
                </a:solidFill>
              </a:rPr>
              <a:t>弱实体</a:t>
            </a:r>
            <a:r>
              <a:rPr lang="en-US" altLang="zh-CN" dirty="0">
                <a:solidFill>
                  <a:schemeClr val="tx2"/>
                </a:solidFill>
              </a:rPr>
              <a:t>W</a:t>
            </a:r>
          </a:p>
          <a:p>
            <a:pPr lvl="1">
              <a:spcBef>
                <a:spcPct val="40000"/>
              </a:spcBef>
            </a:pPr>
            <a:r>
              <a:rPr lang="zh-CN" altLang="en-US" dirty="0"/>
              <a:t>找出</a:t>
            </a:r>
            <a:r>
              <a:rPr lang="en-US" altLang="zh-CN" dirty="0"/>
              <a:t>W</a:t>
            </a:r>
            <a:r>
              <a:rPr lang="zh-CN" altLang="en-US" dirty="0"/>
              <a:t>所依赖的</a:t>
            </a:r>
            <a:r>
              <a:rPr lang="zh-CN" altLang="en-US" dirty="0">
                <a:solidFill>
                  <a:srgbClr val="CC0000"/>
                </a:solidFill>
              </a:rPr>
              <a:t>强实体</a:t>
            </a:r>
            <a:r>
              <a:rPr lang="zh-CN" altLang="en-US" dirty="0"/>
              <a:t>对应的</a:t>
            </a:r>
            <a:r>
              <a:rPr lang="zh-CN" altLang="en-US" dirty="0">
                <a:solidFill>
                  <a:srgbClr val="CC0000"/>
                </a:solidFill>
              </a:rPr>
              <a:t>表</a:t>
            </a:r>
            <a:r>
              <a:rPr lang="en-US" altLang="zh-CN" dirty="0">
                <a:solidFill>
                  <a:srgbClr val="CC0000"/>
                </a:solidFill>
              </a:rPr>
              <a:t>T</a:t>
            </a:r>
            <a:r>
              <a:rPr lang="zh-CN" altLang="en-US" dirty="0"/>
              <a:t>。</a:t>
            </a:r>
          </a:p>
          <a:p>
            <a:pPr lvl="1">
              <a:spcBef>
                <a:spcPct val="40000"/>
              </a:spcBef>
            </a:pPr>
            <a:r>
              <a:rPr lang="zh-CN" altLang="en-US" dirty="0"/>
              <a:t>在</a:t>
            </a:r>
            <a:r>
              <a:rPr lang="en-US" altLang="zh-CN" dirty="0">
                <a:solidFill>
                  <a:srgbClr val="CC0000"/>
                </a:solidFill>
              </a:rPr>
              <a:t>T</a:t>
            </a:r>
            <a:r>
              <a:rPr lang="zh-CN" altLang="en-US" dirty="0"/>
              <a:t>表中</a:t>
            </a:r>
            <a:r>
              <a:rPr lang="zh-CN" altLang="en-US" b="1" u="sng" dirty="0">
                <a:solidFill>
                  <a:srgbClr val="CC0000"/>
                </a:solidFill>
              </a:rPr>
              <a:t>加入</a:t>
            </a:r>
            <a:r>
              <a:rPr lang="en-US" altLang="zh-CN" dirty="0"/>
              <a:t>W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C0000"/>
                </a:solidFill>
              </a:rPr>
              <a:t>所有简单属性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CC0000"/>
                </a:solidFill>
              </a:rPr>
              <a:t>复合属性的简单成分</a:t>
            </a:r>
            <a:r>
              <a:rPr lang="zh-CN" altLang="en-US" dirty="0"/>
              <a:t>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3A9D7A-B956-2208-263B-A0FB4F697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7D7CD2-3393-0FD1-D546-319024E95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72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6B9C9-9CB7-4979-8C3C-E1EBA6199361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ER</a:t>
            </a:r>
            <a:r>
              <a:rPr lang="zh-CN" altLang="en-US"/>
              <a:t>模型到关系模型的</a:t>
            </a:r>
            <a:r>
              <a:rPr lang="en-US" altLang="zh-CN"/>
              <a:t>9</a:t>
            </a:r>
            <a:r>
              <a:rPr lang="zh-CN" altLang="en-US"/>
              <a:t>步映射算法</a:t>
            </a: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S3</a:t>
            </a:r>
            <a:r>
              <a:rPr lang="en-US" altLang="zh-CN" sz="2800" dirty="0"/>
              <a:t>:</a:t>
            </a:r>
            <a:r>
              <a:rPr lang="en-US" altLang="zh-CN" sz="2800" dirty="0">
                <a:solidFill>
                  <a:srgbClr val="CC0000"/>
                </a:solidFill>
              </a:rPr>
              <a:t> </a:t>
            </a:r>
            <a:r>
              <a:rPr lang="zh-CN" altLang="en-US" sz="2800" dirty="0"/>
              <a:t>处理</a:t>
            </a:r>
            <a:r>
              <a:rPr lang="en-US" altLang="zh-CN" sz="2800" dirty="0"/>
              <a:t>ER</a:t>
            </a:r>
            <a:r>
              <a:rPr lang="zh-CN" altLang="en-US" sz="2800" dirty="0"/>
              <a:t>模型中所有参与</a:t>
            </a:r>
            <a:r>
              <a:rPr lang="en-US" altLang="zh-CN" sz="2800" dirty="0">
                <a:solidFill>
                  <a:schemeClr val="tx2"/>
                </a:solidFill>
              </a:rPr>
              <a:t>1:N</a:t>
            </a:r>
            <a:r>
              <a:rPr lang="zh-CN" altLang="en-US" sz="2800" dirty="0">
                <a:solidFill>
                  <a:schemeClr val="tx2"/>
                </a:solidFill>
              </a:rPr>
              <a:t>或</a:t>
            </a:r>
            <a:r>
              <a:rPr lang="en-US" altLang="zh-CN" sz="2800" dirty="0">
                <a:solidFill>
                  <a:schemeClr val="tx2"/>
                </a:solidFill>
              </a:rPr>
              <a:t>M:N</a:t>
            </a:r>
            <a:r>
              <a:rPr lang="zh-CN" altLang="en-US" sz="2800" dirty="0"/>
              <a:t>标识联系的</a:t>
            </a:r>
            <a:r>
              <a:rPr lang="zh-CN" altLang="en-US" sz="2800" dirty="0">
                <a:solidFill>
                  <a:schemeClr val="tx2"/>
                </a:solidFill>
              </a:rPr>
              <a:t>弱实体</a:t>
            </a:r>
            <a:r>
              <a:rPr lang="en-US" altLang="zh-CN" sz="2800" dirty="0">
                <a:solidFill>
                  <a:schemeClr val="tx2"/>
                </a:solidFill>
              </a:rPr>
              <a:t>W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为</a:t>
            </a:r>
            <a:r>
              <a:rPr lang="en-US" altLang="zh-CN" sz="2400" dirty="0">
                <a:solidFill>
                  <a:srgbClr val="CC0000"/>
                </a:solidFill>
              </a:rPr>
              <a:t>W</a:t>
            </a:r>
            <a:r>
              <a:rPr lang="zh-CN" altLang="en-US" sz="2400" b="1" u="sng" dirty="0">
                <a:solidFill>
                  <a:srgbClr val="CC0000"/>
                </a:solidFill>
              </a:rPr>
              <a:t>创建</a:t>
            </a:r>
            <a:r>
              <a:rPr lang="zh-CN" altLang="en-US" sz="2400" dirty="0"/>
              <a:t>对应的</a:t>
            </a:r>
            <a:r>
              <a:rPr lang="zh-CN" altLang="en-US" sz="2400" b="1" dirty="0">
                <a:solidFill>
                  <a:srgbClr val="CC0000"/>
                </a:solidFill>
              </a:rPr>
              <a:t>新表</a:t>
            </a:r>
            <a:r>
              <a:rPr lang="en-US" altLang="zh-CN" sz="2400" dirty="0">
                <a:solidFill>
                  <a:srgbClr val="CC0000"/>
                </a:solidFill>
              </a:rPr>
              <a:t>T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solidFill>
                  <a:srgbClr val="CC0000"/>
                </a:solidFill>
              </a:rPr>
              <a:t>确定新表</a:t>
            </a:r>
            <a:r>
              <a:rPr lang="en-US" altLang="zh-CN" sz="2400" dirty="0">
                <a:solidFill>
                  <a:srgbClr val="CC0000"/>
                </a:solidFill>
              </a:rPr>
              <a:t>T</a:t>
            </a:r>
            <a:r>
              <a:rPr lang="zh-CN" altLang="en-US" sz="2400" dirty="0">
                <a:solidFill>
                  <a:srgbClr val="CC0000"/>
                </a:solidFill>
              </a:rPr>
              <a:t>的属性：</a:t>
            </a:r>
          </a:p>
          <a:p>
            <a:pPr lvl="2">
              <a:lnSpc>
                <a:spcPct val="90000"/>
              </a:lnSpc>
            </a:pPr>
            <a:r>
              <a:rPr lang="en-US" altLang="zh-CN" dirty="0"/>
              <a:t>W</a:t>
            </a:r>
            <a:r>
              <a:rPr lang="zh-CN" altLang="en-US" dirty="0"/>
              <a:t>的所有简单属性转换为对应的表</a:t>
            </a:r>
            <a:r>
              <a:rPr lang="en-US" altLang="zh-CN" dirty="0"/>
              <a:t>T</a:t>
            </a:r>
            <a:r>
              <a:rPr lang="zh-CN" altLang="en-US" dirty="0"/>
              <a:t>的属性</a:t>
            </a:r>
          </a:p>
          <a:p>
            <a:pPr lvl="2">
              <a:lnSpc>
                <a:spcPct val="90000"/>
              </a:lnSpc>
            </a:pPr>
            <a:r>
              <a:rPr lang="zh-CN" altLang="en-US" dirty="0"/>
              <a:t>对于</a:t>
            </a:r>
            <a:r>
              <a:rPr lang="en-US" altLang="zh-CN" dirty="0"/>
              <a:t>W</a:t>
            </a:r>
            <a:r>
              <a:rPr lang="zh-CN" altLang="en-US" dirty="0"/>
              <a:t>的复合属性，直接从其简单成分转换</a:t>
            </a:r>
            <a:endParaRPr lang="zh-CN" altLang="en-US" dirty="0">
              <a:solidFill>
                <a:srgbClr val="CC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solidFill>
                  <a:srgbClr val="CC0000"/>
                </a:solidFill>
              </a:rPr>
              <a:t>确定</a:t>
            </a:r>
            <a:r>
              <a:rPr lang="en-US" altLang="zh-CN" sz="2400" dirty="0">
                <a:solidFill>
                  <a:srgbClr val="CC0000"/>
                </a:solidFill>
              </a:rPr>
              <a:t>T</a:t>
            </a:r>
            <a:r>
              <a:rPr lang="zh-CN" altLang="en-US" sz="2400" dirty="0">
                <a:solidFill>
                  <a:srgbClr val="CC0000"/>
                </a:solidFill>
              </a:rPr>
              <a:t>的主码</a:t>
            </a:r>
          </a:p>
          <a:p>
            <a:pPr lvl="2">
              <a:lnSpc>
                <a:spcPct val="90000"/>
              </a:lnSpc>
            </a:pPr>
            <a:r>
              <a:rPr lang="zh-CN" altLang="en-US" dirty="0">
                <a:solidFill>
                  <a:schemeClr val="tx2"/>
                </a:solidFill>
              </a:rPr>
              <a:t>对于</a:t>
            </a:r>
            <a:r>
              <a:rPr lang="en-US" altLang="zh-CN" dirty="0">
                <a:solidFill>
                  <a:schemeClr val="tx2"/>
                </a:solidFill>
              </a:rPr>
              <a:t>1</a:t>
            </a:r>
            <a:r>
              <a:rPr lang="zh-CN" altLang="en-US" dirty="0">
                <a:solidFill>
                  <a:schemeClr val="tx2"/>
                </a:solidFill>
              </a:rPr>
              <a:t>：</a:t>
            </a:r>
            <a:r>
              <a:rPr lang="en-US" altLang="zh-CN" dirty="0">
                <a:solidFill>
                  <a:schemeClr val="tx2"/>
                </a:solidFill>
              </a:rPr>
              <a:t>N</a:t>
            </a:r>
            <a:r>
              <a:rPr lang="zh-CN" altLang="en-US" dirty="0">
                <a:solidFill>
                  <a:schemeClr val="tx2"/>
                </a:solidFill>
              </a:rPr>
              <a:t>联系，</a:t>
            </a:r>
            <a:r>
              <a:rPr lang="en-US" altLang="zh-CN" dirty="0"/>
              <a:t>T</a:t>
            </a:r>
            <a:r>
              <a:rPr lang="zh-CN" altLang="en-US" dirty="0"/>
              <a:t>中</a:t>
            </a:r>
            <a:r>
              <a:rPr lang="zh-CN" altLang="en-US" b="1" dirty="0">
                <a:solidFill>
                  <a:srgbClr val="CC0000"/>
                </a:solidFill>
              </a:rPr>
              <a:t>增加</a:t>
            </a:r>
            <a:r>
              <a:rPr lang="en-US" altLang="zh-CN" dirty="0">
                <a:solidFill>
                  <a:srgbClr val="CC0000"/>
                </a:solidFill>
              </a:rPr>
              <a:t>W</a:t>
            </a:r>
            <a:r>
              <a:rPr lang="zh-CN" altLang="en-US" dirty="0">
                <a:solidFill>
                  <a:schemeClr val="tx2"/>
                </a:solidFill>
              </a:rPr>
              <a:t>所依赖的强实体对应表的主码为</a:t>
            </a:r>
            <a:r>
              <a:rPr lang="zh-CN" altLang="en-US" b="1" dirty="0">
                <a:solidFill>
                  <a:srgbClr val="C00000"/>
                </a:solidFill>
              </a:rPr>
              <a:t>外码</a:t>
            </a:r>
            <a:r>
              <a:rPr lang="zh-CN" altLang="en-US" dirty="0">
                <a:solidFill>
                  <a:srgbClr val="CC0000"/>
                </a:solidFill>
              </a:rPr>
              <a:t>，</a:t>
            </a:r>
            <a:r>
              <a:rPr lang="en-US" altLang="zh-CN" dirty="0">
                <a:solidFill>
                  <a:srgbClr val="CC0000"/>
                </a:solidFill>
              </a:rPr>
              <a:t>T</a:t>
            </a:r>
            <a:r>
              <a:rPr lang="zh-CN" altLang="en-US" dirty="0">
                <a:solidFill>
                  <a:srgbClr val="CC0000"/>
                </a:solidFill>
              </a:rPr>
              <a:t>的主码</a:t>
            </a:r>
            <a:r>
              <a:rPr lang="zh-CN" altLang="en-US" dirty="0"/>
              <a:t>为该</a:t>
            </a:r>
            <a:r>
              <a:rPr lang="zh-CN" altLang="en-US" b="1" dirty="0">
                <a:solidFill>
                  <a:srgbClr val="CC0000"/>
                </a:solidFill>
              </a:rPr>
              <a:t>外码＋</a:t>
            </a:r>
            <a:r>
              <a:rPr lang="en-US" altLang="zh-CN" b="1" dirty="0">
                <a:solidFill>
                  <a:srgbClr val="CC0000"/>
                </a:solidFill>
              </a:rPr>
              <a:t>W</a:t>
            </a:r>
            <a:r>
              <a:rPr lang="zh-CN" altLang="en-US" dirty="0">
                <a:solidFill>
                  <a:srgbClr val="CC0000"/>
                </a:solidFill>
              </a:rPr>
              <a:t>的鉴别器（部分码）。</a:t>
            </a:r>
          </a:p>
          <a:p>
            <a:pPr lvl="2">
              <a:lnSpc>
                <a:spcPct val="90000"/>
              </a:lnSpc>
            </a:pPr>
            <a:r>
              <a:rPr lang="zh-CN" altLang="en-US" dirty="0"/>
              <a:t>如果是</a:t>
            </a:r>
            <a:r>
              <a:rPr lang="en-US" altLang="zh-CN" dirty="0"/>
              <a:t>M</a:t>
            </a:r>
            <a:r>
              <a:rPr lang="zh-CN" altLang="en-US" dirty="0"/>
              <a:t>：</a:t>
            </a:r>
            <a:r>
              <a:rPr lang="en-US" altLang="zh-CN" dirty="0"/>
              <a:t>N</a:t>
            </a:r>
            <a:r>
              <a:rPr lang="zh-CN" altLang="en-US" dirty="0"/>
              <a:t>联系，构建</a:t>
            </a:r>
            <a:r>
              <a:rPr lang="zh-CN" altLang="en-US" b="1" dirty="0">
                <a:solidFill>
                  <a:srgbClr val="FF0000"/>
                </a:solidFill>
              </a:rPr>
              <a:t>新列</a:t>
            </a:r>
            <a:r>
              <a:rPr lang="zh-CN" altLang="en-US" dirty="0"/>
              <a:t>（具有惟一值）为主码。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FECDF6-6E06-8E0B-2910-EC8529A5E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4CA6F5-4415-07EF-B1EC-C52D21B2C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73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AECAA-F7A8-449C-AF7B-F64E7FB94C23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ER</a:t>
            </a:r>
            <a:r>
              <a:rPr lang="zh-CN" altLang="en-US"/>
              <a:t>模型到关系模型的</a:t>
            </a:r>
            <a:r>
              <a:rPr lang="en-US" altLang="zh-CN"/>
              <a:t>9</a:t>
            </a:r>
            <a:r>
              <a:rPr lang="zh-CN" altLang="en-US"/>
              <a:t>步映射算法</a:t>
            </a:r>
          </a:p>
        </p:txBody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C0000"/>
                </a:solidFill>
              </a:rPr>
              <a:t>S4</a:t>
            </a:r>
            <a:r>
              <a:rPr lang="en-US" altLang="zh-CN" dirty="0"/>
              <a:t>: </a:t>
            </a:r>
            <a:r>
              <a:rPr lang="zh-CN" altLang="en-US" dirty="0"/>
              <a:t>处理</a:t>
            </a:r>
            <a:r>
              <a:rPr lang="en-US" altLang="zh-CN" dirty="0"/>
              <a:t>ER</a:t>
            </a:r>
            <a:r>
              <a:rPr lang="zh-CN" altLang="en-US" dirty="0"/>
              <a:t>模型中每一</a:t>
            </a:r>
            <a:r>
              <a:rPr lang="zh-CN" altLang="en-US" dirty="0">
                <a:solidFill>
                  <a:schemeClr val="tx2"/>
                </a:solidFill>
              </a:rPr>
              <a:t>二元</a:t>
            </a:r>
            <a:r>
              <a:rPr lang="en-US" altLang="zh-CN" dirty="0">
                <a:solidFill>
                  <a:schemeClr val="tx2"/>
                </a:solidFill>
              </a:rPr>
              <a:t>1:1</a:t>
            </a:r>
            <a:r>
              <a:rPr lang="zh-CN" altLang="en-US" dirty="0">
                <a:solidFill>
                  <a:schemeClr val="tx2"/>
                </a:solidFill>
              </a:rPr>
              <a:t>联系</a:t>
            </a:r>
            <a:r>
              <a:rPr lang="en-US" altLang="zh-CN" dirty="0"/>
              <a:t>R</a:t>
            </a:r>
          </a:p>
          <a:p>
            <a:pPr lvl="1">
              <a:spcBef>
                <a:spcPct val="40000"/>
              </a:spcBef>
            </a:pPr>
            <a:r>
              <a:rPr lang="zh-CN" altLang="en-US" dirty="0">
                <a:solidFill>
                  <a:schemeClr val="tx2"/>
                </a:solidFill>
              </a:rPr>
              <a:t>确定参与该联系的</a:t>
            </a:r>
            <a:r>
              <a:rPr lang="zh-CN" altLang="en-US" dirty="0">
                <a:solidFill>
                  <a:srgbClr val="CC0000"/>
                </a:solidFill>
              </a:rPr>
              <a:t>实体型转换的表</a:t>
            </a:r>
            <a:r>
              <a:rPr lang="en-US" altLang="zh-CN" dirty="0">
                <a:solidFill>
                  <a:srgbClr val="CC0000"/>
                </a:solidFill>
              </a:rPr>
              <a:t>S</a:t>
            </a:r>
            <a:r>
              <a:rPr lang="zh-CN" altLang="en-US" dirty="0">
                <a:solidFill>
                  <a:srgbClr val="CC0000"/>
                </a:solidFill>
              </a:rPr>
              <a:t>和</a:t>
            </a:r>
            <a:r>
              <a:rPr lang="en-US" altLang="zh-CN" dirty="0">
                <a:solidFill>
                  <a:srgbClr val="CC0000"/>
                </a:solidFill>
              </a:rPr>
              <a:t>T</a:t>
            </a:r>
          </a:p>
          <a:p>
            <a:pPr lvl="1">
              <a:spcBef>
                <a:spcPct val="40000"/>
              </a:spcBef>
            </a:pPr>
            <a:r>
              <a:rPr lang="zh-CN" altLang="en-US" dirty="0">
                <a:solidFill>
                  <a:srgbClr val="CC0000"/>
                </a:solidFill>
              </a:rPr>
              <a:t>选定</a:t>
            </a:r>
            <a:r>
              <a:rPr lang="en-US" altLang="zh-CN" dirty="0">
                <a:solidFill>
                  <a:srgbClr val="CC0000"/>
                </a:solidFill>
              </a:rPr>
              <a:t>S</a:t>
            </a:r>
            <a:r>
              <a:rPr lang="zh-CN" altLang="en-US" dirty="0"/>
              <a:t>（最好是全参与的一方，推广到参与程度高的一方）</a:t>
            </a:r>
          </a:p>
          <a:p>
            <a:pPr lvl="2"/>
            <a:r>
              <a:rPr lang="zh-CN" altLang="en-US" dirty="0"/>
              <a:t>将</a:t>
            </a:r>
            <a:r>
              <a:rPr lang="en-US" altLang="zh-CN" dirty="0">
                <a:solidFill>
                  <a:schemeClr val="tx2"/>
                </a:solidFill>
              </a:rPr>
              <a:t>T</a:t>
            </a:r>
            <a:r>
              <a:rPr lang="zh-CN" altLang="en-US" dirty="0">
                <a:solidFill>
                  <a:schemeClr val="tx2"/>
                </a:solidFill>
              </a:rPr>
              <a:t>的主码</a:t>
            </a:r>
            <a:r>
              <a:rPr lang="zh-CN" altLang="en-US" dirty="0"/>
              <a:t>作为外码加入</a:t>
            </a:r>
            <a:r>
              <a:rPr lang="en-US" altLang="zh-CN" dirty="0"/>
              <a:t>S</a:t>
            </a:r>
          </a:p>
          <a:p>
            <a:pPr lvl="1">
              <a:spcBef>
                <a:spcPct val="40000"/>
              </a:spcBef>
            </a:pPr>
            <a:r>
              <a:rPr lang="zh-CN" altLang="en-US" dirty="0"/>
              <a:t>将联系</a:t>
            </a:r>
            <a:r>
              <a:rPr lang="en-US" altLang="zh-CN" dirty="0"/>
              <a:t>R</a:t>
            </a:r>
            <a:r>
              <a:rPr lang="zh-CN" altLang="en-US" dirty="0"/>
              <a:t>的所有简单属性和复合属性成分</a:t>
            </a:r>
            <a:r>
              <a:rPr lang="zh-CN" altLang="en-US" dirty="0">
                <a:solidFill>
                  <a:srgbClr val="CC0000"/>
                </a:solidFill>
              </a:rPr>
              <a:t>作为列</a:t>
            </a:r>
            <a:r>
              <a:rPr lang="zh-CN" altLang="en-US" b="1" u="sng" dirty="0">
                <a:solidFill>
                  <a:srgbClr val="CC0000"/>
                </a:solidFill>
              </a:rPr>
              <a:t>加入</a:t>
            </a:r>
            <a:r>
              <a:rPr lang="en-US" altLang="zh-CN" dirty="0">
                <a:solidFill>
                  <a:srgbClr val="CC0000"/>
                </a:solidFill>
              </a:rPr>
              <a:t>S</a:t>
            </a:r>
            <a:r>
              <a:rPr lang="zh-CN" altLang="en-US" dirty="0">
                <a:solidFill>
                  <a:srgbClr val="CC0000"/>
                </a:solidFill>
              </a:rPr>
              <a:t>。</a:t>
            </a:r>
          </a:p>
          <a:p>
            <a:pPr>
              <a:buClr>
                <a:schemeClr val="hlink"/>
              </a:buClr>
              <a:buSzPct val="55000"/>
            </a:pPr>
            <a:endParaRPr lang="zh-CN" altLang="en-US" sz="2800" dirty="0">
              <a:solidFill>
                <a:srgbClr val="CC0000"/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E60F9B-F580-6062-967A-C4073C0D4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266AF4-06B7-23BE-29CB-D08672EF4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74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02329-ECBD-4CB8-B708-BD31C6BC9B03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ER</a:t>
            </a:r>
            <a:r>
              <a:rPr lang="zh-CN" altLang="en-US"/>
              <a:t>模型到关系模型的</a:t>
            </a:r>
            <a:r>
              <a:rPr lang="en-US" altLang="zh-CN"/>
              <a:t>9</a:t>
            </a:r>
            <a:r>
              <a:rPr lang="zh-CN" altLang="en-US"/>
              <a:t>步映射算法</a:t>
            </a:r>
          </a:p>
        </p:txBody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534400" cy="4684713"/>
          </a:xfrm>
        </p:spPr>
        <p:txBody>
          <a:bodyPr/>
          <a:lstStyle/>
          <a:p>
            <a:r>
              <a:rPr lang="en-US" altLang="zh-CN" dirty="0">
                <a:solidFill>
                  <a:srgbClr val="CC0000"/>
                </a:solidFill>
              </a:rPr>
              <a:t>S5</a:t>
            </a:r>
            <a:r>
              <a:rPr lang="en-US" altLang="zh-CN" dirty="0"/>
              <a:t>: </a:t>
            </a:r>
            <a:r>
              <a:rPr lang="zh-CN" altLang="en-US" dirty="0"/>
              <a:t>处理</a:t>
            </a:r>
            <a:r>
              <a:rPr lang="en-US" altLang="zh-CN" dirty="0"/>
              <a:t>ER</a:t>
            </a:r>
            <a:r>
              <a:rPr lang="zh-CN" altLang="en-US" dirty="0"/>
              <a:t>模型中每一</a:t>
            </a:r>
            <a:r>
              <a:rPr lang="zh-CN" altLang="en-US" dirty="0">
                <a:solidFill>
                  <a:schemeClr val="tx2"/>
                </a:solidFill>
              </a:rPr>
              <a:t>二元</a:t>
            </a:r>
            <a:r>
              <a:rPr lang="en-US" altLang="zh-CN" dirty="0">
                <a:solidFill>
                  <a:schemeClr val="tx2"/>
                </a:solidFill>
              </a:rPr>
              <a:t>1:N</a:t>
            </a:r>
            <a:r>
              <a:rPr lang="zh-CN" altLang="en-US" dirty="0">
                <a:solidFill>
                  <a:schemeClr val="tx2"/>
                </a:solidFill>
              </a:rPr>
              <a:t>联系</a:t>
            </a:r>
            <a:r>
              <a:rPr lang="en-US" altLang="zh-CN" dirty="0"/>
              <a:t>R</a:t>
            </a:r>
          </a:p>
          <a:p>
            <a:pPr lvl="1">
              <a:spcBef>
                <a:spcPct val="40000"/>
              </a:spcBef>
            </a:pPr>
            <a:r>
              <a:rPr lang="zh-CN" altLang="en-US" dirty="0"/>
              <a:t>确定处于</a:t>
            </a:r>
            <a:r>
              <a:rPr lang="en-US" altLang="zh-CN" b="1" dirty="0">
                <a:solidFill>
                  <a:srgbClr val="CC0000"/>
                </a:solidFill>
              </a:rPr>
              <a:t>N</a:t>
            </a:r>
            <a:r>
              <a:rPr lang="zh-CN" altLang="en-US" b="1" dirty="0">
                <a:solidFill>
                  <a:srgbClr val="CC0000"/>
                </a:solidFill>
              </a:rPr>
              <a:t>端的实体表</a:t>
            </a:r>
            <a:r>
              <a:rPr lang="en-US" altLang="zh-CN" b="1" dirty="0">
                <a:solidFill>
                  <a:srgbClr val="CC0000"/>
                </a:solidFill>
              </a:rPr>
              <a:t>S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CC0000"/>
                </a:solidFill>
              </a:rPr>
              <a:t>1</a:t>
            </a:r>
            <a:r>
              <a:rPr lang="zh-CN" altLang="en-US" dirty="0">
                <a:solidFill>
                  <a:srgbClr val="CC0000"/>
                </a:solidFill>
              </a:rPr>
              <a:t>端的实体表</a:t>
            </a:r>
            <a:r>
              <a:rPr lang="en-US" altLang="zh-CN" dirty="0">
                <a:solidFill>
                  <a:srgbClr val="CC0000"/>
                </a:solidFill>
              </a:rPr>
              <a:t>T</a:t>
            </a:r>
          </a:p>
          <a:p>
            <a:pPr lvl="1">
              <a:spcBef>
                <a:spcPct val="40000"/>
              </a:spcBef>
            </a:pPr>
            <a:r>
              <a:rPr lang="zh-CN" altLang="en-US" dirty="0"/>
              <a:t>将</a:t>
            </a:r>
            <a:r>
              <a:rPr lang="en-US" altLang="zh-CN" dirty="0">
                <a:solidFill>
                  <a:srgbClr val="CC0000"/>
                </a:solidFill>
              </a:rPr>
              <a:t>T</a:t>
            </a:r>
            <a:r>
              <a:rPr lang="zh-CN" altLang="en-US" dirty="0">
                <a:solidFill>
                  <a:schemeClr val="tx2"/>
                </a:solidFill>
              </a:rPr>
              <a:t>的主码作为</a:t>
            </a:r>
            <a:r>
              <a:rPr lang="zh-CN" altLang="en-US" b="1" dirty="0">
                <a:solidFill>
                  <a:srgbClr val="FF0000"/>
                </a:solidFill>
              </a:rPr>
              <a:t>外码</a:t>
            </a:r>
            <a:r>
              <a:rPr lang="zh-CN" altLang="en-US" dirty="0">
                <a:solidFill>
                  <a:srgbClr val="0000FF"/>
                </a:solidFill>
              </a:rPr>
              <a:t>加入</a:t>
            </a:r>
            <a:r>
              <a:rPr lang="en-US" altLang="zh-CN" dirty="0">
                <a:solidFill>
                  <a:srgbClr val="CC0000"/>
                </a:solidFill>
              </a:rPr>
              <a:t>S</a:t>
            </a:r>
          </a:p>
          <a:p>
            <a:pPr lvl="1">
              <a:spcBef>
                <a:spcPct val="40000"/>
              </a:spcBef>
            </a:pPr>
            <a:r>
              <a:rPr lang="zh-CN" altLang="en-US" dirty="0"/>
              <a:t>将</a:t>
            </a:r>
            <a:r>
              <a:rPr lang="en-US" altLang="zh-CN" dirty="0">
                <a:solidFill>
                  <a:srgbClr val="CC0000"/>
                </a:solidFill>
              </a:rPr>
              <a:t>R</a:t>
            </a:r>
            <a:r>
              <a:rPr lang="zh-CN" altLang="en-US" dirty="0"/>
              <a:t>的所有简单属性和复合属性成分作为列</a:t>
            </a:r>
            <a:r>
              <a:rPr lang="zh-CN" altLang="en-US" b="1" u="sng" dirty="0">
                <a:solidFill>
                  <a:srgbClr val="CC0000"/>
                </a:solidFill>
              </a:rPr>
              <a:t>加入</a:t>
            </a:r>
            <a:r>
              <a:rPr lang="en-US" altLang="zh-CN" dirty="0">
                <a:solidFill>
                  <a:srgbClr val="CC0000"/>
                </a:solidFill>
              </a:rPr>
              <a:t>S</a:t>
            </a:r>
          </a:p>
          <a:p>
            <a:endParaRPr lang="zh-CN" altLang="en-US" dirty="0">
              <a:solidFill>
                <a:srgbClr val="CC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311" y="3933056"/>
            <a:ext cx="2088232" cy="2434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06269F9-8C46-F002-46D4-7F8AC4717F4E}"/>
              </a:ext>
            </a:extLst>
          </p:cNvPr>
          <p:cNvSpPr txBox="1"/>
          <p:nvPr/>
        </p:nvSpPr>
        <p:spPr>
          <a:xfrm>
            <a:off x="505131" y="4151612"/>
            <a:ext cx="3720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例如：</a:t>
            </a:r>
            <a:r>
              <a:rPr lang="en-US" altLang="zh-CN" dirty="0"/>
              <a:t>instructor</a:t>
            </a:r>
            <a:r>
              <a:rPr lang="zh-CN" altLang="en-US" dirty="0"/>
              <a:t>、</a:t>
            </a:r>
            <a:r>
              <a:rPr lang="en-US" altLang="zh-CN" dirty="0"/>
              <a:t>student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17476E2-EC5C-DE92-7CBD-9A075642F583}"/>
              </a:ext>
            </a:extLst>
          </p:cNvPr>
          <p:cNvSpPr/>
          <p:nvPr/>
        </p:nvSpPr>
        <p:spPr>
          <a:xfrm>
            <a:off x="609600" y="4724402"/>
            <a:ext cx="4078721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/>
              <a:t>department(</a:t>
            </a:r>
            <a:r>
              <a:rPr lang="zh-CN" altLang="en-US" sz="2000" u="sng" dirty="0">
                <a:solidFill>
                  <a:srgbClr val="FF0000"/>
                </a:solidFill>
              </a:rPr>
              <a:t>dept</a:t>
            </a:r>
            <a:r>
              <a:rPr lang="en-US" altLang="zh-CN" sz="2000" u="sng" dirty="0">
                <a:solidFill>
                  <a:srgbClr val="FF0000"/>
                </a:solidFill>
              </a:rPr>
              <a:t>_</a:t>
            </a:r>
            <a:r>
              <a:rPr lang="zh-CN" altLang="en-US" sz="2000" u="sng" dirty="0">
                <a:solidFill>
                  <a:srgbClr val="FF0000"/>
                </a:solidFill>
              </a:rPr>
              <a:t>name</a:t>
            </a:r>
            <a:r>
              <a:rPr lang="zh-CN" altLang="en-US" sz="2000" dirty="0"/>
              <a:t>, building, budget)</a:t>
            </a:r>
            <a:r>
              <a:rPr lang="en-US" altLang="zh-CN" sz="2000" dirty="0"/>
              <a:t>;</a:t>
            </a:r>
          </a:p>
          <a:p>
            <a:pPr algn="l"/>
            <a:r>
              <a:rPr lang="zh-CN" altLang="en-US" sz="2000" dirty="0"/>
              <a:t>instructor(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name, </a:t>
            </a:r>
            <a:r>
              <a:rPr lang="zh-CN" altLang="en-US" sz="2000" dirty="0">
                <a:solidFill>
                  <a:srgbClr val="0000FF"/>
                </a:solidFill>
              </a:rPr>
              <a:t>dept</a:t>
            </a:r>
            <a:r>
              <a:rPr lang="en-US" altLang="zh-CN" sz="2000" dirty="0">
                <a:solidFill>
                  <a:srgbClr val="0000FF"/>
                </a:solidFill>
              </a:rPr>
              <a:t>_</a:t>
            </a:r>
            <a:r>
              <a:rPr lang="zh-CN" altLang="en-US" sz="2000" dirty="0">
                <a:solidFill>
                  <a:srgbClr val="0000FF"/>
                </a:solidFill>
              </a:rPr>
              <a:t>name</a:t>
            </a:r>
            <a:r>
              <a:rPr lang="zh-CN" altLang="en-US" sz="2000" dirty="0"/>
              <a:t>, salary)</a:t>
            </a:r>
            <a:r>
              <a:rPr lang="en-US" altLang="zh-CN" sz="2000" dirty="0"/>
              <a:t>;</a:t>
            </a:r>
          </a:p>
          <a:p>
            <a:pPr algn="l"/>
            <a:r>
              <a:rPr lang="zh-CN" altLang="en-US" sz="2000" dirty="0"/>
              <a:t>student(</a:t>
            </a:r>
            <a:r>
              <a:rPr lang="zh-CN" altLang="en-US" sz="2000" u="sng" dirty="0"/>
              <a:t>ID</a:t>
            </a:r>
            <a:r>
              <a:rPr lang="zh-CN" altLang="en-US" sz="2000" dirty="0"/>
              <a:t>, name, </a:t>
            </a:r>
            <a:r>
              <a:rPr lang="zh-CN" altLang="en-US" sz="2000" dirty="0">
                <a:solidFill>
                  <a:srgbClr val="0000FF"/>
                </a:solidFill>
              </a:rPr>
              <a:t>dept</a:t>
            </a:r>
            <a:r>
              <a:rPr lang="en-US" altLang="zh-CN" sz="2000" dirty="0">
                <a:solidFill>
                  <a:srgbClr val="0000FF"/>
                </a:solidFill>
              </a:rPr>
              <a:t>_</a:t>
            </a:r>
            <a:r>
              <a:rPr lang="zh-CN" altLang="en-US" sz="2000" dirty="0">
                <a:solidFill>
                  <a:srgbClr val="0000FF"/>
                </a:solidFill>
              </a:rPr>
              <a:t>name</a:t>
            </a:r>
            <a:r>
              <a:rPr lang="zh-CN" altLang="en-US" sz="2000" dirty="0"/>
              <a:t>, tot</a:t>
            </a:r>
            <a:r>
              <a:rPr lang="en-US" altLang="zh-CN" sz="2000" dirty="0"/>
              <a:t>_</a:t>
            </a:r>
            <a:r>
              <a:rPr lang="zh-CN" altLang="en-US" sz="2000" dirty="0"/>
              <a:t>cred)</a:t>
            </a:r>
            <a:r>
              <a:rPr lang="en-US" altLang="zh-CN" sz="2000" dirty="0"/>
              <a:t>;</a:t>
            </a:r>
            <a:endParaRPr lang="zh-CN" altLang="en-US" sz="2000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4A4D9810-BB30-8B4F-28A6-1C47B713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AD595A3-6C0E-8852-DDC1-829646B7D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75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123A-289A-44D2-8831-55D2E3D15E91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ER</a:t>
            </a:r>
            <a:r>
              <a:rPr lang="zh-CN" altLang="en-US"/>
              <a:t>模型到关系模型的</a:t>
            </a:r>
            <a:r>
              <a:rPr lang="en-US" altLang="zh-CN"/>
              <a:t>9</a:t>
            </a:r>
            <a:r>
              <a:rPr lang="zh-CN" altLang="en-US"/>
              <a:t>步映射算法</a:t>
            </a:r>
          </a:p>
        </p:txBody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C0000"/>
                </a:solidFill>
              </a:rPr>
              <a:t>S6</a:t>
            </a:r>
            <a:r>
              <a:rPr lang="en-US" altLang="zh-CN" dirty="0"/>
              <a:t>: </a:t>
            </a:r>
            <a:r>
              <a:rPr lang="zh-CN" altLang="en-US" dirty="0"/>
              <a:t>处理</a:t>
            </a:r>
            <a:r>
              <a:rPr lang="en-US" altLang="zh-CN" dirty="0"/>
              <a:t>ER</a:t>
            </a:r>
            <a:r>
              <a:rPr lang="zh-CN" altLang="en-US" dirty="0"/>
              <a:t>模型中的每一</a:t>
            </a:r>
            <a:r>
              <a:rPr lang="zh-CN" altLang="en-US" dirty="0">
                <a:solidFill>
                  <a:srgbClr val="0000FF"/>
                </a:solidFill>
              </a:rPr>
              <a:t>多元联系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二元（</a:t>
            </a:r>
            <a:r>
              <a:rPr lang="en-US" altLang="zh-CN" dirty="0">
                <a:solidFill>
                  <a:srgbClr val="0000FF"/>
                </a:solidFill>
              </a:rPr>
              <a:t>M:N</a:t>
            </a:r>
            <a:r>
              <a:rPr lang="zh-CN" altLang="en-US" dirty="0">
                <a:solidFill>
                  <a:srgbClr val="0000FF"/>
                </a:solidFill>
              </a:rPr>
              <a:t>联系）</a:t>
            </a:r>
            <a:r>
              <a:rPr lang="en-US" altLang="zh-CN" dirty="0"/>
              <a:t>R</a:t>
            </a:r>
          </a:p>
          <a:p>
            <a:pPr lvl="1"/>
            <a:r>
              <a:rPr lang="zh-CN" altLang="en-US" dirty="0">
                <a:solidFill>
                  <a:srgbClr val="CC0000"/>
                </a:solidFill>
              </a:rPr>
              <a:t>为</a:t>
            </a:r>
            <a:r>
              <a:rPr lang="en-US" altLang="zh-CN" dirty="0">
                <a:solidFill>
                  <a:srgbClr val="CC0000"/>
                </a:solidFill>
              </a:rPr>
              <a:t>R</a:t>
            </a:r>
            <a:r>
              <a:rPr lang="zh-CN" altLang="en-US" b="1" u="sng" dirty="0">
                <a:solidFill>
                  <a:srgbClr val="CC0000"/>
                </a:solidFill>
              </a:rPr>
              <a:t>创建</a:t>
            </a:r>
            <a:r>
              <a:rPr lang="zh-CN" altLang="en-US" dirty="0"/>
              <a:t>对应的</a:t>
            </a:r>
            <a:r>
              <a:rPr lang="zh-CN" altLang="en-US" b="1" dirty="0">
                <a:solidFill>
                  <a:srgbClr val="CC0000"/>
                </a:solidFill>
              </a:rPr>
              <a:t>新表</a:t>
            </a:r>
            <a:r>
              <a:rPr lang="en-US" altLang="zh-CN" b="1" dirty="0">
                <a:solidFill>
                  <a:srgbClr val="CC0000"/>
                </a:solidFill>
              </a:rPr>
              <a:t>T</a:t>
            </a:r>
          </a:p>
          <a:p>
            <a:pPr lvl="1"/>
            <a:r>
              <a:rPr lang="zh-CN" altLang="en-US" dirty="0">
                <a:solidFill>
                  <a:srgbClr val="CC0000"/>
                </a:solidFill>
              </a:rPr>
              <a:t>将</a:t>
            </a:r>
            <a:r>
              <a:rPr lang="en-US" altLang="zh-CN" dirty="0">
                <a:solidFill>
                  <a:srgbClr val="CC0000"/>
                </a:solidFill>
              </a:rPr>
              <a:t>R</a:t>
            </a:r>
            <a:r>
              <a:rPr lang="zh-CN" altLang="en-US" dirty="0"/>
              <a:t>的所有简单属性和复合属性成分作为列</a:t>
            </a:r>
            <a:r>
              <a:rPr lang="zh-CN" altLang="en-US" dirty="0">
                <a:solidFill>
                  <a:srgbClr val="CC0000"/>
                </a:solidFill>
              </a:rPr>
              <a:t>加入</a:t>
            </a:r>
            <a:r>
              <a:rPr lang="en-US" altLang="zh-CN" dirty="0">
                <a:solidFill>
                  <a:srgbClr val="CC0000"/>
                </a:solidFill>
              </a:rPr>
              <a:t>T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C0000"/>
                </a:solidFill>
              </a:rPr>
              <a:t>将</a:t>
            </a:r>
            <a:r>
              <a:rPr lang="zh-CN" altLang="en-US" dirty="0"/>
              <a:t>参与联系的（强、弱）实体型的</a:t>
            </a:r>
            <a:r>
              <a:rPr lang="zh-CN" altLang="en-US" b="1" dirty="0">
                <a:solidFill>
                  <a:srgbClr val="0000FF"/>
                </a:solidFill>
              </a:rPr>
              <a:t>主码</a:t>
            </a:r>
            <a:r>
              <a:rPr lang="zh-CN" altLang="en-US" b="1" dirty="0">
                <a:solidFill>
                  <a:schemeClr val="tx2"/>
                </a:solidFill>
              </a:rPr>
              <a:t>作为</a:t>
            </a:r>
            <a:r>
              <a:rPr lang="zh-CN" altLang="en-US" b="1" dirty="0">
                <a:solidFill>
                  <a:srgbClr val="FF0000"/>
                </a:solidFill>
              </a:rPr>
              <a:t>外码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</a:rPr>
              <a:t>加入</a:t>
            </a:r>
            <a:r>
              <a:rPr lang="en-US" altLang="zh-CN" dirty="0">
                <a:solidFill>
                  <a:srgbClr val="CC0000"/>
                </a:solidFill>
              </a:rPr>
              <a:t>T</a:t>
            </a:r>
          </a:p>
          <a:p>
            <a:pPr lvl="1"/>
            <a:r>
              <a:rPr lang="zh-CN" altLang="en-US" dirty="0">
                <a:solidFill>
                  <a:srgbClr val="CC0000"/>
                </a:solidFill>
              </a:rPr>
              <a:t>将</a:t>
            </a:r>
            <a:r>
              <a:rPr lang="zh-CN" altLang="en-US" dirty="0"/>
              <a:t>（上步得到的）</a:t>
            </a:r>
            <a:r>
              <a:rPr lang="zh-CN" altLang="en-US" b="1" dirty="0">
                <a:solidFill>
                  <a:srgbClr val="CC0000"/>
                </a:solidFill>
              </a:rPr>
              <a:t>所有</a:t>
            </a:r>
            <a:r>
              <a:rPr lang="zh-CN" altLang="en-US" b="1" u="sng" dirty="0">
                <a:solidFill>
                  <a:schemeClr val="tx2"/>
                </a:solidFill>
              </a:rPr>
              <a:t>外码组合</a:t>
            </a:r>
            <a:r>
              <a:rPr lang="zh-CN" altLang="en-US" dirty="0">
                <a:solidFill>
                  <a:srgbClr val="CC0000"/>
                </a:solidFill>
              </a:rPr>
              <a:t>，共同构成</a:t>
            </a:r>
            <a:r>
              <a:rPr lang="en-US" altLang="zh-CN" dirty="0">
                <a:solidFill>
                  <a:srgbClr val="CC0000"/>
                </a:solidFill>
              </a:rPr>
              <a:t>T</a:t>
            </a:r>
            <a:r>
              <a:rPr lang="zh-CN" altLang="en-US" dirty="0">
                <a:solidFill>
                  <a:srgbClr val="CC0000"/>
                </a:solidFill>
              </a:rPr>
              <a:t>的</a:t>
            </a:r>
            <a:r>
              <a:rPr lang="zh-CN" altLang="en-US" b="1" u="sng" dirty="0">
                <a:solidFill>
                  <a:srgbClr val="0000FF"/>
                </a:solidFill>
              </a:rPr>
              <a:t>主码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712B8F-E2EC-0E2A-9C6B-CBFF74428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2A2DCD-C513-53EB-013F-F0991EFBF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76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0834A-91AD-4672-97A8-6D2F8BD5E773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ER</a:t>
            </a:r>
            <a:r>
              <a:rPr lang="zh-CN" altLang="en-US" dirty="0"/>
              <a:t>模型到关系模型的</a:t>
            </a:r>
            <a:r>
              <a:rPr lang="en-US" altLang="zh-CN" dirty="0"/>
              <a:t>9</a:t>
            </a:r>
            <a:r>
              <a:rPr lang="zh-CN" altLang="en-US" dirty="0"/>
              <a:t>步映射算法</a:t>
            </a:r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S7</a:t>
            </a:r>
            <a:r>
              <a:rPr lang="en-US" altLang="zh-CN" dirty="0"/>
              <a:t>: </a:t>
            </a:r>
            <a:r>
              <a:rPr lang="zh-CN" altLang="en-US" dirty="0"/>
              <a:t>处理</a:t>
            </a:r>
            <a:r>
              <a:rPr lang="en-US" altLang="zh-CN" dirty="0"/>
              <a:t>ER</a:t>
            </a:r>
            <a:r>
              <a:rPr lang="zh-CN" altLang="en-US" dirty="0"/>
              <a:t>模型中的每一</a:t>
            </a:r>
            <a:r>
              <a:rPr lang="zh-CN" altLang="en-US" dirty="0">
                <a:solidFill>
                  <a:schemeClr val="tx2"/>
                </a:solidFill>
              </a:rPr>
              <a:t>多值属性</a:t>
            </a:r>
            <a:r>
              <a:rPr lang="en-US" altLang="zh-CN" dirty="0"/>
              <a:t>A</a:t>
            </a:r>
          </a:p>
          <a:p>
            <a:pPr lvl="1">
              <a:spcBef>
                <a:spcPct val="40000"/>
              </a:spcBef>
            </a:pP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b="1" u="sng" dirty="0">
                <a:solidFill>
                  <a:srgbClr val="C00000"/>
                </a:solidFill>
              </a:rPr>
              <a:t>创建</a:t>
            </a:r>
            <a:r>
              <a:rPr lang="zh-CN" altLang="en-US" dirty="0"/>
              <a:t>对应的新表</a:t>
            </a:r>
            <a:r>
              <a:rPr lang="en-US" altLang="zh-CN" dirty="0"/>
              <a:t>T</a:t>
            </a:r>
          </a:p>
          <a:p>
            <a:pPr lvl="1">
              <a:spcBef>
                <a:spcPct val="40000"/>
              </a:spcBef>
            </a:pPr>
            <a:r>
              <a:rPr lang="zh-CN" altLang="en-US" dirty="0">
                <a:solidFill>
                  <a:srgbClr val="CC0000"/>
                </a:solidFill>
              </a:rPr>
              <a:t>将</a:t>
            </a:r>
            <a:r>
              <a:rPr lang="en-US" altLang="zh-CN" dirty="0">
                <a:solidFill>
                  <a:srgbClr val="CC0000"/>
                </a:solidFill>
              </a:rPr>
              <a:t>A</a:t>
            </a:r>
            <a:r>
              <a:rPr lang="zh-CN" altLang="en-US" dirty="0"/>
              <a:t>的所有简单属性和复合属性成分作为列</a:t>
            </a:r>
            <a:r>
              <a:rPr lang="zh-CN" altLang="en-US" dirty="0">
                <a:solidFill>
                  <a:srgbClr val="CC0000"/>
                </a:solidFill>
              </a:rPr>
              <a:t>加入</a:t>
            </a:r>
            <a:r>
              <a:rPr lang="en-US" altLang="zh-CN" dirty="0">
                <a:solidFill>
                  <a:srgbClr val="CC0000"/>
                </a:solidFill>
              </a:rPr>
              <a:t>T</a:t>
            </a:r>
            <a:endParaRPr lang="en-US" altLang="zh-CN" dirty="0"/>
          </a:p>
          <a:p>
            <a:pPr lvl="1">
              <a:spcBef>
                <a:spcPct val="40000"/>
              </a:spcBef>
            </a:pPr>
            <a:r>
              <a:rPr lang="zh-CN" altLang="en-US" dirty="0">
                <a:solidFill>
                  <a:srgbClr val="CC0000"/>
                </a:solidFill>
              </a:rPr>
              <a:t>将</a:t>
            </a:r>
            <a:r>
              <a:rPr lang="en-US" altLang="zh-CN" dirty="0">
                <a:solidFill>
                  <a:srgbClr val="CC0000"/>
                </a:solidFill>
              </a:rPr>
              <a:t>A</a:t>
            </a:r>
            <a:r>
              <a:rPr lang="zh-CN" altLang="en-US" dirty="0"/>
              <a:t>所属的实体或联系转换得到的表的</a:t>
            </a:r>
            <a:r>
              <a:rPr lang="zh-CN" altLang="en-US" b="1" dirty="0">
                <a:solidFill>
                  <a:schemeClr val="tx2"/>
                </a:solidFill>
              </a:rPr>
              <a:t>主码</a:t>
            </a:r>
            <a:r>
              <a:rPr lang="zh-CN" altLang="en-US" b="1" dirty="0">
                <a:solidFill>
                  <a:srgbClr val="CC0000"/>
                </a:solidFill>
              </a:rPr>
              <a:t>作为</a:t>
            </a:r>
            <a:r>
              <a:rPr lang="zh-CN" altLang="en-US" b="1" dirty="0">
                <a:solidFill>
                  <a:srgbClr val="C00000"/>
                </a:solidFill>
              </a:rPr>
              <a:t>外码</a:t>
            </a:r>
            <a:r>
              <a:rPr lang="zh-CN" altLang="en-US" dirty="0">
                <a:solidFill>
                  <a:srgbClr val="CC0000"/>
                </a:solidFill>
              </a:rPr>
              <a:t>加入</a:t>
            </a:r>
            <a:r>
              <a:rPr lang="en-US" altLang="zh-CN" dirty="0">
                <a:solidFill>
                  <a:srgbClr val="CC0000"/>
                </a:solidFill>
              </a:rPr>
              <a:t>T</a:t>
            </a:r>
          </a:p>
          <a:p>
            <a:pPr lvl="1">
              <a:spcBef>
                <a:spcPct val="40000"/>
              </a:spcBef>
            </a:pPr>
            <a:r>
              <a:rPr lang="zh-CN" altLang="en-US" dirty="0">
                <a:solidFill>
                  <a:srgbClr val="CC0000"/>
                </a:solidFill>
              </a:rPr>
              <a:t>将</a:t>
            </a:r>
            <a:r>
              <a:rPr lang="zh-CN" altLang="en-US" dirty="0"/>
              <a:t>（上步得到的）</a:t>
            </a:r>
            <a:r>
              <a:rPr lang="zh-CN" altLang="en-US" b="1" u="sng" dirty="0">
                <a:solidFill>
                  <a:schemeClr val="tx2"/>
                </a:solidFill>
              </a:rPr>
              <a:t>外码和</a:t>
            </a:r>
            <a:r>
              <a:rPr lang="en-US" altLang="zh-CN" b="1" u="sng" dirty="0">
                <a:solidFill>
                  <a:schemeClr val="tx2"/>
                </a:solidFill>
              </a:rPr>
              <a:t>A</a:t>
            </a:r>
            <a:r>
              <a:rPr lang="zh-CN" altLang="en-US" b="1" u="sng" dirty="0">
                <a:solidFill>
                  <a:schemeClr val="tx2"/>
                </a:solidFill>
              </a:rPr>
              <a:t>对应的全部属性</a:t>
            </a:r>
            <a:r>
              <a:rPr lang="zh-CN" altLang="en-US" dirty="0">
                <a:solidFill>
                  <a:srgbClr val="CC0000"/>
                </a:solidFill>
              </a:rPr>
              <a:t>确定为</a:t>
            </a:r>
            <a:r>
              <a:rPr lang="en-US" altLang="zh-CN" dirty="0">
                <a:solidFill>
                  <a:srgbClr val="CC0000"/>
                </a:solidFill>
              </a:rPr>
              <a:t>T</a:t>
            </a:r>
            <a:r>
              <a:rPr lang="zh-CN" altLang="en-US" dirty="0">
                <a:solidFill>
                  <a:srgbClr val="CC0000"/>
                </a:solidFill>
              </a:rPr>
              <a:t>的</a:t>
            </a:r>
            <a:r>
              <a:rPr lang="zh-CN" altLang="en-US" b="1" dirty="0">
                <a:solidFill>
                  <a:schemeClr val="tx2"/>
                </a:solidFill>
              </a:rPr>
              <a:t>主码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412DB6-EA3E-24DC-7C45-0B7FF0C13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0EF653-6D48-2AA2-846A-ED679FB04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77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CEFAB-2F63-4067-B186-EF2B79865F19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ER</a:t>
            </a:r>
            <a:r>
              <a:rPr lang="zh-CN" altLang="en-US"/>
              <a:t>模型到关系模型的</a:t>
            </a:r>
            <a:r>
              <a:rPr lang="en-US" altLang="zh-CN"/>
              <a:t>9</a:t>
            </a:r>
            <a:r>
              <a:rPr lang="zh-CN" altLang="en-US"/>
              <a:t>步映射算法</a:t>
            </a:r>
          </a:p>
        </p:txBody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534400" cy="4684713"/>
          </a:xfrm>
        </p:spPr>
        <p:txBody>
          <a:bodyPr/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S8</a:t>
            </a:r>
            <a:r>
              <a:rPr lang="en-US" altLang="zh-CN" dirty="0"/>
              <a:t>: </a:t>
            </a:r>
            <a:r>
              <a:rPr lang="zh-CN" altLang="en-US" dirty="0"/>
              <a:t>处理</a:t>
            </a:r>
            <a:r>
              <a:rPr lang="en-US" altLang="zh-CN" dirty="0"/>
              <a:t>ER</a:t>
            </a:r>
            <a:r>
              <a:rPr lang="zh-CN" altLang="en-US" dirty="0"/>
              <a:t>模型中每一</a:t>
            </a:r>
            <a:r>
              <a:rPr lang="zh-CN" altLang="en-US" dirty="0">
                <a:solidFill>
                  <a:schemeClr val="tx2"/>
                </a:solidFill>
              </a:rPr>
              <a:t>非相交子类</a:t>
            </a:r>
            <a:r>
              <a:rPr lang="zh-CN" altLang="en-US" dirty="0"/>
              <a:t>的特化</a:t>
            </a:r>
            <a:r>
              <a:rPr lang="zh-CN" altLang="en-US" sz="1600" dirty="0"/>
              <a:t>（了解）</a:t>
            </a:r>
          </a:p>
          <a:p>
            <a:pPr lvl="1">
              <a:spcBef>
                <a:spcPct val="40000"/>
              </a:spcBef>
            </a:pPr>
            <a:r>
              <a:rPr lang="zh-CN" altLang="en-US" dirty="0"/>
              <a:t>为子类</a:t>
            </a:r>
            <a:r>
              <a:rPr lang="en-US" altLang="zh-CN" dirty="0"/>
              <a:t>S</a:t>
            </a:r>
            <a:r>
              <a:rPr lang="en-US" altLang="zh-CN" baseline="-25000" dirty="0"/>
              <a:t>i</a:t>
            </a:r>
            <a:r>
              <a:rPr lang="zh-CN" altLang="en-US" dirty="0"/>
              <a:t>创建对应的新表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i</a:t>
            </a:r>
            <a:endParaRPr lang="en-US" altLang="zh-CN" baseline="-25000" dirty="0"/>
          </a:p>
          <a:p>
            <a:pPr lvl="1">
              <a:spcBef>
                <a:spcPct val="40000"/>
              </a:spcBef>
            </a:pPr>
            <a:r>
              <a:rPr lang="en-US" altLang="zh-CN" dirty="0"/>
              <a:t>S</a:t>
            </a:r>
            <a:r>
              <a:rPr lang="en-US" altLang="zh-CN" baseline="-25000" dirty="0"/>
              <a:t>i</a:t>
            </a:r>
            <a:r>
              <a:rPr lang="zh-CN" altLang="en-US" dirty="0"/>
              <a:t>的超类的简单属性和复合属性的简单成分作为列加入表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i</a:t>
            </a:r>
            <a:r>
              <a:rPr lang="en-US" altLang="zh-CN" baseline="-25000" dirty="0"/>
              <a:t> </a:t>
            </a:r>
          </a:p>
          <a:p>
            <a:pPr lvl="1">
              <a:spcBef>
                <a:spcPct val="40000"/>
              </a:spcBef>
            </a:pPr>
            <a:r>
              <a:rPr lang="en-US" altLang="zh-CN" dirty="0"/>
              <a:t>S</a:t>
            </a:r>
            <a:r>
              <a:rPr lang="en-US" altLang="zh-CN" baseline="-25000" dirty="0"/>
              <a:t>i</a:t>
            </a:r>
            <a:r>
              <a:rPr lang="zh-CN" altLang="en-US" dirty="0"/>
              <a:t>自己的简单属性和复合属性的简单成分作为列加入表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i</a:t>
            </a:r>
            <a:endParaRPr lang="en-US" altLang="zh-CN" baseline="-25000" dirty="0"/>
          </a:p>
          <a:p>
            <a:pPr lvl="1">
              <a:spcBef>
                <a:spcPct val="40000"/>
              </a:spcBef>
            </a:pPr>
            <a:r>
              <a:rPr lang="zh-CN" altLang="en-US" dirty="0"/>
              <a:t>确定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i</a:t>
            </a:r>
            <a:r>
              <a:rPr lang="zh-CN" altLang="en-US" dirty="0"/>
              <a:t>的主码</a:t>
            </a:r>
          </a:p>
          <a:p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A9F18C-A4C4-A6B3-488E-63E368D46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CC571B-E8C1-2F58-1707-9B134862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78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9E10-AF83-4A02-A6AD-E97D0F1BCD1F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74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ER</a:t>
            </a:r>
            <a:r>
              <a:rPr lang="zh-CN" altLang="en-US"/>
              <a:t>模型到关系模型的</a:t>
            </a:r>
            <a:r>
              <a:rPr lang="en-US" altLang="zh-CN"/>
              <a:t>9</a:t>
            </a:r>
            <a:r>
              <a:rPr lang="zh-CN" altLang="en-US"/>
              <a:t>步映射算法</a:t>
            </a:r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S9</a:t>
            </a:r>
            <a:r>
              <a:rPr lang="en-US" altLang="zh-CN" dirty="0"/>
              <a:t>:</a:t>
            </a:r>
            <a:r>
              <a:rPr lang="en-US" altLang="zh-CN" dirty="0">
                <a:solidFill>
                  <a:srgbClr val="CC0000"/>
                </a:solidFill>
              </a:rPr>
              <a:t> </a:t>
            </a:r>
            <a:r>
              <a:rPr lang="zh-CN" altLang="en-US" dirty="0"/>
              <a:t>处理</a:t>
            </a:r>
            <a:r>
              <a:rPr lang="en-US" altLang="zh-CN" dirty="0"/>
              <a:t>ER</a:t>
            </a:r>
            <a:r>
              <a:rPr lang="zh-CN" altLang="en-US" dirty="0"/>
              <a:t>模型中每一</a:t>
            </a:r>
            <a:r>
              <a:rPr lang="zh-CN" altLang="en-US" dirty="0">
                <a:solidFill>
                  <a:schemeClr val="tx2"/>
                </a:solidFill>
              </a:rPr>
              <a:t>相交子类</a:t>
            </a:r>
            <a:r>
              <a:rPr lang="zh-CN" altLang="en-US" dirty="0"/>
              <a:t>的特化</a:t>
            </a:r>
            <a:r>
              <a:rPr lang="zh-CN" altLang="en-US" sz="2400" dirty="0"/>
              <a:t>（了解）</a:t>
            </a:r>
            <a:endParaRPr lang="zh-CN" altLang="en-US" dirty="0"/>
          </a:p>
          <a:p>
            <a:pPr lvl="1"/>
            <a:r>
              <a:rPr lang="zh-CN" altLang="en-US" dirty="0"/>
              <a:t>为超类对应表</a:t>
            </a:r>
            <a:r>
              <a:rPr lang="en-US" altLang="zh-CN" dirty="0"/>
              <a:t>T</a:t>
            </a:r>
          </a:p>
          <a:p>
            <a:pPr lvl="1"/>
            <a:r>
              <a:rPr lang="zh-CN" altLang="en-US" dirty="0"/>
              <a:t>超类的简单属性和复合属性简单成分加入</a:t>
            </a:r>
            <a:r>
              <a:rPr lang="en-US" altLang="zh-CN" dirty="0"/>
              <a:t>T</a:t>
            </a:r>
          </a:p>
          <a:p>
            <a:pPr lvl="1"/>
            <a:r>
              <a:rPr lang="zh-CN" altLang="en-US" dirty="0"/>
              <a:t>确定</a:t>
            </a:r>
            <a:r>
              <a:rPr lang="en-US" altLang="zh-CN" dirty="0"/>
              <a:t>T</a:t>
            </a:r>
            <a:r>
              <a:rPr lang="zh-CN" altLang="en-US" dirty="0"/>
              <a:t>的主（备选）码</a:t>
            </a:r>
          </a:p>
          <a:p>
            <a:pPr lvl="1"/>
            <a:r>
              <a:rPr lang="zh-CN" altLang="en-US" dirty="0"/>
              <a:t>为子类</a:t>
            </a:r>
            <a:r>
              <a:rPr lang="en-US" altLang="zh-CN" dirty="0"/>
              <a:t>S</a:t>
            </a:r>
            <a:r>
              <a:rPr lang="en-US" altLang="zh-CN" baseline="-25000" dirty="0"/>
              <a:t>i</a:t>
            </a:r>
            <a:r>
              <a:rPr lang="zh-CN" altLang="en-US" dirty="0"/>
              <a:t>创建对应的新表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i</a:t>
            </a:r>
            <a:r>
              <a:rPr lang="en-US" altLang="zh-CN" baseline="-25000" dirty="0"/>
              <a:t> </a:t>
            </a:r>
          </a:p>
          <a:p>
            <a:pPr lvl="1"/>
            <a:r>
              <a:rPr lang="en-US" altLang="zh-CN" dirty="0"/>
              <a:t>S</a:t>
            </a:r>
            <a:r>
              <a:rPr lang="en-US" altLang="zh-CN" baseline="-25000" dirty="0"/>
              <a:t>i</a:t>
            </a:r>
            <a:r>
              <a:rPr lang="zh-CN" altLang="en-US" dirty="0"/>
              <a:t>的简单属性和复合属性简单成分加入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i</a:t>
            </a:r>
            <a:endParaRPr lang="en-US" altLang="zh-CN" dirty="0"/>
          </a:p>
          <a:p>
            <a:pPr lvl="1"/>
            <a:r>
              <a:rPr lang="zh-CN" altLang="en-US" dirty="0"/>
              <a:t>表</a:t>
            </a:r>
            <a:r>
              <a:rPr lang="en-US" altLang="zh-CN" dirty="0"/>
              <a:t>T</a:t>
            </a:r>
            <a:r>
              <a:rPr lang="zh-CN" altLang="en-US" dirty="0"/>
              <a:t>的主码作为外码加入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i</a:t>
            </a:r>
            <a:r>
              <a:rPr lang="en-US" altLang="zh-CN" baseline="-25000" dirty="0"/>
              <a:t> </a:t>
            </a:r>
            <a:r>
              <a:rPr lang="zh-CN" altLang="en-US" dirty="0"/>
              <a:t>，并作为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i</a:t>
            </a:r>
            <a:r>
              <a:rPr lang="zh-CN" altLang="en-US" dirty="0"/>
              <a:t>主码的一部分</a:t>
            </a:r>
          </a:p>
          <a:p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ED3488-CBEE-47B0-242D-685CDF776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DEFE18-FB9E-7296-7414-37E723F9D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79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4037-6039-404D-B97C-D4D72397C573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75812" name="Picture 4" descr="lib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60350"/>
            <a:ext cx="6697663" cy="5891213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75814" name="Rectangle 6"/>
          <p:cNvSpPr>
            <a:spLocks noChangeArrowheads="1"/>
          </p:cNvSpPr>
          <p:nvPr/>
        </p:nvSpPr>
        <p:spPr bwMode="auto">
          <a:xfrm>
            <a:off x="609600" y="304800"/>
            <a:ext cx="2449513" cy="2260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40458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algn="l"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1pPr>
            <a:lvl2pPr algn="l"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zh-CN" altLang="en-US" sz="2800">
                <a:solidFill>
                  <a:srgbClr val="660066"/>
                </a:solidFill>
              </a:rPr>
              <a:t>示例：用</a:t>
            </a:r>
            <a:r>
              <a:rPr kumimoji="0" lang="en-US" altLang="zh-CN" sz="2800">
                <a:solidFill>
                  <a:srgbClr val="660066"/>
                </a:solidFill>
              </a:rPr>
              <a:t>9</a:t>
            </a:r>
            <a:r>
              <a:rPr kumimoji="0" lang="zh-CN" altLang="en-US" sz="2800">
                <a:solidFill>
                  <a:srgbClr val="660066"/>
                </a:solidFill>
              </a:rPr>
              <a:t>步算法对图书馆系统</a:t>
            </a:r>
            <a:r>
              <a:rPr kumimoji="0" lang="en-US" altLang="zh-CN" sz="2800">
                <a:solidFill>
                  <a:srgbClr val="660066"/>
                </a:solidFill>
              </a:rPr>
              <a:t>ER</a:t>
            </a:r>
            <a:r>
              <a:rPr kumimoji="0" lang="zh-CN" altLang="en-US" sz="2800">
                <a:solidFill>
                  <a:srgbClr val="660066"/>
                </a:solidFill>
              </a:rPr>
              <a:t>图进行关系模型转换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7B62B6-DB50-AE0A-FC5B-F349F2095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A68BFB-5170-B4A6-833C-B84F0473A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80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9EEE4-9F05-4446-8768-D5FBC6ADACFB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76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示例：</a:t>
            </a:r>
            <a:br>
              <a:rPr lang="zh-CN" altLang="en-US" sz="2800"/>
            </a:br>
            <a:r>
              <a:rPr lang="zh-CN" altLang="en-US" sz="2800"/>
              <a:t>用</a:t>
            </a:r>
            <a:r>
              <a:rPr lang="en-US" altLang="zh-CN" sz="2800"/>
              <a:t>9</a:t>
            </a:r>
            <a:r>
              <a:rPr lang="zh-CN" altLang="en-US" sz="2800"/>
              <a:t>步算法对图书馆系统</a:t>
            </a:r>
            <a:r>
              <a:rPr lang="en-US" altLang="zh-CN" sz="2800"/>
              <a:t>ER</a:t>
            </a:r>
            <a:r>
              <a:rPr lang="zh-CN" altLang="en-US" sz="2800"/>
              <a:t>图进行关系模型转换</a:t>
            </a:r>
          </a:p>
        </p:txBody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077200" cy="46847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dirty="0"/>
              <a:t>S1:</a:t>
            </a:r>
            <a:r>
              <a:rPr lang="zh-CN" altLang="en-US" sz="2400" dirty="0"/>
              <a:t>（强）</a:t>
            </a:r>
            <a:r>
              <a:rPr lang="zh-CN" altLang="en-US" sz="2400" dirty="0">
                <a:solidFill>
                  <a:srgbClr val="CC0000"/>
                </a:solidFill>
              </a:rPr>
              <a:t>实体型映射为表</a:t>
            </a:r>
            <a:r>
              <a:rPr lang="zh-CN" altLang="en-US" sz="2400" dirty="0"/>
              <a:t>，并确定其主码、备选码        五个实体五张表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S1 </a:t>
            </a:r>
            <a:r>
              <a:rPr lang="en-US" altLang="zh-CN" sz="2000" dirty="0">
                <a:solidFill>
                  <a:schemeClr val="tx2"/>
                </a:solidFill>
              </a:rPr>
              <a:t>TITLE</a:t>
            </a:r>
            <a:r>
              <a:rPr lang="en-US" altLang="zh-CN" sz="2000" dirty="0"/>
              <a:t>(Name, </a:t>
            </a:r>
            <a:r>
              <a:rPr lang="en-US" altLang="zh-CN" sz="2000" dirty="0">
                <a:solidFill>
                  <a:srgbClr val="C00000"/>
                </a:solidFill>
              </a:rPr>
              <a:t>ISBN</a:t>
            </a:r>
            <a:r>
              <a:rPr lang="en-US" altLang="zh-CN" sz="2000" dirty="0"/>
              <a:t>, Year, Publisher);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dirty="0"/>
              <a:t>	S1 PK(ISBN) 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S1 </a:t>
            </a:r>
            <a:r>
              <a:rPr lang="en-US" altLang="zh-CN" sz="2000" dirty="0">
                <a:solidFill>
                  <a:schemeClr val="tx2"/>
                </a:solidFill>
              </a:rPr>
              <a:t>MEMBER</a:t>
            </a:r>
            <a:r>
              <a:rPr lang="en-US" altLang="zh-CN" sz="2000" dirty="0"/>
              <a:t>(</a:t>
            </a:r>
            <a:r>
              <a:rPr lang="en-US" altLang="zh-CN" sz="2000" dirty="0" err="1">
                <a:solidFill>
                  <a:srgbClr val="C00000"/>
                </a:solidFill>
              </a:rPr>
              <a:t>MemNo</a:t>
            </a:r>
            <a:r>
              <a:rPr lang="en-US" altLang="zh-CN" sz="2000" dirty="0"/>
              <a:t>, Name, Address, </a:t>
            </a:r>
            <a:r>
              <a:rPr lang="en-US" altLang="zh-CN" sz="2000" dirty="0" err="1"/>
              <a:t>PhoneNumber</a:t>
            </a:r>
            <a:r>
              <a:rPr lang="en-US" altLang="zh-CN" sz="2000" dirty="0"/>
              <a:t>);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dirty="0"/>
              <a:t>	S1 PK(</a:t>
            </a:r>
            <a:r>
              <a:rPr lang="en-US" altLang="zh-CN" sz="2000" dirty="0" err="1"/>
              <a:t>MemNo</a:t>
            </a:r>
            <a:r>
              <a:rPr lang="en-US" altLang="zh-CN" sz="2000" dirty="0"/>
              <a:t>) 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S1 </a:t>
            </a:r>
            <a:r>
              <a:rPr lang="en-US" altLang="zh-CN" sz="2000" dirty="0">
                <a:solidFill>
                  <a:schemeClr val="tx2"/>
                </a:solidFill>
              </a:rPr>
              <a:t>BOOK</a:t>
            </a:r>
            <a:r>
              <a:rPr lang="en-US" altLang="zh-CN" sz="2000" dirty="0"/>
              <a:t>(</a:t>
            </a:r>
            <a:r>
              <a:rPr lang="en-US" altLang="zh-CN" sz="2000" dirty="0" err="1">
                <a:solidFill>
                  <a:srgbClr val="C00000"/>
                </a:solidFill>
              </a:rPr>
              <a:t>Book_Id</a:t>
            </a:r>
            <a:r>
              <a:rPr lang="en-US" altLang="zh-CN" sz="2000" dirty="0"/>
              <a:t>, Edition);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dirty="0"/>
              <a:t>	S1 PK(</a:t>
            </a:r>
            <a:r>
              <a:rPr lang="en-US" altLang="zh-CN" sz="2000" dirty="0" err="1"/>
              <a:t>Book_Id</a:t>
            </a:r>
            <a:r>
              <a:rPr lang="en-US" altLang="zh-CN" sz="2000" dirty="0"/>
              <a:t>) 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S1 </a:t>
            </a:r>
            <a:r>
              <a:rPr lang="en-US" altLang="zh-CN" sz="2000" dirty="0">
                <a:solidFill>
                  <a:schemeClr val="tx2"/>
                </a:solidFill>
              </a:rPr>
              <a:t>LIBRARIAN</a:t>
            </a:r>
            <a:r>
              <a:rPr lang="en-US" altLang="zh-CN" sz="2000" dirty="0"/>
              <a:t>(</a:t>
            </a:r>
            <a:r>
              <a:rPr lang="en-US" altLang="zh-CN" sz="2000" dirty="0">
                <a:solidFill>
                  <a:srgbClr val="C00000"/>
                </a:solidFill>
              </a:rPr>
              <a:t>SSN</a:t>
            </a:r>
            <a:r>
              <a:rPr lang="en-US" altLang="zh-CN" sz="2000" dirty="0"/>
              <a:t>, Name, Address, Salary, Gender, Birthday);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dirty="0"/>
              <a:t>	S1 PK(SSN) 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S1 </a:t>
            </a:r>
            <a:r>
              <a:rPr lang="en-US" altLang="zh-CN" sz="2000" dirty="0">
                <a:solidFill>
                  <a:schemeClr val="tx2"/>
                </a:solidFill>
              </a:rPr>
              <a:t>SECTION</a:t>
            </a:r>
            <a:r>
              <a:rPr lang="en-US" altLang="zh-CN" sz="2000" dirty="0"/>
              <a:t>(</a:t>
            </a:r>
            <a:r>
              <a:rPr lang="en-US" altLang="zh-CN" sz="2000" dirty="0" err="1">
                <a:solidFill>
                  <a:srgbClr val="C00000"/>
                </a:solidFill>
              </a:rPr>
              <a:t>SectNo</a:t>
            </a:r>
            <a:r>
              <a:rPr lang="en-US" altLang="zh-CN" sz="2000" dirty="0"/>
              <a:t>, Name); 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dirty="0"/>
              <a:t>	S1 PK(</a:t>
            </a:r>
            <a:r>
              <a:rPr lang="en-US" altLang="zh-CN" sz="2000" dirty="0" err="1"/>
              <a:t>SectNo</a:t>
            </a:r>
            <a:r>
              <a:rPr lang="en-US" altLang="zh-CN" sz="2000" dirty="0"/>
              <a:t>) </a:t>
            </a:r>
            <a:endParaRPr lang="zh-CN" altLang="en-US" sz="200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AC3433-9906-393D-2447-CD8FA939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651331-5025-DB8E-EE43-700BF6B0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81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E4BDE-4190-4B71-AA55-25BDDC018771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示例：</a:t>
            </a:r>
            <a:br>
              <a:rPr lang="zh-CN" altLang="en-US" sz="2800"/>
            </a:br>
            <a:r>
              <a:rPr lang="zh-CN" altLang="en-US" sz="2800"/>
              <a:t>用</a:t>
            </a:r>
            <a:r>
              <a:rPr lang="en-US" altLang="zh-CN" sz="2800"/>
              <a:t>9</a:t>
            </a:r>
            <a:r>
              <a:rPr lang="zh-CN" altLang="en-US" sz="2800"/>
              <a:t>步算法对图书馆系统</a:t>
            </a:r>
            <a:r>
              <a:rPr lang="en-US" altLang="zh-CN" sz="2800"/>
              <a:t>ER</a:t>
            </a:r>
            <a:r>
              <a:rPr lang="zh-CN" altLang="en-US" sz="2800"/>
              <a:t>图进行关系模型转换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S3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CC0000"/>
                </a:solidFill>
              </a:rPr>
              <a:t>建新表处理参与</a:t>
            </a:r>
            <a:r>
              <a:rPr lang="en-US" altLang="zh-CN" dirty="0">
                <a:solidFill>
                  <a:srgbClr val="CC0000"/>
                </a:solidFill>
              </a:rPr>
              <a:t>1:N</a:t>
            </a:r>
            <a:r>
              <a:rPr lang="zh-CN" altLang="en-US" dirty="0">
                <a:solidFill>
                  <a:srgbClr val="CC0000"/>
                </a:solidFill>
              </a:rPr>
              <a:t>或</a:t>
            </a:r>
            <a:r>
              <a:rPr lang="en-US" altLang="zh-CN" dirty="0">
                <a:solidFill>
                  <a:srgbClr val="CC0000"/>
                </a:solidFill>
              </a:rPr>
              <a:t>M:N</a:t>
            </a:r>
            <a:r>
              <a:rPr lang="zh-CN" altLang="en-US" dirty="0">
                <a:solidFill>
                  <a:srgbClr val="CC0000"/>
                </a:solidFill>
              </a:rPr>
              <a:t>的弱实体</a:t>
            </a:r>
          </a:p>
          <a:p>
            <a:pPr lvl="1">
              <a:spcBef>
                <a:spcPct val="45000"/>
              </a:spcBef>
            </a:pPr>
            <a:r>
              <a:rPr lang="en-US" altLang="zh-CN" dirty="0"/>
              <a:t>S3 </a:t>
            </a:r>
            <a:r>
              <a:rPr lang="en-US" altLang="zh-CN" dirty="0">
                <a:solidFill>
                  <a:schemeClr val="tx2"/>
                </a:solidFill>
              </a:rPr>
              <a:t>DEPENDENT</a:t>
            </a:r>
            <a:r>
              <a:rPr lang="en-US" altLang="zh-CN" dirty="0"/>
              <a:t>(LIBSSN, Name, Birthday, Kinship); </a:t>
            </a:r>
          </a:p>
          <a:p>
            <a:pPr lvl="1">
              <a:spcBef>
                <a:spcPct val="45000"/>
              </a:spcBef>
              <a:buFont typeface="Wingdings" pitchFamily="2" charset="2"/>
              <a:buNone/>
            </a:pPr>
            <a:r>
              <a:rPr lang="en-US" altLang="zh-CN" dirty="0"/>
              <a:t>	S3 </a:t>
            </a:r>
            <a:r>
              <a:rPr lang="en-US" altLang="zh-CN" u="sng" dirty="0">
                <a:solidFill>
                  <a:schemeClr val="tx2"/>
                </a:solidFill>
              </a:rPr>
              <a:t>PK(</a:t>
            </a:r>
            <a:r>
              <a:rPr lang="en-US" altLang="zh-CN" u="sng" dirty="0">
                <a:solidFill>
                  <a:srgbClr val="C00000"/>
                </a:solidFill>
              </a:rPr>
              <a:t>LIBSSN</a:t>
            </a:r>
            <a:r>
              <a:rPr lang="en-US" altLang="zh-CN" u="sng" dirty="0">
                <a:solidFill>
                  <a:schemeClr val="tx2"/>
                </a:solidFill>
              </a:rPr>
              <a:t>, Name) </a:t>
            </a:r>
          </a:p>
          <a:p>
            <a:pPr lvl="1">
              <a:spcBef>
                <a:spcPct val="45000"/>
              </a:spcBef>
              <a:buFont typeface="Wingdings" pitchFamily="2" charset="2"/>
              <a:buNone/>
            </a:pPr>
            <a:r>
              <a:rPr lang="en-US" altLang="zh-CN" dirty="0"/>
              <a:t>	S3 </a:t>
            </a:r>
            <a:r>
              <a:rPr lang="en-US" altLang="zh-CN" dirty="0">
                <a:solidFill>
                  <a:schemeClr val="tx2"/>
                </a:solidFill>
              </a:rPr>
              <a:t>FK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C00000"/>
                </a:solidFill>
              </a:rPr>
              <a:t>LIBSSN</a:t>
            </a:r>
            <a:r>
              <a:rPr lang="en-US" altLang="zh-CN" dirty="0"/>
              <a:t>) --&gt; LIBRARIAN(</a:t>
            </a:r>
            <a:r>
              <a:rPr lang="en-US" altLang="zh-CN" dirty="0">
                <a:solidFill>
                  <a:srgbClr val="C00000"/>
                </a:solidFill>
              </a:rPr>
              <a:t>SSN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E7D6F6-61FA-F531-A536-21AE319A5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35B164-B916-6C82-C0A8-F1BA2CDE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82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B09DC-1A3B-48D3-BAA3-2734EAA21C0E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78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示例：</a:t>
            </a:r>
            <a:br>
              <a:rPr lang="zh-CN" altLang="en-US" sz="2800" dirty="0"/>
            </a:br>
            <a:r>
              <a:rPr lang="zh-CN" altLang="en-US" sz="2800" dirty="0"/>
              <a:t>用</a:t>
            </a:r>
            <a:r>
              <a:rPr lang="en-US" altLang="zh-CN" sz="2800" dirty="0"/>
              <a:t>9</a:t>
            </a:r>
            <a:r>
              <a:rPr lang="zh-CN" altLang="en-US" sz="2800" dirty="0"/>
              <a:t>步算法对图书馆系统</a:t>
            </a:r>
            <a:r>
              <a:rPr lang="en-US" altLang="zh-CN" sz="2800" dirty="0"/>
              <a:t>ER</a:t>
            </a:r>
            <a:r>
              <a:rPr lang="zh-CN" altLang="en-US" sz="2800" dirty="0"/>
              <a:t>图进行关系模型转换</a:t>
            </a:r>
          </a:p>
        </p:txBody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C0000"/>
                </a:solidFill>
              </a:rPr>
              <a:t>S4</a:t>
            </a:r>
            <a:r>
              <a:rPr lang="zh-CN" altLang="en-US" dirty="0">
                <a:solidFill>
                  <a:srgbClr val="CC0000"/>
                </a:solidFill>
              </a:rPr>
              <a:t>：处理二元</a:t>
            </a:r>
            <a:r>
              <a:rPr lang="en-US" altLang="zh-CN" dirty="0">
                <a:solidFill>
                  <a:srgbClr val="CC0000"/>
                </a:solidFill>
              </a:rPr>
              <a:t>1:1</a:t>
            </a:r>
            <a:r>
              <a:rPr lang="zh-CN" altLang="en-US" dirty="0">
                <a:solidFill>
                  <a:srgbClr val="CC0000"/>
                </a:solidFill>
              </a:rPr>
              <a:t>联系</a:t>
            </a:r>
            <a:r>
              <a:rPr lang="zh-CN" altLang="en-US" dirty="0"/>
              <a:t>  </a:t>
            </a:r>
          </a:p>
          <a:p>
            <a:pPr lvl="1">
              <a:spcBef>
                <a:spcPct val="45000"/>
              </a:spcBef>
            </a:pPr>
            <a:r>
              <a:rPr lang="en-US" altLang="zh-CN" dirty="0"/>
              <a:t>S1 </a:t>
            </a:r>
            <a:r>
              <a:rPr lang="en-US" altLang="zh-CN" dirty="0">
                <a:solidFill>
                  <a:schemeClr val="tx2"/>
                </a:solidFill>
              </a:rPr>
              <a:t>SECTION</a:t>
            </a:r>
            <a:r>
              <a:rPr lang="en-US" altLang="zh-CN" dirty="0"/>
              <a:t>(</a:t>
            </a:r>
            <a:r>
              <a:rPr lang="en-US" altLang="zh-CN" dirty="0" err="1"/>
              <a:t>SectNo</a:t>
            </a:r>
            <a:r>
              <a:rPr lang="en-US" altLang="zh-CN" dirty="0"/>
              <a:t>, Name, </a:t>
            </a:r>
            <a:r>
              <a:rPr lang="en-US" altLang="zh-CN" dirty="0" err="1">
                <a:solidFill>
                  <a:schemeClr val="tx2"/>
                </a:solidFill>
              </a:rPr>
              <a:t>HeadSSN</a:t>
            </a:r>
            <a:r>
              <a:rPr lang="en-US" altLang="zh-CN" dirty="0"/>
              <a:t>); </a:t>
            </a:r>
          </a:p>
          <a:p>
            <a:pPr lvl="1">
              <a:spcBef>
                <a:spcPct val="45000"/>
              </a:spcBef>
              <a:buFont typeface="Wingdings" pitchFamily="2" charset="2"/>
              <a:buNone/>
            </a:pPr>
            <a:r>
              <a:rPr lang="en-US" altLang="zh-CN" dirty="0"/>
              <a:t>	S1 PK(</a:t>
            </a:r>
            <a:r>
              <a:rPr lang="en-US" altLang="zh-CN" dirty="0" err="1"/>
              <a:t>SectNo</a:t>
            </a:r>
            <a:r>
              <a:rPr lang="en-US" altLang="zh-CN" dirty="0"/>
              <a:t>) </a:t>
            </a:r>
          </a:p>
          <a:p>
            <a:pPr lvl="1">
              <a:spcBef>
                <a:spcPct val="45000"/>
              </a:spcBef>
              <a:buFont typeface="Wingdings" pitchFamily="2" charset="2"/>
              <a:buNone/>
            </a:pPr>
            <a:r>
              <a:rPr lang="en-US" altLang="zh-CN" dirty="0"/>
              <a:t>	S4 </a:t>
            </a:r>
            <a:r>
              <a:rPr lang="en-US" altLang="zh-CN" dirty="0">
                <a:solidFill>
                  <a:srgbClr val="C00000"/>
                </a:solidFill>
              </a:rPr>
              <a:t>FK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chemeClr val="tx2"/>
                </a:solidFill>
              </a:rPr>
              <a:t>HeadSSN</a:t>
            </a:r>
            <a:r>
              <a:rPr lang="en-US" altLang="zh-CN" dirty="0"/>
              <a:t>) --&gt; LIBRARIAN(</a:t>
            </a:r>
            <a:r>
              <a:rPr lang="en-US" altLang="zh-CN" dirty="0">
                <a:solidFill>
                  <a:srgbClr val="C00000"/>
                </a:solidFill>
              </a:rPr>
              <a:t>SSN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7" name="Picture 4" descr="libE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3" t="60117" r="36131"/>
          <a:stretch/>
        </p:blipFill>
        <p:spPr bwMode="auto">
          <a:xfrm>
            <a:off x="5791200" y="3962400"/>
            <a:ext cx="3099334" cy="234958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椭圆 1"/>
          <p:cNvSpPr/>
          <p:nvPr/>
        </p:nvSpPr>
        <p:spPr bwMode="auto">
          <a:xfrm>
            <a:off x="7543800" y="4648200"/>
            <a:ext cx="1219200" cy="1143000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2E20EC-20E5-D2AC-3362-31F2897A5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06963C-A604-A84C-88FE-BA5A0E3DE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83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4396B-D925-41F6-9487-2E4C4187E2F9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示例：</a:t>
            </a:r>
            <a:br>
              <a:rPr lang="zh-CN" altLang="en-US" sz="2800"/>
            </a:br>
            <a:r>
              <a:rPr lang="zh-CN" altLang="en-US" sz="2800"/>
              <a:t>用</a:t>
            </a:r>
            <a:r>
              <a:rPr lang="en-US" altLang="zh-CN" sz="2800"/>
              <a:t>9</a:t>
            </a:r>
            <a:r>
              <a:rPr lang="zh-CN" altLang="en-US" sz="2800"/>
              <a:t>步算法对图书馆系统</a:t>
            </a:r>
            <a:r>
              <a:rPr lang="en-US" altLang="zh-CN" sz="2800"/>
              <a:t>ER</a:t>
            </a:r>
            <a:r>
              <a:rPr lang="zh-CN" altLang="en-US" sz="2800"/>
              <a:t>图进行关系模型转换</a:t>
            </a:r>
          </a:p>
        </p:txBody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105400"/>
          </a:xfrm>
        </p:spPr>
        <p:txBody>
          <a:bodyPr/>
          <a:lstStyle/>
          <a:p>
            <a:r>
              <a:rPr lang="en-US" altLang="zh-CN" sz="2400" dirty="0">
                <a:solidFill>
                  <a:srgbClr val="CC0000"/>
                </a:solidFill>
              </a:rPr>
              <a:t>S5</a:t>
            </a:r>
            <a:r>
              <a:rPr lang="zh-CN" altLang="en-US" sz="2400" dirty="0">
                <a:solidFill>
                  <a:srgbClr val="CC0000"/>
                </a:solidFill>
              </a:rPr>
              <a:t>：处理</a:t>
            </a:r>
            <a:r>
              <a:rPr lang="en-US" altLang="zh-CN" sz="2400" dirty="0">
                <a:solidFill>
                  <a:srgbClr val="CC0000"/>
                </a:solidFill>
              </a:rPr>
              <a:t>1:N</a:t>
            </a:r>
            <a:r>
              <a:rPr lang="zh-CN" altLang="en-US" sz="2400" dirty="0">
                <a:solidFill>
                  <a:srgbClr val="CC0000"/>
                </a:solidFill>
              </a:rPr>
              <a:t>联系   只影响</a:t>
            </a:r>
            <a:r>
              <a:rPr lang="en-US" altLang="zh-CN" sz="2400" dirty="0">
                <a:solidFill>
                  <a:srgbClr val="CC0000"/>
                </a:solidFill>
              </a:rPr>
              <a:t>N</a:t>
            </a:r>
            <a:r>
              <a:rPr lang="zh-CN" altLang="en-US" sz="2400" dirty="0">
                <a:solidFill>
                  <a:srgbClr val="CC0000"/>
                </a:solidFill>
              </a:rPr>
              <a:t>端实体对应的表（增加外码）分类处理</a:t>
            </a:r>
          </a:p>
          <a:p>
            <a:pPr lvl="1"/>
            <a:r>
              <a:rPr lang="zh-CN" altLang="en-US" sz="2400" dirty="0"/>
              <a:t>本例中有</a:t>
            </a:r>
            <a:r>
              <a:rPr lang="en-US" altLang="zh-CN" sz="2400" dirty="0"/>
              <a:t>5</a:t>
            </a:r>
            <a:r>
              <a:rPr lang="zh-CN" altLang="en-US" sz="2400" dirty="0"/>
              <a:t>个</a:t>
            </a:r>
            <a:r>
              <a:rPr lang="en-US" altLang="zh-CN" sz="2400" dirty="0"/>
              <a:t>1:N</a:t>
            </a:r>
            <a:r>
              <a:rPr lang="zh-CN" altLang="en-US" sz="2400" dirty="0"/>
              <a:t>联系（</a:t>
            </a:r>
            <a:r>
              <a:rPr lang="en-US" altLang="zh-CN" sz="2400" dirty="0"/>
              <a:t>BORROW, CHECKS, COPY, WORKS </a:t>
            </a:r>
            <a:r>
              <a:rPr lang="zh-CN" altLang="en-US" sz="2400" dirty="0"/>
              <a:t>和</a:t>
            </a:r>
            <a:r>
              <a:rPr lang="en-US" altLang="zh-CN" sz="2400" dirty="0"/>
              <a:t>SUPERVISES</a:t>
            </a:r>
            <a:r>
              <a:rPr lang="zh-CN" altLang="en-US" sz="2400" dirty="0"/>
              <a:t>）</a:t>
            </a:r>
          </a:p>
          <a:p>
            <a:pPr lvl="1"/>
            <a:r>
              <a:rPr lang="en-US" altLang="zh-CN" sz="2400" dirty="0"/>
              <a:t>BORROW, CHECKS, COPY</a:t>
            </a:r>
            <a:r>
              <a:rPr lang="zh-CN" altLang="en-US" sz="2400" dirty="0">
                <a:solidFill>
                  <a:schemeClr val="tx2"/>
                </a:solidFill>
              </a:rPr>
              <a:t>这三个联系的</a:t>
            </a:r>
            <a:r>
              <a:rPr lang="en-US" altLang="zh-CN" sz="2400" dirty="0">
                <a:solidFill>
                  <a:schemeClr val="tx2"/>
                </a:solidFill>
              </a:rPr>
              <a:t>N</a:t>
            </a:r>
            <a:r>
              <a:rPr lang="zh-CN" altLang="en-US" sz="2400" dirty="0">
                <a:solidFill>
                  <a:schemeClr val="tx2"/>
                </a:solidFill>
              </a:rPr>
              <a:t>端都是</a:t>
            </a:r>
            <a:r>
              <a:rPr lang="en-US" altLang="zh-CN" sz="2400" dirty="0">
                <a:solidFill>
                  <a:schemeClr val="tx2"/>
                </a:solidFill>
              </a:rPr>
              <a:t>BOOK</a:t>
            </a:r>
            <a:r>
              <a:rPr lang="zh-CN" altLang="en-US" sz="2400" dirty="0"/>
              <a:t>：</a:t>
            </a:r>
          </a:p>
          <a:p>
            <a:pPr lvl="2"/>
            <a:r>
              <a:rPr lang="en-US" altLang="zh-CN" dirty="0"/>
              <a:t>S1 BOOK(</a:t>
            </a:r>
            <a:r>
              <a:rPr lang="en-US" altLang="zh-CN" dirty="0" err="1"/>
              <a:t>Book_Id</a:t>
            </a:r>
            <a:r>
              <a:rPr lang="en-US" altLang="zh-CN" dirty="0"/>
              <a:t>, Edition, </a:t>
            </a:r>
            <a:r>
              <a:rPr lang="en-US" altLang="zh-CN" dirty="0" err="1">
                <a:solidFill>
                  <a:srgbClr val="FF3300"/>
                </a:solidFill>
              </a:rPr>
              <a:t>BorrowerMemNo</a:t>
            </a:r>
            <a:r>
              <a:rPr lang="en-US" altLang="zh-CN" dirty="0"/>
              <a:t>, </a:t>
            </a:r>
            <a:r>
              <a:rPr lang="en-US" altLang="zh-CN" dirty="0" err="1">
                <a:solidFill>
                  <a:schemeClr val="tx2"/>
                </a:solidFill>
              </a:rPr>
              <a:t>BorrowDueDate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3300"/>
                </a:solidFill>
              </a:rPr>
              <a:t>ISBN</a:t>
            </a:r>
            <a:r>
              <a:rPr lang="en-US" altLang="zh-CN" dirty="0"/>
              <a:t>, </a:t>
            </a:r>
            <a:r>
              <a:rPr lang="en-US" altLang="zh-CN" dirty="0" err="1">
                <a:solidFill>
                  <a:srgbClr val="FF3300"/>
                </a:solidFill>
              </a:rPr>
              <a:t>LibCheck</a:t>
            </a:r>
            <a:r>
              <a:rPr lang="en-US" altLang="zh-CN" dirty="0"/>
              <a:t>); </a:t>
            </a:r>
          </a:p>
          <a:p>
            <a:pPr lvl="2">
              <a:buFont typeface="Wingdings" pitchFamily="2" charset="2"/>
              <a:buNone/>
            </a:pPr>
            <a:r>
              <a:rPr lang="en-US" altLang="zh-CN" dirty="0"/>
              <a:t>	S1 </a:t>
            </a:r>
            <a:r>
              <a:rPr lang="en-US" altLang="zh-CN" dirty="0">
                <a:solidFill>
                  <a:srgbClr val="C00000"/>
                </a:solidFill>
              </a:rPr>
              <a:t>PK(</a:t>
            </a:r>
            <a:r>
              <a:rPr lang="en-US" altLang="zh-CN" dirty="0" err="1">
                <a:solidFill>
                  <a:srgbClr val="C00000"/>
                </a:solidFill>
              </a:rPr>
              <a:t>Book_Id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  <a:r>
              <a:rPr lang="en-US" altLang="zh-CN" dirty="0"/>
              <a:t> </a:t>
            </a:r>
          </a:p>
          <a:p>
            <a:pPr lvl="2">
              <a:buFont typeface="Wingdings" pitchFamily="2" charset="2"/>
              <a:buNone/>
            </a:pPr>
            <a:r>
              <a:rPr lang="en-US" altLang="zh-CN" dirty="0"/>
              <a:t>	S5 </a:t>
            </a:r>
            <a:r>
              <a:rPr lang="en-US" altLang="zh-CN" dirty="0">
                <a:solidFill>
                  <a:srgbClr val="003300"/>
                </a:solidFill>
              </a:rPr>
              <a:t>FK</a:t>
            </a:r>
            <a:r>
              <a:rPr lang="en-US" altLang="zh-CN" dirty="0"/>
              <a:t>(</a:t>
            </a:r>
            <a:r>
              <a:rPr lang="en-US" altLang="zh-CN" dirty="0" err="1"/>
              <a:t>BorrowerMemNo</a:t>
            </a:r>
            <a:r>
              <a:rPr lang="en-US" altLang="zh-CN" dirty="0"/>
              <a:t>) --&gt; MEMBER(</a:t>
            </a:r>
            <a:r>
              <a:rPr lang="en-US" altLang="zh-CN" dirty="0" err="1"/>
              <a:t>MemNo</a:t>
            </a:r>
            <a:r>
              <a:rPr lang="en-US" altLang="zh-CN" dirty="0"/>
              <a:t>) </a:t>
            </a:r>
          </a:p>
          <a:p>
            <a:pPr lvl="2">
              <a:buFont typeface="Wingdings" pitchFamily="2" charset="2"/>
              <a:buNone/>
            </a:pPr>
            <a:r>
              <a:rPr lang="en-US" altLang="zh-CN" dirty="0"/>
              <a:t>	S5 </a:t>
            </a:r>
            <a:r>
              <a:rPr lang="en-US" altLang="zh-CN" dirty="0">
                <a:solidFill>
                  <a:srgbClr val="003300"/>
                </a:solidFill>
              </a:rPr>
              <a:t>FK</a:t>
            </a:r>
            <a:r>
              <a:rPr lang="en-US" altLang="zh-CN" dirty="0"/>
              <a:t>(ISBN) --&gt; TITLE(ISBN) </a:t>
            </a:r>
          </a:p>
          <a:p>
            <a:pPr lvl="2">
              <a:buFont typeface="Wingdings" pitchFamily="2" charset="2"/>
              <a:buNone/>
            </a:pPr>
            <a:r>
              <a:rPr lang="en-US" altLang="zh-CN" dirty="0"/>
              <a:t>	S5 </a:t>
            </a:r>
            <a:r>
              <a:rPr lang="en-US" altLang="zh-CN" dirty="0">
                <a:solidFill>
                  <a:srgbClr val="003300"/>
                </a:solidFill>
              </a:rPr>
              <a:t>FK</a:t>
            </a:r>
            <a:r>
              <a:rPr lang="en-US" altLang="zh-CN" dirty="0"/>
              <a:t>(</a:t>
            </a:r>
            <a:r>
              <a:rPr lang="en-US" altLang="zh-CN" dirty="0" err="1"/>
              <a:t>LibCheck</a:t>
            </a:r>
            <a:r>
              <a:rPr lang="en-US" altLang="zh-CN" dirty="0"/>
              <a:t>) --&gt; LIBRARIAN(SSN)</a:t>
            </a:r>
            <a:r>
              <a:rPr lang="en-US" altLang="zh-CN" sz="1800" dirty="0"/>
              <a:t> </a:t>
            </a:r>
          </a:p>
          <a:p>
            <a:pPr lvl="2">
              <a:buFont typeface="Wingdings" pitchFamily="2" charset="2"/>
              <a:buNone/>
            </a:pPr>
            <a:r>
              <a:rPr lang="zh-CN" altLang="en-US" dirty="0">
                <a:solidFill>
                  <a:srgbClr val="800080"/>
                </a:solidFill>
              </a:rPr>
              <a:t>接下页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8763000" y="322973"/>
            <a:ext cx="6697663" cy="5999163"/>
            <a:chOff x="8763000" y="322973"/>
            <a:chExt cx="6697663" cy="5999163"/>
          </a:xfrm>
        </p:grpSpPr>
        <p:pic>
          <p:nvPicPr>
            <p:cNvPr id="7" name="Picture 4" descr="libE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63000" y="430923"/>
              <a:ext cx="6697663" cy="5891213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8" name="椭圆 7"/>
            <p:cNvSpPr/>
            <p:nvPr/>
          </p:nvSpPr>
          <p:spPr bwMode="auto">
            <a:xfrm>
              <a:off x="10591800" y="1237373"/>
              <a:ext cx="1219200" cy="990600"/>
            </a:xfrm>
            <a:prstGeom prst="ellips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12146322" y="2304173"/>
              <a:ext cx="1219200" cy="990600"/>
            </a:xfrm>
            <a:prstGeom prst="ellips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10567737" y="3218573"/>
              <a:ext cx="1219200" cy="838200"/>
            </a:xfrm>
            <a:prstGeom prst="ellips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13" name="椭圆 12"/>
            <p:cNvSpPr/>
            <p:nvPr/>
          </p:nvSpPr>
          <p:spPr bwMode="auto">
            <a:xfrm>
              <a:off x="9906000" y="4818773"/>
              <a:ext cx="1219200" cy="990600"/>
            </a:xfrm>
            <a:prstGeom prst="ellips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14" name="椭圆 13"/>
            <p:cNvSpPr/>
            <p:nvPr/>
          </p:nvSpPr>
          <p:spPr bwMode="auto">
            <a:xfrm>
              <a:off x="8839200" y="3751973"/>
              <a:ext cx="1219200" cy="990600"/>
            </a:xfrm>
            <a:prstGeom prst="ellipse">
              <a:avLst/>
            </a:prstGeom>
            <a:noFill/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15" name="椭圆 14"/>
            <p:cNvSpPr/>
            <p:nvPr/>
          </p:nvSpPr>
          <p:spPr bwMode="auto">
            <a:xfrm>
              <a:off x="10615863" y="2449725"/>
              <a:ext cx="1219200" cy="699495"/>
            </a:xfrm>
            <a:prstGeom prst="ellipse">
              <a:avLst/>
            </a:prstGeom>
            <a:noFill/>
            <a:ln w="2857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16" name="椭圆 15"/>
            <p:cNvSpPr/>
            <p:nvPr/>
          </p:nvSpPr>
          <p:spPr bwMode="auto">
            <a:xfrm>
              <a:off x="10567737" y="322973"/>
              <a:ext cx="1219200" cy="699495"/>
            </a:xfrm>
            <a:prstGeom prst="ellipse">
              <a:avLst/>
            </a:prstGeom>
            <a:noFill/>
            <a:ln w="28575" cap="flat" cmpd="sng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19" name="椭圆 18"/>
            <p:cNvSpPr/>
            <p:nvPr/>
          </p:nvSpPr>
          <p:spPr bwMode="auto">
            <a:xfrm>
              <a:off x="13868400" y="2441704"/>
              <a:ext cx="1219200" cy="699495"/>
            </a:xfrm>
            <a:prstGeom prst="ellipse">
              <a:avLst/>
            </a:prstGeom>
            <a:noFill/>
            <a:ln w="28575" cap="flat" cmpd="sng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endParaRPr>
            </a:p>
          </p:txBody>
        </p:sp>
        <p:sp>
          <p:nvSpPr>
            <p:cNvPr id="20" name="椭圆 19"/>
            <p:cNvSpPr/>
            <p:nvPr/>
          </p:nvSpPr>
          <p:spPr bwMode="auto">
            <a:xfrm>
              <a:off x="10306250" y="3897525"/>
              <a:ext cx="1657150" cy="699495"/>
            </a:xfrm>
            <a:prstGeom prst="ellipse">
              <a:avLst/>
            </a:prstGeom>
            <a:noFill/>
            <a:ln w="28575" cap="flat" cmpd="sng" algn="ctr">
              <a:solidFill>
                <a:srgbClr val="00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  <a:cs typeface="Arial" charset="0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3276600" y="322973"/>
            <a:ext cx="39624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 algn="l">
              <a:lnSpc>
                <a:spcPct val="90000"/>
              </a:lnSpc>
            </a:pPr>
            <a:r>
              <a:rPr lang="en-US" altLang="zh-CN" sz="2000" dirty="0"/>
              <a:t>S1 </a:t>
            </a:r>
            <a:r>
              <a:rPr lang="en-US" altLang="zh-CN" sz="2000" dirty="0">
                <a:solidFill>
                  <a:schemeClr val="tx2"/>
                </a:solidFill>
              </a:rPr>
              <a:t>BOOK</a:t>
            </a:r>
            <a:r>
              <a:rPr lang="en-US" altLang="zh-CN" sz="2000" dirty="0"/>
              <a:t>(</a:t>
            </a:r>
            <a:r>
              <a:rPr lang="en-US" altLang="zh-CN" sz="2000" dirty="0" err="1">
                <a:solidFill>
                  <a:srgbClr val="C00000"/>
                </a:solidFill>
              </a:rPr>
              <a:t>Book_Id</a:t>
            </a:r>
            <a:r>
              <a:rPr lang="en-US" altLang="zh-CN" sz="2000" dirty="0"/>
              <a:t>, Edition); </a:t>
            </a:r>
          </a:p>
          <a:p>
            <a:pPr lvl="1" algn="l">
              <a:lnSpc>
                <a:spcPct val="90000"/>
              </a:lnSpc>
            </a:pPr>
            <a:r>
              <a:rPr lang="en-US" altLang="zh-CN" sz="2000" dirty="0"/>
              <a:t>S1 PK(</a:t>
            </a:r>
            <a:r>
              <a:rPr lang="en-US" altLang="zh-CN" sz="2000" dirty="0" err="1"/>
              <a:t>Book_Id</a:t>
            </a:r>
            <a:r>
              <a:rPr lang="en-US" altLang="zh-CN" sz="2000" dirty="0"/>
              <a:t>) 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57ED0C-2E8A-82AB-E2A1-8643A1522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4A9AC3-570A-6928-D981-B48736254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84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7.40741E-7 L -0.82448 0.0046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233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9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9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9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9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7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9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9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9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7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79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0028B-ED18-409C-AA28-8A711F379714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示例：</a:t>
            </a:r>
            <a:br>
              <a:rPr lang="zh-CN" altLang="en-US" sz="2800"/>
            </a:br>
            <a:r>
              <a:rPr lang="zh-CN" altLang="en-US" sz="2800"/>
              <a:t>用</a:t>
            </a:r>
            <a:r>
              <a:rPr lang="en-US" altLang="zh-CN" sz="2800"/>
              <a:t>9</a:t>
            </a:r>
            <a:r>
              <a:rPr lang="zh-CN" altLang="en-US" sz="2800"/>
              <a:t>步算法对图书馆系统</a:t>
            </a:r>
            <a:r>
              <a:rPr lang="en-US" altLang="zh-CN" sz="2800"/>
              <a:t>ER</a:t>
            </a:r>
            <a:r>
              <a:rPr lang="zh-CN" altLang="en-US" sz="2800"/>
              <a:t>图进行关系模型转换</a:t>
            </a:r>
          </a:p>
        </p:txBody>
      </p:sp>
      <p:sp>
        <p:nvSpPr>
          <p:cNvPr id="380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zh-CN" dirty="0"/>
              <a:t>WORKS</a:t>
            </a:r>
            <a:r>
              <a:rPr lang="zh-CN" altLang="en-US" dirty="0"/>
              <a:t>和</a:t>
            </a:r>
            <a:r>
              <a:rPr lang="en-US" altLang="zh-CN" dirty="0"/>
              <a:t>SUPERVISES </a:t>
            </a:r>
            <a:r>
              <a:rPr lang="zh-CN" altLang="en-US" dirty="0"/>
              <a:t>联系影响</a:t>
            </a:r>
            <a:r>
              <a:rPr lang="en-US" altLang="zh-CN" dirty="0"/>
              <a:t>LIBRARIAN</a:t>
            </a:r>
            <a:r>
              <a:rPr lang="zh-CN" altLang="en-US" dirty="0"/>
              <a:t>：</a:t>
            </a:r>
          </a:p>
          <a:p>
            <a:pPr lvl="2"/>
            <a:r>
              <a:rPr lang="en-US" altLang="zh-CN" sz="2800" dirty="0"/>
              <a:t>S1 LIBRARIAN(SSN, Name, Address, Salary, Gender, Birthday, </a:t>
            </a:r>
            <a:r>
              <a:rPr lang="en-US" altLang="zh-CN" sz="2800" dirty="0" err="1">
                <a:solidFill>
                  <a:srgbClr val="FF3300"/>
                </a:solidFill>
              </a:rPr>
              <a:t>SuperSSN</a:t>
            </a:r>
            <a:r>
              <a:rPr lang="en-US" altLang="zh-CN" sz="2800" dirty="0"/>
              <a:t>, </a:t>
            </a:r>
            <a:r>
              <a:rPr lang="en-US" altLang="zh-CN" sz="2800" dirty="0">
                <a:solidFill>
                  <a:srgbClr val="FF3300"/>
                </a:solidFill>
              </a:rPr>
              <a:t>Section</a:t>
            </a:r>
            <a:r>
              <a:rPr lang="en-US" altLang="zh-CN" sz="2800" dirty="0"/>
              <a:t>); </a:t>
            </a:r>
          </a:p>
          <a:p>
            <a:pPr lvl="2">
              <a:buFont typeface="Wingdings" pitchFamily="2" charset="2"/>
              <a:buNone/>
            </a:pPr>
            <a:r>
              <a:rPr lang="en-US" altLang="zh-CN" sz="2800" dirty="0"/>
              <a:t>	S1 </a:t>
            </a:r>
            <a:r>
              <a:rPr lang="en-US" altLang="zh-CN" sz="2800" dirty="0">
                <a:solidFill>
                  <a:srgbClr val="C00000"/>
                </a:solidFill>
              </a:rPr>
              <a:t>PK(SSN)</a:t>
            </a:r>
            <a:r>
              <a:rPr lang="en-US" altLang="zh-CN" sz="2800" dirty="0"/>
              <a:t> </a:t>
            </a:r>
          </a:p>
          <a:p>
            <a:pPr lvl="2">
              <a:buFont typeface="Wingdings" pitchFamily="2" charset="2"/>
              <a:buNone/>
            </a:pPr>
            <a:r>
              <a:rPr lang="en-US" altLang="zh-CN" sz="2800" dirty="0"/>
              <a:t>	S5 </a:t>
            </a:r>
            <a:r>
              <a:rPr lang="en-US" altLang="zh-CN" sz="2800" dirty="0">
                <a:solidFill>
                  <a:srgbClr val="FF3300"/>
                </a:solidFill>
              </a:rPr>
              <a:t>FK</a:t>
            </a:r>
            <a:r>
              <a:rPr lang="en-US" altLang="zh-CN" sz="2800" dirty="0"/>
              <a:t>(SUPERSSN) --&gt; LIBRARIAN(SSN) </a:t>
            </a:r>
          </a:p>
          <a:p>
            <a:pPr lvl="2">
              <a:buFont typeface="Wingdings" pitchFamily="2" charset="2"/>
              <a:buNone/>
            </a:pPr>
            <a:r>
              <a:rPr lang="en-US" altLang="zh-CN" sz="2800" dirty="0"/>
              <a:t>	S5 </a:t>
            </a:r>
            <a:r>
              <a:rPr lang="en-US" altLang="zh-CN" sz="2800" dirty="0">
                <a:solidFill>
                  <a:srgbClr val="FF3300"/>
                </a:solidFill>
              </a:rPr>
              <a:t>FK</a:t>
            </a:r>
            <a:r>
              <a:rPr lang="en-US" altLang="zh-CN" sz="2800" dirty="0"/>
              <a:t>(Section) --&gt; SECTION(</a:t>
            </a:r>
            <a:r>
              <a:rPr lang="en-US" altLang="zh-CN" sz="2800" dirty="0" err="1"/>
              <a:t>SectNo</a:t>
            </a:r>
            <a:r>
              <a:rPr lang="en-US" altLang="zh-CN" sz="2800" dirty="0"/>
              <a:t>)</a:t>
            </a:r>
            <a:endParaRPr lang="zh-CN" altLang="en-US" sz="280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8908F8-1B3B-D7A5-9472-AF1F4332E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402FED-9430-37A4-4C3C-C4ECBC4C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85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F3D34-02F2-48BE-97AE-26696E0B6CC7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示例：</a:t>
            </a:r>
            <a:br>
              <a:rPr lang="zh-CN" altLang="en-US" sz="2800"/>
            </a:br>
            <a:r>
              <a:rPr lang="zh-CN" altLang="en-US" sz="2800"/>
              <a:t>用</a:t>
            </a:r>
            <a:r>
              <a:rPr lang="en-US" altLang="zh-CN" sz="2800"/>
              <a:t>9</a:t>
            </a:r>
            <a:r>
              <a:rPr lang="zh-CN" altLang="en-US" sz="2800"/>
              <a:t>步算法对图书馆系统</a:t>
            </a:r>
            <a:r>
              <a:rPr lang="en-US" altLang="zh-CN" sz="2800"/>
              <a:t>ER</a:t>
            </a:r>
            <a:r>
              <a:rPr lang="zh-CN" altLang="en-US" sz="2800"/>
              <a:t>图进行关系模型转换</a:t>
            </a:r>
          </a:p>
        </p:txBody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C0000"/>
                </a:solidFill>
              </a:rPr>
              <a:t>S6</a:t>
            </a:r>
            <a:r>
              <a:rPr lang="zh-CN" altLang="en-US" dirty="0">
                <a:solidFill>
                  <a:srgbClr val="CC0000"/>
                </a:solidFill>
              </a:rPr>
              <a:t>：处理多元联系和</a:t>
            </a:r>
            <a:r>
              <a:rPr lang="en-US" altLang="zh-CN" dirty="0">
                <a:solidFill>
                  <a:srgbClr val="CC0000"/>
                </a:solidFill>
              </a:rPr>
              <a:t>M:N</a:t>
            </a:r>
            <a:r>
              <a:rPr lang="zh-CN" altLang="en-US" dirty="0">
                <a:solidFill>
                  <a:srgbClr val="CC0000"/>
                </a:solidFill>
              </a:rPr>
              <a:t>联系</a:t>
            </a:r>
          </a:p>
          <a:p>
            <a:pPr lvl="1"/>
            <a:r>
              <a:rPr lang="zh-CN" altLang="en-US" dirty="0"/>
              <a:t>本例只有</a:t>
            </a:r>
            <a:r>
              <a:rPr lang="en-US" altLang="zh-CN" dirty="0"/>
              <a:t>HOLD</a:t>
            </a:r>
            <a:r>
              <a:rPr lang="zh-CN" altLang="en-US" dirty="0"/>
              <a:t>是</a:t>
            </a:r>
            <a:r>
              <a:rPr lang="en-US" altLang="zh-CN" dirty="0"/>
              <a:t>M:N</a:t>
            </a:r>
            <a:r>
              <a:rPr lang="zh-CN" altLang="en-US" dirty="0"/>
              <a:t>联系</a:t>
            </a:r>
          </a:p>
          <a:p>
            <a:pPr lvl="1"/>
            <a:r>
              <a:rPr lang="en-US" altLang="zh-CN" dirty="0"/>
              <a:t>S6 </a:t>
            </a:r>
            <a:r>
              <a:rPr lang="en-US" altLang="zh-CN" dirty="0">
                <a:solidFill>
                  <a:srgbClr val="C00000"/>
                </a:solidFill>
              </a:rPr>
              <a:t>HOLD</a:t>
            </a:r>
            <a:r>
              <a:rPr lang="en-US" altLang="zh-CN" dirty="0"/>
              <a:t>(</a:t>
            </a:r>
            <a:r>
              <a:rPr lang="en-US" altLang="zh-CN" dirty="0" err="1"/>
              <a:t>MemNo</a:t>
            </a:r>
            <a:r>
              <a:rPr lang="en-US" altLang="zh-CN" dirty="0"/>
              <a:t>, ISBN, Date); 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	S6 </a:t>
            </a:r>
            <a:r>
              <a:rPr lang="en-US" altLang="zh-CN" dirty="0">
                <a:solidFill>
                  <a:srgbClr val="C00000"/>
                </a:solidFill>
              </a:rPr>
              <a:t>PK(</a:t>
            </a:r>
            <a:r>
              <a:rPr lang="en-US" altLang="zh-CN" dirty="0" err="1">
                <a:solidFill>
                  <a:srgbClr val="C00000"/>
                </a:solidFill>
              </a:rPr>
              <a:t>MemNo</a:t>
            </a:r>
            <a:r>
              <a:rPr lang="en-US" altLang="zh-CN" dirty="0">
                <a:solidFill>
                  <a:srgbClr val="C00000"/>
                </a:solidFill>
              </a:rPr>
              <a:t>, ISBN) 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	S6 </a:t>
            </a:r>
            <a:r>
              <a:rPr lang="en-US" altLang="zh-CN" dirty="0">
                <a:solidFill>
                  <a:schemeClr val="tx2"/>
                </a:solidFill>
              </a:rPr>
              <a:t>FK(</a:t>
            </a:r>
            <a:r>
              <a:rPr lang="en-US" altLang="zh-CN" dirty="0" err="1">
                <a:solidFill>
                  <a:schemeClr val="tx2"/>
                </a:solidFill>
              </a:rPr>
              <a:t>MemNo</a:t>
            </a:r>
            <a:r>
              <a:rPr lang="en-US" altLang="zh-CN" dirty="0">
                <a:solidFill>
                  <a:schemeClr val="tx2"/>
                </a:solidFill>
              </a:rPr>
              <a:t>)</a:t>
            </a:r>
            <a:r>
              <a:rPr lang="en-US" altLang="zh-CN" dirty="0"/>
              <a:t> --&gt; MEMBER(</a:t>
            </a:r>
            <a:r>
              <a:rPr lang="en-US" altLang="zh-CN" dirty="0" err="1"/>
              <a:t>MemNo</a:t>
            </a:r>
            <a:r>
              <a:rPr lang="en-US" altLang="zh-CN" dirty="0"/>
              <a:t>) 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	S6 </a:t>
            </a:r>
            <a:r>
              <a:rPr lang="en-US" altLang="zh-CN" dirty="0">
                <a:solidFill>
                  <a:schemeClr val="tx2"/>
                </a:solidFill>
              </a:rPr>
              <a:t>FK(ISBN)</a:t>
            </a:r>
            <a:r>
              <a:rPr lang="en-US" altLang="zh-CN" dirty="0"/>
              <a:t> --&gt; TITLE(ISBN)</a:t>
            </a:r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15B058-589E-B808-9FA9-F09358B5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394D2A-18C1-AD75-AB78-6503E9E31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86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DD1E-5A21-4471-87D8-FC1F373B2F5C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/>
              <a:t>示例：</a:t>
            </a:r>
            <a:br>
              <a:rPr lang="zh-CN" altLang="en-US" sz="2800"/>
            </a:br>
            <a:r>
              <a:rPr lang="zh-CN" altLang="en-US" sz="2800"/>
              <a:t>用</a:t>
            </a:r>
            <a:r>
              <a:rPr lang="en-US" altLang="zh-CN" sz="2800"/>
              <a:t>9</a:t>
            </a:r>
            <a:r>
              <a:rPr lang="zh-CN" altLang="en-US" sz="2800"/>
              <a:t>步算法对图书馆系统</a:t>
            </a:r>
            <a:r>
              <a:rPr lang="en-US" altLang="zh-CN" sz="2800"/>
              <a:t>ER</a:t>
            </a:r>
            <a:r>
              <a:rPr lang="zh-CN" altLang="en-US" sz="2800"/>
              <a:t>图进行关系模型转换</a:t>
            </a:r>
          </a:p>
        </p:txBody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CC0000"/>
                </a:solidFill>
              </a:rPr>
              <a:t>S7</a:t>
            </a:r>
            <a:r>
              <a:rPr lang="zh-CN" altLang="en-US" dirty="0">
                <a:solidFill>
                  <a:srgbClr val="CC0000"/>
                </a:solidFill>
              </a:rPr>
              <a:t>：处理多值属性</a:t>
            </a:r>
          </a:p>
          <a:p>
            <a:pPr lvl="1"/>
            <a:r>
              <a:rPr lang="zh-CN" altLang="en-US" dirty="0"/>
              <a:t>本例的</a:t>
            </a:r>
            <a:r>
              <a:rPr lang="en-US" altLang="zh-CN" dirty="0"/>
              <a:t>TITLE</a:t>
            </a:r>
            <a:r>
              <a:rPr lang="zh-CN" altLang="en-US" dirty="0"/>
              <a:t>的</a:t>
            </a:r>
            <a:r>
              <a:rPr lang="en-US" altLang="zh-CN" dirty="0">
                <a:solidFill>
                  <a:schemeClr val="tx2"/>
                </a:solidFill>
              </a:rPr>
              <a:t>AUTHOR</a:t>
            </a:r>
            <a:r>
              <a:rPr lang="zh-CN" altLang="en-US" dirty="0"/>
              <a:t>属性</a:t>
            </a:r>
          </a:p>
          <a:p>
            <a:pPr lvl="1"/>
            <a:r>
              <a:rPr lang="en-US" altLang="zh-CN" dirty="0"/>
              <a:t>S7 AUTHOR(ISBN, Name); 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	S7 </a:t>
            </a:r>
            <a:r>
              <a:rPr lang="en-US" altLang="zh-CN" dirty="0">
                <a:solidFill>
                  <a:srgbClr val="C00000"/>
                </a:solidFill>
              </a:rPr>
              <a:t>PK</a:t>
            </a:r>
            <a:r>
              <a:rPr lang="en-US" altLang="zh-CN" dirty="0"/>
              <a:t>(ISBN, Name) </a:t>
            </a:r>
          </a:p>
          <a:p>
            <a:pPr lvl="1">
              <a:buFont typeface="Wingdings" pitchFamily="2" charset="2"/>
              <a:buNone/>
            </a:pPr>
            <a:r>
              <a:rPr lang="en-US" altLang="zh-CN" dirty="0"/>
              <a:t>	S7 </a:t>
            </a:r>
            <a:r>
              <a:rPr lang="en-US" altLang="zh-CN" dirty="0">
                <a:solidFill>
                  <a:schemeClr val="tx2"/>
                </a:solidFill>
              </a:rPr>
              <a:t>FK</a:t>
            </a:r>
            <a:r>
              <a:rPr lang="en-US" altLang="zh-CN" dirty="0"/>
              <a:t>(ISBN) --&gt; TITLE(ISBN)</a:t>
            </a:r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EFD98-2D81-2E83-7996-652340696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5E90C0-A0E5-854B-E546-348B1697C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87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F561-E465-40C7-974A-D330BF5A0BFD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关系模式的优化</a:t>
            </a:r>
            <a:r>
              <a:rPr lang="en-US" altLang="zh-CN" dirty="0"/>
              <a:t>(</a:t>
            </a:r>
            <a:r>
              <a:rPr lang="zh-CN" altLang="en-US" dirty="0"/>
              <a:t>通常以规范化理论为指导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84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优化方法：</a:t>
            </a:r>
          </a:p>
          <a:p>
            <a:pPr lvl="1"/>
            <a:r>
              <a:rPr lang="zh-CN" altLang="en-US" dirty="0"/>
              <a:t>确定</a:t>
            </a:r>
            <a:r>
              <a:rPr lang="zh-CN" altLang="en-US" b="1" dirty="0">
                <a:solidFill>
                  <a:schemeClr val="tx2"/>
                </a:solidFill>
              </a:rPr>
              <a:t>数据依赖</a:t>
            </a:r>
            <a:r>
              <a:rPr lang="zh-CN" altLang="en-US" dirty="0"/>
              <a:t>（每个</a:t>
            </a:r>
            <a:r>
              <a:rPr lang="zh-CN" altLang="en-US" dirty="0">
                <a:solidFill>
                  <a:schemeClr val="tx2"/>
                </a:solidFill>
              </a:rPr>
              <a:t>关系模式内部各属性之间的数据依赖</a:t>
            </a:r>
            <a:r>
              <a:rPr lang="zh-CN" altLang="en-US" dirty="0"/>
              <a:t>以及</a:t>
            </a:r>
            <a:r>
              <a:rPr lang="zh-CN" altLang="en-US" dirty="0">
                <a:solidFill>
                  <a:schemeClr val="tx2"/>
                </a:solidFill>
              </a:rPr>
              <a:t>不同关系模式间属性之间的数据依赖（参照）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对模式之间的数据依赖</a:t>
            </a:r>
            <a:r>
              <a:rPr lang="zh-CN" altLang="en-US" b="1" dirty="0">
                <a:solidFill>
                  <a:schemeClr val="tx2"/>
                </a:solidFill>
              </a:rPr>
              <a:t>极小化处理</a:t>
            </a:r>
            <a:r>
              <a:rPr lang="zh-CN" altLang="en-US" dirty="0"/>
              <a:t>，消除冗余的联系。</a:t>
            </a:r>
          </a:p>
          <a:p>
            <a:pPr lvl="1"/>
            <a:r>
              <a:rPr lang="zh-CN" altLang="en-US" dirty="0"/>
              <a:t>按照</a:t>
            </a:r>
            <a:r>
              <a:rPr lang="zh-CN" altLang="en-US" b="1" dirty="0">
                <a:solidFill>
                  <a:schemeClr val="tx2"/>
                </a:solidFill>
              </a:rPr>
              <a:t>数据依赖的理论</a:t>
            </a:r>
            <a:r>
              <a:rPr lang="zh-CN" altLang="en-US" dirty="0"/>
              <a:t>对每一个关系模式逐一进行分析，考察是否存在</a:t>
            </a:r>
            <a:r>
              <a:rPr lang="zh-CN" altLang="en-US" u="sng" dirty="0"/>
              <a:t>部分函数依赖、传递函数依赖、多值依赖</a:t>
            </a:r>
            <a:r>
              <a:rPr lang="zh-CN" altLang="en-US" dirty="0"/>
              <a:t>等。确定各</a:t>
            </a:r>
            <a:r>
              <a:rPr lang="zh-CN" altLang="en-US" u="sng" dirty="0"/>
              <a:t>关系模式分别属于第几范式</a:t>
            </a:r>
            <a:r>
              <a:rPr lang="zh-CN" altLang="en-US" dirty="0"/>
              <a:t>。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2CD63C-B6E3-4700-D518-7D18836DC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176B3A-F995-3A0E-E6A6-FB0EDD866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88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9B11A-8A39-4B94-AD99-7B13ECEC676A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关系模式的优化</a:t>
            </a:r>
            <a:r>
              <a:rPr lang="en-US" altLang="zh-CN"/>
              <a:t>(</a:t>
            </a:r>
            <a:r>
              <a:rPr lang="zh-CN" altLang="en-US"/>
              <a:t>通常以规范化理论为指导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029200"/>
          </a:xfrm>
        </p:spPr>
        <p:txBody>
          <a:bodyPr/>
          <a:lstStyle/>
          <a:p>
            <a:pPr lvl="1">
              <a:lnSpc>
                <a:spcPct val="90000"/>
              </a:lnSpc>
            </a:pPr>
            <a:r>
              <a:rPr lang="zh-CN" altLang="en-US" dirty="0"/>
              <a:t>按照需求分析阶段得到的处理要求，分析这些</a:t>
            </a:r>
            <a:r>
              <a:rPr lang="zh-CN" altLang="en-US" dirty="0">
                <a:solidFill>
                  <a:schemeClr val="tx2"/>
                </a:solidFill>
              </a:rPr>
              <a:t>模式是否适合</a:t>
            </a:r>
            <a:r>
              <a:rPr lang="zh-CN" altLang="en-US" dirty="0"/>
              <a:t>，确定是否要对某些</a:t>
            </a:r>
            <a:r>
              <a:rPr lang="zh-CN" altLang="en-US" u="sng" dirty="0">
                <a:solidFill>
                  <a:srgbClr val="C00000"/>
                </a:solidFill>
              </a:rPr>
              <a:t>模式进行合并</a:t>
            </a:r>
            <a:r>
              <a:rPr lang="zh-CN" altLang="en-US" u="sng" dirty="0"/>
              <a:t>或</a:t>
            </a:r>
            <a:r>
              <a:rPr lang="zh-CN" altLang="en-US" u="sng" dirty="0">
                <a:solidFill>
                  <a:srgbClr val="C00000"/>
                </a:solidFill>
              </a:rPr>
              <a:t>分解</a:t>
            </a:r>
            <a:r>
              <a:rPr lang="zh-CN" altLang="en-US" dirty="0"/>
              <a:t>。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对需要处理的模式进行必要的分解，提高数据操作的效率和存储空间的利用率。</a:t>
            </a:r>
          </a:p>
          <a:p>
            <a:pPr lvl="2">
              <a:lnSpc>
                <a:spcPct val="90000"/>
              </a:lnSpc>
            </a:pPr>
            <a:r>
              <a:rPr lang="zh-CN" altLang="en-US" dirty="0"/>
              <a:t>横向分解</a:t>
            </a:r>
          </a:p>
          <a:p>
            <a:pPr lvl="2">
              <a:lnSpc>
                <a:spcPct val="90000"/>
              </a:lnSpc>
            </a:pPr>
            <a:r>
              <a:rPr lang="zh-CN" altLang="en-US" dirty="0"/>
              <a:t>纵向分解</a:t>
            </a:r>
          </a:p>
          <a:p>
            <a:pPr lvl="2">
              <a:lnSpc>
                <a:spcPct val="90000"/>
              </a:lnSpc>
            </a:pPr>
            <a:r>
              <a:rPr lang="zh-CN" altLang="en-US" dirty="0"/>
              <a:t>二八率的应用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注意：</a:t>
            </a:r>
            <a:r>
              <a:rPr lang="zh-CN" altLang="en-US" dirty="0">
                <a:solidFill>
                  <a:srgbClr val="FF3300"/>
                </a:solidFill>
              </a:rPr>
              <a:t>并不是规范程度越高的关系就越优</a:t>
            </a:r>
            <a:r>
              <a:rPr lang="zh-CN" altLang="en-US" dirty="0"/>
              <a:t>，应根据需要权衡而定</a:t>
            </a:r>
            <a:r>
              <a:rPr lang="en-US" altLang="zh-CN" dirty="0"/>
              <a:t>(</a:t>
            </a:r>
            <a:r>
              <a:rPr lang="zh-CN" altLang="en-US" dirty="0"/>
              <a:t>规范化与反规范化达到平衡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6520AC-51C9-86C1-4C05-D882241F51C8}"/>
              </a:ext>
            </a:extLst>
          </p:cNvPr>
          <p:cNvSpPr txBox="1"/>
          <p:nvPr/>
        </p:nvSpPr>
        <p:spPr>
          <a:xfrm>
            <a:off x="6516216" y="3962400"/>
            <a:ext cx="172355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下一章介绍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1FD34C-EE20-834F-CEEA-0A00053F5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C55602-C3BC-581B-65AB-4166227F7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89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5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5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8D864-64E7-4E7E-98FA-D1C1578760B5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/>
              <a:t>7.1 </a:t>
            </a:r>
            <a:r>
              <a:rPr lang="zh-CN" altLang="en-US"/>
              <a:t>数据库设计概述</a:t>
            </a:r>
          </a:p>
          <a:p>
            <a:r>
              <a:rPr lang="en-US" altLang="zh-CN"/>
              <a:t>7.2 </a:t>
            </a:r>
            <a:r>
              <a:rPr lang="zh-CN" altLang="en-US"/>
              <a:t>需求分析</a:t>
            </a:r>
            <a:endParaRPr lang="zh-CN" altLang="en-US">
              <a:solidFill>
                <a:srgbClr val="CC0000"/>
              </a:solidFill>
            </a:endParaRPr>
          </a:p>
          <a:p>
            <a:r>
              <a:rPr lang="en-US" altLang="zh-CN"/>
              <a:t>7.3 </a:t>
            </a:r>
            <a:r>
              <a:rPr lang="zh-CN" altLang="en-US"/>
              <a:t>概念结构设计</a:t>
            </a:r>
          </a:p>
          <a:p>
            <a:r>
              <a:rPr lang="en-US" altLang="zh-CN"/>
              <a:t>7.4 </a:t>
            </a:r>
            <a:r>
              <a:rPr lang="zh-CN" altLang="en-US"/>
              <a:t>逻辑结构设计</a:t>
            </a:r>
          </a:p>
          <a:p>
            <a:r>
              <a:rPr lang="en-US" altLang="zh-CN"/>
              <a:t>7.5 </a:t>
            </a:r>
            <a:r>
              <a:rPr lang="zh-CN" altLang="en-US"/>
              <a:t>数据库的物理设计</a:t>
            </a:r>
          </a:p>
          <a:p>
            <a:r>
              <a:rPr lang="en-US" altLang="zh-CN"/>
              <a:t>7.6 </a:t>
            </a:r>
            <a:r>
              <a:rPr lang="zh-CN" altLang="en-US"/>
              <a:t>数据库的实施</a:t>
            </a:r>
          </a:p>
          <a:p>
            <a:r>
              <a:rPr lang="en-US" altLang="zh-CN"/>
              <a:t>7.7 </a:t>
            </a:r>
            <a:r>
              <a:rPr lang="zh-CN" altLang="en-US"/>
              <a:t>数据库的运行与维护</a:t>
            </a:r>
            <a:endParaRPr lang="zh-CN" altLang="en-US">
              <a:solidFill>
                <a:srgbClr val="CC0000"/>
              </a:solidFill>
            </a:endParaRPr>
          </a:p>
        </p:txBody>
      </p:sp>
      <p:sp>
        <p:nvSpPr>
          <p:cNvPr id="398340" name="AutoShape 4"/>
          <p:cNvSpPr>
            <a:spLocks noChangeArrowheads="1"/>
          </p:cNvSpPr>
          <p:nvPr/>
        </p:nvSpPr>
        <p:spPr bwMode="auto">
          <a:xfrm>
            <a:off x="838200" y="41148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E92D5D-7657-DD64-78C1-BB8B4019E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E76857-1685-E3D1-BD32-618D1940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90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8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8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40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04F35-BAA9-44D8-80E5-ABC70111A65C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7.5 </a:t>
            </a:r>
            <a:r>
              <a:rPr lang="zh-CN" altLang="en-US"/>
              <a:t>数据库的物理设计</a:t>
            </a:r>
          </a:p>
        </p:txBody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任务：</a:t>
            </a:r>
          </a:p>
          <a:p>
            <a:pPr lvl="1"/>
            <a:r>
              <a:rPr lang="zh-CN" altLang="en-US" sz="3200" dirty="0"/>
              <a:t>为一给定的逻辑数据模型选取一个最适合应用要求的</a:t>
            </a:r>
            <a:r>
              <a:rPr lang="zh-CN" altLang="en-US" sz="3200" dirty="0">
                <a:solidFill>
                  <a:srgbClr val="C00000"/>
                </a:solidFill>
              </a:rPr>
              <a:t>物理结构</a:t>
            </a:r>
            <a:r>
              <a:rPr lang="zh-CN" altLang="en-US" sz="3200" dirty="0"/>
              <a:t>，包括数据库在物理设备上的</a:t>
            </a:r>
            <a:r>
              <a:rPr lang="zh-CN" altLang="en-US" sz="3200" dirty="0">
                <a:solidFill>
                  <a:srgbClr val="C00000"/>
                </a:solidFill>
              </a:rPr>
              <a:t>存储结构</a:t>
            </a:r>
            <a:r>
              <a:rPr lang="zh-CN" altLang="en-US" sz="3200" dirty="0"/>
              <a:t>和</a:t>
            </a:r>
            <a:r>
              <a:rPr lang="zh-CN" altLang="en-US" sz="3200" dirty="0">
                <a:solidFill>
                  <a:srgbClr val="C00000"/>
                </a:solidFill>
              </a:rPr>
              <a:t>存取方法</a:t>
            </a:r>
            <a:r>
              <a:rPr lang="zh-CN" altLang="en-US" sz="3200" dirty="0"/>
              <a:t>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D7ED58-5E68-656C-AA3C-3B5D46F00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24D711-2A69-C791-1D93-6BE5965D8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91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4317-1568-4380-8481-EF961FD953D8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数据库的物理设计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内容：</a:t>
            </a:r>
          </a:p>
          <a:p>
            <a:pPr lvl="1"/>
            <a:r>
              <a:rPr lang="zh-CN" altLang="en-US" dirty="0"/>
              <a:t>为关系模式选择</a:t>
            </a:r>
            <a:r>
              <a:rPr lang="zh-CN" altLang="en-US" b="1" dirty="0">
                <a:solidFill>
                  <a:schemeClr val="tx2"/>
                </a:solidFill>
              </a:rPr>
              <a:t>存取方法</a:t>
            </a:r>
            <a:r>
              <a:rPr lang="zh-CN" altLang="en-US" dirty="0"/>
              <a:t>（索引、聚簇或</a:t>
            </a:r>
            <a:r>
              <a:rPr lang="en-US" altLang="zh-CN" dirty="0"/>
              <a:t>HASH</a:t>
            </a:r>
            <a:r>
              <a:rPr lang="zh-CN" altLang="en-US" dirty="0"/>
              <a:t>方法）</a:t>
            </a:r>
          </a:p>
          <a:p>
            <a:pPr lvl="1"/>
            <a:r>
              <a:rPr lang="zh-CN" altLang="en-US" dirty="0"/>
              <a:t>设计关系、</a:t>
            </a:r>
            <a:r>
              <a:rPr lang="zh-CN" altLang="en-US" dirty="0">
                <a:solidFill>
                  <a:schemeClr val="hlink"/>
                </a:solidFill>
              </a:rPr>
              <a:t>索引</a:t>
            </a:r>
            <a:r>
              <a:rPr lang="zh-CN" altLang="en-US" dirty="0"/>
              <a:t>等数据文件的物理存储结构</a:t>
            </a:r>
          </a:p>
          <a:p>
            <a:pPr lvl="2"/>
            <a:r>
              <a:rPr lang="zh-CN" altLang="en-US" sz="2800" dirty="0"/>
              <a:t>确定数据库对象（关系、索引、日志和备份等）的</a:t>
            </a:r>
            <a:r>
              <a:rPr lang="zh-CN" altLang="en-US" sz="2800" dirty="0">
                <a:solidFill>
                  <a:srgbClr val="C00000"/>
                </a:solidFill>
              </a:rPr>
              <a:t>存放位置和存储结构</a:t>
            </a:r>
            <a:r>
              <a:rPr lang="zh-CN" altLang="en-US" sz="2800" dirty="0"/>
              <a:t>。</a:t>
            </a:r>
          </a:p>
          <a:p>
            <a:pPr lvl="2"/>
            <a:r>
              <a:rPr lang="zh-CN" altLang="en-US" sz="2800" dirty="0"/>
              <a:t>确定系统配置参数，如</a:t>
            </a:r>
            <a:r>
              <a:rPr lang="zh-CN" altLang="en-US" sz="2800" dirty="0">
                <a:solidFill>
                  <a:schemeClr val="tx2"/>
                </a:solidFill>
              </a:rPr>
              <a:t>用户数，内存、缓冲区分配参数</a:t>
            </a:r>
            <a:r>
              <a:rPr lang="zh-CN" altLang="en-US" sz="2800" dirty="0"/>
              <a:t>等。</a:t>
            </a:r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0C837B-1B3C-B7CD-9250-97D885551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8C251E-0378-F91D-8D27-F835C2448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92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0D2A2-E6F4-4EFC-B590-37AF2A689E0D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数据库的物理设计</a:t>
            </a:r>
          </a:p>
        </p:txBody>
      </p:sp>
      <p:sp>
        <p:nvSpPr>
          <p:cNvPr id="387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评价物理结构：</a:t>
            </a:r>
          </a:p>
          <a:p>
            <a:pPr lvl="1">
              <a:buFont typeface="Wingdings" pitchFamily="2" charset="2"/>
              <a:buNone/>
            </a:pPr>
            <a:r>
              <a:rPr lang="zh-CN" altLang="en-US" sz="3200" dirty="0"/>
              <a:t>	设计过程中需要对</a:t>
            </a:r>
            <a:r>
              <a:rPr lang="zh-CN" altLang="en-US" sz="3200" dirty="0">
                <a:solidFill>
                  <a:srgbClr val="0000FF"/>
                </a:solidFill>
              </a:rPr>
              <a:t>时间效率、空间效率、维护代价</a:t>
            </a:r>
            <a:r>
              <a:rPr lang="zh-CN" altLang="en-US" sz="3200" dirty="0"/>
              <a:t>和</a:t>
            </a:r>
            <a:r>
              <a:rPr lang="zh-CN" altLang="en-US" sz="3200" dirty="0">
                <a:solidFill>
                  <a:srgbClr val="0000FF"/>
                </a:solidFill>
              </a:rPr>
              <a:t>各种用户要求</a:t>
            </a:r>
            <a:r>
              <a:rPr lang="zh-CN" altLang="en-US" sz="3200" dirty="0"/>
              <a:t>进行权衡，其结果可以产生多种方案，数据库设计人员必须对这些方案进行细致的评价，从中选择一个较优的方案。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643DAA-321A-4C0E-0E0C-E0B862D7E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D93D4B-A8C3-2EC1-3C1C-C6F3D07E5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93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240E-A2BE-4AAF-B9D4-E251E6E478E2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/>
              <a:t>7.1 </a:t>
            </a:r>
            <a:r>
              <a:rPr lang="zh-CN" altLang="en-US"/>
              <a:t>数据库设计概述</a:t>
            </a:r>
          </a:p>
          <a:p>
            <a:r>
              <a:rPr lang="en-US" altLang="zh-CN"/>
              <a:t>7.2 </a:t>
            </a:r>
            <a:r>
              <a:rPr lang="zh-CN" altLang="en-US"/>
              <a:t>需求分析</a:t>
            </a:r>
            <a:endParaRPr lang="zh-CN" altLang="en-US">
              <a:solidFill>
                <a:srgbClr val="CC0000"/>
              </a:solidFill>
            </a:endParaRPr>
          </a:p>
          <a:p>
            <a:r>
              <a:rPr lang="en-US" altLang="zh-CN"/>
              <a:t>7.3 </a:t>
            </a:r>
            <a:r>
              <a:rPr lang="zh-CN" altLang="en-US"/>
              <a:t>概念结构设计</a:t>
            </a:r>
          </a:p>
          <a:p>
            <a:r>
              <a:rPr lang="en-US" altLang="zh-CN"/>
              <a:t>7.4 </a:t>
            </a:r>
            <a:r>
              <a:rPr lang="zh-CN" altLang="en-US"/>
              <a:t>逻辑结构设计</a:t>
            </a:r>
          </a:p>
          <a:p>
            <a:r>
              <a:rPr lang="en-US" altLang="zh-CN"/>
              <a:t>7.5 </a:t>
            </a:r>
            <a:r>
              <a:rPr lang="zh-CN" altLang="en-US"/>
              <a:t>数据库的物理设计</a:t>
            </a:r>
          </a:p>
          <a:p>
            <a:r>
              <a:rPr lang="en-US" altLang="zh-CN"/>
              <a:t>7.6 </a:t>
            </a:r>
            <a:r>
              <a:rPr lang="zh-CN" altLang="en-US"/>
              <a:t>数据库的实施</a:t>
            </a:r>
          </a:p>
          <a:p>
            <a:r>
              <a:rPr lang="en-US" altLang="zh-CN"/>
              <a:t>7.7 </a:t>
            </a:r>
            <a:r>
              <a:rPr lang="zh-CN" altLang="en-US"/>
              <a:t>数据库的运行与维护</a:t>
            </a:r>
            <a:endParaRPr lang="zh-CN" altLang="en-US">
              <a:solidFill>
                <a:srgbClr val="CC0000"/>
              </a:solidFill>
            </a:endParaRPr>
          </a:p>
        </p:txBody>
      </p:sp>
      <p:sp>
        <p:nvSpPr>
          <p:cNvPr id="399364" name="AutoShape 4"/>
          <p:cNvSpPr>
            <a:spLocks noChangeArrowheads="1"/>
          </p:cNvSpPr>
          <p:nvPr/>
        </p:nvSpPr>
        <p:spPr bwMode="auto">
          <a:xfrm>
            <a:off x="838200" y="46482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CF1443-F0E7-0D35-3D29-62C83573A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EA91EC-4657-271A-B08A-D76E0DE5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94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4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CA7BD-63A0-4377-9977-1FA039AE4342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7.6 </a:t>
            </a:r>
            <a:r>
              <a:rPr lang="zh-CN" altLang="en-US"/>
              <a:t>数据库的实施</a:t>
            </a:r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dirty="0"/>
              <a:t>数据库实施包括以下工作：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用</a:t>
            </a:r>
            <a:r>
              <a:rPr lang="en-US" altLang="zh-CN" dirty="0">
                <a:solidFill>
                  <a:srgbClr val="C00000"/>
                </a:solidFill>
              </a:rPr>
              <a:t>DDL</a:t>
            </a:r>
            <a:r>
              <a:rPr lang="zh-CN" altLang="en-US" dirty="0">
                <a:solidFill>
                  <a:srgbClr val="C00000"/>
                </a:solidFill>
              </a:rPr>
              <a:t>定义数据库结构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用选用的</a:t>
            </a:r>
            <a:r>
              <a:rPr lang="en-US" altLang="zh-CN" dirty="0">
                <a:solidFill>
                  <a:schemeClr val="tx2"/>
                </a:solidFill>
              </a:rPr>
              <a:t>DBMS</a:t>
            </a:r>
            <a:r>
              <a:rPr lang="zh-CN" altLang="en-US" dirty="0">
                <a:solidFill>
                  <a:schemeClr val="tx2"/>
                </a:solidFill>
              </a:rPr>
              <a:t>提供的数据定义语言</a:t>
            </a:r>
            <a:r>
              <a:rPr lang="zh-CN" altLang="en-US" dirty="0"/>
              <a:t>来严格描述数据库结构，如：</a:t>
            </a:r>
            <a:r>
              <a:rPr lang="en-US" altLang="zh-CN" dirty="0">
                <a:solidFill>
                  <a:schemeClr val="tx2"/>
                </a:solidFill>
              </a:rPr>
              <a:t>SQL</a:t>
            </a:r>
            <a:r>
              <a:rPr lang="zh-CN" altLang="en-US" dirty="0"/>
              <a:t>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组织数据入库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是该阶段的主要工作。可以</a:t>
            </a:r>
            <a:r>
              <a:rPr lang="zh-CN" altLang="en-US" dirty="0">
                <a:solidFill>
                  <a:schemeClr val="tx2"/>
                </a:solidFill>
              </a:rPr>
              <a:t>人工方法</a:t>
            </a:r>
            <a:r>
              <a:rPr lang="zh-CN" altLang="en-US" dirty="0"/>
              <a:t>组织数据入库，可以</a:t>
            </a:r>
            <a:r>
              <a:rPr lang="zh-CN" altLang="en-US" dirty="0">
                <a:solidFill>
                  <a:schemeClr val="tx2"/>
                </a:solidFill>
              </a:rPr>
              <a:t>设计</a:t>
            </a:r>
            <a:r>
              <a:rPr lang="zh-CN" altLang="en-US" dirty="0"/>
              <a:t>一个</a:t>
            </a:r>
            <a:r>
              <a:rPr lang="zh-CN" altLang="en-US" dirty="0">
                <a:solidFill>
                  <a:srgbClr val="0000FF"/>
                </a:solidFill>
              </a:rPr>
              <a:t>数据输入子系统</a:t>
            </a:r>
            <a:r>
              <a:rPr lang="zh-CN" altLang="en-US" dirty="0"/>
              <a:t>，由计算机辅助数据的入库工作。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4A4E98-CC18-67AC-28D7-5C86F9DDF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C7FF70-0BF6-24E6-AD32-72A82CD0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95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34FFC-24FF-4B00-BD20-B750DFCB6A4F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数据库的实施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9E7F8B-293B-74D9-D800-F322C32B9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FFAA6-D068-8754-6EDE-E3706662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96</a:t>
            </a:fld>
            <a:r>
              <a:rPr lang="en-US" altLang="zh-CN"/>
              <a:t>/103</a:t>
            </a:r>
            <a:endParaRPr lang="zh-CN" altLang="en-US" dirty="0"/>
          </a:p>
        </p:txBody>
      </p:sp>
      <p:sp>
        <p:nvSpPr>
          <p:cNvPr id="389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14955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dirty="0">
                <a:solidFill>
                  <a:srgbClr val="FF3300"/>
                </a:solidFill>
              </a:rPr>
              <a:t>编制与调试应用程序</a:t>
            </a:r>
          </a:p>
          <a:p>
            <a:pPr>
              <a:buFont typeface="Wingdings" pitchFamily="2" charset="2"/>
              <a:buNone/>
            </a:pPr>
            <a:r>
              <a:rPr lang="zh-CN" altLang="en-US" sz="2800" dirty="0"/>
              <a:t>	</a:t>
            </a:r>
            <a:r>
              <a:rPr lang="zh-CN" altLang="en-US" sz="2800" dirty="0">
                <a:solidFill>
                  <a:schemeClr val="tx2"/>
                </a:solidFill>
              </a:rPr>
              <a:t>应用程序的设计</a:t>
            </a:r>
            <a:r>
              <a:rPr lang="zh-CN" altLang="en-US" sz="2800" dirty="0"/>
              <a:t>应该与数据设计并行进行，</a:t>
            </a:r>
            <a:r>
              <a:rPr lang="zh-CN" altLang="en-US" sz="2800" u="sng" dirty="0"/>
              <a:t>当数据库结构建立好后</a:t>
            </a:r>
            <a:r>
              <a:rPr lang="zh-CN" altLang="en-US" sz="2800" dirty="0"/>
              <a:t>，就可以开始</a:t>
            </a:r>
            <a:r>
              <a:rPr lang="zh-CN" altLang="en-US" sz="2800" dirty="0">
                <a:solidFill>
                  <a:schemeClr val="tx2"/>
                </a:solidFill>
              </a:rPr>
              <a:t>编制并调试</a:t>
            </a:r>
            <a:r>
              <a:rPr lang="zh-CN" altLang="en-US" sz="2800" dirty="0"/>
              <a:t>数据库的</a:t>
            </a:r>
            <a:r>
              <a:rPr lang="zh-CN" altLang="en-US" sz="2800" u="sng" dirty="0"/>
              <a:t>应用程序</a:t>
            </a:r>
            <a:r>
              <a:rPr lang="zh-CN" altLang="en-US" sz="2800" dirty="0"/>
              <a:t>。当数据未入库前可以使用</a:t>
            </a:r>
            <a:r>
              <a:rPr lang="zh-CN" altLang="en-US" sz="2400" dirty="0"/>
              <a:t>模拟数据。</a:t>
            </a:r>
            <a:endParaRPr lang="zh-CN" altLang="en-US" sz="2800" dirty="0"/>
          </a:p>
          <a:p>
            <a:pPr>
              <a:lnSpc>
                <a:spcPct val="80000"/>
              </a:lnSpc>
            </a:pPr>
            <a:endParaRPr lang="zh-CN" altLang="en-US" sz="900" dirty="0">
              <a:solidFill>
                <a:srgbClr val="FF3300"/>
              </a:solidFill>
            </a:endParaRPr>
          </a:p>
          <a:p>
            <a:pPr>
              <a:lnSpc>
                <a:spcPct val="80000"/>
              </a:lnSpc>
            </a:pPr>
            <a:r>
              <a:rPr lang="zh-CN" altLang="en-US" dirty="0">
                <a:solidFill>
                  <a:srgbClr val="FF3300"/>
                </a:solidFill>
              </a:rPr>
              <a:t>数据库试运行</a:t>
            </a:r>
          </a:p>
          <a:p>
            <a:pPr>
              <a:buFont typeface="Wingdings" pitchFamily="2" charset="2"/>
              <a:buNone/>
            </a:pPr>
            <a:r>
              <a:rPr lang="zh-CN" altLang="en-US" sz="2800" dirty="0"/>
              <a:t>	</a:t>
            </a:r>
            <a:r>
              <a:rPr lang="zh-CN" altLang="en-US" sz="2800" dirty="0">
                <a:solidFill>
                  <a:schemeClr val="tx2"/>
                </a:solidFill>
              </a:rPr>
              <a:t>应用程序编写并调试完毕</a:t>
            </a:r>
            <a:r>
              <a:rPr lang="zh-CN" altLang="en-US" sz="2800" dirty="0"/>
              <a:t>，并且</a:t>
            </a:r>
            <a:r>
              <a:rPr lang="zh-CN" altLang="en-US" sz="2800" dirty="0">
                <a:solidFill>
                  <a:srgbClr val="0000FF"/>
                </a:solidFill>
              </a:rPr>
              <a:t>有一部分数据入库</a:t>
            </a:r>
            <a:r>
              <a:rPr lang="zh-CN" altLang="en-US" sz="2800" dirty="0"/>
              <a:t>后，就可以开始数据库的试运行，也称作</a:t>
            </a:r>
            <a:r>
              <a:rPr lang="zh-CN" altLang="en-US" sz="2800" dirty="0">
                <a:solidFill>
                  <a:srgbClr val="0000FF"/>
                </a:solidFill>
              </a:rPr>
              <a:t>联合调试</a:t>
            </a:r>
            <a:r>
              <a:rPr lang="zh-CN" altLang="en-US" sz="2800" dirty="0"/>
              <a:t>，目的是</a:t>
            </a:r>
            <a:r>
              <a:rPr lang="zh-CN" altLang="en-US" sz="2800" dirty="0">
                <a:solidFill>
                  <a:schemeClr val="tx2"/>
                </a:solidFill>
              </a:rPr>
              <a:t>实际测量系统</a:t>
            </a:r>
            <a:r>
              <a:rPr lang="zh-CN" altLang="en-US" sz="2800" dirty="0"/>
              <a:t>的</a:t>
            </a:r>
            <a:r>
              <a:rPr lang="zh-CN" altLang="en-US" sz="2800" dirty="0">
                <a:solidFill>
                  <a:schemeClr val="tx2"/>
                </a:solidFill>
              </a:rPr>
              <a:t>各种性能指标</a:t>
            </a:r>
            <a:r>
              <a:rPr lang="zh-CN" altLang="en-US" sz="2800" dirty="0"/>
              <a:t>，及时修正前面阶段中的</a:t>
            </a:r>
            <a:r>
              <a:rPr lang="zh-CN" altLang="en-US" sz="2800" dirty="0">
                <a:solidFill>
                  <a:schemeClr val="tx2"/>
                </a:solidFill>
              </a:rPr>
              <a:t>错误</a:t>
            </a:r>
            <a:r>
              <a:rPr lang="zh-CN" altLang="en-US" sz="2800" dirty="0"/>
              <a:t>。同时必须做好数据库的</a:t>
            </a:r>
            <a:r>
              <a:rPr lang="zh-CN" altLang="en-US" sz="2800" b="1" dirty="0">
                <a:solidFill>
                  <a:srgbClr val="0000FF"/>
                </a:solidFill>
              </a:rPr>
              <a:t>转储和恢复</a:t>
            </a:r>
            <a:r>
              <a:rPr lang="zh-CN" altLang="en-US" sz="2800" dirty="0"/>
              <a:t>工作，尽量</a:t>
            </a:r>
            <a:r>
              <a:rPr lang="zh-CN" altLang="en-US" sz="2800" dirty="0">
                <a:solidFill>
                  <a:schemeClr val="tx2"/>
                </a:solidFill>
              </a:rPr>
              <a:t>减少对数据库的破坏</a:t>
            </a:r>
            <a:r>
              <a:rPr lang="zh-CN" altLang="en-US" sz="2800" dirty="0"/>
              <a:t>。</a:t>
            </a:r>
          </a:p>
          <a:p>
            <a:pPr>
              <a:lnSpc>
                <a:spcPct val="80000"/>
              </a:lnSpc>
            </a:pPr>
            <a:endParaRPr lang="zh-CN" altLang="en-US" sz="2800" dirty="0"/>
          </a:p>
        </p:txBody>
      </p:sp>
    </p:spTree>
  </p:cSld>
  <p:clrMapOvr>
    <a:masterClrMapping/>
  </p:clrMapOvr>
  <p:transition>
    <p:fade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4D3D3-B4E4-4165-A8BF-B73F843B8FD0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本章目录</a:t>
            </a:r>
          </a:p>
        </p:txBody>
      </p:sp>
      <p:sp>
        <p:nvSpPr>
          <p:cNvPr id="400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639888"/>
            <a:ext cx="7583488" cy="4532312"/>
          </a:xfrm>
        </p:spPr>
        <p:txBody>
          <a:bodyPr/>
          <a:lstStyle/>
          <a:p>
            <a:r>
              <a:rPr lang="en-US" altLang="zh-CN"/>
              <a:t>7.1 </a:t>
            </a:r>
            <a:r>
              <a:rPr lang="zh-CN" altLang="en-US"/>
              <a:t>数据库设计概述</a:t>
            </a:r>
          </a:p>
          <a:p>
            <a:r>
              <a:rPr lang="en-US" altLang="zh-CN"/>
              <a:t>7.2 </a:t>
            </a:r>
            <a:r>
              <a:rPr lang="zh-CN" altLang="en-US"/>
              <a:t>需求分析</a:t>
            </a:r>
            <a:endParaRPr lang="zh-CN" altLang="en-US">
              <a:solidFill>
                <a:srgbClr val="CC0000"/>
              </a:solidFill>
            </a:endParaRPr>
          </a:p>
          <a:p>
            <a:r>
              <a:rPr lang="en-US" altLang="zh-CN"/>
              <a:t>7.3 </a:t>
            </a:r>
            <a:r>
              <a:rPr lang="zh-CN" altLang="en-US"/>
              <a:t>概念结构设计</a:t>
            </a:r>
          </a:p>
          <a:p>
            <a:r>
              <a:rPr lang="en-US" altLang="zh-CN"/>
              <a:t>7.4 </a:t>
            </a:r>
            <a:r>
              <a:rPr lang="zh-CN" altLang="en-US"/>
              <a:t>逻辑结构设计</a:t>
            </a:r>
          </a:p>
          <a:p>
            <a:r>
              <a:rPr lang="en-US" altLang="zh-CN"/>
              <a:t>7.5 </a:t>
            </a:r>
            <a:r>
              <a:rPr lang="zh-CN" altLang="en-US"/>
              <a:t>数据库的物理设计</a:t>
            </a:r>
          </a:p>
          <a:p>
            <a:r>
              <a:rPr lang="en-US" altLang="zh-CN"/>
              <a:t>7.6 </a:t>
            </a:r>
            <a:r>
              <a:rPr lang="zh-CN" altLang="en-US"/>
              <a:t>数据库的实施</a:t>
            </a:r>
          </a:p>
          <a:p>
            <a:r>
              <a:rPr lang="en-US" altLang="zh-CN"/>
              <a:t>7.7 </a:t>
            </a:r>
            <a:r>
              <a:rPr lang="zh-CN" altLang="en-US"/>
              <a:t>数据库的运行与维护</a:t>
            </a:r>
            <a:endParaRPr lang="zh-CN" altLang="en-US">
              <a:solidFill>
                <a:srgbClr val="CC0000"/>
              </a:solidFill>
            </a:endParaRPr>
          </a:p>
        </p:txBody>
      </p:sp>
      <p:sp>
        <p:nvSpPr>
          <p:cNvPr id="400388" name="AutoShape 4"/>
          <p:cNvSpPr>
            <a:spLocks noChangeArrowheads="1"/>
          </p:cNvSpPr>
          <p:nvPr/>
        </p:nvSpPr>
        <p:spPr bwMode="auto">
          <a:xfrm>
            <a:off x="838200" y="5257800"/>
            <a:ext cx="457200" cy="457200"/>
          </a:xfrm>
          <a:prstGeom prst="rightArrow">
            <a:avLst>
              <a:gd name="adj1" fmla="val 50000"/>
              <a:gd name="adj2" fmla="val 40278"/>
            </a:avLst>
          </a:prstGeom>
          <a:solidFill>
            <a:srgbClr val="FFCC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88E03C-2CC8-CA38-8379-5EE473EF6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8BD21C-F4A0-A1DA-1DD9-16F64F9F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97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1D306-1D61-4EB2-AB16-3B23FDD9F5EE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7.7 </a:t>
            </a:r>
            <a:r>
              <a:rPr lang="zh-CN" altLang="en-US"/>
              <a:t>数据库的运行与维护</a:t>
            </a:r>
          </a:p>
        </p:txBody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dirty="0"/>
              <a:t>运行阶段，数据库经常性的维护工作主要是由</a:t>
            </a:r>
            <a:r>
              <a:rPr lang="en-US" altLang="zh-CN" dirty="0">
                <a:solidFill>
                  <a:schemeClr val="tx2"/>
                </a:solidFill>
              </a:rPr>
              <a:t>DBA</a:t>
            </a:r>
            <a:r>
              <a:rPr lang="zh-CN" altLang="en-US" dirty="0"/>
              <a:t>完成的，主要工作是</a:t>
            </a:r>
            <a:r>
              <a:rPr lang="zh-CN" altLang="en-US" u="sng" dirty="0">
                <a:solidFill>
                  <a:schemeClr val="tx2"/>
                </a:solidFill>
              </a:rPr>
              <a:t>调整、修改数据库</a:t>
            </a:r>
            <a:r>
              <a:rPr lang="zh-CN" altLang="en-US" u="sng" dirty="0"/>
              <a:t>以及</a:t>
            </a:r>
            <a:r>
              <a:rPr lang="zh-CN" altLang="en-US" u="sng" dirty="0">
                <a:solidFill>
                  <a:schemeClr val="tx2"/>
                </a:solidFill>
              </a:rPr>
              <a:t>应用程序修改</a:t>
            </a:r>
            <a:r>
              <a:rPr lang="zh-CN" altLang="en-US" dirty="0"/>
              <a:t>。包括：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数据库的</a:t>
            </a:r>
            <a:r>
              <a:rPr lang="zh-CN" altLang="en-US" b="1" dirty="0">
                <a:solidFill>
                  <a:srgbClr val="C00000"/>
                </a:solidFill>
              </a:rPr>
              <a:t>转储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rgbClr val="C00000"/>
                </a:solidFill>
              </a:rPr>
              <a:t>恢复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最重要的维护工作之一。</a:t>
            </a:r>
            <a:r>
              <a:rPr lang="en-US" altLang="zh-CN" dirty="0"/>
              <a:t>DBA</a:t>
            </a:r>
            <a:r>
              <a:rPr lang="zh-CN" altLang="en-US" dirty="0"/>
              <a:t>指定</a:t>
            </a:r>
            <a:r>
              <a:rPr lang="zh-CN" altLang="en-US" b="1" dirty="0">
                <a:solidFill>
                  <a:schemeClr val="tx2"/>
                </a:solidFill>
              </a:rPr>
              <a:t>转储</a:t>
            </a:r>
            <a:r>
              <a:rPr lang="zh-CN" altLang="en-US" dirty="0"/>
              <a:t>计划，</a:t>
            </a:r>
            <a:r>
              <a:rPr lang="zh-CN" altLang="en-US" dirty="0">
                <a:solidFill>
                  <a:srgbClr val="C00000"/>
                </a:solidFill>
              </a:rPr>
              <a:t>定期</a:t>
            </a:r>
            <a:r>
              <a:rPr lang="zh-CN" altLang="en-US" dirty="0"/>
              <a:t>对</a:t>
            </a:r>
            <a:r>
              <a:rPr lang="zh-CN" altLang="en-US" dirty="0">
                <a:solidFill>
                  <a:schemeClr val="tx2"/>
                </a:solidFill>
              </a:rPr>
              <a:t>数据库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tx2"/>
                </a:solidFill>
              </a:rPr>
              <a:t>日志文件</a:t>
            </a:r>
            <a:r>
              <a:rPr lang="zh-CN" altLang="en-US" dirty="0"/>
              <a:t>进行</a:t>
            </a:r>
            <a:r>
              <a:rPr lang="zh-CN" altLang="en-US" dirty="0">
                <a:solidFill>
                  <a:schemeClr val="tx2"/>
                </a:solidFill>
              </a:rPr>
              <a:t>备份</a:t>
            </a:r>
            <a:r>
              <a:rPr lang="zh-CN" altLang="en-US" dirty="0"/>
              <a:t>，以保证一旦发生故障，能利用数据库备份及日志文件尽快</a:t>
            </a:r>
            <a:r>
              <a:rPr lang="zh-CN" altLang="en-US" dirty="0">
                <a:solidFill>
                  <a:schemeClr val="tx2"/>
                </a:solidFill>
              </a:rPr>
              <a:t>将系统恢复到</a:t>
            </a:r>
            <a:r>
              <a:rPr lang="zh-CN" altLang="en-US" dirty="0"/>
              <a:t>某种</a:t>
            </a:r>
            <a:r>
              <a:rPr lang="zh-CN" altLang="en-US" u="sng" dirty="0"/>
              <a:t>一致性状态</a:t>
            </a:r>
            <a:r>
              <a:rPr lang="zh-CN" altLang="en-US" dirty="0"/>
              <a:t>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7CA071-90EB-7414-5D8B-EE01EE7A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EFC10C-B853-7B87-2F92-EE8E02875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98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392E7-5E5D-48E4-869F-24566B0EA260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数据库的运行与维护</a:t>
            </a:r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FF3300"/>
                </a:solidFill>
              </a:rPr>
              <a:t>数据库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安全性、完整性</a:t>
            </a:r>
            <a:r>
              <a:rPr lang="zh-CN" altLang="en-US" dirty="0">
                <a:solidFill>
                  <a:srgbClr val="FF3300"/>
                </a:solidFill>
              </a:rPr>
              <a:t>控制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/>
              <a:t>	根据用户的</a:t>
            </a:r>
            <a:r>
              <a:rPr lang="zh-CN" altLang="en-US" dirty="0">
                <a:solidFill>
                  <a:schemeClr val="tx2"/>
                </a:solidFill>
              </a:rPr>
              <a:t>实际需要</a:t>
            </a:r>
            <a:r>
              <a:rPr lang="zh-CN" altLang="en-US" dirty="0"/>
              <a:t>授予</a:t>
            </a:r>
            <a:r>
              <a:rPr lang="zh-CN" altLang="en-US" dirty="0">
                <a:solidFill>
                  <a:schemeClr val="tx2"/>
                </a:solidFill>
              </a:rPr>
              <a:t>不同的操作权限</a:t>
            </a:r>
            <a:r>
              <a:rPr lang="zh-CN" altLang="en-US" dirty="0"/>
              <a:t>。当安全性要求改变，完整性约束条件改变时也能作出不断的修正。</a:t>
            </a:r>
          </a:p>
          <a:p>
            <a:pPr>
              <a:lnSpc>
                <a:spcPct val="90000"/>
              </a:lnSpc>
            </a:pPr>
            <a:endParaRPr lang="zh-CN" altLang="en-US" sz="900" dirty="0">
              <a:solidFill>
                <a:srgbClr val="FF3300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FF3300"/>
                </a:solidFill>
              </a:rPr>
              <a:t>数据库</a:t>
            </a:r>
            <a:r>
              <a:rPr lang="zh-CN" altLang="en-US" dirty="0">
                <a:solidFill>
                  <a:srgbClr val="0000FF"/>
                </a:solidFill>
              </a:rPr>
              <a:t>性能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监督 、分析和改进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/>
              <a:t>	目前许多</a:t>
            </a:r>
            <a:r>
              <a:rPr lang="en-US" altLang="zh-CN" dirty="0"/>
              <a:t>DBMS</a:t>
            </a:r>
            <a:r>
              <a:rPr lang="zh-CN" altLang="en-US" dirty="0"/>
              <a:t>产品都提供了</a:t>
            </a:r>
            <a:r>
              <a:rPr lang="zh-CN" altLang="en-US" dirty="0">
                <a:solidFill>
                  <a:schemeClr val="tx2"/>
                </a:solidFill>
              </a:rPr>
              <a:t>监测系统性能参数</a:t>
            </a:r>
            <a:r>
              <a:rPr lang="zh-CN" altLang="en-US" dirty="0"/>
              <a:t>的工具，</a:t>
            </a:r>
            <a:r>
              <a:rPr lang="en-US" altLang="zh-CN" dirty="0"/>
              <a:t>DBA</a:t>
            </a:r>
            <a:r>
              <a:rPr lang="zh-CN" altLang="en-US" dirty="0"/>
              <a:t>可以使用这些工具获得性能参数的值，从而分析并调整某些参数以改进数据库性能。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5E2BA0-260B-1F3A-B8A2-B00307D7E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19CA5D-4460-5951-9027-8D3609086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99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A7C5C-1EBE-4753-99DD-7B00F5B4D24B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数据库的运行与维护</a:t>
            </a:r>
          </a:p>
        </p:txBody>
      </p:sp>
      <p:sp>
        <p:nvSpPr>
          <p:cNvPr id="392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45488" cy="5105400"/>
          </a:xfrm>
        </p:spPr>
        <p:txBody>
          <a:bodyPr/>
          <a:lstStyle/>
          <a:p>
            <a:r>
              <a:rPr lang="zh-CN" altLang="en-US" sz="3600" dirty="0">
                <a:solidFill>
                  <a:srgbClr val="FF3300"/>
                </a:solidFill>
              </a:rPr>
              <a:t>数据库重组织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记录的不断增、删、改，会使数据库的</a:t>
            </a:r>
            <a:r>
              <a:rPr lang="zh-CN" altLang="en-US" dirty="0">
                <a:solidFill>
                  <a:srgbClr val="0000FF"/>
                </a:solidFill>
              </a:rPr>
              <a:t>物理存储</a:t>
            </a:r>
            <a:r>
              <a:rPr lang="zh-CN" altLang="en-US" dirty="0"/>
              <a:t>变差，从而</a:t>
            </a:r>
            <a:r>
              <a:rPr lang="zh-CN" altLang="en-US" u="sng" dirty="0"/>
              <a:t>降低空间的利用率和数据的存储效率</a:t>
            </a:r>
            <a:r>
              <a:rPr lang="zh-CN" altLang="en-US" dirty="0"/>
              <a:t>，使数据库性能下降，这时</a:t>
            </a:r>
            <a:r>
              <a:rPr lang="en-US" altLang="zh-CN" dirty="0"/>
              <a:t>DBA</a:t>
            </a:r>
            <a:r>
              <a:rPr lang="zh-CN" altLang="en-US" dirty="0"/>
              <a:t>要对数据库进行</a:t>
            </a:r>
            <a:r>
              <a:rPr lang="zh-CN" altLang="en-US" dirty="0">
                <a:solidFill>
                  <a:srgbClr val="0000FF"/>
                </a:solidFill>
              </a:rPr>
              <a:t>重组织</a:t>
            </a:r>
            <a:r>
              <a:rPr lang="zh-CN" altLang="en-US" dirty="0"/>
              <a:t>。它只是按照原设计要求</a:t>
            </a:r>
            <a:r>
              <a:rPr lang="zh-CN" altLang="en-US" dirty="0">
                <a:solidFill>
                  <a:srgbClr val="0000FF"/>
                </a:solidFill>
              </a:rPr>
              <a:t>重新安排存储位置</a:t>
            </a:r>
            <a:r>
              <a:rPr lang="zh-CN" altLang="en-US" dirty="0"/>
              <a:t>，回收垃圾，减少指针，</a:t>
            </a:r>
            <a:r>
              <a:rPr lang="zh-CN" altLang="en-US" dirty="0">
                <a:solidFill>
                  <a:srgbClr val="0000FF"/>
                </a:solidFill>
              </a:rPr>
              <a:t>不会改变</a:t>
            </a:r>
            <a:r>
              <a:rPr lang="zh-CN" altLang="en-US" dirty="0"/>
              <a:t>设计的</a:t>
            </a:r>
            <a:r>
              <a:rPr lang="zh-CN" altLang="en-US" dirty="0">
                <a:solidFill>
                  <a:srgbClr val="0000FF"/>
                </a:solidFill>
              </a:rPr>
              <a:t>数据逻辑结构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</a:rPr>
              <a:t>物理结构</a:t>
            </a:r>
            <a:r>
              <a:rPr lang="zh-CN" altLang="en-US" dirty="0"/>
              <a:t>。</a:t>
            </a:r>
            <a:r>
              <a:rPr lang="en-US" altLang="zh-CN" u="sng" dirty="0"/>
              <a:t>DBMS</a:t>
            </a:r>
            <a:r>
              <a:rPr lang="zh-CN" altLang="en-US" u="sng" dirty="0"/>
              <a:t>一般都提供了实用程序帮助重新组织数据库</a:t>
            </a:r>
            <a:r>
              <a:rPr lang="zh-CN" altLang="en-US" dirty="0"/>
              <a:t>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29567A-A979-204B-BC47-2D801A432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4C1F1-0FA7-BB0F-0936-DF4EE2C4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100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AF933-E266-49F7-A028-84CAA95CA8E8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数据库的运行与维护</a:t>
            </a:r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3600" dirty="0">
                <a:solidFill>
                  <a:srgbClr val="FF3300"/>
                </a:solidFill>
              </a:rPr>
              <a:t>数据库重构造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当增加新的应用或新的实体，取消某些已有应用，不得不调整数据库的</a:t>
            </a:r>
            <a:r>
              <a:rPr lang="zh-CN" altLang="en-US" dirty="0">
                <a:solidFill>
                  <a:schemeClr val="tx2"/>
                </a:solidFill>
              </a:rPr>
              <a:t>模式和内模式</a:t>
            </a:r>
            <a:r>
              <a:rPr lang="zh-CN" altLang="en-US" dirty="0"/>
              <a:t>时，如：</a:t>
            </a:r>
            <a:r>
              <a:rPr lang="zh-CN" altLang="en-US" dirty="0">
                <a:solidFill>
                  <a:schemeClr val="tx2"/>
                </a:solidFill>
              </a:rPr>
              <a:t>增加新的数据项，改变数据库的容量，增加或删除索引，修改完整性约束条件等。这就是数据库的重构造</a:t>
            </a:r>
            <a:r>
              <a:rPr lang="zh-CN" altLang="en-US" dirty="0"/>
              <a:t>。</a:t>
            </a:r>
            <a:r>
              <a:rPr lang="en-US" altLang="zh-CN" dirty="0"/>
              <a:t>DBMS</a:t>
            </a:r>
            <a:r>
              <a:rPr lang="zh-CN" altLang="en-US" dirty="0"/>
              <a:t>都提供了</a:t>
            </a:r>
            <a:r>
              <a:rPr lang="zh-CN" altLang="en-US" dirty="0">
                <a:solidFill>
                  <a:srgbClr val="0000FF"/>
                </a:solidFill>
              </a:rPr>
              <a:t>修改数据库结构</a:t>
            </a:r>
            <a:r>
              <a:rPr lang="zh-CN" altLang="en-US" dirty="0"/>
              <a:t>的功能。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1F3520-7DD2-B178-1C82-A68B96095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E652F4-CCAE-D10F-BBFC-456F10F2F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101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EEE4-D6EF-445B-95EB-A1B17E77EFF8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数据库重新设计</a:t>
            </a:r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数据库重构的程度是有限的，若变化太大，</a:t>
            </a:r>
            <a:r>
              <a:rPr lang="zh-CN" altLang="en-US" dirty="0">
                <a:solidFill>
                  <a:schemeClr val="tx2"/>
                </a:solidFill>
              </a:rPr>
              <a:t>无法通过重构来满足新的需求</a:t>
            </a:r>
            <a:r>
              <a:rPr lang="zh-CN" altLang="en-US" dirty="0"/>
              <a:t>，或</a:t>
            </a:r>
            <a:r>
              <a:rPr lang="zh-CN" altLang="en-US" dirty="0">
                <a:solidFill>
                  <a:schemeClr val="tx2"/>
                </a:solidFill>
              </a:rPr>
              <a:t>重构的代价太大</a:t>
            </a:r>
            <a:r>
              <a:rPr lang="zh-CN" altLang="en-US" dirty="0"/>
              <a:t>，则表明现有的</a:t>
            </a:r>
            <a:r>
              <a:rPr lang="zh-CN" altLang="en-US" dirty="0">
                <a:solidFill>
                  <a:schemeClr val="tx2"/>
                </a:solidFill>
              </a:rPr>
              <a:t>系统的生命周期已经结束</a:t>
            </a:r>
            <a:r>
              <a:rPr lang="zh-CN" altLang="en-US" dirty="0"/>
              <a:t>，应该</a:t>
            </a:r>
            <a:r>
              <a:rPr lang="zh-CN" altLang="en-US" dirty="0">
                <a:solidFill>
                  <a:srgbClr val="C00000"/>
                </a:solidFill>
              </a:rPr>
              <a:t>重新设计新的数据库系统</a:t>
            </a:r>
            <a:r>
              <a:rPr lang="zh-CN" altLang="en-US" dirty="0"/>
              <a:t>。开始新的数据库应用系统的生命周期了。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930DDF-CDA8-DAC6-C335-8A807070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92724F-7AB9-F78A-1AD2-B49FF143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102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6546F-6BA9-4A7E-ABAE-E90DDC8F8058}" type="datetime1">
              <a:rPr lang="zh-CN" altLang="en-US" smtClean="0"/>
              <a:t>2025/10/24</a:t>
            </a:fld>
            <a:endParaRPr lang="en-US" altLang="zh-CN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latin typeface="Comic Sans MS" pitchFamily="66" charset="0"/>
              </a:rPr>
              <a:t>Any Question?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4140200" y="2781300"/>
            <a:ext cx="33020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CN" sz="4800" b="1" i="1">
                <a:solidFill>
                  <a:schemeClr val="hlink"/>
                </a:solidFill>
                <a:latin typeface="Times New Roman" pitchFamily="18" charset="0"/>
              </a:rPr>
              <a:t>Thank you !</a:t>
            </a:r>
          </a:p>
        </p:txBody>
      </p:sp>
      <p:pic>
        <p:nvPicPr>
          <p:cNvPr id="10244" name="Picture 4" descr="smi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133600"/>
            <a:ext cx="2209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D92B44-F888-2231-8688-743105A48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第7章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325C9A-FDCD-0F4F-00CA-A36159642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E538-733A-466A-8FC9-B10511EC22B2}" type="slidenum">
              <a:rPr lang="en-US" altLang="zh-CN" smtClean="0"/>
              <a:pPr/>
              <a:t>103</a:t>
            </a:fld>
            <a:r>
              <a:rPr lang="en-US" altLang="zh-CN"/>
              <a:t>/103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PPT_DBNAME" val="7d7841a5-dfdb-43ee-970f-8c5cf5b97957.mdb"/>
  <p:tag name="ARS_RESPONSE_PERSONNUM" val="1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  <p:tag name="ARS_CHARTCOLOR_0" val="-12481296"/>
  <p:tag name="ARS_CHARTCOLOR_1" val="-2080758"/>
  <p:tag name="ARS_CHARTCOLOR_2" val="-215999"/>
  <p:tag name="ARS_CHARTCOLOR_3" val="-16423790"/>
  <p:tag name="ARS_CHARTCOLOR_4" val="-4210753"/>
  <p:tag name="ARS_CHARTCOLOR_5" val="-15058071"/>
  <p:tag name="ARS_CHARTCOLOR_6" val="-7294"/>
  <p:tag name="ARS_CHARTCOLOR_7" val="-15557411"/>
  <p:tag name="ARS_CHARTCOLOR_8" val="-3511477"/>
  <p:tag name="ARS_CHARTCOLOR_9" val="-16753445"/>
  <p:tag name="ARS_CHARTPARA_TYPE" val="ctColumn"/>
  <p:tag name="ARS_SLIDE_DUENO" val="100"/>
  <p:tag name="ARS_SLIDE_PARTICIPANTNUM" val="100"/>
  <p:tag name="ARS_SLIDE_SUBMITNUM" val="0"/>
  <p:tag name="ARS_SLIDE_CORRECTNUM" val="0"/>
  <p:tag name="ARS_SLIDE_VOTEMEAN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Slide"/>
  <p:tag name="ARS_CHARTCOLOR_0" val="-12481296"/>
  <p:tag name="ARS_CHARTCOLOR_1" val="-2080758"/>
  <p:tag name="ARS_CHARTCOLOR_2" val="-215999"/>
  <p:tag name="ARS_CHARTCOLOR_3" val="-16423790"/>
  <p:tag name="ARS_CHARTCOLOR_4" val="-4210753"/>
  <p:tag name="ARS_CHARTCOLOR_5" val="-15058071"/>
  <p:tag name="ARS_CHARTCOLOR_6" val="-7294"/>
  <p:tag name="ARS_CHARTCOLOR_7" val="-15557411"/>
  <p:tag name="ARS_CHARTCOLOR_8" val="-3511477"/>
  <p:tag name="ARS_CHARTCOLOR_9" val="-16753445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SLIDE_DUENO" val="100"/>
  <p:tag name="ARS_SLIDE_PARTICIPANTNUM" val="100"/>
  <p:tag name="ARS_SLIDE_SUBMITNUM" val="0"/>
  <p:tag name="ARS_SLIDE_CORRECTNUM" val="0"/>
  <p:tag name="ARS_SLIDE_VOTEMEAN" val="0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Slide"/>
  <p:tag name="ARS_CHARTCOLOR_0" val="-12481296"/>
  <p:tag name="ARS_CHARTCOLOR_1" val="-2080758"/>
  <p:tag name="ARS_CHARTCOLOR_2" val="-215999"/>
  <p:tag name="ARS_CHARTCOLOR_3" val="-16423790"/>
  <p:tag name="ARS_CHARTCOLOR_4" val="-4210753"/>
  <p:tag name="ARS_CHARTCOLOR_5" val="-15058071"/>
  <p:tag name="ARS_CHARTCOLOR_6" val="-7294"/>
  <p:tag name="ARS_CHARTCOLOR_7" val="-15557411"/>
  <p:tag name="ARS_CHARTCOLOR_8" val="-3511477"/>
  <p:tag name="ARS_CHARTCOLOR_9" val="-16753445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SLIDE_DUENO" val="100"/>
  <p:tag name="ARS_SLIDE_PARTICIPANTNUM" val="100"/>
  <p:tag name="ARS_SLIDE_SUBMITNUM" val="0"/>
  <p:tag name="ARS_SLIDE_CORRECTNUM" val="0"/>
  <p:tag name="ARS_SLIDE_VOTEMEAN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Slide"/>
  <p:tag name="ARS_CHARTCOLOR_0" val="-12481296"/>
  <p:tag name="ARS_CHARTCOLOR_1" val="-2080758"/>
  <p:tag name="ARS_CHARTCOLOR_2" val="-215999"/>
  <p:tag name="ARS_CHARTCOLOR_3" val="-16423790"/>
  <p:tag name="ARS_CHARTCOLOR_4" val="-4210753"/>
  <p:tag name="ARS_CHARTCOLOR_5" val="-15058071"/>
  <p:tag name="ARS_CHARTCOLOR_6" val="-7294"/>
  <p:tag name="ARS_CHARTCOLOR_7" val="-15557411"/>
  <p:tag name="ARS_CHARTCOLOR_8" val="-3511477"/>
  <p:tag name="ARS_CHARTCOLOR_9" val="-16753445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SLIDE_DUENO" val="100"/>
  <p:tag name="ARS_SLIDE_PARTICIPANTNUM" val="100"/>
  <p:tag name="ARS_SLIDE_SUBMITNUM" val="0"/>
  <p:tag name="ARS_SLIDE_CORRECTNUM" val="0"/>
  <p:tag name="ARS_SLIDE_VOTEMEAN" val="0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Slide"/>
  <p:tag name="ARS_CHARTCOLOR_0" val="-12481296"/>
  <p:tag name="ARS_CHARTCOLOR_1" val="-2080758"/>
  <p:tag name="ARS_CHARTCOLOR_2" val="-215999"/>
  <p:tag name="ARS_CHARTCOLOR_3" val="-16423790"/>
  <p:tag name="ARS_CHARTCOLOR_4" val="-4210753"/>
  <p:tag name="ARS_CHARTCOLOR_5" val="-15058071"/>
  <p:tag name="ARS_CHARTCOLOR_6" val="-7294"/>
  <p:tag name="ARS_CHARTCOLOR_7" val="-15557411"/>
  <p:tag name="ARS_CHARTCOLOR_8" val="-3511477"/>
  <p:tag name="ARS_CHARTCOLOR_9" val="-16753445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SLIDE_DUENO" val="100"/>
  <p:tag name="ARS_SLIDE_PARTICIPANTNUM" val="100"/>
  <p:tag name="ARS_SLIDE_SUBMITNUM" val="0"/>
  <p:tag name="ARS_SLIDE_CORRECTNUM" val="0"/>
  <p:tag name="ARS_SLIDE_VOTEMEAN" val="0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Slide"/>
  <p:tag name="ARS_CHARTCOLOR_0" val="-12481296"/>
  <p:tag name="ARS_CHARTCOLOR_1" val="-2080758"/>
  <p:tag name="ARS_CHARTCOLOR_2" val="-215999"/>
  <p:tag name="ARS_CHARTCOLOR_3" val="-16423790"/>
  <p:tag name="ARS_CHARTCOLOR_4" val="-4210753"/>
  <p:tag name="ARS_CHARTCOLOR_5" val="-15058071"/>
  <p:tag name="ARS_CHARTCOLOR_6" val="-7294"/>
  <p:tag name="ARS_CHARTCOLOR_7" val="-15557411"/>
  <p:tag name="ARS_CHARTCOLOR_8" val="-3511477"/>
  <p:tag name="ARS_CHARTCOLOR_9" val="-16753445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SLIDE_DUENO" val="100"/>
  <p:tag name="ARS_SLIDE_PARTICIPANTNUM" val="100"/>
  <p:tag name="ARS_SLIDE_SUBMITNUM" val="0"/>
  <p:tag name="ARS_SLIDE_CORRECTNUM" val="0"/>
  <p:tag name="ARS_SLIDE_VOTEMEAN" val="0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RESPONSETYPE" val="None"/>
  <p:tag name="ARS_CHARTPARA_ITEMLABELFONTNAME" val="Arial"/>
  <p:tag name="ARS_CHARTPARA_ITEMLABELFONTSIZE" val="16"/>
  <p:tag name="ARS_CHARTPARA_ITEMLABELFONTBOLD" val="False"/>
  <p:tag name="ARS_CHARTPARA_ITEMLABELFONTITALIC" val="False"/>
  <p:tag name="ARS_CHARTPARA_ITEMLABELFONTCOLOR" val="-16777216"/>
  <p:tag name="ARS_CHARTPARA_DATALABELFONTNAME" val="Arial"/>
  <p:tag name="ARS_CHARTPARA_DATALABELFONTSIZE" val="14"/>
  <p:tag name="ARS_CHARTPARA_DATALABELFONTBOLD" val="False"/>
  <p:tag name="ARS_CHARTPARA_DATALABELFONTITALIC" val="False"/>
  <p:tag name="ARS_CHARTPARA_DATALABELFONTCOLOR" val="-16777216"/>
  <p:tag name="ARS_CHARTPARA_DATAFORMAT" val="ltNumberValue"/>
  <p:tag name="ARS_CHARTPARA_SHOWTIME" val="csStop"/>
  <p:tag name="ARS_CHARTPARA_NUMBERDEC" val="0"/>
  <p:tag name="ARS_CHARTPARA_DATAPERCENTBASE" val="crParticipant"/>
  <p:tag name="ARS_CHARTPARA_PERCENTDEC" val="1"/>
  <p:tag name="ARS_CHARTPARA_SHOW3D" val="0"/>
  <p:tag name="ARS_CHARTPOINTWIDTH" val="0.5"/>
  <p:tag name="ARS_CHARTSHOWITEMTEXT" val="0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  <a:cs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ld2009</Template>
  <TotalTime>3451</TotalTime>
  <Words>8045</Words>
  <Application>Microsoft Office PowerPoint</Application>
  <PresentationFormat>全屏显示(4:3)</PresentationFormat>
  <Paragraphs>978</Paragraphs>
  <Slides>103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103</vt:i4>
      </vt:variant>
    </vt:vector>
  </HeadingPairs>
  <TitlesOfParts>
    <vt:vector size="112" baseType="lpstr">
      <vt:lpstr>楷体_GB2312</vt:lpstr>
      <vt:lpstr>宋体</vt:lpstr>
      <vt:lpstr>Arial</vt:lpstr>
      <vt:lpstr>Comic Sans MS</vt:lpstr>
      <vt:lpstr>Tahoma</vt:lpstr>
      <vt:lpstr>Times New Roman</vt:lpstr>
      <vt:lpstr>Wingdings</vt:lpstr>
      <vt:lpstr>Blends</vt:lpstr>
      <vt:lpstr>Clip</vt:lpstr>
      <vt:lpstr>数据库系统原理  Database System Principles</vt:lpstr>
      <vt:lpstr>第七章 数据库设计</vt:lpstr>
      <vt:lpstr>本章目录</vt:lpstr>
      <vt:lpstr>7.1 数据库设计概述   了解</vt:lpstr>
      <vt:lpstr>7.1 数据库设计概述   了解</vt:lpstr>
      <vt:lpstr>7.1 数据库设计概述   了解</vt:lpstr>
      <vt:lpstr>7.1.1 数据库设计的特点</vt:lpstr>
      <vt:lpstr>7.1.1 数据库设计的特点</vt:lpstr>
      <vt:lpstr>7.1.2 数据库设计方法</vt:lpstr>
      <vt:lpstr>7.1.2 数据库设计方法---早期</vt:lpstr>
      <vt:lpstr>7.1.2 数据库设计方法</vt:lpstr>
      <vt:lpstr>数据库设计方法</vt:lpstr>
      <vt:lpstr>7.1.3 数据库设计基本步骤</vt:lpstr>
      <vt:lpstr>7.1.3 数据库设计基本步骤</vt:lpstr>
      <vt:lpstr>7.1.3 数据库设计基本步骤</vt:lpstr>
      <vt:lpstr>7.1.3 数据库设计基本步骤</vt:lpstr>
      <vt:lpstr>7.1.3 数据库设计基本步骤</vt:lpstr>
      <vt:lpstr>7.1.3 数据库设计基本步骤</vt:lpstr>
      <vt:lpstr>本章目录</vt:lpstr>
      <vt:lpstr>7.2  需求分析  考虑自学</vt:lpstr>
      <vt:lpstr>数据流图和数据字典</vt:lpstr>
      <vt:lpstr>数据流图和数据字典</vt:lpstr>
      <vt:lpstr>本章目录</vt:lpstr>
      <vt:lpstr>7.3 概念结构设计</vt:lpstr>
      <vt:lpstr>概念模型的基本概念</vt:lpstr>
      <vt:lpstr>概念模型的基本概念</vt:lpstr>
      <vt:lpstr>概念模型的基本概念</vt:lpstr>
      <vt:lpstr>E-R方法</vt:lpstr>
      <vt:lpstr>概念模型的基本概念– E-R图</vt:lpstr>
      <vt:lpstr>概念模型的基本概念</vt:lpstr>
      <vt:lpstr>概念模型的基本概念</vt:lpstr>
      <vt:lpstr>概念模型的基本概念</vt:lpstr>
      <vt:lpstr>E-R模型</vt:lpstr>
      <vt:lpstr>E-R模型</vt:lpstr>
      <vt:lpstr>E-R模型</vt:lpstr>
      <vt:lpstr>概念模型的基本概念</vt:lpstr>
      <vt:lpstr>联系的约束---ER图表示</vt:lpstr>
      <vt:lpstr>概念模型的基本概念-- 联系的约束</vt:lpstr>
      <vt:lpstr>概念模型的基本概念-- 联系的约束</vt:lpstr>
      <vt:lpstr>E-R模型（续）</vt:lpstr>
      <vt:lpstr>E-R模型（续）</vt:lpstr>
      <vt:lpstr>E-R模型（续）</vt:lpstr>
      <vt:lpstr>E-R模型（续）</vt:lpstr>
      <vt:lpstr>E-R方法</vt:lpstr>
      <vt:lpstr>E-R方法</vt:lpstr>
      <vt:lpstr>总结：ER模型的记号1</vt:lpstr>
      <vt:lpstr>总结：ER模型的记号2</vt:lpstr>
      <vt:lpstr>实例1.1</vt:lpstr>
      <vt:lpstr>实例1.1</vt:lpstr>
      <vt:lpstr>实例1.1: 1-N?</vt:lpstr>
      <vt:lpstr>实例1.1: 1-N?</vt:lpstr>
      <vt:lpstr>实例1.1: M-N</vt:lpstr>
      <vt:lpstr>实例1.1结论</vt:lpstr>
      <vt:lpstr>实例: 一个简单的教学管理的概念模型</vt:lpstr>
      <vt:lpstr>PowerPoint 演示文稿</vt:lpstr>
      <vt:lpstr>概念结构设计的方法和步骤  自学</vt:lpstr>
      <vt:lpstr>步骤1：局部设计</vt:lpstr>
      <vt:lpstr>步骤2：集成局部设计，生成全局概念结构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本章目录</vt:lpstr>
      <vt:lpstr>7.4 逻辑结构设计</vt:lpstr>
      <vt:lpstr>E-R图向关系模型的转换原则：</vt:lpstr>
      <vt:lpstr>E-R图向关系模型的转换原则：</vt:lpstr>
      <vt:lpstr>E-R图向关系模型的转换原则：</vt:lpstr>
      <vt:lpstr>ER模型到关系模型的9步映射算法</vt:lpstr>
      <vt:lpstr>ER模型到关系模型的9步映射算法</vt:lpstr>
      <vt:lpstr>ER模型到关系模型的9步映射算法</vt:lpstr>
      <vt:lpstr>ER模型到关系模型的9步映射算法</vt:lpstr>
      <vt:lpstr>ER模型到关系模型的9步映射算法</vt:lpstr>
      <vt:lpstr>ER模型到关系模型的9步映射算法</vt:lpstr>
      <vt:lpstr>ER模型到关系模型的9步映射算法</vt:lpstr>
      <vt:lpstr>ER模型到关系模型的9步映射算法</vt:lpstr>
      <vt:lpstr>ER模型到关系模型的9步映射算法</vt:lpstr>
      <vt:lpstr>PowerPoint 演示文稿</vt:lpstr>
      <vt:lpstr>示例： 用9步算法对图书馆系统ER图进行关系模型转换</vt:lpstr>
      <vt:lpstr>示例： 用9步算法对图书馆系统ER图进行关系模型转换</vt:lpstr>
      <vt:lpstr>示例： 用9步算法对图书馆系统ER图进行关系模型转换</vt:lpstr>
      <vt:lpstr>示例： 用9步算法对图书馆系统ER图进行关系模型转换</vt:lpstr>
      <vt:lpstr>示例： 用9步算法对图书馆系统ER图进行关系模型转换</vt:lpstr>
      <vt:lpstr>示例： 用9步算法对图书馆系统ER图进行关系模型转换</vt:lpstr>
      <vt:lpstr>示例： 用9步算法对图书馆系统ER图进行关系模型转换</vt:lpstr>
      <vt:lpstr>关系模式的优化(通常以规范化理论为指导)</vt:lpstr>
      <vt:lpstr>关系模式的优化(通常以规范化理论为指导)</vt:lpstr>
      <vt:lpstr>本章目录</vt:lpstr>
      <vt:lpstr>7.5 数据库的物理设计</vt:lpstr>
      <vt:lpstr>数据库的物理设计</vt:lpstr>
      <vt:lpstr>数据库的物理设计</vt:lpstr>
      <vt:lpstr>本章目录</vt:lpstr>
      <vt:lpstr>7.6 数据库的实施</vt:lpstr>
      <vt:lpstr>数据库的实施</vt:lpstr>
      <vt:lpstr>本章目录</vt:lpstr>
      <vt:lpstr>7.7 数据库的运行与维护</vt:lpstr>
      <vt:lpstr>数据库的运行与维护</vt:lpstr>
      <vt:lpstr>数据库的运行与维护</vt:lpstr>
      <vt:lpstr>数据库的运行与维护</vt:lpstr>
      <vt:lpstr>数据库重新设计</vt:lpstr>
      <vt:lpstr>Any Question?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lei duan</dc:creator>
  <cp:lastModifiedBy>Administrator</cp:lastModifiedBy>
  <cp:revision>823</cp:revision>
  <dcterms:created xsi:type="dcterms:W3CDTF">2009-08-07T14:32:50Z</dcterms:created>
  <dcterms:modified xsi:type="dcterms:W3CDTF">2025-10-24T08:56:45Z</dcterms:modified>
</cp:coreProperties>
</file>