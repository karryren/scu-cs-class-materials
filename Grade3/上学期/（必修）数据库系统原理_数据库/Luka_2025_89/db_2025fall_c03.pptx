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179"/>
  </p:notesMasterIdLst>
  <p:handoutMasterIdLst>
    <p:handoutMasterId r:id="rId180"/>
  </p:handoutMasterIdLst>
  <p:sldIdLst>
    <p:sldId id="258" r:id="rId2"/>
    <p:sldId id="259" r:id="rId3"/>
    <p:sldId id="261" r:id="rId4"/>
    <p:sldId id="476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459" r:id="rId13"/>
    <p:sldId id="269" r:id="rId14"/>
    <p:sldId id="270" r:id="rId15"/>
    <p:sldId id="271" r:id="rId16"/>
    <p:sldId id="440" r:id="rId17"/>
    <p:sldId id="272" r:id="rId18"/>
    <p:sldId id="478" r:id="rId19"/>
    <p:sldId id="477" r:id="rId20"/>
    <p:sldId id="503" r:id="rId21"/>
    <p:sldId id="479" r:id="rId22"/>
    <p:sldId id="441" r:id="rId23"/>
    <p:sldId id="446" r:id="rId24"/>
    <p:sldId id="273" r:id="rId25"/>
    <p:sldId id="274" r:id="rId26"/>
    <p:sldId id="275" r:id="rId27"/>
    <p:sldId id="461" r:id="rId28"/>
    <p:sldId id="460" r:id="rId29"/>
    <p:sldId id="277" r:id="rId30"/>
    <p:sldId id="278" r:id="rId31"/>
    <p:sldId id="481" r:id="rId32"/>
    <p:sldId id="279" r:id="rId33"/>
    <p:sldId id="280" r:id="rId34"/>
    <p:sldId id="281" r:id="rId35"/>
    <p:sldId id="282" r:id="rId36"/>
    <p:sldId id="447" r:id="rId37"/>
    <p:sldId id="284" r:id="rId38"/>
    <p:sldId id="462" r:id="rId39"/>
    <p:sldId id="285" r:id="rId40"/>
    <p:sldId id="453" r:id="rId41"/>
    <p:sldId id="454" r:id="rId42"/>
    <p:sldId id="455" r:id="rId43"/>
    <p:sldId id="286" r:id="rId44"/>
    <p:sldId id="287" r:id="rId45"/>
    <p:sldId id="288" r:id="rId46"/>
    <p:sldId id="289" r:id="rId47"/>
    <p:sldId id="290" r:id="rId48"/>
    <p:sldId id="442" r:id="rId49"/>
    <p:sldId id="295" r:id="rId50"/>
    <p:sldId id="297" r:id="rId51"/>
    <p:sldId id="298" r:id="rId52"/>
    <p:sldId id="296" r:id="rId53"/>
    <p:sldId id="300" r:id="rId54"/>
    <p:sldId id="299" r:id="rId55"/>
    <p:sldId id="463" r:id="rId56"/>
    <p:sldId id="302" r:id="rId57"/>
    <p:sldId id="303" r:id="rId58"/>
    <p:sldId id="301" r:id="rId59"/>
    <p:sldId id="464" r:id="rId60"/>
    <p:sldId id="496" r:id="rId61"/>
    <p:sldId id="304" r:id="rId62"/>
    <p:sldId id="305" r:id="rId63"/>
    <p:sldId id="306" r:id="rId64"/>
    <p:sldId id="307" r:id="rId65"/>
    <p:sldId id="308" r:id="rId66"/>
    <p:sldId id="309" r:id="rId67"/>
    <p:sldId id="310" r:id="rId68"/>
    <p:sldId id="312" r:id="rId69"/>
    <p:sldId id="311" r:id="rId70"/>
    <p:sldId id="313" r:id="rId71"/>
    <p:sldId id="314" r:id="rId72"/>
    <p:sldId id="485" r:id="rId73"/>
    <p:sldId id="486" r:id="rId74"/>
    <p:sldId id="484" r:id="rId75"/>
    <p:sldId id="493" r:id="rId76"/>
    <p:sldId id="316" r:id="rId77"/>
    <p:sldId id="317" r:id="rId78"/>
    <p:sldId id="318" r:id="rId79"/>
    <p:sldId id="319" r:id="rId80"/>
    <p:sldId id="321" r:id="rId81"/>
    <p:sldId id="320" r:id="rId82"/>
    <p:sldId id="322" r:id="rId83"/>
    <p:sldId id="324" r:id="rId84"/>
    <p:sldId id="323" r:id="rId85"/>
    <p:sldId id="325" r:id="rId86"/>
    <p:sldId id="326" r:id="rId87"/>
    <p:sldId id="327" r:id="rId88"/>
    <p:sldId id="328" r:id="rId89"/>
    <p:sldId id="482" r:id="rId90"/>
    <p:sldId id="329" r:id="rId91"/>
    <p:sldId id="330" r:id="rId92"/>
    <p:sldId id="331" r:id="rId93"/>
    <p:sldId id="332" r:id="rId94"/>
    <p:sldId id="333" r:id="rId95"/>
    <p:sldId id="465" r:id="rId96"/>
    <p:sldId id="334" r:id="rId97"/>
    <p:sldId id="335" r:id="rId98"/>
    <p:sldId id="336" r:id="rId99"/>
    <p:sldId id="466" r:id="rId100"/>
    <p:sldId id="467" r:id="rId101"/>
    <p:sldId id="337" r:id="rId102"/>
    <p:sldId id="498" r:id="rId103"/>
    <p:sldId id="497" r:id="rId104"/>
    <p:sldId id="501" r:id="rId105"/>
    <p:sldId id="500" r:id="rId106"/>
    <p:sldId id="355" r:id="rId107"/>
    <p:sldId id="356" r:id="rId108"/>
    <p:sldId id="504" r:id="rId109"/>
    <p:sldId id="502" r:id="rId110"/>
    <p:sldId id="357" r:id="rId111"/>
    <p:sldId id="358" r:id="rId112"/>
    <p:sldId id="506" r:id="rId113"/>
    <p:sldId id="359" r:id="rId114"/>
    <p:sldId id="361" r:id="rId115"/>
    <p:sldId id="363" r:id="rId116"/>
    <p:sldId id="365" r:id="rId117"/>
    <p:sldId id="366" r:id="rId118"/>
    <p:sldId id="367" r:id="rId119"/>
    <p:sldId id="490" r:id="rId120"/>
    <p:sldId id="372" r:id="rId121"/>
    <p:sldId id="373" r:id="rId122"/>
    <p:sldId id="374" r:id="rId123"/>
    <p:sldId id="364" r:id="rId124"/>
    <p:sldId id="507" r:id="rId125"/>
    <p:sldId id="376" r:id="rId126"/>
    <p:sldId id="508" r:id="rId127"/>
    <p:sldId id="469" r:id="rId128"/>
    <p:sldId id="509" r:id="rId129"/>
    <p:sldId id="378" r:id="rId130"/>
    <p:sldId id="510" r:id="rId131"/>
    <p:sldId id="489" r:id="rId132"/>
    <p:sldId id="368" r:id="rId133"/>
    <p:sldId id="495" r:id="rId134"/>
    <p:sldId id="370" r:id="rId135"/>
    <p:sldId id="450" r:id="rId136"/>
    <p:sldId id="369" r:id="rId137"/>
    <p:sldId id="379" r:id="rId138"/>
    <p:sldId id="380" r:id="rId139"/>
    <p:sldId id="381" r:id="rId140"/>
    <p:sldId id="382" r:id="rId141"/>
    <p:sldId id="383" r:id="rId142"/>
    <p:sldId id="384" r:id="rId143"/>
    <p:sldId id="385" r:id="rId144"/>
    <p:sldId id="387" r:id="rId145"/>
    <p:sldId id="386" r:id="rId146"/>
    <p:sldId id="388" r:id="rId147"/>
    <p:sldId id="389" r:id="rId148"/>
    <p:sldId id="390" r:id="rId149"/>
    <p:sldId id="391" r:id="rId150"/>
    <p:sldId id="512" r:id="rId151"/>
    <p:sldId id="513" r:id="rId152"/>
    <p:sldId id="515" r:id="rId153"/>
    <p:sldId id="514" r:id="rId154"/>
    <p:sldId id="517" r:id="rId155"/>
    <p:sldId id="518" r:id="rId156"/>
    <p:sldId id="516" r:id="rId157"/>
    <p:sldId id="443" r:id="rId158"/>
    <p:sldId id="392" r:id="rId159"/>
    <p:sldId id="404" r:id="rId160"/>
    <p:sldId id="405" r:id="rId161"/>
    <p:sldId id="406" r:id="rId162"/>
    <p:sldId id="407" r:id="rId163"/>
    <p:sldId id="408" r:id="rId164"/>
    <p:sldId id="410" r:id="rId165"/>
    <p:sldId id="393" r:id="rId166"/>
    <p:sldId id="394" r:id="rId167"/>
    <p:sldId id="491" r:id="rId168"/>
    <p:sldId id="397" r:id="rId169"/>
    <p:sldId id="398" r:id="rId170"/>
    <p:sldId id="399" r:id="rId171"/>
    <p:sldId id="400" r:id="rId172"/>
    <p:sldId id="401" r:id="rId173"/>
    <p:sldId id="402" r:id="rId174"/>
    <p:sldId id="403" r:id="rId175"/>
    <p:sldId id="520" r:id="rId176"/>
    <p:sldId id="521" r:id="rId177"/>
    <p:sldId id="260" r:id="rId178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o Jixiang" initials="GJ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00"/>
    <a:srgbClr val="800080"/>
    <a:srgbClr val="660066"/>
    <a:srgbClr val="FFC9C9"/>
    <a:srgbClr val="8B5A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1" autoAdjust="0"/>
    <p:restoredTop sz="92964" autoAdjust="0"/>
  </p:normalViewPr>
  <p:slideViewPr>
    <p:cSldViewPr>
      <p:cViewPr varScale="1">
        <p:scale>
          <a:sx n="144" d="100"/>
          <a:sy n="144" d="100"/>
        </p:scale>
        <p:origin x="219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0794"/>
    </p:cViewPr>
  </p:sorterViewPr>
  <p:notesViewPr>
    <p:cSldViewPr>
      <p:cViewPr varScale="1">
        <p:scale>
          <a:sx n="63" d="100"/>
          <a:sy n="63" d="100"/>
        </p:scale>
        <p:origin x="-2650" y="-77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54" Type="http://schemas.openxmlformats.org/officeDocument/2006/relationships/slide" Target="slides/slide153.xml"/><Relationship Id="rId159" Type="http://schemas.openxmlformats.org/officeDocument/2006/relationships/slide" Target="slides/slide158.xml"/><Relationship Id="rId175" Type="http://schemas.openxmlformats.org/officeDocument/2006/relationships/slide" Target="slides/slide174.xml"/><Relationship Id="rId170" Type="http://schemas.openxmlformats.org/officeDocument/2006/relationships/slide" Target="slides/slide169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65" Type="http://schemas.openxmlformats.org/officeDocument/2006/relationships/slide" Target="slides/slide164.xml"/><Relationship Id="rId181" Type="http://schemas.openxmlformats.org/officeDocument/2006/relationships/commentAuthors" Target="commentAuthor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slide" Target="slides/slide154.xml"/><Relationship Id="rId171" Type="http://schemas.openxmlformats.org/officeDocument/2006/relationships/slide" Target="slides/slide170.xml"/><Relationship Id="rId176" Type="http://schemas.openxmlformats.org/officeDocument/2006/relationships/slide" Target="slides/slide175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slide" Target="slides/slide165.xml"/><Relationship Id="rId18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72" Type="http://schemas.openxmlformats.org/officeDocument/2006/relationships/slide" Target="slides/slide171.xml"/><Relationship Id="rId180" Type="http://schemas.openxmlformats.org/officeDocument/2006/relationships/handoutMaster" Target="handoutMasters/handoutMaster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theme" Target="theme/theme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notesMaster" Target="notesMasters/notesMaster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2842CA-DF83-4882-8FFF-BA3A85D16D38}" type="datetimeFigureOut">
              <a:rPr lang="zh-CN" altLang="en-US" smtClean="0"/>
              <a:pPr/>
              <a:t>2025/9/24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5E344F-D534-46E9-8FE3-CD92B79C735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53910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kumimoji="0" sz="1200"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8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kumimoji="0" sz="1200"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4F53C07F-DE34-475F-A416-CA73C1AAA93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86838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baike.baidu.com/view/692450.htm" TargetMode="External"/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53C07F-DE34-475F-A416-CA73C1AAA933}" type="slidenum">
              <a:rPr lang="zh-CN" altLang="en-US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7764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53C07F-DE34-475F-A416-CA73C1AAA933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93107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53C07F-DE34-475F-A416-CA73C1AAA933}" type="slidenum">
              <a:rPr lang="zh-CN" altLang="en-US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8064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F53C07F-DE34-475F-A416-CA73C1AAA933}" type="slidenum">
              <a:rPr lang="zh-CN" altLang="en-US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65823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53C07F-DE34-475F-A416-CA73C1AAA933}" type="slidenum">
              <a:rPr lang="zh-CN" altLang="en-US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71927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265DFA8-44F2-4994-A8CC-7B0F1C906F03}" type="slidenum">
              <a:rPr kumimoji="0" lang="zh-CN" altLang="en-US" sz="1200">
                <a:latin typeface="Arial" charset="0"/>
              </a:rPr>
              <a:pPr eaLnBrk="1" hangingPunct="1"/>
              <a:t>25</a:t>
            </a:fld>
            <a:endParaRPr kumimoji="0" lang="en-US" altLang="zh-CN" sz="1200">
              <a:latin typeface="Arial" charset="0"/>
            </a:endParaRPr>
          </a:p>
        </p:txBody>
      </p:sp>
      <p:sp>
        <p:nvSpPr>
          <p:cNvPr id="206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68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>
                <a:latin typeface="Arial" charset="0"/>
                <a:cs typeface="Arial" charset="0"/>
              </a:rPr>
              <a:t>缺省</a:t>
            </a:r>
            <a:r>
              <a:rPr lang="en-US" altLang="zh-CN" dirty="0">
                <a:latin typeface="Arial" charset="0"/>
                <a:cs typeface="Arial" charset="0"/>
              </a:rPr>
              <a:t>AUTHORIZATION username </a:t>
            </a:r>
            <a:r>
              <a:rPr lang="zh-CN" altLang="en-US" dirty="0">
                <a:latin typeface="Arial" charset="0"/>
                <a:cs typeface="Arial" charset="0"/>
              </a:rPr>
              <a:t>时为</a:t>
            </a:r>
            <a:r>
              <a:rPr lang="en-US" altLang="zh-CN" dirty="0">
                <a:latin typeface="Arial" charset="0"/>
                <a:cs typeface="Arial" charset="0"/>
              </a:rPr>
              <a:t>Owner</a:t>
            </a:r>
            <a:r>
              <a:rPr lang="zh-CN" altLang="en-US" dirty="0">
                <a:latin typeface="Arial" charset="0"/>
                <a:cs typeface="Arial" charset="0"/>
              </a:rPr>
              <a:t>，</a:t>
            </a:r>
            <a:r>
              <a:rPr lang="en-US" altLang="zh-CN" dirty="0">
                <a:latin typeface="Arial" charset="0"/>
                <a:cs typeface="Arial" charset="0"/>
              </a:rPr>
              <a:t>DBMS</a:t>
            </a:r>
            <a:r>
              <a:rPr lang="zh-CN" altLang="en-US" dirty="0">
                <a:latin typeface="Arial" charset="0"/>
                <a:cs typeface="Arial" charset="0"/>
              </a:rPr>
              <a:t>权限归创建者</a:t>
            </a:r>
          </a:p>
        </p:txBody>
      </p:sp>
    </p:spTree>
    <p:extLst>
      <p:ext uri="{BB962C8B-B14F-4D97-AF65-F5344CB8AC3E}">
        <p14:creationId xmlns:p14="http://schemas.microsoft.com/office/powerpoint/2010/main" val="1616073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265DFA8-44F2-4994-A8CC-7B0F1C906F03}" type="slidenum">
              <a:rPr kumimoji="0" lang="zh-CN" altLang="en-US" sz="1200">
                <a:latin typeface="Arial" charset="0"/>
              </a:rPr>
              <a:pPr eaLnBrk="1" hangingPunct="1"/>
              <a:t>27</a:t>
            </a:fld>
            <a:endParaRPr kumimoji="0" lang="en-US" altLang="zh-CN" sz="1200">
              <a:latin typeface="Arial" charset="0"/>
            </a:endParaRPr>
          </a:p>
        </p:txBody>
      </p:sp>
      <p:sp>
        <p:nvSpPr>
          <p:cNvPr id="206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68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latin typeface="Arial" charset="0"/>
                <a:cs typeface="Arial" charset="0"/>
              </a:rPr>
              <a:t>缺省</a:t>
            </a:r>
            <a:r>
              <a:rPr lang="en-US" altLang="zh-CN">
                <a:latin typeface="Arial" charset="0"/>
                <a:cs typeface="Arial" charset="0"/>
              </a:rPr>
              <a:t>AUTHORIZATION username </a:t>
            </a:r>
            <a:r>
              <a:rPr lang="zh-CN" altLang="en-US">
                <a:latin typeface="Arial" charset="0"/>
                <a:cs typeface="Arial" charset="0"/>
              </a:rPr>
              <a:t>时为</a:t>
            </a:r>
            <a:r>
              <a:rPr lang="en-US" altLang="zh-CN">
                <a:latin typeface="Arial" charset="0"/>
                <a:cs typeface="Arial" charset="0"/>
              </a:rPr>
              <a:t>Owner</a:t>
            </a:r>
            <a:r>
              <a:rPr lang="zh-CN" altLang="en-US">
                <a:latin typeface="Arial" charset="0"/>
                <a:cs typeface="Arial" charset="0"/>
              </a:rPr>
              <a:t>，</a:t>
            </a:r>
            <a:r>
              <a:rPr lang="en-US" altLang="zh-CN">
                <a:latin typeface="Arial" charset="0"/>
                <a:cs typeface="Arial" charset="0"/>
              </a:rPr>
              <a:t>DBMS</a:t>
            </a:r>
            <a:r>
              <a:rPr lang="zh-CN" altLang="en-US">
                <a:latin typeface="Arial" charset="0"/>
                <a:cs typeface="Arial" charset="0"/>
              </a:rPr>
              <a:t>权限归创建者</a:t>
            </a:r>
          </a:p>
        </p:txBody>
      </p:sp>
    </p:spTree>
    <p:extLst>
      <p:ext uri="{BB962C8B-B14F-4D97-AF65-F5344CB8AC3E}">
        <p14:creationId xmlns:p14="http://schemas.microsoft.com/office/powerpoint/2010/main" val="39262119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265DFA8-44F2-4994-A8CC-7B0F1C906F03}" type="slidenum">
              <a:rPr kumimoji="0" lang="zh-CN" altLang="en-US" sz="1200">
                <a:latin typeface="Arial" charset="0"/>
              </a:rPr>
              <a:pPr eaLnBrk="1" hangingPunct="1"/>
              <a:t>28</a:t>
            </a:fld>
            <a:endParaRPr kumimoji="0" lang="en-US" altLang="zh-CN" sz="1200">
              <a:latin typeface="Arial" charset="0"/>
            </a:endParaRPr>
          </a:p>
        </p:txBody>
      </p:sp>
      <p:sp>
        <p:nvSpPr>
          <p:cNvPr id="206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68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>
                <a:latin typeface="Arial" charset="0"/>
                <a:cs typeface="Arial" charset="0"/>
              </a:rPr>
              <a:t>缺省</a:t>
            </a:r>
            <a:r>
              <a:rPr lang="en-US" altLang="zh-CN" dirty="0">
                <a:latin typeface="Arial" charset="0"/>
                <a:cs typeface="Arial" charset="0"/>
              </a:rPr>
              <a:t>AUTHORIZATION username </a:t>
            </a:r>
            <a:r>
              <a:rPr lang="zh-CN" altLang="en-US" dirty="0">
                <a:latin typeface="Arial" charset="0"/>
                <a:cs typeface="Arial" charset="0"/>
              </a:rPr>
              <a:t>时为</a:t>
            </a:r>
            <a:r>
              <a:rPr lang="en-US" altLang="zh-CN" dirty="0">
                <a:latin typeface="Arial" charset="0"/>
                <a:cs typeface="Arial" charset="0"/>
              </a:rPr>
              <a:t>Owner</a:t>
            </a:r>
            <a:r>
              <a:rPr lang="zh-CN" altLang="en-US" dirty="0">
                <a:latin typeface="Arial" charset="0"/>
                <a:cs typeface="Arial" charset="0"/>
              </a:rPr>
              <a:t>，</a:t>
            </a:r>
            <a:r>
              <a:rPr lang="en-US" altLang="zh-CN" dirty="0">
                <a:latin typeface="Arial" charset="0"/>
                <a:cs typeface="Arial" charset="0"/>
              </a:rPr>
              <a:t>DBMS</a:t>
            </a:r>
            <a:r>
              <a:rPr lang="zh-CN" altLang="en-US" dirty="0">
                <a:latin typeface="Arial" charset="0"/>
                <a:cs typeface="Arial" charset="0"/>
              </a:rPr>
              <a:t>权限归创建者</a:t>
            </a:r>
          </a:p>
        </p:txBody>
      </p:sp>
    </p:spTree>
    <p:extLst>
      <p:ext uri="{BB962C8B-B14F-4D97-AF65-F5344CB8AC3E}">
        <p14:creationId xmlns:p14="http://schemas.microsoft.com/office/powerpoint/2010/main" val="35725230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53C07F-DE34-475F-A416-CA73C1AAA933}" type="slidenum">
              <a:rPr lang="zh-CN" altLang="en-US" smtClean="0"/>
              <a:pPr>
                <a:defRPr/>
              </a:pPr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42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53C07F-DE34-475F-A416-CA73C1AAA933}" type="slidenum">
              <a:rPr lang="zh-CN" altLang="en-US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62817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数据库查询是数据库的核心操作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53C07F-DE34-475F-A416-CA73C1AAA933}" type="slidenum">
              <a:rPr lang="zh-CN" altLang="en-US" smtClean="0"/>
              <a:pPr>
                <a:defRPr/>
              </a:pPr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3365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53C07F-DE34-475F-A416-CA73C1AAA933}" type="slidenum">
              <a:rPr lang="zh-CN" altLang="en-US" smtClean="0"/>
              <a:pPr>
                <a:defRPr/>
              </a:pPr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77013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53C07F-DE34-475F-A416-CA73C1AAA933}" type="slidenum">
              <a:rPr lang="zh-CN" altLang="en-US" smtClean="0"/>
              <a:pPr>
                <a:defRPr/>
              </a:pPr>
              <a:t>69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3799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53C07F-DE34-475F-A416-CA73C1AAA933}" type="slidenum">
              <a:rPr lang="zh-CN" altLang="en-US" smtClean="0"/>
              <a:pPr>
                <a:defRPr/>
              </a:pPr>
              <a:t>98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67935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53C07F-DE34-475F-A416-CA73C1AAA933}" type="slidenum">
              <a:rPr lang="zh-CN" altLang="en-US" smtClean="0"/>
              <a:pPr>
                <a:defRPr/>
              </a:pPr>
              <a:t>110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86108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53C07F-DE34-475F-A416-CA73C1AAA933}" type="slidenum">
              <a:rPr lang="zh-CN" altLang="en-US" smtClean="0"/>
              <a:pPr>
                <a:defRPr/>
              </a:pPr>
              <a:t>119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74878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53C07F-DE34-475F-A416-CA73C1AAA933}" type="slidenum">
              <a:rPr lang="zh-CN" altLang="en-US" smtClean="0"/>
              <a:pPr>
                <a:defRPr/>
              </a:pPr>
              <a:t>121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1789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53C07F-DE34-475F-A416-CA73C1AAA933}" type="slidenum">
              <a:rPr lang="zh-CN" altLang="en-US" smtClean="0"/>
              <a:pPr>
                <a:defRPr/>
              </a:pPr>
              <a:t>142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4364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group by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有一个原则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,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就是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select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后面的所有列中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,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没有使用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  <a:hlinkClick r:id="rId3"/>
              </a:rPr>
              <a:t>聚合函数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的列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,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必须出现在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group by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后面。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zh-CN" altLang="en-US" noProof="1"/>
              <a:t>选择列表中的列</a:t>
            </a:r>
            <a:r>
              <a:rPr lang="en-US" altLang="zh-CN" sz="1200" dirty="0" err="1"/>
              <a:t>Sname</a:t>
            </a:r>
            <a:r>
              <a:rPr lang="zh-CN" altLang="zh-CN" noProof="1"/>
              <a:t>' </a:t>
            </a:r>
            <a:r>
              <a:rPr lang="zh-CN" altLang="en-US" noProof="1"/>
              <a:t>无效，因为该列没有包含在聚合函数或</a:t>
            </a:r>
            <a:r>
              <a:rPr lang="en-US" altLang="zh-CN" noProof="1"/>
              <a:t>GROUP BY </a:t>
            </a:r>
            <a:r>
              <a:rPr lang="zh-CN" altLang="en-US" noProof="1"/>
              <a:t>子句中。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53C07F-DE34-475F-A416-CA73C1AAA933}" type="slidenum">
              <a:rPr lang="zh-CN" altLang="en-US" smtClean="0"/>
              <a:pPr>
                <a:defRPr/>
              </a:pPr>
              <a:t>144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14490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Times New Roman" pitchFamily="18" charset="0"/>
              </a:rPr>
              <a:t>R∩S = R-(R-S)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Times New Roman" pitchFamily="18" charset="0"/>
              </a:rPr>
              <a:t>(R-S)= R-R∩S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53C07F-DE34-475F-A416-CA73C1AAA933}" type="slidenum">
              <a:rPr lang="zh-CN" altLang="en-US" smtClean="0"/>
              <a:pPr>
                <a:defRPr/>
              </a:pPr>
              <a:t>148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83912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53C07F-DE34-475F-A416-CA73C1AAA933}" type="slidenum">
              <a:rPr lang="zh-CN" altLang="en-US" smtClean="0"/>
              <a:pPr>
                <a:defRPr/>
              </a:pPr>
              <a:t>149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81656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F53C07F-DE34-475F-A416-CA73C1AAA933}" type="slidenum">
              <a:rPr lang="zh-CN" altLang="en-US" smtClean="0"/>
              <a:pPr>
                <a:defRPr/>
              </a:pPr>
              <a:t>156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257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53C07F-DE34-475F-A416-CA73C1AAA933}" type="slidenum">
              <a:rPr lang="zh-CN" altLang="en-US" smtClean="0"/>
              <a:pPr>
                <a:defRPr/>
              </a:pPr>
              <a:t>159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30367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53C07F-DE34-475F-A416-CA73C1AAA933}" type="slidenum">
              <a:rPr lang="zh-CN" altLang="en-US" smtClean="0"/>
              <a:pPr>
                <a:defRPr/>
              </a:pPr>
              <a:t>163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31977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53C07F-DE34-475F-A416-CA73C1AAA933}" type="slidenum">
              <a:rPr lang="zh-CN" altLang="en-US" smtClean="0"/>
              <a:pPr>
                <a:defRPr/>
              </a:pPr>
              <a:t>177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6152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7"/>
          <p:cNvGraphicFramePr>
            <a:graphicFrameLocks/>
          </p:cNvGraphicFramePr>
          <p:nvPr/>
        </p:nvGraphicFramePr>
        <p:xfrm>
          <a:off x="533400" y="3124200"/>
          <a:ext cx="8305800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6857143" imgH="48963" progId="">
                  <p:embed/>
                </p:oleObj>
              </mc:Choice>
              <mc:Fallback>
                <p:oleObj name="Clip" r:id="rId2" imgW="6857143" imgH="48963" progId="">
                  <p:embed/>
                  <p:pic>
                    <p:nvPicPr>
                      <p:cNvPr id="0" name="Picture 750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124200"/>
                        <a:ext cx="8305800" cy="7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1371600"/>
            <a:ext cx="7772400" cy="1462088"/>
          </a:xfrm>
        </p:spPr>
        <p:txBody>
          <a:bodyPr/>
          <a:lstStyle>
            <a:lvl1pPr algn="ctr">
              <a:defRPr b="1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FDE76125-D790-4DF1-9A7C-41E93D10EA28}" type="datetime1">
              <a:rPr lang="zh-CN" altLang="en-US" smtClean="0"/>
              <a:t>2025/9/24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《数据库系统概论》- 第3章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D3BF4510-0278-40CF-B611-0F02EF94E9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1430734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57DD6-F640-4C3F-BD9E-91EBF049F271}" type="datetime1">
              <a:rPr lang="zh-CN" altLang="en-US" smtClean="0"/>
              <a:t>2025/9/24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《数据库系统概论》- 第3章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‹#›</a:t>
            </a:fld>
            <a:r>
              <a:rPr lang="en-US" altLang="zh-CN" dirty="0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2881747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2653D0-A162-4FDA-AF03-08C38B840E52}" type="datetime1">
              <a:rPr lang="zh-CN" altLang="en-US" smtClean="0"/>
              <a:t>2025/9/24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《数据库系统概论》- 第3章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15701D-4886-4FC7-8299-13B5AF2EC3E5}" type="slidenum">
              <a:rPr lang="en-US" altLang="zh-CN" smtClean="0"/>
              <a:pPr>
                <a:defRPr/>
              </a:pPr>
              <a:t>‹#›</a:t>
            </a:fld>
            <a:r>
              <a:rPr lang="en-US" altLang="zh-CN" dirty="0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549870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447800"/>
            <a:ext cx="4095750" cy="46847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57750" y="1447800"/>
            <a:ext cx="4097338" cy="46847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190C18-EB5F-4730-8AB9-4E384D9CEA85}" type="datetime1">
              <a:rPr lang="zh-CN" altLang="en-US" smtClean="0"/>
              <a:t>2025/9/24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《数据库系统概论》- 第3章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BFB5AF-00C3-4229-80FB-3644303542FA}" type="slidenum">
              <a:rPr lang="en-US" altLang="zh-CN" smtClean="0"/>
              <a:pPr>
                <a:defRPr/>
              </a:pPr>
              <a:t>‹#›</a:t>
            </a:fld>
            <a:r>
              <a:rPr lang="en-US" altLang="zh-CN" dirty="0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6081608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9B1E34-2C47-49BC-9B02-68EA14A0472A}" type="datetime1">
              <a:rPr lang="zh-CN" altLang="en-US" smtClean="0"/>
              <a:t>2025/9/24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《数据库系统概论》- 第3章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5CD1AB-7B24-4427-9E56-5032E9315002}" type="slidenum">
              <a:rPr lang="en-US" altLang="zh-CN" smtClean="0"/>
              <a:pPr>
                <a:defRPr/>
              </a:pPr>
              <a:t>‹#›</a:t>
            </a:fld>
            <a:r>
              <a:rPr lang="en-US" altLang="zh-CN" dirty="0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035651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597EFF-1D93-445C-8C10-D6789228C5FE}" type="datetime1">
              <a:rPr lang="zh-CN" altLang="en-US" smtClean="0"/>
              <a:t>2025/9/24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《数据库系统概论》- 第3章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9F6470-30F0-46F2-A9B4-347B3C250B99}" type="slidenum">
              <a:rPr lang="en-US" altLang="zh-CN" smtClean="0"/>
              <a:pPr>
                <a:defRPr/>
              </a:pPr>
              <a:t>‹#›</a:t>
            </a:fld>
            <a:r>
              <a:rPr lang="en-US" altLang="zh-CN" dirty="0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240637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0E9CDE-E3E5-4959-91F7-13C13CBA5473}" type="datetime1">
              <a:rPr lang="zh-CN" altLang="en-US" smtClean="0"/>
              <a:t>2025/9/24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《数据库系统概论》- 第3章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F3156E-B8C2-412F-AFBE-30E4CB8151DB}" type="slidenum">
              <a:rPr lang="en-US" altLang="zh-CN" smtClean="0"/>
              <a:pPr>
                <a:defRPr/>
              </a:pPr>
              <a:t>‹#›</a:t>
            </a:fld>
            <a:r>
              <a:rPr lang="en-US" altLang="zh-CN" dirty="0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856807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D46857-D42A-4CD9-837D-E6B0752DA240}" type="datetime1">
              <a:rPr lang="zh-CN" altLang="en-US" smtClean="0"/>
              <a:t>2025/9/24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《数据库系统概论》- 第3章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CAF686-1E1A-4212-AE78-EDF5D1EE7E58}" type="slidenum">
              <a:rPr lang="en-US" altLang="zh-CN" smtClean="0"/>
              <a:pPr>
                <a:defRPr/>
              </a:pPr>
              <a:t>‹#›</a:t>
            </a:fld>
            <a:r>
              <a:rPr lang="en-US" altLang="zh-CN" dirty="0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5694714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224759-AB9A-4106-9F49-A3026DD95875}" type="datetime1">
              <a:rPr lang="zh-CN" altLang="en-US" smtClean="0"/>
              <a:t>2025/9/24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《数据库系统概论》- 第3章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D7E72A-BB86-4279-8871-E07E727D6110}" type="slidenum">
              <a:rPr lang="en-US" altLang="zh-CN" smtClean="0"/>
              <a:pPr>
                <a:defRPr/>
              </a:pPr>
              <a:t>‹#›</a:t>
            </a:fld>
            <a:r>
              <a:rPr lang="en-US" altLang="zh-CN" dirty="0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961976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B2CEA3-4D67-4A33-BAD5-FBBA45F6BA8A}" type="datetime1">
              <a:rPr lang="zh-CN" altLang="en-US" smtClean="0"/>
              <a:t>2025/9/24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《数据库系统概论》- 第3章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F8BAEB-9568-4D00-923C-5E9A8E058C22}" type="slidenum">
              <a:rPr lang="en-US" altLang="zh-CN" smtClean="0"/>
              <a:pPr>
                <a:defRPr/>
              </a:pPr>
              <a:t>‹#›</a:t>
            </a:fld>
            <a:r>
              <a:rPr lang="en-US" altLang="zh-CN" dirty="0"/>
              <a:t>/225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945593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69113" y="381000"/>
            <a:ext cx="2085975" cy="57515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381000"/>
            <a:ext cx="6107113" cy="57515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5C0E2D-B481-4165-A9DE-F091D5C2EB94}" type="datetime1">
              <a:rPr lang="zh-CN" altLang="en-US" smtClean="0"/>
              <a:t>2025/9/24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《数据库系统概论》- 第3章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1D7009-6F38-40C2-BE5D-B577DDD75D74}" type="slidenum">
              <a:rPr lang="en-US" altLang="zh-CN" smtClean="0"/>
              <a:pPr>
                <a:defRPr/>
              </a:pPr>
              <a:t>‹#›</a:t>
            </a:fld>
            <a:r>
              <a:rPr lang="en-US" altLang="zh-CN" dirty="0"/>
              <a:t>/225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3397682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81000"/>
            <a:ext cx="8105775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447800"/>
            <a:ext cx="4095750" cy="46847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57750" y="1447800"/>
            <a:ext cx="4097338" cy="46847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ABC1BC-8714-4C68-9007-CE596E1B3D48}" type="datetime1">
              <a:rPr lang="zh-CN" altLang="en-US" smtClean="0"/>
              <a:t>2025/9/24</a:t>
            </a:fld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《数据库系统概论》- 第3章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B95F93-1FA0-4470-9C7E-0F02488CAEB5}" type="slidenum">
              <a:rPr lang="en-US" altLang="zh-CN" smtClean="0"/>
              <a:pPr>
                <a:defRPr/>
              </a:pPr>
              <a:t>‹#›</a:t>
            </a:fld>
            <a:r>
              <a:rPr lang="en-US" altLang="zh-CN" dirty="0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5786364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81000"/>
            <a:ext cx="81057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47800"/>
            <a:ext cx="8345488" cy="4684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kumimoji="0" sz="1400" smtClean="0">
                <a:cs typeface="Arial" pitchFamily="34" charset="0"/>
              </a:defRPr>
            </a:lvl1pPr>
          </a:lstStyle>
          <a:p>
            <a:pPr>
              <a:defRPr/>
            </a:pPr>
            <a:fld id="{8EE267D9-B9C8-40E6-AEAB-DC85020AB13F}" type="datetime1">
              <a:rPr lang="zh-CN" altLang="en-US" smtClean="0"/>
              <a:t>2025/9/24</a:t>
            </a:fld>
            <a:endParaRPr lang="en-US" altLang="zh-CN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6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 smtClean="0"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《数据库系统概论》- 第3章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 smtClean="0">
                <a:cs typeface="Arial" pitchFamily="34" charset="0"/>
              </a:defRPr>
            </a:lvl1pPr>
          </a:lstStyle>
          <a:p>
            <a:pPr>
              <a:defRPr/>
            </a:pPr>
            <a:fld id="{1D652F23-F222-4961-A4BB-131A6C79ADB7}" type="slidenum">
              <a:rPr lang="en-US" altLang="zh-CN" smtClean="0"/>
              <a:pPr>
                <a:defRPr/>
              </a:pPr>
              <a:t>‹#›</a:t>
            </a:fld>
            <a:r>
              <a:rPr lang="en-US" altLang="zh-CN" dirty="0"/>
              <a:t>/219</a:t>
            </a:r>
            <a:endParaRPr lang="zh-CN" altLang="en-US" dirty="0"/>
          </a:p>
        </p:txBody>
      </p:sp>
      <p:pic>
        <p:nvPicPr>
          <p:cNvPr id="1031" name="Picture 7" descr="redBar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19200"/>
            <a:ext cx="7924800" cy="15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ransition>
    <p:fade/>
  </p:transition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sz="4000">
                <a:latin typeface="Times New Roman" pitchFamily="18" charset="0"/>
              </a:rPr>
              <a:t>数据库系统原理</a:t>
            </a:r>
            <a:br>
              <a:rPr lang="zh-CN" altLang="en-US" sz="4000">
                <a:latin typeface="Times New Roman" pitchFamily="18" charset="0"/>
              </a:rPr>
            </a:br>
            <a:br>
              <a:rPr lang="zh-CN" altLang="en-US" sz="900">
                <a:latin typeface="Times New Roman" pitchFamily="18" charset="0"/>
              </a:rPr>
            </a:br>
            <a:r>
              <a:rPr lang="en-US" altLang="zh-CN" sz="2800">
                <a:latin typeface="Times New Roman" pitchFamily="18" charset="0"/>
              </a:rPr>
              <a:t>Database System Principles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2438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四川大学计算机学院</a:t>
            </a:r>
          </a:p>
          <a:p>
            <a:pPr eaLnBrk="1" hangingPunct="1">
              <a:lnSpc>
                <a:spcPct val="90000"/>
              </a:lnSpc>
            </a:pPr>
            <a:endParaRPr lang="zh-CN" altLang="en-US" sz="2400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郭际香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latin typeface="Times New Roman" pitchFamily="18" charset="0"/>
                <a:ea typeface="楷体_GB2312" pitchFamily="49" charset="-122"/>
              </a:rPr>
              <a:t>guojixiang@scu.edu.cn</a:t>
            </a:r>
          </a:p>
          <a:p>
            <a:pPr eaLnBrk="1" hangingPunct="1">
              <a:lnSpc>
                <a:spcPct val="90000"/>
              </a:lnSpc>
            </a:pPr>
            <a:endParaRPr lang="en-US" altLang="zh-CN" sz="2400" dirty="0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latin typeface="Times New Roman" pitchFamily="18" charset="0"/>
              </a:rPr>
              <a:t>2025.09-2025.10</a:t>
            </a:r>
          </a:p>
          <a:p>
            <a:pPr eaLnBrk="1" hangingPunct="1">
              <a:lnSpc>
                <a:spcPct val="90000"/>
              </a:lnSpc>
            </a:pPr>
            <a:endParaRPr lang="en-US" altLang="zh-CN" sz="2400" dirty="0">
              <a:latin typeface="Times New Roman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838200"/>
            <a:ext cx="7772400" cy="1462088"/>
          </a:xfrm>
        </p:spPr>
        <p:txBody>
          <a:bodyPr/>
          <a:lstStyle/>
          <a:p>
            <a:pPr eaLnBrk="1" hangingPunct="1"/>
            <a:r>
              <a:rPr lang="zh-CN" altLang="zh-CN" dirty="0"/>
              <a:t>第</a:t>
            </a:r>
            <a:r>
              <a:rPr lang="en-US" altLang="zh-CN" b="0" dirty="0"/>
              <a:t>3-4</a:t>
            </a:r>
            <a:r>
              <a:rPr lang="zh-CN" altLang="zh-CN" dirty="0"/>
              <a:t>章 关系数据库标准语言SQL</a:t>
            </a:r>
            <a:endParaRPr lang="en-US" altLang="zh-CN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38200" y="3505200"/>
            <a:ext cx="7924800" cy="2514600"/>
          </a:xfrm>
        </p:spPr>
        <p:txBody>
          <a:bodyPr/>
          <a:lstStyle/>
          <a:p>
            <a:pPr algn="l" eaLnBrk="1" hangingPunct="1">
              <a:lnSpc>
                <a:spcPct val="80000"/>
              </a:lnSpc>
              <a:buFont typeface="Wingdings" pitchFamily="2" charset="2"/>
              <a:buChar char="n"/>
            </a:pPr>
            <a:r>
              <a:rPr lang="en-US" altLang="zh-CN" sz="2400" dirty="0"/>
              <a:t> SQL</a:t>
            </a:r>
            <a:r>
              <a:rPr lang="zh-CN" altLang="en-US" sz="2400" dirty="0"/>
              <a:t>是</a:t>
            </a:r>
            <a:r>
              <a:rPr lang="en-US" altLang="zh-CN" sz="2400" dirty="0">
                <a:solidFill>
                  <a:srgbClr val="FF0000"/>
                </a:solidFill>
              </a:rPr>
              <a:t>Structured</a:t>
            </a:r>
            <a:r>
              <a:rPr lang="en-US" altLang="zh-CN" sz="2400" dirty="0"/>
              <a:t> Query Language</a:t>
            </a:r>
            <a:r>
              <a:rPr lang="zh-CN" altLang="en-US" sz="2400" dirty="0"/>
              <a:t>的缩写</a:t>
            </a:r>
          </a:p>
          <a:p>
            <a:pPr algn="l" eaLnBrk="1" hangingPunct="1">
              <a:lnSpc>
                <a:spcPct val="80000"/>
              </a:lnSpc>
              <a:buFont typeface="Wingdings" pitchFamily="2" charset="2"/>
              <a:buChar char="n"/>
            </a:pPr>
            <a:r>
              <a:rPr lang="zh-CN" altLang="en-US" sz="2400" dirty="0"/>
              <a:t> 最新的标准是</a:t>
            </a:r>
            <a:r>
              <a:rPr lang="en-US" altLang="zh-CN" sz="2400" dirty="0"/>
              <a:t>SQL2023</a:t>
            </a:r>
            <a:r>
              <a:rPr lang="zh-CN" altLang="en-US" sz="2400" dirty="0"/>
              <a:t>，</a:t>
            </a:r>
            <a:r>
              <a:rPr lang="en-US" altLang="zh-CN" sz="2400" dirty="0"/>
              <a:t>2023</a:t>
            </a:r>
            <a:r>
              <a:rPr lang="zh-CN" altLang="en-US" sz="2400" dirty="0"/>
              <a:t>年</a:t>
            </a:r>
            <a:r>
              <a:rPr lang="en-US" altLang="zh-CN" sz="2400" dirty="0"/>
              <a:t>6</a:t>
            </a:r>
            <a:r>
              <a:rPr lang="zh-CN" altLang="en-US" sz="2400" dirty="0"/>
              <a:t>月</a:t>
            </a:r>
            <a:r>
              <a:rPr lang="en-US" altLang="zh-CN" sz="2400" dirty="0"/>
              <a:t>1</a:t>
            </a:r>
            <a:r>
              <a:rPr lang="zh-CN" altLang="en-US" sz="2400" dirty="0"/>
              <a:t>日发布</a:t>
            </a:r>
            <a:endParaRPr lang="en-US" altLang="zh-CN" sz="2400" dirty="0"/>
          </a:p>
          <a:p>
            <a:pPr algn="l" eaLnBrk="1" hangingPunct="1">
              <a:lnSpc>
                <a:spcPct val="80000"/>
              </a:lnSpc>
              <a:buFont typeface="Wingdings" pitchFamily="2" charset="2"/>
              <a:buChar char="n"/>
            </a:pPr>
            <a:r>
              <a:rPr lang="en-US" altLang="zh-CN" sz="2400" dirty="0"/>
              <a:t> </a:t>
            </a:r>
            <a:r>
              <a:rPr lang="zh-CN" altLang="en-US" sz="2400" dirty="0"/>
              <a:t>使用最广的标准是</a:t>
            </a:r>
            <a:r>
              <a:rPr lang="en-US" altLang="zh-CN" sz="2400" dirty="0"/>
              <a:t>SQL99</a:t>
            </a:r>
          </a:p>
          <a:p>
            <a:pPr marL="457200" lvl="1" indent="0" eaLnBrk="1" hangingPunct="1">
              <a:lnSpc>
                <a:spcPct val="80000"/>
              </a:lnSpc>
            </a:pPr>
            <a:r>
              <a:rPr lang="zh-CN" altLang="en-US" sz="2000" dirty="0"/>
              <a:t> 包含了很多核心</a:t>
            </a:r>
            <a:r>
              <a:rPr lang="en-US" altLang="zh-CN" sz="2000" dirty="0"/>
              <a:t>SQL</a:t>
            </a:r>
            <a:r>
              <a:rPr lang="zh-CN" altLang="en-US" sz="2000" dirty="0"/>
              <a:t>以外的包</a:t>
            </a:r>
          </a:p>
          <a:p>
            <a:pPr marL="457200" lvl="1" indent="0" eaLnBrk="1" hangingPunct="1">
              <a:lnSpc>
                <a:spcPct val="80000"/>
              </a:lnSpc>
            </a:pPr>
            <a:r>
              <a:rPr lang="zh-CN" altLang="en-US" sz="2000" dirty="0"/>
              <a:t> 增加对</a:t>
            </a:r>
            <a:r>
              <a:rPr lang="zh-CN" altLang="en-US" sz="2000" dirty="0">
                <a:solidFill>
                  <a:srgbClr val="006600"/>
                </a:solidFill>
              </a:rPr>
              <a:t>递归查询、临时视图</a:t>
            </a:r>
            <a:r>
              <a:rPr lang="zh-CN" altLang="en-US" sz="2000" dirty="0"/>
              <a:t>的支持</a:t>
            </a:r>
          </a:p>
          <a:p>
            <a:pPr marL="457200" lvl="1" indent="0" eaLnBrk="1" hangingPunct="1">
              <a:lnSpc>
                <a:spcPct val="80000"/>
              </a:lnSpc>
            </a:pPr>
            <a:r>
              <a:rPr lang="zh-CN" altLang="en-US" sz="2000" dirty="0"/>
              <a:t> 增加对</a:t>
            </a:r>
            <a:r>
              <a:rPr lang="zh-CN" altLang="en-US" sz="2000" dirty="0">
                <a:solidFill>
                  <a:srgbClr val="006600"/>
                </a:solidFill>
              </a:rPr>
              <a:t>触发器</a:t>
            </a:r>
            <a:r>
              <a:rPr lang="zh-CN" altLang="en-US" sz="2000" dirty="0"/>
              <a:t>的支持</a:t>
            </a:r>
          </a:p>
          <a:p>
            <a:pPr algn="l" eaLnBrk="1" hangingPunct="1">
              <a:lnSpc>
                <a:spcPct val="80000"/>
              </a:lnSpc>
              <a:buFont typeface="Wingdings" pitchFamily="2" charset="2"/>
              <a:buChar char="n"/>
            </a:pPr>
            <a:r>
              <a:rPr lang="zh-CN" altLang="en-US" sz="2400" dirty="0"/>
              <a:t> 现在商品化</a:t>
            </a:r>
            <a:r>
              <a:rPr lang="en-US" altLang="zh-CN" sz="2400" dirty="0"/>
              <a:t>DBMS</a:t>
            </a:r>
            <a:r>
              <a:rPr lang="zh-CN" altLang="en-US" sz="2400" dirty="0"/>
              <a:t>一般都支持</a:t>
            </a:r>
            <a:r>
              <a:rPr lang="en-US" altLang="zh-CN" sz="2400" dirty="0"/>
              <a:t>SQL92</a:t>
            </a:r>
            <a:r>
              <a:rPr lang="zh-CN" altLang="en-US" sz="2400" dirty="0"/>
              <a:t>规范的超集</a:t>
            </a:r>
            <a:r>
              <a:rPr lang="en-US" altLang="zh-CN" sz="2400" dirty="0"/>
              <a:t>/</a:t>
            </a:r>
            <a:r>
              <a:rPr lang="zh-CN" altLang="en-US" sz="2400" dirty="0"/>
              <a:t>子集。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834396C-B184-24FF-EB51-1808B54A6850}"/>
              </a:ext>
            </a:extLst>
          </p:cNvPr>
          <p:cNvSpPr txBox="1"/>
          <p:nvPr/>
        </p:nvSpPr>
        <p:spPr>
          <a:xfrm>
            <a:off x="3411027" y="2514600"/>
            <a:ext cx="2223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 </a:t>
            </a:r>
            <a:r>
              <a:rPr lang="en-US" altLang="zh-CN" dirty="0"/>
              <a:t>SQL</a:t>
            </a:r>
            <a:r>
              <a:rPr lang="zh-CN" altLang="en-US" dirty="0"/>
              <a:t>介绍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9673042-63BB-4028-8294-873D34D887E0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512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本章目录</a:t>
            </a:r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00200"/>
            <a:ext cx="7583488" cy="4532313"/>
          </a:xfrm>
        </p:spPr>
        <p:txBody>
          <a:bodyPr/>
          <a:lstStyle/>
          <a:p>
            <a:pPr eaLnBrk="1" hangingPunct="1"/>
            <a:r>
              <a:rPr lang="en-US" altLang="zh-CN" dirty="0"/>
              <a:t>3.1 SQL</a:t>
            </a:r>
            <a:r>
              <a:rPr lang="zh-CN" altLang="en-US" dirty="0"/>
              <a:t>概述</a:t>
            </a:r>
          </a:p>
          <a:p>
            <a:pPr eaLnBrk="1" hangingPunct="1"/>
            <a:r>
              <a:rPr lang="en-US" altLang="zh-CN" dirty="0"/>
              <a:t>3.2 </a:t>
            </a:r>
            <a:r>
              <a:rPr lang="zh-CN" altLang="en-US" dirty="0"/>
              <a:t>示例数据库</a:t>
            </a:r>
          </a:p>
          <a:p>
            <a:pPr eaLnBrk="1" hangingPunct="1"/>
            <a:r>
              <a:rPr lang="en-US" altLang="zh-CN" dirty="0"/>
              <a:t>3.3 </a:t>
            </a:r>
            <a:r>
              <a:rPr lang="zh-CN" altLang="en-US" dirty="0"/>
              <a:t>数据定义</a:t>
            </a:r>
          </a:p>
          <a:p>
            <a:pPr eaLnBrk="1" hangingPunct="1"/>
            <a:r>
              <a:rPr lang="en-US" altLang="zh-CN" dirty="0"/>
              <a:t>3.4 SQL</a:t>
            </a:r>
            <a:r>
              <a:rPr lang="zh-CN" altLang="en-US" dirty="0"/>
              <a:t>查询</a:t>
            </a:r>
            <a:endParaRPr lang="zh-CN" altLang="en-US" dirty="0">
              <a:solidFill>
                <a:srgbClr val="CC0000"/>
              </a:solidFill>
            </a:endParaRPr>
          </a:p>
          <a:p>
            <a:pPr eaLnBrk="1" hangingPunct="1"/>
            <a:r>
              <a:rPr lang="en-US" altLang="zh-CN" dirty="0"/>
              <a:t>3.5 </a:t>
            </a:r>
            <a:r>
              <a:rPr lang="zh-CN" altLang="en-US" dirty="0"/>
              <a:t>数据更新</a:t>
            </a:r>
            <a:endParaRPr lang="zh-CN" altLang="en-US" dirty="0">
              <a:solidFill>
                <a:srgbClr val="CC0000"/>
              </a:solidFill>
            </a:endParaRPr>
          </a:p>
        </p:txBody>
      </p:sp>
      <p:sp>
        <p:nvSpPr>
          <p:cNvPr id="11268" name="AutoShape 4"/>
          <p:cNvSpPr>
            <a:spLocks noChangeArrowheads="1"/>
          </p:cNvSpPr>
          <p:nvPr/>
        </p:nvSpPr>
        <p:spPr bwMode="auto">
          <a:xfrm>
            <a:off x="838200" y="1752600"/>
            <a:ext cx="457200" cy="457200"/>
          </a:xfrm>
          <a:prstGeom prst="rightArrow">
            <a:avLst>
              <a:gd name="adj1" fmla="val 50000"/>
              <a:gd name="adj2" fmla="val 40278"/>
            </a:avLst>
          </a:prstGeom>
          <a:solidFill>
            <a:srgbClr val="FFCC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E5879CB-7453-F390-CBFC-4B7EA8C36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3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494371B-B016-44F8-A086-2340362B30E8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614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3.1 SQL</a:t>
            </a:r>
            <a:r>
              <a:rPr lang="zh-CN" altLang="en-US"/>
              <a:t>概述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SQL</a:t>
            </a:r>
            <a:r>
              <a:rPr lang="zh-CN" altLang="en-US"/>
              <a:t>介于关系代数与关系演算之间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/>
              <a:t>3.1.1 SQL</a:t>
            </a:r>
            <a:r>
              <a:rPr lang="zh-CN" altLang="en-US"/>
              <a:t>的发展</a:t>
            </a:r>
            <a:endParaRPr lang="en-US" altLang="zh-CN"/>
          </a:p>
          <a:p>
            <a:pPr eaLnBrk="1" hangingPunct="1">
              <a:buFont typeface="Wingdings" pitchFamily="2" charset="2"/>
              <a:buNone/>
            </a:pPr>
            <a:endParaRPr lang="zh-CN" altLang="en-US" dirty="0"/>
          </a:p>
        </p:txBody>
      </p:sp>
      <p:pic>
        <p:nvPicPr>
          <p:cNvPr id="2099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387" y="2504223"/>
            <a:ext cx="7391400" cy="3968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4343400" y="1905000"/>
            <a:ext cx="4572000" cy="830997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zh-CN" altLang="en-US" dirty="0"/>
              <a:t>目前，</a:t>
            </a:r>
            <a:r>
              <a:rPr lang="zh-CN" altLang="en-US" dirty="0">
                <a:solidFill>
                  <a:srgbClr val="C00000"/>
                </a:solidFill>
              </a:rPr>
              <a:t>没有一个数据库系统能够支持</a:t>
            </a:r>
            <a:r>
              <a:rPr lang="en-US" altLang="zh-CN" b="1" dirty="0">
                <a:solidFill>
                  <a:srgbClr val="C00000"/>
                </a:solidFill>
              </a:rPr>
              <a:t>SQL</a:t>
            </a:r>
            <a:r>
              <a:rPr lang="zh-CN" altLang="en-US" dirty="0">
                <a:solidFill>
                  <a:srgbClr val="C00000"/>
                </a:solidFill>
              </a:rPr>
              <a:t>标准的所有概念和特性 </a:t>
            </a:r>
          </a:p>
        </p:txBody>
      </p:sp>
      <p:sp>
        <p:nvSpPr>
          <p:cNvPr id="3" name="椭圆 2"/>
          <p:cNvSpPr/>
          <p:nvPr/>
        </p:nvSpPr>
        <p:spPr bwMode="auto">
          <a:xfrm>
            <a:off x="685800" y="3855081"/>
            <a:ext cx="2799684" cy="1524000"/>
          </a:xfrm>
          <a:prstGeom prst="ellipse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7F63DE-1AAB-DD39-41B7-B94EBE60D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4</a:t>
            </a:fld>
            <a:r>
              <a:rPr lang="en-US" altLang="zh-CN"/>
              <a:t>/177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520734" y="5993437"/>
            <a:ext cx="7152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13008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407A207-9369-44DF-ADFB-41E266AF6CAA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614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3.1 SQL</a:t>
            </a:r>
            <a:r>
              <a:rPr lang="zh-CN" altLang="en-US"/>
              <a:t>概述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3.1.2 SQL</a:t>
            </a:r>
            <a:r>
              <a:rPr lang="zh-CN" altLang="en-US" dirty="0"/>
              <a:t>的特点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SQL</a:t>
            </a:r>
            <a:r>
              <a:rPr lang="zh-CN" altLang="en-US" dirty="0"/>
              <a:t>集</a:t>
            </a:r>
            <a:r>
              <a:rPr lang="zh-CN" altLang="en-US" dirty="0">
                <a:solidFill>
                  <a:srgbClr val="0000FF"/>
                </a:solidFill>
              </a:rPr>
              <a:t>数据查询、数据操纵、数据定义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00FF"/>
                </a:solidFill>
              </a:rPr>
              <a:t>数据控制</a:t>
            </a:r>
            <a:r>
              <a:rPr lang="zh-CN" altLang="en-US" dirty="0"/>
              <a:t>功能于一体。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其综合、强大、简洁使其成为国际标准。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FBBA9F7-7250-467C-16A2-9FE8F2FD3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5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66B595B-3057-4ECC-A3A2-57F2F7A08DB6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717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3.1.2 SQL</a:t>
            </a:r>
            <a:r>
              <a:rPr lang="zh-CN" altLang="en-US"/>
              <a:t>的特点</a:t>
            </a:r>
            <a:endParaRPr lang="zh-CN" altLang="en-US" dirty="0"/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45488" cy="3657599"/>
          </a:xfrm>
        </p:spPr>
        <p:txBody>
          <a:bodyPr/>
          <a:lstStyle/>
          <a:p>
            <a:pPr marL="609600" indent="-609600" eaLnBrk="1" hangingPunct="1">
              <a:buFont typeface="Wingdings" pitchFamily="2" charset="2"/>
              <a:buNone/>
            </a:pPr>
            <a:r>
              <a:rPr lang="zh-CN" altLang="en-US" dirty="0"/>
              <a:t>一、综合统一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zh-CN" altLang="en-US" dirty="0"/>
              <a:t>数据定义</a:t>
            </a:r>
            <a:r>
              <a:rPr lang="en-US" altLang="zh-CN" dirty="0"/>
              <a:t>DDL</a:t>
            </a:r>
            <a:r>
              <a:rPr lang="zh-CN" altLang="en-US" dirty="0"/>
              <a:t>：关系模式、完整性、视图</a:t>
            </a:r>
            <a:endParaRPr lang="en-US" altLang="zh-CN" dirty="0"/>
          </a:p>
          <a:p>
            <a:pPr marL="609600" indent="-609600" eaLnBrk="1" hangingPunct="1">
              <a:buFontTx/>
              <a:buAutoNum type="arabicPeriod"/>
            </a:pPr>
            <a:r>
              <a:rPr lang="zh-CN" altLang="en-US" dirty="0"/>
              <a:t>数据操作</a:t>
            </a:r>
            <a:r>
              <a:rPr lang="en-US" altLang="zh-CN" dirty="0"/>
              <a:t>DML</a:t>
            </a:r>
            <a:r>
              <a:rPr lang="zh-CN" altLang="en-US" dirty="0"/>
              <a:t>：</a:t>
            </a:r>
            <a:r>
              <a:rPr lang="en-US" altLang="zh-CN" dirty="0"/>
              <a:t>SQL</a:t>
            </a:r>
            <a:r>
              <a:rPr lang="zh-CN" altLang="en-US" b="1" dirty="0">
                <a:solidFill>
                  <a:srgbClr val="0000FF"/>
                </a:solidFill>
              </a:rPr>
              <a:t>数据</a:t>
            </a:r>
            <a:r>
              <a:rPr lang="zh-CN" altLang="en-US" dirty="0">
                <a:solidFill>
                  <a:srgbClr val="FF0000"/>
                </a:solidFill>
              </a:rPr>
              <a:t>操作符</a:t>
            </a:r>
            <a:r>
              <a:rPr lang="zh-CN" altLang="en-US" dirty="0"/>
              <a:t>的统一</a:t>
            </a:r>
          </a:p>
          <a:p>
            <a:pPr marL="990600" lvl="1" indent="-533400" eaLnBrk="1" hangingPunct="1">
              <a:buFontTx/>
              <a:buChar char="•"/>
            </a:pPr>
            <a:r>
              <a:rPr lang="zh-CN" altLang="en-US" dirty="0">
                <a:solidFill>
                  <a:schemeClr val="tx2"/>
                </a:solidFill>
              </a:rPr>
              <a:t>查询、插入、删除、修改</a:t>
            </a:r>
            <a:r>
              <a:rPr lang="zh-CN" altLang="en-US" dirty="0"/>
              <a:t>都只有一种操作符</a:t>
            </a:r>
            <a:endParaRPr lang="en-US" altLang="zh-CN" dirty="0"/>
          </a:p>
          <a:p>
            <a:pPr marL="609600" indent="-609600" eaLnBrk="1" hangingPunct="1">
              <a:buFontTx/>
              <a:buAutoNum type="arabicPeriod"/>
            </a:pPr>
            <a:r>
              <a:rPr lang="zh-CN" altLang="en-US" dirty="0"/>
              <a:t>事务控制、授权等</a:t>
            </a:r>
            <a:r>
              <a:rPr lang="en-US" altLang="zh-CN" dirty="0"/>
              <a:t> </a:t>
            </a:r>
          </a:p>
          <a:p>
            <a:pPr marL="609600" indent="-609600" eaLnBrk="1" hangingPunct="1">
              <a:buFont typeface="Wingdings" pitchFamily="2" charset="2"/>
              <a:buNone/>
            </a:pP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7687268-9C71-E705-6FDC-EAAB05A48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6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DCA97F6-07F6-4894-9408-DA872AFDC3F4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819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3.1.2 SQL</a:t>
            </a:r>
            <a:r>
              <a:rPr lang="zh-CN" altLang="en-US"/>
              <a:t>的特点</a:t>
            </a:r>
            <a:endParaRPr lang="zh-CN" altLang="en-US" dirty="0"/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二、高度非过程化</a:t>
            </a:r>
          </a:p>
          <a:p>
            <a:pPr eaLnBrk="1" hangingPunct="1">
              <a:buFontTx/>
              <a:buChar char="•"/>
            </a:pPr>
            <a:r>
              <a:rPr lang="en-US" altLang="zh-CN" dirty="0"/>
              <a:t>SQL</a:t>
            </a:r>
            <a:r>
              <a:rPr lang="zh-CN" altLang="en-US" dirty="0"/>
              <a:t>进行数据操作，只要提出</a:t>
            </a:r>
            <a:r>
              <a:rPr lang="zh-CN" altLang="en-US" dirty="0">
                <a:latin typeface="Arial" charset="0"/>
              </a:rPr>
              <a:t>“</a:t>
            </a:r>
            <a:r>
              <a:rPr lang="en-US" altLang="zh-CN" dirty="0"/>
              <a:t>What to do</a:t>
            </a:r>
            <a:r>
              <a:rPr lang="en-US" altLang="zh-CN" dirty="0">
                <a:latin typeface="Arial" charset="0"/>
              </a:rPr>
              <a:t>”</a:t>
            </a:r>
            <a:r>
              <a:rPr lang="zh-CN" altLang="en-US" dirty="0"/>
              <a:t>，无需告诉系统</a:t>
            </a:r>
            <a:r>
              <a:rPr lang="zh-CN" altLang="en-US" dirty="0">
                <a:latin typeface="Arial" charset="0"/>
              </a:rPr>
              <a:t>“</a:t>
            </a:r>
            <a:r>
              <a:rPr lang="en-US" altLang="zh-CN" dirty="0"/>
              <a:t>How to do</a:t>
            </a:r>
            <a:r>
              <a:rPr lang="en-US" altLang="zh-CN" dirty="0">
                <a:latin typeface="Arial" charset="0"/>
              </a:rPr>
              <a:t>”</a:t>
            </a:r>
            <a:endParaRPr lang="en-US" altLang="zh-CN" dirty="0"/>
          </a:p>
          <a:p>
            <a:pPr eaLnBrk="1" hangingPunct="1">
              <a:buFontTx/>
              <a:buChar char="•"/>
            </a:pPr>
            <a:endParaRPr lang="en-US" altLang="zh-CN" dirty="0"/>
          </a:p>
          <a:p>
            <a:pPr lvl="1" eaLnBrk="1" hangingPunct="1">
              <a:buFontTx/>
              <a:buChar char="•"/>
            </a:pPr>
            <a:r>
              <a:rPr lang="zh-CN" altLang="en-US" sz="3200" dirty="0"/>
              <a:t>充分体现关系系统的特点和优势</a:t>
            </a:r>
          </a:p>
          <a:p>
            <a:pPr lvl="1" eaLnBrk="1" hangingPunct="1">
              <a:buFontTx/>
              <a:buChar char="•"/>
            </a:pPr>
            <a:r>
              <a:rPr lang="zh-CN" altLang="en-US" sz="3200" dirty="0"/>
              <a:t>有利于</a:t>
            </a:r>
            <a:r>
              <a:rPr lang="zh-CN" altLang="en-US" sz="3200" b="1" dirty="0">
                <a:solidFill>
                  <a:schemeClr val="tx2"/>
                </a:solidFill>
              </a:rPr>
              <a:t>提高数据的独立性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B32C765-0270-81A5-C52F-5893F6A64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7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40C232E-2374-4DFB-94AF-115D370F92D4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921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3.1.2 SQL</a:t>
            </a:r>
            <a:r>
              <a:rPr lang="zh-CN" altLang="en-US"/>
              <a:t>的特点</a:t>
            </a:r>
            <a:endParaRPr lang="zh-CN" altLang="en-US" dirty="0"/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/>
              <a:t>三、面向集合的操作方式</a:t>
            </a:r>
          </a:p>
          <a:p>
            <a:pPr eaLnBrk="1" hangingPunct="1"/>
            <a:endParaRPr lang="zh-CN" altLang="en-US" sz="1400"/>
          </a:p>
          <a:p>
            <a:pPr eaLnBrk="1" hangingPunct="1"/>
            <a:r>
              <a:rPr lang="zh-CN" altLang="en-US"/>
              <a:t>关系运算</a:t>
            </a:r>
            <a:r>
              <a:rPr lang="zh-CN" altLang="en-US">
                <a:latin typeface="Arial" charset="0"/>
              </a:rPr>
              <a:t>“</a:t>
            </a:r>
            <a:r>
              <a:rPr lang="zh-CN" altLang="en-US"/>
              <a:t>一次一集合</a:t>
            </a:r>
            <a:r>
              <a:rPr lang="zh-CN" altLang="en-US">
                <a:latin typeface="Arial" charset="0"/>
              </a:rPr>
              <a:t>”</a:t>
            </a:r>
            <a:r>
              <a:rPr lang="zh-CN" altLang="en-US"/>
              <a:t>方式的体现。</a:t>
            </a:r>
          </a:p>
          <a:p>
            <a:pPr eaLnBrk="1" hangingPunct="1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E0078E5-CACB-9283-6479-134601DA8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8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ECBB333-480A-4C28-ABDE-A5482E90A673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024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3.1.2 SQL</a:t>
            </a:r>
            <a:r>
              <a:rPr lang="zh-CN" altLang="en-US"/>
              <a:t>的特点</a:t>
            </a:r>
            <a:endParaRPr lang="zh-CN" altLang="en-US" dirty="0"/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/>
              <a:t>四、一种语法结构、两种使用方式</a:t>
            </a:r>
          </a:p>
          <a:p>
            <a:pPr eaLnBrk="1" hangingPunct="1"/>
            <a:endParaRPr lang="zh-CN" altLang="en-US" sz="1200"/>
          </a:p>
          <a:p>
            <a:pPr eaLnBrk="1" hangingPunct="1"/>
            <a:r>
              <a:rPr lang="zh-CN" altLang="en-US"/>
              <a:t>既是</a:t>
            </a:r>
            <a:r>
              <a:rPr lang="zh-CN" altLang="en-US">
                <a:solidFill>
                  <a:srgbClr val="006600"/>
                </a:solidFill>
              </a:rPr>
              <a:t>自含式</a:t>
            </a:r>
            <a:r>
              <a:rPr lang="zh-CN" altLang="en-US"/>
              <a:t>语言，又是</a:t>
            </a:r>
            <a:r>
              <a:rPr lang="zh-CN" altLang="en-US">
                <a:solidFill>
                  <a:srgbClr val="006600"/>
                </a:solidFill>
              </a:rPr>
              <a:t>嵌入式</a:t>
            </a:r>
            <a:r>
              <a:rPr lang="zh-CN" altLang="en-US"/>
              <a:t>语言。</a:t>
            </a:r>
          </a:p>
          <a:p>
            <a:pPr eaLnBrk="1" hangingPunct="1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0A7BD9E-8B40-B452-18C3-6622BF506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9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DC5E3E7-E403-4B43-B43E-BA24F102E304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126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3.1.2 SQL</a:t>
            </a:r>
            <a:r>
              <a:rPr lang="zh-CN" altLang="en-US"/>
              <a:t>的特点</a:t>
            </a:r>
            <a:endParaRPr lang="zh-CN" altLang="en-US" dirty="0"/>
          </a:p>
        </p:txBody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五、语言简捷，易学易用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1200" dirty="0"/>
          </a:p>
          <a:p>
            <a:pPr eaLnBrk="1" hangingPunct="1"/>
            <a:r>
              <a:rPr lang="en-US" altLang="zh-CN" dirty="0"/>
              <a:t>SQL</a:t>
            </a:r>
            <a:r>
              <a:rPr lang="zh-CN" altLang="en-US" dirty="0"/>
              <a:t>设计巧妙，</a:t>
            </a:r>
            <a:r>
              <a:rPr lang="zh-CN" altLang="en-US" dirty="0">
                <a:solidFill>
                  <a:srgbClr val="FF0000"/>
                </a:solidFill>
              </a:rPr>
              <a:t>核心功能</a:t>
            </a:r>
            <a:r>
              <a:rPr lang="zh-CN" altLang="en-US" dirty="0"/>
              <a:t>只需</a:t>
            </a:r>
            <a:r>
              <a:rPr lang="en-US" altLang="zh-CN" dirty="0">
                <a:solidFill>
                  <a:schemeClr val="tx2"/>
                </a:solidFill>
              </a:rPr>
              <a:t>9</a:t>
            </a:r>
            <a:r>
              <a:rPr lang="zh-CN" altLang="en-US" dirty="0">
                <a:solidFill>
                  <a:schemeClr val="tx2"/>
                </a:solidFill>
              </a:rPr>
              <a:t>个动词</a:t>
            </a:r>
            <a:r>
              <a:rPr lang="zh-CN" altLang="en-US" dirty="0"/>
              <a:t>。在语言上接近英语</a:t>
            </a:r>
          </a:p>
          <a:p>
            <a:pPr lvl="1" eaLnBrk="1" hangingPunct="1"/>
            <a:r>
              <a:rPr lang="zh-CN" altLang="en-US" dirty="0"/>
              <a:t>数据查询	</a:t>
            </a:r>
            <a:endParaRPr lang="en-US" altLang="zh-CN" dirty="0">
              <a:solidFill>
                <a:srgbClr val="C00000"/>
              </a:solidFill>
            </a:endParaRPr>
          </a:p>
          <a:p>
            <a:pPr lvl="1" eaLnBrk="1" hangingPunct="1"/>
            <a:r>
              <a:rPr lang="zh-CN" altLang="en-US" dirty="0"/>
              <a:t>数据定义	</a:t>
            </a:r>
            <a:endParaRPr lang="en-US" altLang="zh-CN" dirty="0">
              <a:solidFill>
                <a:srgbClr val="0000FF"/>
              </a:solidFill>
            </a:endParaRPr>
          </a:p>
          <a:p>
            <a:pPr lvl="1" eaLnBrk="1" hangingPunct="1"/>
            <a:r>
              <a:rPr lang="zh-CN" altLang="en-US" dirty="0"/>
              <a:t>数据操纵	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数据控制	</a:t>
            </a:r>
            <a:endParaRPr lang="en-US" altLang="zh-CN" dirty="0">
              <a:solidFill>
                <a:srgbClr val="006600"/>
              </a:solidFill>
            </a:endParaRPr>
          </a:p>
          <a:p>
            <a:pPr eaLnBrk="1" hangingPunct="1"/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2667000" y="3352970"/>
            <a:ext cx="4572000" cy="2057230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algn="l" eaLnBrk="1" hangingPunct="1">
              <a:lnSpc>
                <a:spcPct val="114000"/>
              </a:lnSpc>
            </a:pPr>
            <a:r>
              <a:rPr lang="en-US" altLang="zh-CN" sz="2800" dirty="0">
                <a:solidFill>
                  <a:srgbClr val="C00000"/>
                </a:solidFill>
              </a:rPr>
              <a:t>select</a:t>
            </a:r>
          </a:p>
          <a:p>
            <a:pPr lvl="1" algn="l" eaLnBrk="1" hangingPunct="1">
              <a:lnSpc>
                <a:spcPct val="114000"/>
              </a:lnSpc>
            </a:pPr>
            <a:r>
              <a:rPr lang="en-US" altLang="zh-CN" sz="2800" dirty="0">
                <a:solidFill>
                  <a:srgbClr val="0000FF"/>
                </a:solidFill>
              </a:rPr>
              <a:t>create, drop, alter</a:t>
            </a:r>
          </a:p>
          <a:p>
            <a:pPr lvl="1" algn="l" eaLnBrk="1" hangingPunct="1">
              <a:lnSpc>
                <a:spcPct val="114000"/>
              </a:lnSpc>
            </a:pPr>
            <a:r>
              <a:rPr lang="en-US" altLang="zh-CN" sz="2800" dirty="0">
                <a:solidFill>
                  <a:srgbClr val="C00000"/>
                </a:solidFill>
              </a:rPr>
              <a:t>insert, update, delete</a:t>
            </a:r>
          </a:p>
          <a:p>
            <a:pPr lvl="1" algn="l" eaLnBrk="1" hangingPunct="1">
              <a:lnSpc>
                <a:spcPct val="114000"/>
              </a:lnSpc>
            </a:pPr>
            <a:r>
              <a:rPr lang="en-US" altLang="zh-CN" sz="2800" dirty="0">
                <a:solidFill>
                  <a:srgbClr val="006600"/>
                </a:solidFill>
              </a:rPr>
              <a:t>grant, revoke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7764FDC-CA21-AB8F-1E4E-A1FE25D43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10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2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2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2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2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839FACF-F9BB-4EF5-A742-D3D8D2C7DE22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229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3.1.3 SQL</a:t>
            </a:r>
            <a:r>
              <a:rPr lang="zh-CN" altLang="en-US"/>
              <a:t>的基本概念</a:t>
            </a:r>
            <a:endParaRPr lang="zh-CN" altLang="en-US" dirty="0"/>
          </a:p>
        </p:txBody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solidFill>
                  <a:srgbClr val="0000FF"/>
                </a:solidFill>
              </a:rPr>
              <a:t>SQL</a:t>
            </a:r>
            <a:r>
              <a:rPr lang="zh-CN" altLang="en-US" dirty="0">
                <a:solidFill>
                  <a:srgbClr val="0000FF"/>
                </a:solidFill>
              </a:rPr>
              <a:t>对象</a:t>
            </a:r>
            <a:r>
              <a:rPr lang="zh-CN" altLang="en-US" dirty="0"/>
              <a:t>与三级模式结构的对应关</a:t>
            </a:r>
            <a:r>
              <a:rPr lang="zh-CN" altLang="en-US" dirty="0">
                <a:solidFill>
                  <a:srgbClr val="000080"/>
                </a:solidFill>
              </a:rPr>
              <a:t>系</a:t>
            </a:r>
            <a:r>
              <a:rPr lang="zh-CN" altLang="en-US" dirty="0"/>
              <a:t> 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dirty="0"/>
          </a:p>
        </p:txBody>
      </p:sp>
      <p:grpSp>
        <p:nvGrpSpPr>
          <p:cNvPr id="7" name="Group 1055"/>
          <p:cNvGrpSpPr>
            <a:grpSpLocks/>
          </p:cNvGrpSpPr>
          <p:nvPr/>
        </p:nvGrpSpPr>
        <p:grpSpPr bwMode="auto">
          <a:xfrm>
            <a:off x="755650" y="2133600"/>
            <a:ext cx="7561263" cy="3816350"/>
            <a:chOff x="476" y="1117"/>
            <a:chExt cx="4763" cy="2404"/>
          </a:xfrm>
        </p:grpSpPr>
        <p:sp>
          <p:nvSpPr>
            <p:cNvPr id="8" name="Rectangle 1028"/>
            <p:cNvSpPr>
              <a:spLocks noChangeArrowheads="1"/>
            </p:cNvSpPr>
            <p:nvPr/>
          </p:nvSpPr>
          <p:spPr bwMode="auto">
            <a:xfrm>
              <a:off x="1610" y="1117"/>
              <a:ext cx="725" cy="363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FFFF">
                    <a:gamma/>
                    <a:shade val="73333"/>
                    <a:invGamma/>
                  </a:srgbClr>
                </a:gs>
              </a:gsLst>
              <a:lin ang="5400000" scaled="1"/>
            </a:gradFill>
            <a:ln w="254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342900" indent="-342900"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/>
              <a:r>
                <a:rPr kumimoji="0" lang="en-US" altLang="zh-CN" sz="1800"/>
                <a:t>SQL</a:t>
              </a:r>
            </a:p>
          </p:txBody>
        </p:sp>
        <p:sp>
          <p:nvSpPr>
            <p:cNvPr id="9" name="Rectangle 1029"/>
            <p:cNvSpPr>
              <a:spLocks noChangeArrowheads="1"/>
            </p:cNvSpPr>
            <p:nvPr/>
          </p:nvSpPr>
          <p:spPr bwMode="auto">
            <a:xfrm>
              <a:off x="3288" y="1797"/>
              <a:ext cx="725" cy="363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FFFF">
                    <a:gamma/>
                    <a:shade val="73333"/>
                    <a:invGamma/>
                  </a:srgbClr>
                </a:gs>
              </a:gsLst>
              <a:lin ang="5400000" scaled="1"/>
            </a:gradFill>
            <a:ln w="254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342900" indent="-342900"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/>
              <a:r>
                <a:rPr kumimoji="0" lang="zh-CN" altLang="en-US" sz="1800" dirty="0">
                  <a:solidFill>
                    <a:srgbClr val="C00000"/>
                  </a:solidFill>
                </a:rPr>
                <a:t>视图</a:t>
              </a:r>
              <a:r>
                <a:rPr kumimoji="0" lang="en-US" altLang="zh-CN" sz="1800" dirty="0"/>
                <a:t>2</a:t>
              </a:r>
            </a:p>
          </p:txBody>
        </p:sp>
        <p:sp>
          <p:nvSpPr>
            <p:cNvPr id="10" name="Rectangle 1030"/>
            <p:cNvSpPr>
              <a:spLocks noChangeArrowheads="1"/>
            </p:cNvSpPr>
            <p:nvPr/>
          </p:nvSpPr>
          <p:spPr bwMode="auto">
            <a:xfrm>
              <a:off x="1610" y="1797"/>
              <a:ext cx="725" cy="363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FFFF">
                    <a:gamma/>
                    <a:shade val="73333"/>
                    <a:invGamma/>
                  </a:srgbClr>
                </a:gs>
              </a:gsLst>
              <a:lin ang="5400000" scaled="1"/>
            </a:gradFill>
            <a:ln w="254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342900" indent="-342900"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/>
              <a:r>
                <a:rPr kumimoji="0" lang="zh-CN" altLang="en-US" sz="1800" dirty="0">
                  <a:solidFill>
                    <a:srgbClr val="C00000"/>
                  </a:solidFill>
                </a:rPr>
                <a:t>视图</a:t>
              </a:r>
              <a:r>
                <a:rPr kumimoji="0" lang="en-US" altLang="zh-CN" sz="1800" dirty="0"/>
                <a:t>1</a:t>
              </a:r>
            </a:p>
          </p:txBody>
        </p:sp>
        <p:sp>
          <p:nvSpPr>
            <p:cNvPr id="11" name="Rectangle 1031"/>
            <p:cNvSpPr>
              <a:spLocks noChangeArrowheads="1"/>
            </p:cNvSpPr>
            <p:nvPr/>
          </p:nvSpPr>
          <p:spPr bwMode="auto">
            <a:xfrm>
              <a:off x="1655" y="2478"/>
              <a:ext cx="725" cy="363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FFFF">
                    <a:gamma/>
                    <a:shade val="73333"/>
                    <a:invGamma/>
                  </a:srgbClr>
                </a:gs>
              </a:gsLst>
              <a:lin ang="5400000" scaled="1"/>
            </a:gradFill>
            <a:ln w="254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342900" indent="-342900"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/>
              <a:r>
                <a:rPr kumimoji="0" lang="zh-CN" altLang="en-US" sz="1800" dirty="0"/>
                <a:t>基本表</a:t>
              </a:r>
              <a:r>
                <a:rPr kumimoji="0" lang="en-US" altLang="zh-CN" sz="1800" dirty="0"/>
                <a:t>2</a:t>
              </a:r>
            </a:p>
          </p:txBody>
        </p:sp>
        <p:sp>
          <p:nvSpPr>
            <p:cNvPr id="12" name="Rectangle 1032"/>
            <p:cNvSpPr>
              <a:spLocks noChangeArrowheads="1"/>
            </p:cNvSpPr>
            <p:nvPr/>
          </p:nvSpPr>
          <p:spPr bwMode="auto">
            <a:xfrm>
              <a:off x="566" y="2478"/>
              <a:ext cx="725" cy="363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FFFF">
                    <a:gamma/>
                    <a:shade val="73333"/>
                    <a:invGamma/>
                  </a:srgbClr>
                </a:gs>
              </a:gsLst>
              <a:lin ang="5400000" scaled="1"/>
            </a:gradFill>
            <a:ln w="254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342900" indent="-342900"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/>
              <a:r>
                <a:rPr kumimoji="0" lang="zh-CN" altLang="en-US" sz="1800" dirty="0">
                  <a:solidFill>
                    <a:srgbClr val="C00000"/>
                  </a:solidFill>
                </a:rPr>
                <a:t>基本表</a:t>
              </a:r>
              <a:r>
                <a:rPr kumimoji="0" lang="en-US" altLang="zh-CN" sz="1800" dirty="0"/>
                <a:t>1</a:t>
              </a:r>
            </a:p>
          </p:txBody>
        </p:sp>
        <p:sp>
          <p:nvSpPr>
            <p:cNvPr id="13" name="Rectangle 1033"/>
            <p:cNvSpPr>
              <a:spLocks noChangeArrowheads="1"/>
            </p:cNvSpPr>
            <p:nvPr/>
          </p:nvSpPr>
          <p:spPr bwMode="auto">
            <a:xfrm>
              <a:off x="2744" y="2478"/>
              <a:ext cx="725" cy="363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FFFF">
                    <a:gamma/>
                    <a:shade val="73333"/>
                    <a:invGamma/>
                  </a:srgbClr>
                </a:gs>
              </a:gsLst>
              <a:lin ang="5400000" scaled="1"/>
            </a:gradFill>
            <a:ln w="254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342900" indent="-342900"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/>
              <a:r>
                <a:rPr kumimoji="0" lang="zh-CN" altLang="en-US" sz="1800"/>
                <a:t>基本表</a:t>
              </a:r>
              <a:r>
                <a:rPr kumimoji="0" lang="en-US" altLang="zh-CN" sz="1800"/>
                <a:t>3</a:t>
              </a:r>
            </a:p>
          </p:txBody>
        </p:sp>
        <p:sp>
          <p:nvSpPr>
            <p:cNvPr id="14" name="Rectangle 1034"/>
            <p:cNvSpPr>
              <a:spLocks noChangeArrowheads="1"/>
            </p:cNvSpPr>
            <p:nvPr/>
          </p:nvSpPr>
          <p:spPr bwMode="auto">
            <a:xfrm>
              <a:off x="3787" y="2478"/>
              <a:ext cx="725" cy="363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FFFF">
                    <a:gamma/>
                    <a:shade val="73333"/>
                    <a:invGamma/>
                  </a:srgbClr>
                </a:gs>
              </a:gsLst>
              <a:lin ang="5400000" scaled="1"/>
            </a:gradFill>
            <a:ln w="254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342900" indent="-342900"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/>
              <a:r>
                <a:rPr kumimoji="0" lang="zh-CN" altLang="en-US" sz="1800"/>
                <a:t>基本表</a:t>
              </a:r>
              <a:r>
                <a:rPr kumimoji="0" lang="en-US" altLang="zh-CN" sz="1800"/>
                <a:t>4</a:t>
              </a:r>
            </a:p>
          </p:txBody>
        </p:sp>
        <p:sp>
          <p:nvSpPr>
            <p:cNvPr id="15" name="Rectangle 1035"/>
            <p:cNvSpPr>
              <a:spLocks noChangeArrowheads="1"/>
            </p:cNvSpPr>
            <p:nvPr/>
          </p:nvSpPr>
          <p:spPr bwMode="auto">
            <a:xfrm>
              <a:off x="3787" y="3113"/>
              <a:ext cx="725" cy="363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FFFF">
                    <a:gamma/>
                    <a:shade val="73333"/>
                    <a:invGamma/>
                  </a:srgbClr>
                </a:gs>
              </a:gsLst>
              <a:lin ang="5400000" scaled="1"/>
            </a:gradFill>
            <a:ln w="254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342900" indent="-342900"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/>
              <a:r>
                <a:rPr kumimoji="0" lang="zh-CN" altLang="en-US" sz="1800"/>
                <a:t>存储文件</a:t>
              </a:r>
              <a:r>
                <a:rPr kumimoji="0" lang="en-US" altLang="zh-CN" sz="1800"/>
                <a:t>2</a:t>
              </a:r>
            </a:p>
          </p:txBody>
        </p:sp>
        <p:sp>
          <p:nvSpPr>
            <p:cNvPr id="16" name="Rectangle 1036"/>
            <p:cNvSpPr>
              <a:spLocks noChangeArrowheads="1"/>
            </p:cNvSpPr>
            <p:nvPr/>
          </p:nvSpPr>
          <p:spPr bwMode="auto">
            <a:xfrm>
              <a:off x="1655" y="3158"/>
              <a:ext cx="725" cy="363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FFFF">
                    <a:gamma/>
                    <a:shade val="73333"/>
                    <a:invGamma/>
                  </a:srgbClr>
                </a:gs>
              </a:gsLst>
              <a:lin ang="5400000" scaled="1"/>
            </a:gradFill>
            <a:ln w="254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342900" indent="-342900"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/>
              <a:r>
                <a:rPr kumimoji="0" lang="zh-CN" altLang="en-US" sz="1800"/>
                <a:t>存储文件</a:t>
              </a:r>
              <a:r>
                <a:rPr kumimoji="0" lang="en-US" altLang="zh-CN" sz="1800"/>
                <a:t>1</a:t>
              </a:r>
            </a:p>
          </p:txBody>
        </p:sp>
        <p:sp>
          <p:nvSpPr>
            <p:cNvPr id="17" name="Line 1037"/>
            <p:cNvSpPr>
              <a:spLocks noChangeShapeType="1"/>
            </p:cNvSpPr>
            <p:nvPr/>
          </p:nvSpPr>
          <p:spPr bwMode="auto">
            <a:xfrm flipH="1">
              <a:off x="748" y="1480"/>
              <a:ext cx="998" cy="9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1038"/>
            <p:cNvSpPr>
              <a:spLocks noChangeShapeType="1"/>
            </p:cNvSpPr>
            <p:nvPr/>
          </p:nvSpPr>
          <p:spPr bwMode="auto">
            <a:xfrm>
              <a:off x="1927" y="1480"/>
              <a:ext cx="0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1039"/>
            <p:cNvSpPr>
              <a:spLocks noChangeShapeType="1"/>
            </p:cNvSpPr>
            <p:nvPr/>
          </p:nvSpPr>
          <p:spPr bwMode="auto">
            <a:xfrm>
              <a:off x="1927" y="2160"/>
              <a:ext cx="0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1040"/>
            <p:cNvSpPr>
              <a:spLocks noChangeShapeType="1"/>
            </p:cNvSpPr>
            <p:nvPr/>
          </p:nvSpPr>
          <p:spPr bwMode="auto">
            <a:xfrm>
              <a:off x="1927" y="2840"/>
              <a:ext cx="0" cy="31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1043"/>
            <p:cNvSpPr>
              <a:spLocks noChangeShapeType="1"/>
            </p:cNvSpPr>
            <p:nvPr/>
          </p:nvSpPr>
          <p:spPr bwMode="auto">
            <a:xfrm>
              <a:off x="2200" y="1480"/>
              <a:ext cx="1315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1044"/>
            <p:cNvSpPr>
              <a:spLocks noChangeShapeType="1"/>
            </p:cNvSpPr>
            <p:nvPr/>
          </p:nvSpPr>
          <p:spPr bwMode="auto">
            <a:xfrm flipH="1">
              <a:off x="3152" y="2160"/>
              <a:ext cx="318" cy="31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1045"/>
            <p:cNvSpPr>
              <a:spLocks noChangeShapeType="1"/>
            </p:cNvSpPr>
            <p:nvPr/>
          </p:nvSpPr>
          <p:spPr bwMode="auto">
            <a:xfrm>
              <a:off x="3787" y="2160"/>
              <a:ext cx="499" cy="31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1046"/>
            <p:cNvSpPr>
              <a:spLocks noChangeShapeType="1"/>
            </p:cNvSpPr>
            <p:nvPr/>
          </p:nvSpPr>
          <p:spPr bwMode="auto">
            <a:xfrm>
              <a:off x="839" y="2840"/>
              <a:ext cx="1043" cy="31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Line 1047"/>
            <p:cNvSpPr>
              <a:spLocks noChangeShapeType="1"/>
            </p:cNvSpPr>
            <p:nvPr/>
          </p:nvSpPr>
          <p:spPr bwMode="auto">
            <a:xfrm flipH="1">
              <a:off x="2018" y="2840"/>
              <a:ext cx="1089" cy="31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1048"/>
            <p:cNvSpPr>
              <a:spLocks noChangeShapeType="1"/>
            </p:cNvSpPr>
            <p:nvPr/>
          </p:nvSpPr>
          <p:spPr bwMode="auto">
            <a:xfrm>
              <a:off x="4150" y="2840"/>
              <a:ext cx="0" cy="2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1049"/>
            <p:cNvSpPr>
              <a:spLocks noChangeShapeType="1"/>
            </p:cNvSpPr>
            <p:nvPr/>
          </p:nvSpPr>
          <p:spPr bwMode="auto">
            <a:xfrm>
              <a:off x="476" y="1616"/>
              <a:ext cx="4536" cy="0"/>
            </a:xfrm>
            <a:prstGeom prst="line">
              <a:avLst/>
            </a:prstGeom>
            <a:noFill/>
            <a:ln w="254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1050"/>
            <p:cNvSpPr>
              <a:spLocks noChangeShapeType="1"/>
            </p:cNvSpPr>
            <p:nvPr/>
          </p:nvSpPr>
          <p:spPr bwMode="auto">
            <a:xfrm>
              <a:off x="497" y="2275"/>
              <a:ext cx="4536" cy="0"/>
            </a:xfrm>
            <a:prstGeom prst="line">
              <a:avLst/>
            </a:prstGeom>
            <a:noFill/>
            <a:ln w="254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Line 1051"/>
            <p:cNvSpPr>
              <a:spLocks noChangeShapeType="1"/>
            </p:cNvSpPr>
            <p:nvPr/>
          </p:nvSpPr>
          <p:spPr bwMode="auto">
            <a:xfrm>
              <a:off x="497" y="3007"/>
              <a:ext cx="4536" cy="0"/>
            </a:xfrm>
            <a:prstGeom prst="line">
              <a:avLst/>
            </a:prstGeom>
            <a:noFill/>
            <a:ln w="254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Text Box 1052"/>
            <p:cNvSpPr txBox="1">
              <a:spLocks noChangeArrowheads="1"/>
            </p:cNvSpPr>
            <p:nvPr/>
          </p:nvSpPr>
          <p:spPr bwMode="auto">
            <a:xfrm>
              <a:off x="4513" y="1888"/>
              <a:ext cx="6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0" lang="zh-CN" altLang="en-US" sz="1800" b="1" dirty="0">
                  <a:solidFill>
                    <a:srgbClr val="0000FF"/>
                  </a:solidFill>
                </a:rPr>
                <a:t>外模式</a:t>
              </a:r>
            </a:p>
          </p:txBody>
        </p:sp>
        <p:sp>
          <p:nvSpPr>
            <p:cNvPr id="31" name="Text Box 1053"/>
            <p:cNvSpPr txBox="1">
              <a:spLocks noChangeArrowheads="1"/>
            </p:cNvSpPr>
            <p:nvPr/>
          </p:nvSpPr>
          <p:spPr bwMode="auto">
            <a:xfrm>
              <a:off x="4513" y="2523"/>
              <a:ext cx="6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0" lang="zh-CN" altLang="en-US" sz="1800" b="1" dirty="0">
                  <a:solidFill>
                    <a:srgbClr val="0000FF"/>
                  </a:solidFill>
                </a:rPr>
                <a:t>模 式</a:t>
              </a:r>
            </a:p>
          </p:txBody>
        </p:sp>
        <p:sp>
          <p:nvSpPr>
            <p:cNvPr id="32" name="Text Box 1054"/>
            <p:cNvSpPr txBox="1">
              <a:spLocks noChangeArrowheads="1"/>
            </p:cNvSpPr>
            <p:nvPr/>
          </p:nvSpPr>
          <p:spPr bwMode="auto">
            <a:xfrm>
              <a:off x="4558" y="3203"/>
              <a:ext cx="6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0" lang="zh-CN" altLang="en-US" sz="1800" b="1" dirty="0"/>
                <a:t>内模式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3F7AEFC-16D0-7239-7368-5F884E474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11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046E6B21-2683-45CD-91C8-94145A2367E8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229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3.1.3 SQL</a:t>
            </a:r>
            <a:r>
              <a:rPr lang="zh-CN" altLang="en-US"/>
              <a:t>的基本概念</a:t>
            </a:r>
            <a:endParaRPr lang="zh-CN" altLang="en-US" dirty="0"/>
          </a:p>
        </p:txBody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solidFill>
                  <a:srgbClr val="000080"/>
                </a:solidFill>
              </a:rPr>
              <a:t>SQL</a:t>
            </a:r>
            <a:r>
              <a:rPr lang="zh-CN" altLang="en-US" dirty="0">
                <a:solidFill>
                  <a:srgbClr val="000080"/>
                </a:solidFill>
              </a:rPr>
              <a:t>对象与三级模式结构的对应关系</a:t>
            </a:r>
            <a:r>
              <a:rPr lang="zh-CN" altLang="en-US" dirty="0"/>
              <a:t> 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外模式 －－ </a:t>
            </a:r>
            <a:r>
              <a:rPr lang="zh-CN" altLang="en-US" dirty="0">
                <a:solidFill>
                  <a:srgbClr val="C00000"/>
                </a:solidFill>
              </a:rPr>
              <a:t>视图</a:t>
            </a:r>
            <a:r>
              <a:rPr lang="en-US" altLang="zh-CN" dirty="0">
                <a:solidFill>
                  <a:srgbClr val="C00000"/>
                </a:solidFill>
              </a:rPr>
              <a:t>(view)</a:t>
            </a:r>
            <a:r>
              <a:rPr lang="zh-CN" altLang="en-US" dirty="0">
                <a:solidFill>
                  <a:srgbClr val="C00000"/>
                </a:solidFill>
              </a:rPr>
              <a:t>、部分基本表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  </a:t>
            </a:r>
            <a:r>
              <a:rPr lang="zh-CN" altLang="en-US" dirty="0">
                <a:solidFill>
                  <a:srgbClr val="0000FF"/>
                </a:solidFill>
              </a:rPr>
              <a:t>模式</a:t>
            </a:r>
            <a:r>
              <a:rPr lang="zh-CN" altLang="en-US" dirty="0"/>
              <a:t>  －－ </a:t>
            </a:r>
            <a:r>
              <a:rPr lang="zh-CN" altLang="en-US" dirty="0">
                <a:solidFill>
                  <a:srgbClr val="C00000"/>
                </a:solidFill>
              </a:rPr>
              <a:t>基本表</a:t>
            </a:r>
            <a:r>
              <a:rPr lang="en-US" altLang="zh-CN" dirty="0">
                <a:solidFill>
                  <a:srgbClr val="C00000"/>
                </a:solidFill>
              </a:rPr>
              <a:t>(base table)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内模式 －－ 存储文件</a:t>
            </a:r>
            <a:r>
              <a:rPr lang="en-US" altLang="zh-CN" dirty="0"/>
              <a:t>(stored file)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dirty="0"/>
          </a:p>
          <a:p>
            <a:pPr eaLnBrk="1" hangingPunct="1"/>
            <a:r>
              <a:rPr lang="zh-CN" altLang="en-US" dirty="0"/>
              <a:t>用户可用</a:t>
            </a:r>
            <a:r>
              <a:rPr lang="en-US" altLang="zh-CN" dirty="0"/>
              <a:t>SQL</a:t>
            </a:r>
            <a:r>
              <a:rPr lang="zh-CN" altLang="en-US" dirty="0"/>
              <a:t>对</a:t>
            </a:r>
            <a:r>
              <a:rPr lang="zh-CN" altLang="en-US" b="1" dirty="0">
                <a:solidFill>
                  <a:schemeClr val="tx2"/>
                </a:solidFill>
              </a:rPr>
              <a:t>基本表</a:t>
            </a:r>
            <a:r>
              <a:rPr lang="zh-CN" altLang="en-US" b="1" dirty="0"/>
              <a:t>和</a:t>
            </a:r>
            <a:r>
              <a:rPr lang="zh-CN" altLang="en-US" b="1" dirty="0">
                <a:solidFill>
                  <a:schemeClr val="tx2"/>
                </a:solidFill>
              </a:rPr>
              <a:t>视图</a:t>
            </a:r>
            <a:r>
              <a:rPr lang="zh-CN" altLang="en-US" dirty="0"/>
              <a:t>进行</a:t>
            </a:r>
            <a:r>
              <a:rPr lang="zh-CN" altLang="en-US" dirty="0">
                <a:solidFill>
                  <a:srgbClr val="0000FF"/>
                </a:solidFill>
              </a:rPr>
              <a:t>查询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0000FF"/>
                </a:solidFill>
              </a:rPr>
              <a:t>其他操作</a:t>
            </a:r>
            <a:r>
              <a:rPr lang="zh-CN" altLang="en-US" dirty="0"/>
              <a:t>，</a:t>
            </a:r>
            <a:r>
              <a:rPr lang="zh-CN" altLang="en-US" b="1" u="sng" dirty="0">
                <a:solidFill>
                  <a:srgbClr val="0000FF"/>
                </a:solidFill>
              </a:rPr>
              <a:t>基本表</a:t>
            </a:r>
            <a:r>
              <a:rPr lang="zh-CN" altLang="en-US" b="1" u="sng" dirty="0"/>
              <a:t>和</a:t>
            </a:r>
            <a:r>
              <a:rPr lang="zh-CN" altLang="en-US" b="1" u="sng" dirty="0">
                <a:solidFill>
                  <a:srgbClr val="0000FF"/>
                </a:solidFill>
              </a:rPr>
              <a:t>视图</a:t>
            </a:r>
            <a:r>
              <a:rPr lang="zh-CN" altLang="en-US" b="1" u="sng" dirty="0"/>
              <a:t>一样，都是</a:t>
            </a:r>
            <a:r>
              <a:rPr lang="zh-CN" altLang="en-US" b="1" u="sng" dirty="0">
                <a:solidFill>
                  <a:srgbClr val="0000FF"/>
                </a:solidFill>
              </a:rPr>
              <a:t>关系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4348552-7AA4-CD10-E507-1940D24DF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12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9024328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BD0EDA6-18BD-47CA-8790-56896F958287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331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3.1.3 SQL</a:t>
            </a:r>
            <a:r>
              <a:rPr lang="zh-CN" altLang="en-US"/>
              <a:t>的基本概念</a:t>
            </a:r>
            <a:endParaRPr lang="zh-CN" altLang="en-US" dirty="0"/>
          </a:p>
        </p:txBody>
      </p:sp>
      <p:sp>
        <p:nvSpPr>
          <p:cNvPr id="133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0000FF"/>
                </a:solidFill>
              </a:rPr>
              <a:t>基本表</a:t>
            </a:r>
            <a:r>
              <a:rPr lang="zh-CN" altLang="en-US" dirty="0"/>
              <a:t>是本身独立存在的表，在</a:t>
            </a:r>
            <a:r>
              <a:rPr lang="en-US" altLang="zh-CN" dirty="0"/>
              <a:t>SQL</a:t>
            </a:r>
            <a:r>
              <a:rPr lang="zh-CN" altLang="en-US" dirty="0"/>
              <a:t>中</a:t>
            </a:r>
            <a:r>
              <a:rPr lang="zh-CN" altLang="en-US" dirty="0">
                <a:solidFill>
                  <a:srgbClr val="C00000"/>
                </a:solidFill>
              </a:rPr>
              <a:t>一个关系</a:t>
            </a:r>
            <a:r>
              <a:rPr lang="zh-CN" altLang="en-US" dirty="0"/>
              <a:t>就对应</a:t>
            </a:r>
            <a:r>
              <a:rPr lang="zh-CN" altLang="en-US" dirty="0">
                <a:solidFill>
                  <a:srgbClr val="C00000"/>
                </a:solidFill>
              </a:rPr>
              <a:t>一个表</a:t>
            </a:r>
            <a:r>
              <a:rPr lang="zh-CN" altLang="en-US" dirty="0"/>
              <a:t>。</a:t>
            </a:r>
          </a:p>
          <a:p>
            <a:pPr lvl="1" eaLnBrk="1" hangingPunct="1"/>
            <a:r>
              <a:rPr lang="zh-CN" altLang="en-US" dirty="0"/>
              <a:t>一些</a:t>
            </a:r>
            <a:r>
              <a:rPr lang="en-US" altLang="zh-CN" dirty="0"/>
              <a:t>DBMS</a:t>
            </a:r>
            <a:r>
              <a:rPr lang="zh-CN" altLang="en-US" dirty="0"/>
              <a:t>中</a:t>
            </a:r>
            <a:r>
              <a:rPr lang="zh-CN" altLang="en-US" b="1" dirty="0">
                <a:solidFill>
                  <a:schemeClr val="tx2"/>
                </a:solidFill>
              </a:rPr>
              <a:t>一个</a:t>
            </a:r>
            <a:r>
              <a:rPr lang="zh-CN" altLang="en-US" dirty="0">
                <a:solidFill>
                  <a:schemeClr val="tx2"/>
                </a:solidFill>
              </a:rPr>
              <a:t>基本表</a:t>
            </a:r>
            <a:r>
              <a:rPr lang="zh-CN" altLang="en-US" dirty="0"/>
              <a:t>对应</a:t>
            </a:r>
            <a:r>
              <a:rPr lang="zh-CN" altLang="en-US" dirty="0">
                <a:solidFill>
                  <a:schemeClr val="tx2"/>
                </a:solidFill>
              </a:rPr>
              <a:t>一个</a:t>
            </a:r>
            <a:r>
              <a:rPr lang="zh-CN" altLang="en-US" b="1" dirty="0">
                <a:solidFill>
                  <a:schemeClr val="tx2"/>
                </a:solidFill>
              </a:rPr>
              <a:t>存储文件</a:t>
            </a:r>
            <a:r>
              <a:rPr lang="zh-CN" altLang="en-US" dirty="0"/>
              <a:t>，有的</a:t>
            </a:r>
            <a:r>
              <a:rPr lang="en-US" altLang="zh-CN" dirty="0"/>
              <a:t>DBMS</a:t>
            </a:r>
            <a:r>
              <a:rPr lang="zh-CN" altLang="en-US" dirty="0"/>
              <a:t>一个数据库中的</a:t>
            </a:r>
            <a:r>
              <a:rPr lang="zh-CN" altLang="en-US" b="1" dirty="0">
                <a:solidFill>
                  <a:schemeClr val="tx2"/>
                </a:solidFill>
              </a:rPr>
              <a:t>多个</a:t>
            </a:r>
            <a:r>
              <a:rPr lang="zh-CN" altLang="en-US" dirty="0">
                <a:solidFill>
                  <a:schemeClr val="tx2"/>
                </a:solidFill>
              </a:rPr>
              <a:t>基本表</a:t>
            </a:r>
            <a:r>
              <a:rPr lang="zh-CN" altLang="en-US" dirty="0"/>
              <a:t>对应</a:t>
            </a:r>
            <a:r>
              <a:rPr lang="zh-CN" altLang="en-US" dirty="0">
                <a:solidFill>
                  <a:schemeClr val="tx2"/>
                </a:solidFill>
              </a:rPr>
              <a:t>一个存储文件</a:t>
            </a:r>
          </a:p>
          <a:p>
            <a:pPr lvl="1" eaLnBrk="1" hangingPunct="1"/>
            <a:r>
              <a:rPr lang="zh-CN" altLang="en-US" dirty="0"/>
              <a:t>一个表可以带若干</a:t>
            </a:r>
            <a:r>
              <a:rPr lang="zh-CN" altLang="en-US" b="1" dirty="0">
                <a:solidFill>
                  <a:srgbClr val="0000FF"/>
                </a:solidFill>
              </a:rPr>
              <a:t>索引</a:t>
            </a:r>
            <a:r>
              <a:rPr lang="zh-CN" altLang="en-US" dirty="0"/>
              <a:t>，索引也存放在存储文件中　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42B7663-F204-8A95-0D62-A4F525678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13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3DD0840-7F3E-4E37-BBB0-DF1049BF3D37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433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3.1.3 SQL</a:t>
            </a:r>
            <a:r>
              <a:rPr lang="zh-CN" altLang="en-US"/>
              <a:t>的基本概念</a:t>
            </a:r>
            <a:endParaRPr lang="zh-CN" altLang="en-US" dirty="0"/>
          </a:p>
        </p:txBody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C00000"/>
                </a:solidFill>
              </a:rPr>
              <a:t>存储文件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00000"/>
                </a:solidFill>
              </a:rPr>
              <a:t>逻辑结构</a:t>
            </a:r>
            <a:r>
              <a:rPr lang="zh-CN" altLang="en-US" dirty="0"/>
              <a:t>组成了关系数据库的</a:t>
            </a:r>
            <a:r>
              <a:rPr lang="zh-CN" altLang="en-US" dirty="0">
                <a:solidFill>
                  <a:srgbClr val="C00000"/>
                </a:solidFill>
              </a:rPr>
              <a:t>内模式</a:t>
            </a:r>
            <a:r>
              <a:rPr lang="zh-CN" altLang="en-US" dirty="0"/>
              <a:t>。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dirty="0"/>
              <a:t>存储文件的</a:t>
            </a:r>
            <a:r>
              <a:rPr lang="zh-CN" altLang="en-US" dirty="0">
                <a:solidFill>
                  <a:srgbClr val="0000FF"/>
                </a:solidFill>
              </a:rPr>
              <a:t>物理文件结构</a:t>
            </a:r>
            <a:r>
              <a:rPr lang="zh-CN" altLang="en-US" dirty="0"/>
              <a:t>是任意的，对用户透明。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795A882-AD3C-5332-F283-A0D36CC29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14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FCA8558-4A9A-48DA-A1FE-1D01A50895A2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536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3.1.3 SQL</a:t>
            </a:r>
            <a:r>
              <a:rPr lang="zh-CN" altLang="en-US"/>
              <a:t>的基本概念</a:t>
            </a:r>
            <a:endParaRPr lang="zh-CN" altLang="en-US" dirty="0"/>
          </a:p>
        </p:txBody>
      </p:sp>
      <p:sp>
        <p:nvSpPr>
          <p:cNvPr id="153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C00000"/>
                </a:solidFill>
              </a:rPr>
              <a:t>视图</a:t>
            </a:r>
            <a:r>
              <a:rPr lang="zh-CN" altLang="en-US" dirty="0"/>
              <a:t>是从</a:t>
            </a:r>
            <a:r>
              <a:rPr lang="zh-CN" altLang="en-US" u="sng" dirty="0">
                <a:solidFill>
                  <a:schemeClr val="tx2"/>
                </a:solidFill>
              </a:rPr>
              <a:t>基本表</a:t>
            </a:r>
            <a:r>
              <a:rPr lang="zh-CN" altLang="en-US" u="sng" dirty="0"/>
              <a:t>或</a:t>
            </a:r>
            <a:r>
              <a:rPr lang="zh-CN" altLang="en-US" u="sng" dirty="0">
                <a:solidFill>
                  <a:srgbClr val="006600"/>
                </a:solidFill>
              </a:rPr>
              <a:t>其他视图</a:t>
            </a:r>
            <a:r>
              <a:rPr lang="zh-CN" altLang="en-US" dirty="0"/>
              <a:t>中导出的表</a:t>
            </a:r>
          </a:p>
          <a:p>
            <a:pPr eaLnBrk="1" hangingPunct="1"/>
            <a:endParaRPr lang="zh-CN" altLang="en-US" sz="1000" dirty="0"/>
          </a:p>
          <a:p>
            <a:pPr lvl="1" eaLnBrk="1" hangingPunct="1"/>
            <a:r>
              <a:rPr lang="zh-CN" altLang="en-US" dirty="0"/>
              <a:t>它本身</a:t>
            </a:r>
            <a:r>
              <a:rPr lang="zh-CN" altLang="en-US" dirty="0">
                <a:solidFill>
                  <a:srgbClr val="C00000"/>
                </a:solidFill>
              </a:rPr>
              <a:t>不独立存储</a:t>
            </a:r>
            <a:r>
              <a:rPr lang="zh-CN" altLang="en-US" dirty="0"/>
              <a:t>在数据库中，也就是说数据库中</a:t>
            </a:r>
            <a:r>
              <a:rPr lang="zh-CN" altLang="en-US" dirty="0">
                <a:solidFill>
                  <a:schemeClr val="hlink"/>
                </a:solidFill>
              </a:rPr>
              <a:t>只存放视图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chemeClr val="hlink"/>
                </a:solidFill>
              </a:rPr>
              <a:t>定义</a:t>
            </a:r>
            <a:r>
              <a:rPr lang="zh-CN" altLang="en-US" dirty="0"/>
              <a:t>而</a:t>
            </a:r>
            <a:r>
              <a:rPr lang="zh-CN" altLang="en-US" dirty="0">
                <a:solidFill>
                  <a:srgbClr val="0000FF"/>
                </a:solidFill>
              </a:rPr>
              <a:t>不存放</a:t>
            </a:r>
            <a:r>
              <a:rPr lang="zh-CN" altLang="en-US" dirty="0"/>
              <a:t>视图对应的</a:t>
            </a:r>
            <a:r>
              <a:rPr lang="zh-CN" altLang="en-US" dirty="0">
                <a:solidFill>
                  <a:srgbClr val="0000FF"/>
                </a:solidFill>
              </a:rPr>
              <a:t>数据</a:t>
            </a:r>
            <a:r>
              <a:rPr lang="zh-CN" altLang="en-US" dirty="0"/>
              <a:t>，这些数据仍存放在导出视图的基本表中，因此 </a:t>
            </a:r>
            <a:r>
              <a:rPr lang="zh-CN" altLang="en-US" b="1" u="sng" dirty="0">
                <a:solidFill>
                  <a:schemeClr val="tx2"/>
                </a:solidFill>
              </a:rPr>
              <a:t>视图是一个虚表</a:t>
            </a:r>
            <a:r>
              <a:rPr lang="zh-CN" altLang="en-US" dirty="0"/>
              <a:t>。 </a:t>
            </a:r>
          </a:p>
          <a:p>
            <a:pPr lvl="1" eaLnBrk="1" hangingPunct="1">
              <a:spcBef>
                <a:spcPct val="40000"/>
              </a:spcBef>
            </a:pPr>
            <a:r>
              <a:rPr lang="zh-CN" altLang="en-US" dirty="0"/>
              <a:t>用户可以用</a:t>
            </a:r>
            <a:r>
              <a:rPr lang="en-US" altLang="zh-CN" u="sng" dirty="0"/>
              <a:t>SQL</a:t>
            </a:r>
            <a:r>
              <a:rPr lang="zh-CN" altLang="en-US" u="sng" dirty="0"/>
              <a:t>语言对</a:t>
            </a:r>
            <a:r>
              <a:rPr lang="zh-CN" altLang="en-US" u="sng" dirty="0">
                <a:solidFill>
                  <a:srgbClr val="0000FF"/>
                </a:solidFill>
              </a:rPr>
              <a:t>视图</a:t>
            </a:r>
            <a:r>
              <a:rPr lang="zh-CN" altLang="en-US" u="sng" dirty="0"/>
              <a:t>和</a:t>
            </a:r>
            <a:r>
              <a:rPr lang="zh-CN" altLang="en-US" u="sng" dirty="0">
                <a:solidFill>
                  <a:srgbClr val="0000FF"/>
                </a:solidFill>
              </a:rPr>
              <a:t>基本表</a:t>
            </a:r>
            <a:r>
              <a:rPr lang="zh-CN" altLang="en-US" u="sng" dirty="0"/>
              <a:t>进行查询</a:t>
            </a:r>
            <a:r>
              <a:rPr lang="zh-CN" altLang="en-US" dirty="0"/>
              <a:t>。</a:t>
            </a:r>
            <a:r>
              <a:rPr lang="zh-CN" altLang="en-US" dirty="0">
                <a:solidFill>
                  <a:schemeClr val="tx2"/>
                </a:solidFill>
              </a:rPr>
              <a:t>在用户眼中</a:t>
            </a:r>
            <a:r>
              <a:rPr lang="zh-CN" altLang="en-US" dirty="0"/>
              <a:t>，</a:t>
            </a:r>
            <a:r>
              <a:rPr lang="zh-CN" altLang="en-US" b="1" u="sng" dirty="0">
                <a:solidFill>
                  <a:schemeClr val="tx2"/>
                </a:solidFill>
              </a:rPr>
              <a:t>视图</a:t>
            </a:r>
            <a:r>
              <a:rPr lang="zh-CN" altLang="en-US" b="1" u="sng" dirty="0"/>
              <a:t>和</a:t>
            </a:r>
            <a:r>
              <a:rPr lang="zh-CN" altLang="en-US" b="1" u="sng" dirty="0">
                <a:solidFill>
                  <a:schemeClr val="tx2"/>
                </a:solidFill>
              </a:rPr>
              <a:t>基本表</a:t>
            </a:r>
            <a:r>
              <a:rPr lang="zh-CN" altLang="en-US" b="1" u="sng" dirty="0"/>
              <a:t>都是</a:t>
            </a:r>
            <a:r>
              <a:rPr lang="zh-CN" altLang="en-US" b="1" u="sng" dirty="0">
                <a:solidFill>
                  <a:schemeClr val="tx2"/>
                </a:solidFill>
              </a:rPr>
              <a:t>关系</a:t>
            </a:r>
            <a:r>
              <a:rPr lang="zh-CN" altLang="en-US" dirty="0"/>
              <a:t>，而存储文件对用户是透明的。 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7505749-09B8-FF70-979B-A37B39035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15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119BAAA-C6AB-43EA-8ABC-E6A9D95682DC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638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本章目录</a:t>
            </a:r>
          </a:p>
        </p:txBody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00200"/>
            <a:ext cx="7583488" cy="4532313"/>
          </a:xfrm>
        </p:spPr>
        <p:txBody>
          <a:bodyPr/>
          <a:lstStyle/>
          <a:p>
            <a:pPr eaLnBrk="1" hangingPunct="1"/>
            <a:r>
              <a:rPr lang="en-US" altLang="zh-CN" dirty="0"/>
              <a:t>3.1 SQL</a:t>
            </a:r>
            <a:r>
              <a:rPr lang="zh-CN" altLang="en-US" dirty="0"/>
              <a:t>概述</a:t>
            </a:r>
          </a:p>
          <a:p>
            <a:pPr eaLnBrk="1" hangingPunct="1"/>
            <a:r>
              <a:rPr lang="en-US" altLang="zh-CN" dirty="0"/>
              <a:t>3.2 </a:t>
            </a:r>
            <a:r>
              <a:rPr lang="zh-CN" altLang="en-US" dirty="0"/>
              <a:t>示例数据库</a:t>
            </a:r>
          </a:p>
          <a:p>
            <a:pPr eaLnBrk="1" hangingPunct="1"/>
            <a:r>
              <a:rPr lang="en-US" altLang="zh-CN" dirty="0"/>
              <a:t>3.3 </a:t>
            </a:r>
            <a:r>
              <a:rPr lang="zh-CN" altLang="en-US" dirty="0"/>
              <a:t>数据定义</a:t>
            </a:r>
          </a:p>
          <a:p>
            <a:pPr eaLnBrk="1" hangingPunct="1"/>
            <a:r>
              <a:rPr lang="en-US" altLang="zh-CN" dirty="0"/>
              <a:t>3.4 SQL</a:t>
            </a:r>
            <a:r>
              <a:rPr lang="zh-CN" altLang="en-US" dirty="0"/>
              <a:t>查询</a:t>
            </a:r>
            <a:endParaRPr lang="zh-CN" altLang="en-US" dirty="0">
              <a:solidFill>
                <a:srgbClr val="CC0000"/>
              </a:solidFill>
            </a:endParaRPr>
          </a:p>
          <a:p>
            <a:pPr eaLnBrk="1" hangingPunct="1"/>
            <a:r>
              <a:rPr lang="en-US" altLang="zh-CN" dirty="0"/>
              <a:t>3.5 </a:t>
            </a:r>
            <a:r>
              <a:rPr lang="zh-CN" altLang="en-US" dirty="0"/>
              <a:t>数据更新</a:t>
            </a:r>
            <a:endParaRPr lang="zh-CN" altLang="en-US" dirty="0">
              <a:solidFill>
                <a:srgbClr val="CC0000"/>
              </a:solidFill>
            </a:endParaRPr>
          </a:p>
        </p:txBody>
      </p:sp>
      <p:sp>
        <p:nvSpPr>
          <p:cNvPr id="196612" name="AutoShape 4"/>
          <p:cNvSpPr>
            <a:spLocks noChangeArrowheads="1"/>
          </p:cNvSpPr>
          <p:nvPr/>
        </p:nvSpPr>
        <p:spPr bwMode="auto">
          <a:xfrm>
            <a:off x="838200" y="2286000"/>
            <a:ext cx="457200" cy="457200"/>
          </a:xfrm>
          <a:prstGeom prst="rightArrow">
            <a:avLst>
              <a:gd name="adj1" fmla="val 50000"/>
              <a:gd name="adj2" fmla="val 40278"/>
            </a:avLst>
          </a:prstGeom>
          <a:solidFill>
            <a:srgbClr val="FFCC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6743DED-C599-D125-978A-8D4913829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16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6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6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B2E4CB0-7300-4169-AFCB-1E9D3119927A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74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3.2 </a:t>
            </a:r>
            <a:r>
              <a:rPr lang="zh-CN" altLang="en-US" dirty="0"/>
              <a:t>学生－课程数据库（简单通例）</a:t>
            </a:r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学生表</a:t>
            </a:r>
          </a:p>
          <a:p>
            <a:pPr lvl="1" eaLnBrk="1" hangingPunct="1"/>
            <a:r>
              <a:rPr lang="en-US" altLang="zh-CN" dirty="0"/>
              <a:t>Student(</a:t>
            </a:r>
            <a:r>
              <a:rPr lang="en-US" altLang="zh-CN" u="sng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/>
              <a:t>Sname</a:t>
            </a:r>
            <a:r>
              <a:rPr lang="en-US" altLang="zh-CN" dirty="0"/>
              <a:t>, </a:t>
            </a:r>
            <a:r>
              <a:rPr lang="en-US" altLang="zh-CN" dirty="0" err="1"/>
              <a:t>Sgender</a:t>
            </a:r>
            <a:r>
              <a:rPr lang="en-US" altLang="zh-CN" dirty="0"/>
              <a:t>, Sage, </a:t>
            </a:r>
            <a:r>
              <a:rPr lang="en-US" altLang="zh-CN" dirty="0" err="1"/>
              <a:t>Sdept</a:t>
            </a:r>
            <a:r>
              <a:rPr lang="en-US" altLang="zh-CN" dirty="0"/>
              <a:t>)</a:t>
            </a:r>
          </a:p>
          <a:p>
            <a:pPr eaLnBrk="1" hangingPunct="1"/>
            <a:endParaRPr lang="zh-CN" altLang="en-US" sz="900" dirty="0"/>
          </a:p>
          <a:p>
            <a:pPr eaLnBrk="1" hangingPunct="1"/>
            <a:r>
              <a:rPr lang="zh-CN" altLang="en-US" dirty="0"/>
              <a:t>课程表</a:t>
            </a:r>
          </a:p>
          <a:p>
            <a:pPr lvl="1" eaLnBrk="1" hangingPunct="1"/>
            <a:r>
              <a:rPr lang="en-US" altLang="zh-CN" dirty="0"/>
              <a:t>Course(</a:t>
            </a:r>
            <a:r>
              <a:rPr lang="en-US" altLang="zh-CN" u="sng" dirty="0" err="1"/>
              <a:t>Cno</a:t>
            </a:r>
            <a:r>
              <a:rPr lang="en-US" altLang="zh-CN" dirty="0"/>
              <a:t>, </a:t>
            </a:r>
            <a:r>
              <a:rPr lang="en-US" altLang="zh-CN" dirty="0" err="1"/>
              <a:t>Cname</a:t>
            </a:r>
            <a:r>
              <a:rPr lang="en-US" altLang="zh-CN" dirty="0"/>
              <a:t>, </a:t>
            </a:r>
            <a:r>
              <a:rPr lang="en-US" altLang="zh-CN" dirty="0" err="1"/>
              <a:t>Cpno</a:t>
            </a:r>
            <a:r>
              <a:rPr lang="en-US" altLang="zh-CN" dirty="0"/>
              <a:t>, </a:t>
            </a:r>
            <a:r>
              <a:rPr lang="en-US" altLang="zh-CN" dirty="0" err="1"/>
              <a:t>Ccredit</a:t>
            </a:r>
            <a:r>
              <a:rPr lang="en-US" altLang="zh-CN" dirty="0"/>
              <a:t>)</a:t>
            </a:r>
          </a:p>
          <a:p>
            <a:pPr eaLnBrk="1" hangingPunct="1"/>
            <a:endParaRPr lang="zh-CN" altLang="en-US" sz="900" dirty="0"/>
          </a:p>
          <a:p>
            <a:pPr eaLnBrk="1" hangingPunct="1"/>
            <a:r>
              <a:rPr lang="zh-CN" altLang="en-US" dirty="0"/>
              <a:t>选课表</a:t>
            </a:r>
          </a:p>
          <a:p>
            <a:pPr lvl="1" eaLnBrk="1" hangingPunct="1"/>
            <a:r>
              <a:rPr lang="en-US" altLang="zh-CN" dirty="0"/>
              <a:t>SC(</a:t>
            </a:r>
            <a:r>
              <a:rPr lang="en-US" altLang="zh-CN" u="sng" dirty="0" err="1"/>
              <a:t>Sno</a:t>
            </a:r>
            <a:r>
              <a:rPr lang="en-US" altLang="zh-CN" u="sng" dirty="0"/>
              <a:t>, </a:t>
            </a:r>
            <a:r>
              <a:rPr lang="en-US" altLang="zh-CN" u="sng" dirty="0" err="1"/>
              <a:t>Cno</a:t>
            </a:r>
            <a:r>
              <a:rPr lang="en-US" altLang="zh-CN" dirty="0"/>
              <a:t>, Grade)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4AE7F19-B751-5A95-4150-904C3F445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17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06FE73EB-8F0A-4189-B788-AC1F26A60F8D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74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3.2 </a:t>
            </a:r>
            <a:r>
              <a:rPr lang="zh-CN" altLang="en-US" dirty="0"/>
              <a:t>学生－课程数据库（简单通例）</a:t>
            </a:r>
          </a:p>
        </p:txBody>
      </p:sp>
      <p:sp>
        <p:nvSpPr>
          <p:cNvPr id="2" name="矩形 1"/>
          <p:cNvSpPr/>
          <p:nvPr/>
        </p:nvSpPr>
        <p:spPr>
          <a:xfrm>
            <a:off x="800100" y="1752600"/>
            <a:ext cx="457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b="1" dirty="0"/>
              <a:t>课程表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9EA9D3F-C08A-78A4-E955-7E743FFDE9CF}"/>
              </a:ext>
            </a:extLst>
          </p:cNvPr>
          <p:cNvGrpSpPr/>
          <p:nvPr/>
        </p:nvGrpSpPr>
        <p:grpSpPr>
          <a:xfrm>
            <a:off x="1333500" y="1981200"/>
            <a:ext cx="6781800" cy="3895267"/>
            <a:chOff x="609600" y="1524000"/>
            <a:chExt cx="6781800" cy="3895267"/>
          </a:xfrm>
        </p:grpSpPr>
        <p:pic>
          <p:nvPicPr>
            <p:cNvPr id="210947" name="Picture 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" y="1524000"/>
              <a:ext cx="6781800" cy="3895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3"/>
            <a:srcRect/>
            <a:stretch/>
          </p:blipFill>
          <p:spPr>
            <a:xfrm>
              <a:off x="5334000" y="4191000"/>
              <a:ext cx="1066801" cy="339654"/>
            </a:xfrm>
            <a:prstGeom prst="rect">
              <a:avLst/>
            </a:prstGeom>
          </p:spPr>
        </p:pic>
      </p:grp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D4AF4F-192D-F7E5-F6A9-4EE267221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18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9235231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C9BA53C-A695-43C6-B9C7-52E10ACB6FD5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74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3.2 </a:t>
            </a:r>
            <a:r>
              <a:rPr lang="zh-CN" altLang="en-US" dirty="0"/>
              <a:t>学生－课程数据库（简单通例）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19591DB0-1C64-AD25-A2FA-C55F45EA5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823244"/>
            <a:ext cx="4648200" cy="184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EA79391-3BEE-E587-6AB9-61ABEF1678BF}"/>
              </a:ext>
            </a:extLst>
          </p:cNvPr>
          <p:cNvSpPr/>
          <p:nvPr/>
        </p:nvSpPr>
        <p:spPr>
          <a:xfrm>
            <a:off x="381000" y="1382514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zh-CN" altLang="en-US" b="1" dirty="0"/>
              <a:t>学生表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B9437F01-B9C8-27C9-FD76-4F1192FD1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0750" y="3768953"/>
            <a:ext cx="4134997" cy="2474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F0664FF-731D-73AE-1ECF-F9092F804B15}"/>
              </a:ext>
            </a:extLst>
          </p:cNvPr>
          <p:cNvSpPr/>
          <p:nvPr/>
        </p:nvSpPr>
        <p:spPr>
          <a:xfrm>
            <a:off x="6912054" y="3341682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zh-CN" altLang="en-US" b="1" dirty="0"/>
              <a:t>选课表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BBD422B-DE01-81E0-BE88-4D2C5D7FFFCA}"/>
              </a:ext>
            </a:extLst>
          </p:cNvPr>
          <p:cNvSpPr/>
          <p:nvPr/>
        </p:nvSpPr>
        <p:spPr>
          <a:xfrm>
            <a:off x="1488996" y="4291604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zh-CN" altLang="en-US" b="1" dirty="0"/>
              <a:t>选课关系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215E99-3244-4445-A95D-638DD08291E7}"/>
              </a:ext>
            </a:extLst>
          </p:cNvPr>
          <p:cNvSpPr/>
          <p:nvPr/>
        </p:nvSpPr>
        <p:spPr>
          <a:xfrm>
            <a:off x="513045" y="5206515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zh-CN" altLang="en-US" b="1" dirty="0"/>
              <a:t>学生关系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2CD8443-6D38-7E96-6694-E982057C1E7D}"/>
              </a:ext>
            </a:extLst>
          </p:cNvPr>
          <p:cNvSpPr/>
          <p:nvPr/>
        </p:nvSpPr>
        <p:spPr>
          <a:xfrm>
            <a:off x="2678287" y="5248350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zh-CN" altLang="en-US" b="1" dirty="0"/>
              <a:t>课程关系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33AE2743-4541-C2E1-27B3-5C5DAF3BB8AA}"/>
              </a:ext>
            </a:extLst>
          </p:cNvPr>
          <p:cNvCxnSpPr>
            <a:stCxn id="8" idx="1"/>
            <a:endCxn id="9" idx="0"/>
          </p:cNvCxnSpPr>
          <p:nvPr/>
        </p:nvCxnSpPr>
        <p:spPr bwMode="auto">
          <a:xfrm flipH="1">
            <a:off x="1224137" y="4522437"/>
            <a:ext cx="264859" cy="68407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AC57FD4-76FA-2FC3-6FE0-1FF996136E0C}"/>
              </a:ext>
            </a:extLst>
          </p:cNvPr>
          <p:cNvCxnSpPr>
            <a:stCxn id="10" idx="0"/>
            <a:endCxn id="8" idx="3"/>
          </p:cNvCxnSpPr>
          <p:nvPr/>
        </p:nvCxnSpPr>
        <p:spPr bwMode="auto">
          <a:xfrm flipH="1" flipV="1">
            <a:off x="2911180" y="4522437"/>
            <a:ext cx="478199" cy="72591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FEBE049-4C3F-68F4-6DF0-4008B666C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19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4344392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2385493-4359-4A94-BE66-A2087F2983D7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74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3.2 </a:t>
            </a:r>
            <a:r>
              <a:rPr lang="zh-CN" altLang="en-US" dirty="0"/>
              <a:t>教务数据库（教材示例）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F486C7-2DC5-767D-CFA7-AC1024F74C0F}"/>
              </a:ext>
            </a:extLst>
          </p:cNvPr>
          <p:cNvSpPr txBox="1"/>
          <p:nvPr/>
        </p:nvSpPr>
        <p:spPr>
          <a:xfrm>
            <a:off x="723900" y="1600200"/>
            <a:ext cx="800100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/>
              <a:t>classroom(</a:t>
            </a:r>
            <a:r>
              <a:rPr lang="zh-CN" altLang="en-US" sz="2000" u="sng" dirty="0"/>
              <a:t>building</a:t>
            </a:r>
            <a:r>
              <a:rPr lang="zh-CN" altLang="en-US" sz="2000" dirty="0"/>
              <a:t>, </a:t>
            </a:r>
            <a:r>
              <a:rPr lang="zh-CN" altLang="en-US" sz="2000" u="sng" dirty="0"/>
              <a:t>room</a:t>
            </a:r>
            <a:r>
              <a:rPr lang="en-US" altLang="zh-CN" sz="2000" u="sng" dirty="0"/>
              <a:t>_</a:t>
            </a:r>
            <a:r>
              <a:rPr lang="zh-CN" altLang="en-US" sz="2000" u="sng" dirty="0"/>
              <a:t>number</a:t>
            </a:r>
            <a:r>
              <a:rPr lang="zh-CN" altLang="en-US" sz="2000" dirty="0"/>
              <a:t>, capacity) </a:t>
            </a:r>
            <a:r>
              <a:rPr lang="en-US" altLang="zh-CN" sz="2000" dirty="0"/>
              <a:t>//</a:t>
            </a:r>
            <a:r>
              <a:rPr lang="zh-CN" altLang="en-US" sz="2000" dirty="0"/>
              <a:t>教室</a:t>
            </a:r>
            <a:endParaRPr lang="en-US" altLang="zh-CN" sz="2000" dirty="0"/>
          </a:p>
          <a:p>
            <a:pPr algn="l"/>
            <a:r>
              <a:rPr lang="zh-CN" altLang="en-US" sz="2000" dirty="0"/>
              <a:t>department(</a:t>
            </a:r>
            <a:r>
              <a:rPr lang="zh-CN" altLang="en-US" sz="2000" u="sng" dirty="0"/>
              <a:t>dept</a:t>
            </a:r>
            <a:r>
              <a:rPr lang="en-US" altLang="zh-CN" sz="2000" u="sng" dirty="0"/>
              <a:t>_</a:t>
            </a:r>
            <a:r>
              <a:rPr lang="zh-CN" altLang="en-US" sz="2000" u="sng" dirty="0"/>
              <a:t>name</a:t>
            </a:r>
            <a:r>
              <a:rPr lang="zh-CN" altLang="en-US" sz="2000" dirty="0"/>
              <a:t>, building, budget)</a:t>
            </a:r>
            <a:r>
              <a:rPr lang="en-US" altLang="zh-CN" sz="2000" dirty="0"/>
              <a:t>  //</a:t>
            </a:r>
            <a:r>
              <a:rPr lang="zh-CN" altLang="en-US" sz="2000" dirty="0"/>
              <a:t>系别</a:t>
            </a:r>
            <a:endParaRPr lang="en-US" altLang="zh-CN" sz="2000" dirty="0"/>
          </a:p>
          <a:p>
            <a:pPr algn="l"/>
            <a:r>
              <a:rPr lang="zh-CN" altLang="en-US" sz="2000" dirty="0"/>
              <a:t>course(</a:t>
            </a:r>
            <a:r>
              <a:rPr lang="zh-CN" altLang="en-US" sz="2000" u="sng" dirty="0"/>
              <a:t>course</a:t>
            </a:r>
            <a:r>
              <a:rPr lang="en-US" altLang="zh-CN" sz="2000" u="sng" dirty="0"/>
              <a:t>_</a:t>
            </a:r>
            <a:r>
              <a:rPr lang="zh-CN" altLang="en-US" sz="2000" u="sng" dirty="0"/>
              <a:t>id</a:t>
            </a:r>
            <a:r>
              <a:rPr lang="zh-CN" altLang="en-US" sz="2000" dirty="0"/>
              <a:t>, title, </a:t>
            </a:r>
            <a:r>
              <a:rPr lang="zh-CN" altLang="en-US" sz="2000" dirty="0">
                <a:solidFill>
                  <a:srgbClr val="0000FF"/>
                </a:solidFill>
              </a:rPr>
              <a:t>dept</a:t>
            </a:r>
            <a:r>
              <a:rPr lang="en-US" altLang="zh-CN" sz="2000" dirty="0">
                <a:solidFill>
                  <a:srgbClr val="0000FF"/>
                </a:solidFill>
              </a:rPr>
              <a:t>_</a:t>
            </a:r>
            <a:r>
              <a:rPr lang="zh-CN" altLang="en-US" sz="2000" dirty="0">
                <a:solidFill>
                  <a:srgbClr val="0000FF"/>
                </a:solidFill>
              </a:rPr>
              <a:t>name</a:t>
            </a:r>
            <a:r>
              <a:rPr lang="zh-CN" altLang="en-US" sz="2000" dirty="0"/>
              <a:t>, credits)</a:t>
            </a:r>
            <a:r>
              <a:rPr lang="en-US" altLang="zh-CN" sz="2000" dirty="0"/>
              <a:t>  //</a:t>
            </a:r>
            <a:r>
              <a:rPr lang="zh-CN" altLang="en-US" sz="2000" dirty="0"/>
              <a:t>课程</a:t>
            </a:r>
            <a:endParaRPr lang="en-US" altLang="zh-CN" sz="2000" dirty="0"/>
          </a:p>
          <a:p>
            <a:pPr algn="l"/>
            <a:r>
              <a:rPr lang="zh-CN" altLang="en-US" sz="2000" dirty="0"/>
              <a:t>instructor(</a:t>
            </a:r>
            <a:r>
              <a:rPr lang="zh-CN" altLang="en-US" sz="2000" u="sng" dirty="0"/>
              <a:t>ID</a:t>
            </a:r>
            <a:r>
              <a:rPr lang="zh-CN" altLang="en-US" sz="2000" dirty="0"/>
              <a:t>, name, </a:t>
            </a:r>
            <a:r>
              <a:rPr lang="zh-CN" altLang="en-US" sz="2000" dirty="0">
                <a:solidFill>
                  <a:srgbClr val="0000FF"/>
                </a:solidFill>
              </a:rPr>
              <a:t>dept</a:t>
            </a:r>
            <a:r>
              <a:rPr lang="en-US" altLang="zh-CN" sz="2000" dirty="0">
                <a:solidFill>
                  <a:srgbClr val="0000FF"/>
                </a:solidFill>
              </a:rPr>
              <a:t>_</a:t>
            </a:r>
            <a:r>
              <a:rPr lang="zh-CN" altLang="en-US" sz="2000" dirty="0">
                <a:solidFill>
                  <a:srgbClr val="0000FF"/>
                </a:solidFill>
              </a:rPr>
              <a:t>name</a:t>
            </a:r>
            <a:r>
              <a:rPr lang="zh-CN" altLang="en-US" sz="2000" dirty="0"/>
              <a:t>, salary)   </a:t>
            </a:r>
            <a:r>
              <a:rPr lang="en-US" altLang="zh-CN" sz="2000" dirty="0"/>
              <a:t>//</a:t>
            </a:r>
            <a:r>
              <a:rPr lang="zh-CN" altLang="en-US" sz="2000" dirty="0"/>
              <a:t>讲师</a:t>
            </a:r>
            <a:endParaRPr lang="en-US" altLang="zh-CN" sz="2000" dirty="0"/>
          </a:p>
          <a:p>
            <a:pPr algn="l"/>
            <a:r>
              <a:rPr lang="zh-CN" altLang="en-US" sz="2000" dirty="0"/>
              <a:t>student(</a:t>
            </a:r>
            <a:r>
              <a:rPr lang="zh-CN" altLang="en-US" sz="2000" u="sng" dirty="0"/>
              <a:t>ID</a:t>
            </a:r>
            <a:r>
              <a:rPr lang="zh-CN" altLang="en-US" sz="2000" dirty="0"/>
              <a:t>, name, </a:t>
            </a:r>
            <a:r>
              <a:rPr lang="zh-CN" altLang="en-US" sz="2000" dirty="0">
                <a:solidFill>
                  <a:srgbClr val="0000FF"/>
                </a:solidFill>
              </a:rPr>
              <a:t>dept</a:t>
            </a:r>
            <a:r>
              <a:rPr lang="en-US" altLang="zh-CN" sz="2000" dirty="0">
                <a:solidFill>
                  <a:srgbClr val="0000FF"/>
                </a:solidFill>
              </a:rPr>
              <a:t>_</a:t>
            </a:r>
            <a:r>
              <a:rPr lang="zh-CN" altLang="en-US" sz="2000" dirty="0">
                <a:solidFill>
                  <a:srgbClr val="0000FF"/>
                </a:solidFill>
              </a:rPr>
              <a:t>name</a:t>
            </a:r>
            <a:r>
              <a:rPr lang="zh-CN" altLang="en-US" sz="2000" dirty="0"/>
              <a:t>, tot</a:t>
            </a:r>
            <a:r>
              <a:rPr lang="en-US" altLang="zh-CN" sz="2000" dirty="0"/>
              <a:t>_</a:t>
            </a:r>
            <a:r>
              <a:rPr lang="zh-CN" altLang="en-US" sz="2000" dirty="0"/>
              <a:t>cred)</a:t>
            </a:r>
            <a:r>
              <a:rPr lang="en-US" altLang="zh-CN" sz="2000" dirty="0"/>
              <a:t> //</a:t>
            </a:r>
            <a:r>
              <a:rPr lang="zh-CN" altLang="en-US" sz="2000" dirty="0"/>
              <a:t>学生</a:t>
            </a:r>
            <a:endParaRPr lang="en-US" altLang="zh-CN" sz="2000" dirty="0"/>
          </a:p>
          <a:p>
            <a:pPr algn="l"/>
            <a:r>
              <a:rPr lang="en-US" altLang="zh-CN" sz="2000" dirty="0" err="1"/>
              <a:t>time_slot</a:t>
            </a:r>
            <a:r>
              <a:rPr lang="en-US" altLang="zh-CN" sz="2000" dirty="0"/>
              <a:t>(</a:t>
            </a:r>
            <a:r>
              <a:rPr lang="zh-CN" altLang="en-US" sz="2000" dirty="0"/>
              <a:t>time</a:t>
            </a:r>
            <a:r>
              <a:rPr lang="en-US" altLang="zh-CN" sz="2000" dirty="0"/>
              <a:t>_</a:t>
            </a:r>
            <a:r>
              <a:rPr lang="zh-CN" altLang="en-US" sz="2000" dirty="0"/>
              <a:t>slot</a:t>
            </a:r>
            <a:r>
              <a:rPr lang="en-US" altLang="zh-CN" sz="2000" dirty="0"/>
              <a:t>_</a:t>
            </a:r>
            <a:r>
              <a:rPr lang="zh-CN" altLang="en-US" sz="2000" dirty="0"/>
              <a:t>id</a:t>
            </a:r>
            <a:r>
              <a:rPr lang="en-US" altLang="zh-CN" sz="2000" dirty="0"/>
              <a:t>, day, </a:t>
            </a:r>
            <a:r>
              <a:rPr lang="en-US" altLang="zh-CN" sz="2000" dirty="0" err="1"/>
              <a:t>start_time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end_time</a:t>
            </a:r>
            <a:r>
              <a:rPr lang="en-US" altLang="zh-CN" sz="2000" dirty="0"/>
              <a:t>)//</a:t>
            </a:r>
            <a:r>
              <a:rPr lang="zh-CN" altLang="en-US" sz="2000" dirty="0"/>
              <a:t>时间隙</a:t>
            </a:r>
            <a:endParaRPr lang="en-US" altLang="zh-CN" sz="2000" dirty="0"/>
          </a:p>
          <a:p>
            <a:pPr algn="l"/>
            <a:endParaRPr lang="en-US" altLang="zh-CN" sz="2000" dirty="0"/>
          </a:p>
          <a:p>
            <a:pPr algn="l"/>
            <a:r>
              <a:rPr lang="zh-CN" altLang="en-US" sz="2000" dirty="0"/>
              <a:t>section (</a:t>
            </a:r>
            <a:r>
              <a:rPr lang="zh-CN" altLang="en-US" sz="2000" u="sng" dirty="0"/>
              <a:t>course</a:t>
            </a:r>
            <a:r>
              <a:rPr lang="en-US" altLang="zh-CN" sz="2000" u="sng" dirty="0"/>
              <a:t>_</a:t>
            </a:r>
            <a:r>
              <a:rPr lang="zh-CN" altLang="en-US" sz="2000" u="sng" dirty="0"/>
              <a:t>id</a:t>
            </a:r>
            <a:r>
              <a:rPr lang="zh-CN" altLang="en-US" sz="2000" dirty="0"/>
              <a:t>, </a:t>
            </a:r>
            <a:r>
              <a:rPr lang="zh-CN" altLang="en-US" sz="2000" u="sng" dirty="0"/>
              <a:t>sec</a:t>
            </a:r>
            <a:r>
              <a:rPr lang="en-US" altLang="zh-CN" sz="2000" u="sng" dirty="0"/>
              <a:t>_</a:t>
            </a:r>
            <a:r>
              <a:rPr lang="zh-CN" altLang="en-US" sz="2000" u="sng" dirty="0"/>
              <a:t>id</a:t>
            </a:r>
            <a:r>
              <a:rPr lang="zh-CN" altLang="en-US" sz="2000" dirty="0"/>
              <a:t>, </a:t>
            </a:r>
            <a:r>
              <a:rPr lang="zh-CN" altLang="en-US" sz="2000" u="sng" dirty="0"/>
              <a:t>semester</a:t>
            </a:r>
            <a:r>
              <a:rPr lang="zh-CN" altLang="en-US" sz="2000" dirty="0"/>
              <a:t>, </a:t>
            </a:r>
            <a:r>
              <a:rPr lang="zh-CN" altLang="en-US" sz="2000" u="sng" dirty="0"/>
              <a:t>year</a:t>
            </a:r>
            <a:r>
              <a:rPr lang="zh-CN" altLang="en-US" sz="2000" dirty="0"/>
              <a:t>, </a:t>
            </a:r>
            <a:r>
              <a:rPr lang="zh-CN" altLang="en-US" sz="2000" dirty="0">
                <a:solidFill>
                  <a:srgbClr val="0000FF"/>
                </a:solidFill>
              </a:rPr>
              <a:t>building, room</a:t>
            </a:r>
            <a:r>
              <a:rPr lang="en-US" altLang="zh-CN" sz="2000" dirty="0">
                <a:solidFill>
                  <a:srgbClr val="0000FF"/>
                </a:solidFill>
              </a:rPr>
              <a:t>_</a:t>
            </a:r>
            <a:r>
              <a:rPr lang="zh-CN" altLang="en-US" sz="2000" dirty="0">
                <a:solidFill>
                  <a:srgbClr val="0000FF"/>
                </a:solidFill>
              </a:rPr>
              <a:t>number</a:t>
            </a:r>
            <a:r>
              <a:rPr lang="zh-CN" altLang="en-US" sz="2000" dirty="0"/>
              <a:t>, </a:t>
            </a:r>
            <a:r>
              <a:rPr lang="zh-CN" altLang="en-US" sz="2000" dirty="0">
                <a:solidFill>
                  <a:srgbClr val="800080"/>
                </a:solidFill>
              </a:rPr>
              <a:t>time</a:t>
            </a:r>
            <a:r>
              <a:rPr lang="en-US" altLang="zh-CN" sz="2000" dirty="0">
                <a:solidFill>
                  <a:srgbClr val="800080"/>
                </a:solidFill>
              </a:rPr>
              <a:t>_</a:t>
            </a:r>
            <a:r>
              <a:rPr lang="zh-CN" altLang="en-US" sz="2000" dirty="0">
                <a:solidFill>
                  <a:srgbClr val="800080"/>
                </a:solidFill>
              </a:rPr>
              <a:t>slot</a:t>
            </a:r>
            <a:r>
              <a:rPr lang="en-US" altLang="zh-CN" sz="2000" dirty="0">
                <a:solidFill>
                  <a:srgbClr val="800080"/>
                </a:solidFill>
              </a:rPr>
              <a:t>_</a:t>
            </a:r>
            <a:r>
              <a:rPr lang="zh-CN" altLang="en-US" sz="2000" dirty="0">
                <a:solidFill>
                  <a:srgbClr val="800080"/>
                </a:solidFill>
              </a:rPr>
              <a:t>id</a:t>
            </a:r>
            <a:r>
              <a:rPr lang="zh-CN" altLang="en-US" sz="2000" dirty="0"/>
              <a:t>)</a:t>
            </a:r>
            <a:r>
              <a:rPr lang="en-US" altLang="zh-CN" sz="2000" dirty="0"/>
              <a:t> // </a:t>
            </a:r>
            <a:r>
              <a:rPr lang="zh-CN" altLang="en-US" sz="2000" dirty="0"/>
              <a:t>课程开设情况</a:t>
            </a:r>
            <a:endParaRPr lang="en-US" altLang="zh-CN" sz="2000" dirty="0"/>
          </a:p>
          <a:p>
            <a:pPr algn="l"/>
            <a:r>
              <a:rPr lang="zh-CN" altLang="en-US" sz="2000" dirty="0"/>
              <a:t>teaches(</a:t>
            </a:r>
            <a:r>
              <a:rPr lang="zh-CN" altLang="en-US" sz="2000" u="sng" dirty="0"/>
              <a:t>ID</a:t>
            </a:r>
            <a:r>
              <a:rPr lang="zh-CN" altLang="en-US" sz="2000" dirty="0"/>
              <a:t>, </a:t>
            </a:r>
            <a:r>
              <a:rPr lang="zh-CN" altLang="en-US" sz="2000" u="sng" dirty="0"/>
              <a:t>course</a:t>
            </a:r>
            <a:r>
              <a:rPr lang="en-US" altLang="zh-CN" sz="2000" u="sng" dirty="0"/>
              <a:t>_</a:t>
            </a:r>
            <a:r>
              <a:rPr lang="zh-CN" altLang="en-US" sz="2000" u="sng" dirty="0"/>
              <a:t>id</a:t>
            </a:r>
            <a:r>
              <a:rPr lang="zh-CN" altLang="en-US" sz="2000" dirty="0"/>
              <a:t>, </a:t>
            </a:r>
            <a:r>
              <a:rPr lang="zh-CN" altLang="en-US" sz="2000" u="sng" dirty="0"/>
              <a:t>sec</a:t>
            </a:r>
            <a:r>
              <a:rPr lang="en-US" altLang="zh-CN" sz="2000" u="sng" dirty="0"/>
              <a:t>_</a:t>
            </a:r>
            <a:r>
              <a:rPr lang="zh-CN" altLang="en-US" sz="2000" u="sng" dirty="0"/>
              <a:t>id</a:t>
            </a:r>
            <a:r>
              <a:rPr lang="zh-CN" altLang="en-US" sz="2000" dirty="0"/>
              <a:t>, </a:t>
            </a:r>
            <a:r>
              <a:rPr lang="zh-CN" altLang="en-US" sz="2000" u="sng" dirty="0"/>
              <a:t>semester</a:t>
            </a:r>
            <a:r>
              <a:rPr lang="zh-CN" altLang="en-US" sz="2000" dirty="0"/>
              <a:t>, </a:t>
            </a:r>
            <a:r>
              <a:rPr lang="zh-CN" altLang="en-US" sz="2000" u="sng" dirty="0"/>
              <a:t>year</a:t>
            </a:r>
            <a:r>
              <a:rPr lang="zh-CN" altLang="en-US" sz="2000" dirty="0"/>
              <a:t>)</a:t>
            </a:r>
            <a:r>
              <a:rPr lang="en-US" altLang="zh-CN" sz="2000" dirty="0"/>
              <a:t> //</a:t>
            </a:r>
            <a:r>
              <a:rPr lang="zh-CN" altLang="en-US" sz="2000" dirty="0"/>
              <a:t>授课</a:t>
            </a:r>
            <a:endParaRPr lang="en-US" altLang="zh-CN" sz="2000" dirty="0"/>
          </a:p>
          <a:p>
            <a:pPr algn="l"/>
            <a:r>
              <a:rPr lang="zh-CN" altLang="en-US" sz="2000" dirty="0"/>
              <a:t>takes(</a:t>
            </a:r>
            <a:r>
              <a:rPr lang="zh-CN" altLang="en-US" sz="2000" u="sng" dirty="0"/>
              <a:t>ID</a:t>
            </a:r>
            <a:r>
              <a:rPr lang="zh-CN" altLang="en-US" sz="2000" dirty="0"/>
              <a:t>, </a:t>
            </a:r>
            <a:r>
              <a:rPr lang="zh-CN" altLang="en-US" sz="2000" u="sng" dirty="0"/>
              <a:t>course</a:t>
            </a:r>
            <a:r>
              <a:rPr lang="en-US" altLang="zh-CN" sz="2000" u="sng" dirty="0"/>
              <a:t>_</a:t>
            </a:r>
            <a:r>
              <a:rPr lang="zh-CN" altLang="en-US" sz="2000" u="sng" dirty="0"/>
              <a:t>id</a:t>
            </a:r>
            <a:r>
              <a:rPr lang="zh-CN" altLang="en-US" sz="2000" dirty="0"/>
              <a:t>, </a:t>
            </a:r>
            <a:r>
              <a:rPr lang="zh-CN" altLang="en-US" sz="2000" u="sng" dirty="0"/>
              <a:t>sec</a:t>
            </a:r>
            <a:r>
              <a:rPr lang="en-US" altLang="zh-CN" sz="2000" u="sng" dirty="0"/>
              <a:t>_</a:t>
            </a:r>
            <a:r>
              <a:rPr lang="zh-CN" altLang="en-US" sz="2000" u="sng" dirty="0"/>
              <a:t>id</a:t>
            </a:r>
            <a:r>
              <a:rPr lang="zh-CN" altLang="en-US" sz="2000" dirty="0"/>
              <a:t>, </a:t>
            </a:r>
            <a:r>
              <a:rPr lang="zh-CN" altLang="en-US" sz="2000" u="sng" dirty="0"/>
              <a:t>semester</a:t>
            </a:r>
            <a:r>
              <a:rPr lang="zh-CN" altLang="en-US" sz="2000" dirty="0"/>
              <a:t>, </a:t>
            </a:r>
            <a:r>
              <a:rPr lang="zh-CN" altLang="en-US" sz="2000" u="sng" dirty="0"/>
              <a:t>year</a:t>
            </a:r>
            <a:r>
              <a:rPr lang="zh-CN" altLang="en-US" sz="2000" dirty="0"/>
              <a:t>, grade)</a:t>
            </a:r>
            <a:r>
              <a:rPr lang="en-US" altLang="zh-CN" sz="2000" dirty="0"/>
              <a:t> //</a:t>
            </a:r>
            <a:r>
              <a:rPr lang="zh-CN" altLang="en-US" sz="2000" dirty="0"/>
              <a:t>选课</a:t>
            </a:r>
            <a:endParaRPr lang="en-US" altLang="zh-CN" sz="2000" dirty="0"/>
          </a:p>
          <a:p>
            <a:pPr algn="l"/>
            <a:r>
              <a:rPr lang="zh-CN" altLang="en-US" sz="2000" dirty="0"/>
              <a:t>advisor(</a:t>
            </a:r>
            <a:r>
              <a:rPr lang="zh-CN" altLang="en-US" sz="2000" u="sng" dirty="0"/>
              <a:t>s</a:t>
            </a:r>
            <a:r>
              <a:rPr lang="en-US" altLang="zh-CN" sz="2000" u="sng" dirty="0"/>
              <a:t>_</a:t>
            </a:r>
            <a:r>
              <a:rPr lang="zh-CN" altLang="en-US" sz="2000" u="sng" dirty="0"/>
              <a:t>ID</a:t>
            </a:r>
            <a:r>
              <a:rPr lang="zh-CN" altLang="en-US" sz="2000" dirty="0"/>
              <a:t>, </a:t>
            </a:r>
            <a:r>
              <a:rPr lang="zh-CN" altLang="en-US" sz="2000" u="sng" dirty="0"/>
              <a:t>i</a:t>
            </a:r>
            <a:r>
              <a:rPr lang="en-US" altLang="zh-CN" sz="2000" u="sng" dirty="0"/>
              <a:t>_</a:t>
            </a:r>
            <a:r>
              <a:rPr lang="zh-CN" altLang="en-US" sz="2000" u="sng" dirty="0"/>
              <a:t>ID</a:t>
            </a:r>
            <a:r>
              <a:rPr lang="zh-CN" altLang="en-US" sz="2000" dirty="0"/>
              <a:t>)</a:t>
            </a:r>
            <a:r>
              <a:rPr lang="en-US" altLang="zh-CN" sz="2000" dirty="0"/>
              <a:t> //</a:t>
            </a:r>
            <a:r>
              <a:rPr lang="zh-CN" altLang="en-US" sz="2000" dirty="0"/>
              <a:t>指导</a:t>
            </a:r>
            <a:endParaRPr lang="en-US" altLang="zh-CN" sz="20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C619707-96B5-E12B-F674-2F66E5218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20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7685350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4BA61BFF-769C-4B91-9C5D-E46F5E9BA248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74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3.2 </a:t>
            </a:r>
            <a:r>
              <a:rPr lang="zh-CN" altLang="en-US" dirty="0"/>
              <a:t>教务数据库（教材示例）</a:t>
            </a:r>
          </a:p>
        </p:txBody>
      </p:sp>
      <p:pic>
        <p:nvPicPr>
          <p:cNvPr id="11" name="Graphic 2">
            <a:extLst>
              <a:ext uri="{FF2B5EF4-FFF2-40B4-BE49-F238E27FC236}">
                <a16:creationId xmlns:a16="http://schemas.microsoft.com/office/drawing/2014/main" id="{9DDB6182-FCF4-3C88-A09F-E47E7A558B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6002" y="1447800"/>
            <a:ext cx="8131996" cy="4871953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E691D28-D801-61BC-EC80-103CF63AE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21</a:t>
            </a:fld>
            <a:r>
              <a:rPr lang="en-US" altLang="zh-CN"/>
              <a:t>/177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D0E487F-5DAB-D3CD-7073-B9013D4AC5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002" y="1441174"/>
            <a:ext cx="8305800" cy="5001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928752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B11B33B-4D6C-4AB3-8E3D-093E3CFC092D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843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本章目录</a:t>
            </a:r>
          </a:p>
        </p:txBody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00200"/>
            <a:ext cx="7583488" cy="4532313"/>
          </a:xfrm>
        </p:spPr>
        <p:txBody>
          <a:bodyPr/>
          <a:lstStyle/>
          <a:p>
            <a:pPr eaLnBrk="1" hangingPunct="1"/>
            <a:r>
              <a:rPr lang="en-US" altLang="zh-CN" dirty="0"/>
              <a:t>3.1 SQL</a:t>
            </a:r>
            <a:r>
              <a:rPr lang="zh-CN" altLang="en-US" dirty="0"/>
              <a:t>概述</a:t>
            </a:r>
          </a:p>
          <a:p>
            <a:pPr eaLnBrk="1" hangingPunct="1"/>
            <a:r>
              <a:rPr lang="en-US" altLang="zh-CN" dirty="0"/>
              <a:t>3.2 </a:t>
            </a:r>
            <a:r>
              <a:rPr lang="zh-CN" altLang="en-US" dirty="0"/>
              <a:t>示例数据库</a:t>
            </a:r>
          </a:p>
          <a:p>
            <a:pPr eaLnBrk="1" hangingPunct="1"/>
            <a:r>
              <a:rPr lang="en-US" altLang="zh-CN" dirty="0"/>
              <a:t>3.3 </a:t>
            </a:r>
            <a:r>
              <a:rPr lang="zh-CN" altLang="en-US" dirty="0"/>
              <a:t>数据定义</a:t>
            </a:r>
          </a:p>
          <a:p>
            <a:pPr eaLnBrk="1" hangingPunct="1"/>
            <a:r>
              <a:rPr lang="en-US" altLang="zh-CN" dirty="0"/>
              <a:t>3.4 SQL</a:t>
            </a:r>
            <a:r>
              <a:rPr lang="zh-CN" altLang="en-US" dirty="0"/>
              <a:t>查询</a:t>
            </a:r>
            <a:endParaRPr lang="zh-CN" altLang="en-US" dirty="0">
              <a:solidFill>
                <a:srgbClr val="CC0000"/>
              </a:solidFill>
            </a:endParaRPr>
          </a:p>
          <a:p>
            <a:pPr eaLnBrk="1" hangingPunct="1"/>
            <a:r>
              <a:rPr lang="en-US" altLang="zh-CN" dirty="0"/>
              <a:t>3.5 </a:t>
            </a:r>
            <a:r>
              <a:rPr lang="zh-CN" altLang="en-US" dirty="0"/>
              <a:t>数据更新</a:t>
            </a:r>
            <a:endParaRPr lang="zh-CN" altLang="en-US" dirty="0">
              <a:solidFill>
                <a:srgbClr val="CC0000"/>
              </a:solidFill>
            </a:endParaRPr>
          </a:p>
        </p:txBody>
      </p:sp>
      <p:sp>
        <p:nvSpPr>
          <p:cNvPr id="197636" name="AutoShape 4"/>
          <p:cNvSpPr>
            <a:spLocks noChangeArrowheads="1"/>
          </p:cNvSpPr>
          <p:nvPr/>
        </p:nvSpPr>
        <p:spPr bwMode="auto">
          <a:xfrm>
            <a:off x="838200" y="2895600"/>
            <a:ext cx="457200" cy="457200"/>
          </a:xfrm>
          <a:prstGeom prst="rightArrow">
            <a:avLst>
              <a:gd name="adj1" fmla="val 50000"/>
              <a:gd name="adj2" fmla="val 40278"/>
            </a:avLst>
          </a:prstGeom>
          <a:solidFill>
            <a:srgbClr val="FFCC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156B14F-A07D-6C4F-D5CD-470B59225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22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76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7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7AA7380-1265-4695-B5DC-139DA0A3F3BE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2560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3.3 </a:t>
            </a:r>
            <a:r>
              <a:rPr lang="zh-CN" altLang="en-US" dirty="0"/>
              <a:t>数据定义</a:t>
            </a:r>
          </a:p>
        </p:txBody>
      </p:sp>
      <p:sp>
        <p:nvSpPr>
          <p:cNvPr id="256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数据类型</a:t>
            </a:r>
          </a:p>
          <a:p>
            <a:pPr lvl="1" eaLnBrk="1" hangingPunct="1"/>
            <a:r>
              <a:rPr lang="en-US" altLang="zh-CN" dirty="0"/>
              <a:t>char(</a:t>
            </a:r>
            <a:r>
              <a:rPr lang="en-US" altLang="zh-CN" dirty="0">
                <a:solidFill>
                  <a:srgbClr val="0000FF"/>
                </a:solidFill>
              </a:rPr>
              <a:t>n</a:t>
            </a:r>
            <a:r>
              <a:rPr lang="en-US" altLang="zh-CN" dirty="0"/>
              <a:t>)	</a:t>
            </a:r>
            <a:r>
              <a:rPr lang="zh-CN" altLang="en-US" dirty="0">
                <a:solidFill>
                  <a:srgbClr val="0000FF"/>
                </a:solidFill>
              </a:rPr>
              <a:t>长度为</a:t>
            </a:r>
            <a:r>
              <a:rPr lang="en-US" altLang="zh-CN" dirty="0">
                <a:solidFill>
                  <a:srgbClr val="0000FF"/>
                </a:solidFill>
              </a:rPr>
              <a:t>n</a:t>
            </a:r>
            <a:r>
              <a:rPr lang="zh-CN" altLang="en-US" dirty="0"/>
              <a:t>的</a:t>
            </a:r>
            <a:r>
              <a:rPr lang="zh-CN" altLang="en-US" u="sng" dirty="0"/>
              <a:t>定长</a:t>
            </a:r>
            <a:r>
              <a:rPr lang="zh-CN" altLang="en-US" dirty="0"/>
              <a:t>字符串</a:t>
            </a:r>
          </a:p>
          <a:p>
            <a:pPr lvl="1" eaLnBrk="1" hangingPunct="1"/>
            <a:r>
              <a:rPr lang="en-US" altLang="zh-CN" dirty="0"/>
              <a:t>varchar(</a:t>
            </a:r>
            <a:r>
              <a:rPr lang="en-US" altLang="zh-CN" dirty="0">
                <a:solidFill>
                  <a:srgbClr val="0000FF"/>
                </a:solidFill>
              </a:rPr>
              <a:t>n</a:t>
            </a:r>
            <a:r>
              <a:rPr lang="en-US" altLang="zh-CN" dirty="0"/>
              <a:t>)	</a:t>
            </a:r>
            <a:r>
              <a:rPr lang="zh-CN" altLang="en-US" dirty="0">
                <a:solidFill>
                  <a:srgbClr val="0000FF"/>
                </a:solidFill>
              </a:rPr>
              <a:t>最大长度为</a:t>
            </a:r>
            <a:r>
              <a:rPr lang="en-US" altLang="zh-CN" dirty="0">
                <a:solidFill>
                  <a:srgbClr val="0000FF"/>
                </a:solidFill>
              </a:rPr>
              <a:t>n</a:t>
            </a:r>
            <a:r>
              <a:rPr lang="zh-CN" altLang="en-US" dirty="0"/>
              <a:t>的</a:t>
            </a:r>
            <a:r>
              <a:rPr lang="zh-CN" altLang="en-US" u="sng" dirty="0"/>
              <a:t>变长</a:t>
            </a:r>
            <a:r>
              <a:rPr lang="zh-CN" altLang="en-US" dirty="0"/>
              <a:t>字符串</a:t>
            </a:r>
          </a:p>
          <a:p>
            <a:pPr lvl="1" eaLnBrk="1" hangingPunct="1"/>
            <a:r>
              <a:rPr lang="en-US" altLang="zh-CN" dirty="0" err="1"/>
              <a:t>int</a:t>
            </a:r>
            <a:r>
              <a:rPr lang="en-US" altLang="zh-CN" dirty="0"/>
              <a:t>		</a:t>
            </a:r>
            <a:r>
              <a:rPr lang="zh-CN" altLang="en-US" dirty="0"/>
              <a:t>长整数</a:t>
            </a:r>
          </a:p>
          <a:p>
            <a:pPr lvl="1" eaLnBrk="1" hangingPunct="1"/>
            <a:r>
              <a:rPr lang="en-US" altLang="zh-CN" dirty="0" err="1"/>
              <a:t>smallint</a:t>
            </a:r>
            <a:r>
              <a:rPr lang="en-US" altLang="zh-CN" dirty="0"/>
              <a:t>	</a:t>
            </a:r>
            <a:r>
              <a:rPr lang="zh-CN" altLang="en-US" dirty="0"/>
              <a:t>短整数</a:t>
            </a:r>
          </a:p>
          <a:p>
            <a:pPr lvl="1" eaLnBrk="1" hangingPunct="1"/>
            <a:r>
              <a:rPr lang="en-US" altLang="zh-CN" dirty="0"/>
              <a:t>numeric(</a:t>
            </a:r>
            <a:r>
              <a:rPr lang="en-US" altLang="zh-CN" dirty="0" err="1"/>
              <a:t>p,d</a:t>
            </a:r>
            <a:r>
              <a:rPr lang="en-US" altLang="zh-CN" dirty="0"/>
              <a:t>)	</a:t>
            </a:r>
            <a:r>
              <a:rPr lang="zh-CN" altLang="en-US" dirty="0"/>
              <a:t>定点数（</a:t>
            </a:r>
            <a:r>
              <a:rPr lang="en-US" altLang="zh-CN" dirty="0"/>
              <a:t>p, d</a:t>
            </a:r>
            <a:r>
              <a:rPr lang="zh-CN" altLang="en-US" dirty="0"/>
              <a:t>）</a:t>
            </a:r>
          </a:p>
          <a:p>
            <a:pPr lvl="1" eaLnBrk="1" hangingPunct="1"/>
            <a:r>
              <a:rPr lang="en-US" altLang="zh-CN" dirty="0"/>
              <a:t>real		</a:t>
            </a:r>
            <a:r>
              <a:rPr lang="zh-CN" altLang="en-US" dirty="0"/>
              <a:t>浮点数</a:t>
            </a:r>
            <a:r>
              <a:rPr lang="en-US" altLang="zh-CN" dirty="0"/>
              <a:t>(</a:t>
            </a:r>
            <a:r>
              <a:rPr lang="zh-CN" altLang="en-US" dirty="0"/>
              <a:t>取决于机器精度</a:t>
            </a:r>
            <a:r>
              <a:rPr lang="en-US" altLang="zh-CN" dirty="0"/>
              <a:t>)</a:t>
            </a:r>
            <a:endParaRPr lang="zh-CN" altLang="en-US" dirty="0"/>
          </a:p>
          <a:p>
            <a:pPr lvl="1" eaLnBrk="1" hangingPunct="1"/>
            <a:r>
              <a:rPr lang="en-US" altLang="zh-CN" dirty="0"/>
              <a:t>date		</a:t>
            </a:r>
            <a:r>
              <a:rPr lang="zh-CN" altLang="en-US" dirty="0"/>
              <a:t>日期，格式为 </a:t>
            </a:r>
            <a:r>
              <a:rPr lang="en-US" altLang="zh-CN" dirty="0"/>
              <a:t>YYYY-MM-DD</a:t>
            </a:r>
          </a:p>
          <a:p>
            <a:pPr lvl="1" eaLnBrk="1" hangingPunct="1"/>
            <a:r>
              <a:rPr lang="en-US" altLang="zh-CN" dirty="0"/>
              <a:t>Time		</a:t>
            </a:r>
            <a:r>
              <a:rPr lang="zh-CN" altLang="en-US" dirty="0"/>
              <a:t>时间，格式为 </a:t>
            </a:r>
            <a:r>
              <a:rPr lang="en-US" altLang="zh-CN" dirty="0"/>
              <a:t>HH:MM:SS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13DC9AA-A1F5-1DD9-5017-DB09CF972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23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8199616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3631738"/>
              </p:ext>
            </p:extLst>
          </p:nvPr>
        </p:nvGraphicFramePr>
        <p:xfrm>
          <a:off x="-76200" y="3124200"/>
          <a:ext cx="9115425" cy="310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649688" imgH="1925554" progId="Word.Document.8">
                  <p:embed/>
                </p:oleObj>
              </mc:Choice>
              <mc:Fallback>
                <p:oleObj name="Document" r:id="rId3" imgW="5649688" imgH="1925554" progId="Word.Document.8">
                  <p:embed/>
                  <p:pic>
                    <p:nvPicPr>
                      <p:cNvPr id="0" name="Picture 7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76200" y="3124200"/>
                        <a:ext cx="9115425" cy="310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BECA0747-7942-43E8-9BED-220E14970925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945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3.3 </a:t>
            </a:r>
            <a:r>
              <a:rPr lang="zh-CN" altLang="en-US"/>
              <a:t>数据定义</a:t>
            </a:r>
          </a:p>
        </p:txBody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对</a:t>
            </a:r>
            <a:r>
              <a:rPr lang="zh-CN" altLang="en-US" b="1" u="sng" dirty="0"/>
              <a:t>模式、基本表、视图、索引</a:t>
            </a:r>
            <a:r>
              <a:rPr lang="zh-CN" altLang="en-US" dirty="0"/>
              <a:t>的</a:t>
            </a:r>
            <a:r>
              <a:rPr lang="zh-CN" altLang="en-US" u="sng" dirty="0">
                <a:solidFill>
                  <a:srgbClr val="0000FF"/>
                </a:solidFill>
              </a:rPr>
              <a:t>定义、删除</a:t>
            </a:r>
            <a:r>
              <a:rPr lang="zh-CN" altLang="en-US" u="sng" dirty="0"/>
              <a:t>和</a:t>
            </a:r>
            <a:r>
              <a:rPr lang="zh-CN" altLang="en-US" u="sng" dirty="0">
                <a:solidFill>
                  <a:srgbClr val="0000FF"/>
                </a:solidFill>
              </a:rPr>
              <a:t>修改</a:t>
            </a:r>
            <a:r>
              <a:rPr lang="en-US" altLang="zh-CN" dirty="0"/>
              <a:t>(9</a:t>
            </a:r>
            <a:r>
              <a:rPr lang="zh-CN" altLang="en-US" dirty="0"/>
              <a:t>种组合，</a:t>
            </a:r>
            <a:r>
              <a:rPr lang="zh-CN" altLang="en-US" dirty="0">
                <a:solidFill>
                  <a:srgbClr val="FF0000"/>
                </a:solidFill>
              </a:rPr>
              <a:t>不能修改</a:t>
            </a:r>
            <a:r>
              <a:rPr lang="zh-CN" altLang="en-US" dirty="0"/>
              <a:t>模式、视图</a:t>
            </a:r>
            <a:r>
              <a:rPr lang="en-US" altLang="zh-CN" dirty="0"/>
              <a:t>)</a:t>
            </a:r>
          </a:p>
          <a:p>
            <a:pPr eaLnBrk="1" hangingPunct="1"/>
            <a:endParaRPr lang="en-US" altLang="zh-CN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6BFD43-52B9-4299-B121-96C851A1BBBB}"/>
              </a:ext>
            </a:extLst>
          </p:cNvPr>
          <p:cNvSpPr/>
          <p:nvPr/>
        </p:nvSpPr>
        <p:spPr bwMode="auto">
          <a:xfrm>
            <a:off x="2286000" y="4074118"/>
            <a:ext cx="990600" cy="1488482"/>
          </a:xfrm>
          <a:prstGeom prst="rect">
            <a:avLst/>
          </a:prstGeom>
          <a:noFill/>
          <a:ln w="31750" cap="flat" cmpd="sng" algn="ctr">
            <a:solidFill>
              <a:srgbClr val="0000FF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56943F8-D58A-4E24-A5F9-741D833910F4}"/>
              </a:ext>
            </a:extLst>
          </p:cNvPr>
          <p:cNvSpPr/>
          <p:nvPr/>
        </p:nvSpPr>
        <p:spPr bwMode="auto">
          <a:xfrm>
            <a:off x="4686300" y="4082936"/>
            <a:ext cx="723900" cy="1488482"/>
          </a:xfrm>
          <a:prstGeom prst="rect">
            <a:avLst/>
          </a:prstGeom>
          <a:noFill/>
          <a:ln w="31750" cap="flat" cmpd="sng" algn="ctr">
            <a:solidFill>
              <a:srgbClr val="0000FF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EBD858-364E-4415-92E0-0A81D937224B}"/>
              </a:ext>
            </a:extLst>
          </p:cNvPr>
          <p:cNvSpPr/>
          <p:nvPr/>
        </p:nvSpPr>
        <p:spPr bwMode="auto">
          <a:xfrm>
            <a:off x="6858000" y="4343399"/>
            <a:ext cx="800100" cy="1148853"/>
          </a:xfrm>
          <a:prstGeom prst="rect">
            <a:avLst/>
          </a:prstGeom>
          <a:noFill/>
          <a:ln w="31750" cap="flat" cmpd="sng" algn="ctr">
            <a:solidFill>
              <a:srgbClr val="0000FF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pitchFamily="34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444003-D83C-B2A6-1559-FCBACB344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24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E131F82-F515-4399-B405-34BE5FE0AB81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2048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3.3.1 </a:t>
            </a:r>
            <a:r>
              <a:rPr lang="zh-CN" altLang="en-US"/>
              <a:t>模式的定义与删除</a:t>
            </a:r>
          </a:p>
        </p:txBody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82000" cy="4684713"/>
          </a:xfrm>
        </p:spPr>
        <p:txBody>
          <a:bodyPr/>
          <a:lstStyle/>
          <a:p>
            <a:pPr eaLnBrk="1" hangingPunct="1"/>
            <a:r>
              <a:rPr lang="zh-CN" altLang="en-US" dirty="0"/>
              <a:t>模式的定义</a:t>
            </a:r>
          </a:p>
          <a:p>
            <a:pPr lvl="1" eaLnBrk="1" hangingPunct="1"/>
            <a:r>
              <a:rPr lang="en-US" altLang="zh-CN" sz="2400" dirty="0">
                <a:solidFill>
                  <a:srgbClr val="FF0000"/>
                </a:solidFill>
              </a:rPr>
              <a:t>CREATE </a:t>
            </a:r>
            <a:r>
              <a:rPr lang="en-US" altLang="zh-CN" sz="2400" dirty="0">
                <a:solidFill>
                  <a:srgbClr val="0000FF"/>
                </a:solidFill>
              </a:rPr>
              <a:t>SCHEMA</a:t>
            </a:r>
            <a:r>
              <a:rPr lang="en-US" altLang="zh-CN" sz="2400" dirty="0"/>
              <a:t> &lt;</a:t>
            </a:r>
            <a:r>
              <a:rPr lang="en-US" altLang="zh-CN" sz="2400" dirty="0" err="1">
                <a:solidFill>
                  <a:srgbClr val="0000FF"/>
                </a:solidFill>
              </a:rPr>
              <a:t>schemaname</a:t>
            </a:r>
            <a:r>
              <a:rPr lang="en-US" altLang="zh-CN" sz="2400" dirty="0"/>
              <a:t>&gt; </a:t>
            </a:r>
            <a:r>
              <a:rPr lang="en-US" altLang="zh-CN" sz="2400" dirty="0">
                <a:solidFill>
                  <a:srgbClr val="006600"/>
                </a:solidFill>
              </a:rPr>
              <a:t>AUTHORIZATION</a:t>
            </a:r>
            <a:r>
              <a:rPr lang="en-US" altLang="zh-CN" sz="2400" dirty="0"/>
              <a:t> &lt;username&gt;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lvl="1" eaLnBrk="1" hangingPunct="1"/>
            <a:endParaRPr lang="en-US" altLang="zh-CN" dirty="0">
              <a:solidFill>
                <a:srgbClr val="FF0000"/>
              </a:solidFill>
            </a:endParaRPr>
          </a:p>
          <a:p>
            <a:pPr lvl="1" eaLnBrk="1" hangingPunct="1"/>
            <a:r>
              <a:rPr lang="en-US" altLang="zh-CN" sz="2400" dirty="0">
                <a:solidFill>
                  <a:srgbClr val="FF0000"/>
                </a:solidFill>
              </a:rPr>
              <a:t>CREATE </a:t>
            </a:r>
            <a:r>
              <a:rPr lang="en-US" altLang="zh-CN" sz="2400" dirty="0">
                <a:solidFill>
                  <a:srgbClr val="0000FF"/>
                </a:solidFill>
              </a:rPr>
              <a:t>SCHEMA </a:t>
            </a:r>
            <a:r>
              <a:rPr lang="en-US" altLang="zh-CN" sz="2400" dirty="0">
                <a:solidFill>
                  <a:srgbClr val="006600"/>
                </a:solidFill>
              </a:rPr>
              <a:t>AUTHORIZATION</a:t>
            </a:r>
            <a:r>
              <a:rPr lang="en-US" altLang="zh-CN" sz="2400" dirty="0"/>
              <a:t> &lt;username&gt;</a:t>
            </a:r>
          </a:p>
          <a:p>
            <a:pPr lvl="2" eaLnBrk="1" hangingPunct="1"/>
            <a:r>
              <a:rPr lang="en-US" altLang="zh-CN" sz="2000" dirty="0"/>
              <a:t>&lt;</a:t>
            </a:r>
            <a:r>
              <a:rPr lang="zh-CN" altLang="en-US" sz="2000" dirty="0"/>
              <a:t>模式名</a:t>
            </a:r>
            <a:r>
              <a:rPr lang="en-US" altLang="zh-CN" sz="2000" dirty="0"/>
              <a:t>&gt;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隐含</a:t>
            </a:r>
            <a:r>
              <a:rPr lang="zh-CN" altLang="en-US" sz="2000" dirty="0"/>
              <a:t>为</a:t>
            </a:r>
            <a:r>
              <a:rPr lang="zh-CN" altLang="en-US" sz="2000" dirty="0">
                <a:solidFill>
                  <a:srgbClr val="0000FF"/>
                </a:solidFill>
              </a:rPr>
              <a:t>用户名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82C7DAE-A6E7-8F5C-DF92-ADF09CF9D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25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4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4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419D2D1-7726-4563-9996-A87E63178B57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2150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示例</a:t>
            </a:r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定义学生课程模式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rgbClr val="0000FF"/>
                </a:solidFill>
              </a:rPr>
              <a:t>CREATE SCHEMA </a:t>
            </a:r>
            <a:r>
              <a:rPr lang="en-US" altLang="zh-CN" dirty="0"/>
              <a:t>S_T;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dirty="0"/>
          </a:p>
          <a:p>
            <a:pPr eaLnBrk="1" hangingPunct="1"/>
            <a:r>
              <a:rPr lang="zh-CN" altLang="en-US" dirty="0"/>
              <a:t>为用户</a:t>
            </a:r>
            <a:r>
              <a:rPr lang="en-US" altLang="zh-CN" dirty="0"/>
              <a:t>WANG</a:t>
            </a:r>
            <a:r>
              <a:rPr lang="zh-CN" altLang="en-US" dirty="0"/>
              <a:t>定义模式</a:t>
            </a:r>
            <a:r>
              <a:rPr lang="en-US" altLang="zh-CN" dirty="0"/>
              <a:t>WANG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rgbClr val="0000FF"/>
                </a:solidFill>
              </a:rPr>
              <a:t>CREATE SCHEMA AUTHORIZATION</a:t>
            </a:r>
            <a:r>
              <a:rPr lang="en-US" altLang="zh-CN" dirty="0"/>
              <a:t> WANG;</a:t>
            </a:r>
          </a:p>
          <a:p>
            <a:pPr>
              <a:lnSpc>
                <a:spcPct val="180000"/>
              </a:lnSpc>
              <a:buNone/>
            </a:pPr>
            <a:r>
              <a:rPr lang="zh-CN" altLang="en-US" sz="2400" dirty="0">
                <a:ea typeface="宋体" pitchFamily="2" charset="-122"/>
              </a:rPr>
              <a:t> </a:t>
            </a:r>
            <a:r>
              <a:rPr lang="en-US" altLang="zh-CN" sz="2400" u="sng" dirty="0">
                <a:ea typeface="宋体" pitchFamily="2" charset="-122"/>
              </a:rPr>
              <a:t>&lt;</a:t>
            </a:r>
            <a:r>
              <a:rPr lang="zh-CN" altLang="en-US" sz="2400" u="sng" dirty="0">
                <a:ea typeface="宋体" pitchFamily="2" charset="-122"/>
              </a:rPr>
              <a:t>模式名</a:t>
            </a:r>
            <a:r>
              <a:rPr lang="en-US" altLang="zh-CN" sz="2400" u="sng" dirty="0">
                <a:ea typeface="宋体" pitchFamily="2" charset="-122"/>
              </a:rPr>
              <a:t>&gt;</a:t>
            </a:r>
            <a:r>
              <a:rPr lang="zh-CN" altLang="en-US" sz="2400" u="sng" dirty="0">
                <a:ea typeface="宋体" pitchFamily="2" charset="-122"/>
              </a:rPr>
              <a:t>隐含为用户名</a:t>
            </a:r>
            <a:r>
              <a:rPr lang="en-US" altLang="zh-CN" sz="2400" u="sng" dirty="0">
                <a:ea typeface="宋体" pitchFamily="2" charset="-122"/>
              </a:rPr>
              <a:t>WANG</a:t>
            </a:r>
          </a:p>
          <a:p>
            <a:pPr lvl="1">
              <a:lnSpc>
                <a:spcPct val="200000"/>
              </a:lnSpc>
            </a:pPr>
            <a:r>
              <a:rPr lang="zh-CN" altLang="en-US" sz="1800" dirty="0">
                <a:ea typeface="宋体" pitchFamily="2" charset="-122"/>
              </a:rPr>
              <a:t>如果没有指定</a:t>
            </a:r>
            <a:r>
              <a:rPr lang="en-US" altLang="zh-CN" sz="1800" dirty="0">
                <a:ea typeface="宋体" pitchFamily="2" charset="-122"/>
              </a:rPr>
              <a:t>&lt;</a:t>
            </a:r>
            <a:r>
              <a:rPr lang="zh-CN" altLang="en-US" sz="1800" dirty="0">
                <a:ea typeface="宋体" pitchFamily="2" charset="-122"/>
              </a:rPr>
              <a:t>模式名</a:t>
            </a:r>
            <a:r>
              <a:rPr lang="en-US" altLang="zh-CN" sz="1800" dirty="0">
                <a:ea typeface="宋体" pitchFamily="2" charset="-122"/>
              </a:rPr>
              <a:t>&gt;</a:t>
            </a:r>
            <a:r>
              <a:rPr lang="zh-CN" altLang="en-US" sz="1800" dirty="0">
                <a:ea typeface="宋体" pitchFamily="2" charset="-122"/>
              </a:rPr>
              <a:t>，那么</a:t>
            </a:r>
            <a:r>
              <a:rPr lang="en-US" altLang="zh-CN" sz="1800" dirty="0">
                <a:ea typeface="宋体" pitchFamily="2" charset="-122"/>
              </a:rPr>
              <a:t>&lt;</a:t>
            </a:r>
            <a:r>
              <a:rPr lang="zh-CN" altLang="en-US" sz="1800" dirty="0">
                <a:ea typeface="宋体" pitchFamily="2" charset="-122"/>
              </a:rPr>
              <a:t>模式名</a:t>
            </a:r>
            <a:r>
              <a:rPr lang="en-US" altLang="zh-CN" sz="1800" dirty="0">
                <a:ea typeface="宋体" pitchFamily="2" charset="-122"/>
              </a:rPr>
              <a:t>&gt;</a:t>
            </a:r>
            <a:r>
              <a:rPr lang="zh-CN" altLang="en-US" sz="1800" dirty="0">
                <a:ea typeface="宋体" pitchFamily="2" charset="-122"/>
              </a:rPr>
              <a:t>隐含为</a:t>
            </a:r>
            <a:r>
              <a:rPr lang="en-US" altLang="zh-CN" sz="1800" dirty="0">
                <a:ea typeface="宋体" pitchFamily="2" charset="-122"/>
              </a:rPr>
              <a:t>&lt;</a:t>
            </a:r>
            <a:r>
              <a:rPr lang="zh-CN" altLang="en-US" sz="1800" dirty="0">
                <a:ea typeface="宋体" pitchFamily="2" charset="-122"/>
              </a:rPr>
              <a:t>用户名</a:t>
            </a:r>
            <a:r>
              <a:rPr lang="en-US" altLang="zh-CN" sz="1800" dirty="0">
                <a:ea typeface="宋体" pitchFamily="2" charset="-122"/>
              </a:rPr>
              <a:t>&gt;</a:t>
            </a:r>
            <a:endParaRPr lang="en-US" altLang="zh-CN" dirty="0"/>
          </a:p>
          <a:p>
            <a:pPr eaLnBrk="1" hangingPunct="1"/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BA6D64C-1E2D-08CB-FBAB-A39F9B5C0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26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5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5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5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5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5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5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A2B4870-B45C-437E-8D4C-7F0244A47CC8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2048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3.3.1 </a:t>
            </a:r>
            <a:r>
              <a:rPr lang="zh-CN" altLang="en-US"/>
              <a:t>模式的定义与删除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09600" y="1447800"/>
            <a:ext cx="83820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70000"/>
              </a:lnSpc>
            </a:pPr>
            <a:r>
              <a:rPr kumimoji="0" lang="zh-CN" altLang="en-US" sz="2200" kern="0" dirty="0">
                <a:ea typeface="宋体" pitchFamily="2" charset="-122"/>
              </a:rPr>
              <a:t>定义模式实际上定义了一个数据库的</a:t>
            </a:r>
            <a:r>
              <a:rPr kumimoji="0" lang="zh-CN" altLang="en-US" sz="2200" b="1" kern="0" dirty="0">
                <a:solidFill>
                  <a:srgbClr val="0000FF"/>
                </a:solidFill>
                <a:ea typeface="宋体" pitchFamily="2" charset="-122"/>
              </a:rPr>
              <a:t>命名空间</a:t>
            </a:r>
          </a:p>
          <a:p>
            <a:pPr>
              <a:lnSpc>
                <a:spcPct val="170000"/>
              </a:lnSpc>
            </a:pPr>
            <a:r>
              <a:rPr kumimoji="0" lang="zh-CN" altLang="en-US" sz="2200" kern="0" dirty="0">
                <a:ea typeface="宋体" pitchFamily="2" charset="-122"/>
              </a:rPr>
              <a:t>在这个空间中可以定义该模式包含的</a:t>
            </a:r>
            <a:r>
              <a:rPr kumimoji="0" lang="zh-CN" altLang="en-US" sz="2200" kern="0" dirty="0">
                <a:solidFill>
                  <a:srgbClr val="FF0000"/>
                </a:solidFill>
                <a:ea typeface="宋体" pitchFamily="2" charset="-122"/>
              </a:rPr>
              <a:t>数据库对象</a:t>
            </a:r>
            <a:r>
              <a:rPr kumimoji="0" lang="zh-CN" altLang="en-US" sz="2200" kern="0" dirty="0">
                <a:ea typeface="宋体" pitchFamily="2" charset="-122"/>
              </a:rPr>
              <a:t>，例如</a:t>
            </a:r>
            <a:r>
              <a:rPr kumimoji="0" lang="zh-CN" altLang="en-US" sz="2200" kern="0" dirty="0">
                <a:solidFill>
                  <a:srgbClr val="0000FF"/>
                </a:solidFill>
                <a:ea typeface="宋体" pitchFamily="2" charset="-122"/>
              </a:rPr>
              <a:t>基本表、视图、索引</a:t>
            </a:r>
            <a:r>
              <a:rPr kumimoji="0" lang="zh-CN" altLang="en-US" sz="2200" kern="0" dirty="0">
                <a:ea typeface="宋体" pitchFamily="2" charset="-122"/>
              </a:rPr>
              <a:t>等。</a:t>
            </a:r>
          </a:p>
          <a:p>
            <a:r>
              <a:rPr kumimoji="0" lang="zh-CN" altLang="en-US" sz="2200" kern="0" dirty="0">
                <a:ea typeface="宋体" pitchFamily="2" charset="-122"/>
              </a:rPr>
              <a:t>在</a:t>
            </a:r>
            <a:r>
              <a:rPr kumimoji="0" lang="en-US" altLang="zh-CN" sz="2200" kern="0" dirty="0">
                <a:ea typeface="宋体" pitchFamily="2" charset="-122"/>
              </a:rPr>
              <a:t>CREATE SCHEMA</a:t>
            </a:r>
            <a:r>
              <a:rPr kumimoji="0" lang="zh-CN" altLang="en-US" sz="2200" kern="0" dirty="0">
                <a:ea typeface="宋体" pitchFamily="2" charset="-122"/>
              </a:rPr>
              <a:t>中可以接受</a:t>
            </a:r>
            <a:r>
              <a:rPr kumimoji="0" lang="en-US" altLang="zh-CN" sz="2200" kern="0" dirty="0">
                <a:ea typeface="宋体" pitchFamily="2" charset="-122"/>
              </a:rPr>
              <a:t>CREATE TABLE</a:t>
            </a:r>
            <a:r>
              <a:rPr kumimoji="0" lang="zh-CN" altLang="en-US" sz="2200" kern="0" dirty="0">
                <a:ea typeface="宋体" pitchFamily="2" charset="-122"/>
              </a:rPr>
              <a:t>，</a:t>
            </a:r>
            <a:r>
              <a:rPr kumimoji="0" lang="en-US" altLang="zh-CN" sz="2200" kern="0" dirty="0">
                <a:ea typeface="宋体" pitchFamily="2" charset="-122"/>
              </a:rPr>
              <a:t>CREATE VIEW</a:t>
            </a:r>
            <a:r>
              <a:rPr kumimoji="0" lang="zh-CN" altLang="en-US" sz="2200" kern="0" dirty="0">
                <a:ea typeface="宋体" pitchFamily="2" charset="-122"/>
              </a:rPr>
              <a:t>和</a:t>
            </a:r>
            <a:r>
              <a:rPr kumimoji="0" lang="en-US" altLang="zh-CN" sz="2200" kern="0" dirty="0">
                <a:ea typeface="宋体" pitchFamily="2" charset="-122"/>
              </a:rPr>
              <a:t>GRANT</a:t>
            </a:r>
            <a:r>
              <a:rPr kumimoji="0" lang="zh-CN" altLang="en-US" sz="2200" kern="0" dirty="0">
                <a:ea typeface="宋体" pitchFamily="2" charset="-122"/>
              </a:rPr>
              <a:t>子句。</a:t>
            </a:r>
            <a:endParaRPr kumimoji="0" lang="en-US" altLang="zh-CN" sz="2200" kern="0" dirty="0">
              <a:ea typeface="宋体" pitchFamily="2" charset="-122"/>
            </a:endParaRPr>
          </a:p>
          <a:p>
            <a:pPr>
              <a:spcBef>
                <a:spcPts val="1800"/>
              </a:spcBef>
              <a:buFont typeface="Wingdings" pitchFamily="2" charset="2"/>
              <a:buNone/>
            </a:pPr>
            <a:r>
              <a:rPr kumimoji="0" lang="zh-CN" altLang="en-US" sz="2200" kern="0" dirty="0">
                <a:ea typeface="宋体" pitchFamily="2" charset="-122"/>
              </a:rPr>
              <a:t>    </a:t>
            </a:r>
            <a:r>
              <a:rPr kumimoji="0" lang="en-US" altLang="zh-CN" sz="2200" kern="0" dirty="0">
                <a:ea typeface="宋体" pitchFamily="2" charset="-122"/>
              </a:rPr>
              <a:t>CREATE SCHEMA &lt;</a:t>
            </a:r>
            <a:r>
              <a:rPr kumimoji="0" lang="zh-CN" altLang="en-US" sz="2200" kern="0" dirty="0">
                <a:ea typeface="宋体" pitchFamily="2" charset="-122"/>
              </a:rPr>
              <a:t>模式名</a:t>
            </a:r>
            <a:r>
              <a:rPr kumimoji="0" lang="en-US" altLang="zh-CN" sz="2200" kern="0" dirty="0">
                <a:ea typeface="宋体" pitchFamily="2" charset="-122"/>
              </a:rPr>
              <a:t>&gt; AUTHORIZATION &lt;</a:t>
            </a:r>
            <a:r>
              <a:rPr kumimoji="0" lang="zh-CN" altLang="en-US" sz="2200" kern="0" dirty="0">
                <a:ea typeface="宋体" pitchFamily="2" charset="-122"/>
              </a:rPr>
              <a:t>用户名</a:t>
            </a:r>
            <a:r>
              <a:rPr kumimoji="0" lang="en-US" altLang="zh-CN" sz="2200" kern="0" dirty="0">
                <a:ea typeface="宋体" pitchFamily="2" charset="-122"/>
              </a:rPr>
              <a:t>&gt;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2200" kern="0" dirty="0">
                <a:solidFill>
                  <a:srgbClr val="0000FF"/>
                </a:solidFill>
                <a:ea typeface="宋体" pitchFamily="2" charset="-122"/>
              </a:rPr>
              <a:t>    [&lt;</a:t>
            </a:r>
            <a:r>
              <a:rPr kumimoji="0" lang="zh-CN" altLang="en-US" sz="2200" kern="0" dirty="0">
                <a:solidFill>
                  <a:srgbClr val="0000FF"/>
                </a:solidFill>
                <a:ea typeface="宋体" pitchFamily="2" charset="-122"/>
              </a:rPr>
              <a:t>表定义子句</a:t>
            </a:r>
            <a:r>
              <a:rPr kumimoji="0" lang="en-US" altLang="zh-CN" sz="2200" kern="0" dirty="0">
                <a:solidFill>
                  <a:srgbClr val="0000FF"/>
                </a:solidFill>
                <a:ea typeface="宋体" pitchFamily="2" charset="-122"/>
              </a:rPr>
              <a:t>&gt;|&lt;</a:t>
            </a:r>
            <a:r>
              <a:rPr kumimoji="0" lang="zh-CN" altLang="en-US" sz="2200" kern="0" dirty="0">
                <a:solidFill>
                  <a:srgbClr val="0000FF"/>
                </a:solidFill>
                <a:ea typeface="宋体" pitchFamily="2" charset="-122"/>
              </a:rPr>
              <a:t>视图定义子句</a:t>
            </a:r>
            <a:r>
              <a:rPr kumimoji="0" lang="en-US" altLang="zh-CN" sz="2200" kern="0" dirty="0">
                <a:solidFill>
                  <a:srgbClr val="0000FF"/>
                </a:solidFill>
                <a:ea typeface="宋体" pitchFamily="2" charset="-122"/>
              </a:rPr>
              <a:t>&gt;|&lt;</a:t>
            </a:r>
            <a:r>
              <a:rPr kumimoji="0" lang="zh-CN" altLang="en-US" sz="2200" kern="0" dirty="0">
                <a:solidFill>
                  <a:srgbClr val="0000FF"/>
                </a:solidFill>
                <a:ea typeface="宋体" pitchFamily="2" charset="-122"/>
              </a:rPr>
              <a:t>授权定义子句</a:t>
            </a:r>
            <a:r>
              <a:rPr kumimoji="0" lang="en-US" altLang="zh-CN" sz="2200" kern="0" dirty="0">
                <a:solidFill>
                  <a:srgbClr val="0000FF"/>
                </a:solidFill>
                <a:ea typeface="宋体" pitchFamily="2" charset="-122"/>
              </a:rPr>
              <a:t>&gt;]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36C4AFB-0036-E29C-6B71-947BBF331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27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56956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10A53B3-5FE8-41D9-89B8-BE4B6CF825B1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2048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3.3.1 </a:t>
            </a:r>
            <a:r>
              <a:rPr lang="zh-CN" altLang="en-US"/>
              <a:t>模式的定义与删除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85800" y="1447800"/>
            <a:ext cx="82296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90000"/>
              </a:lnSpc>
              <a:buFont typeface="Wingdings" pitchFamily="2" charset="2"/>
              <a:buNone/>
            </a:pPr>
            <a:endParaRPr kumimoji="0" lang="en-US" altLang="zh-CN" kern="0" dirty="0">
              <a:ea typeface="宋体" pitchFamily="2" charset="-122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CN" sz="2400" kern="0" dirty="0">
                <a:ea typeface="宋体" pitchFamily="2" charset="-122"/>
              </a:rPr>
              <a:t>CREATE </a:t>
            </a:r>
            <a:r>
              <a:rPr kumimoji="0" lang="en-US" altLang="zh-CN" sz="2400" kern="0" dirty="0">
                <a:solidFill>
                  <a:srgbClr val="0000FF"/>
                </a:solidFill>
                <a:ea typeface="宋体" pitchFamily="2" charset="-122"/>
              </a:rPr>
              <a:t>SCHEMA </a:t>
            </a:r>
            <a:r>
              <a:rPr kumimoji="0" lang="en-US" altLang="zh-CN" sz="2400" kern="0" dirty="0">
                <a:solidFill>
                  <a:srgbClr val="006600"/>
                </a:solidFill>
                <a:ea typeface="宋体" pitchFamily="2" charset="-122"/>
              </a:rPr>
              <a:t>TEST</a:t>
            </a:r>
            <a:r>
              <a:rPr kumimoji="0" lang="en-US" altLang="zh-CN" sz="2400" kern="0" dirty="0">
                <a:solidFill>
                  <a:srgbClr val="0000FF"/>
                </a:solidFill>
                <a:ea typeface="宋体" pitchFamily="2" charset="-122"/>
              </a:rPr>
              <a:t> </a:t>
            </a:r>
            <a:r>
              <a:rPr kumimoji="0" lang="en-US" altLang="zh-CN" sz="2400" kern="0" dirty="0">
                <a:ea typeface="宋体" pitchFamily="2" charset="-122"/>
              </a:rPr>
              <a:t>AUTHORIZATION ZHANG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CN" sz="2400" kern="0" dirty="0">
                <a:ea typeface="宋体" pitchFamily="2" charset="-122"/>
              </a:rPr>
              <a:t>    CREATE </a:t>
            </a:r>
            <a:r>
              <a:rPr kumimoji="0" lang="en-US" altLang="zh-CN" sz="2400" kern="0" dirty="0">
                <a:solidFill>
                  <a:srgbClr val="0000FF"/>
                </a:solidFill>
                <a:ea typeface="宋体" pitchFamily="2" charset="-122"/>
              </a:rPr>
              <a:t>TABLE </a:t>
            </a:r>
            <a:r>
              <a:rPr kumimoji="0" lang="en-US" altLang="zh-CN" sz="2400" kern="0" dirty="0">
                <a:solidFill>
                  <a:srgbClr val="006600"/>
                </a:solidFill>
                <a:ea typeface="宋体" pitchFamily="2" charset="-122"/>
              </a:rPr>
              <a:t>TAB1</a:t>
            </a:r>
            <a:r>
              <a:rPr kumimoji="0" lang="en-US" altLang="zh-CN" sz="2400" kern="0" dirty="0">
                <a:ea typeface="宋体" pitchFamily="2" charset="-122"/>
              </a:rPr>
              <a:t>(COL1 SMALLINT</a:t>
            </a:r>
            <a:r>
              <a:rPr kumimoji="0" lang="zh-CN" altLang="en-US" sz="2700" kern="0" dirty="0">
                <a:ea typeface="宋体" pitchFamily="2" charset="-122"/>
              </a:rPr>
              <a:t>，</a:t>
            </a:r>
            <a:r>
              <a:rPr kumimoji="0" lang="zh-CN" altLang="en-US" kern="0" dirty="0">
                <a:ea typeface="宋体" pitchFamily="2" charset="-122"/>
              </a:rPr>
              <a:t> </a:t>
            </a:r>
            <a:endParaRPr kumimoji="0" lang="zh-CN" altLang="en-US" sz="2400" kern="0" dirty="0">
              <a:ea typeface="宋体" pitchFamily="2" charset="-122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2400" kern="0" dirty="0">
                <a:ea typeface="宋体" pitchFamily="2" charset="-122"/>
              </a:rPr>
              <a:t>                                   </a:t>
            </a:r>
            <a:r>
              <a:rPr kumimoji="0" lang="en-US" altLang="zh-CN" sz="2400" kern="0" dirty="0">
                <a:ea typeface="宋体" pitchFamily="2" charset="-122"/>
              </a:rPr>
              <a:t>COL2 INT</a:t>
            </a:r>
            <a:r>
              <a:rPr kumimoji="0" lang="zh-CN" altLang="en-US" sz="2700" kern="0" dirty="0">
                <a:ea typeface="宋体" pitchFamily="2" charset="-122"/>
              </a:rPr>
              <a:t>，</a:t>
            </a:r>
            <a:endParaRPr kumimoji="0" lang="en-US" altLang="zh-CN" sz="2400" kern="0" dirty="0">
              <a:ea typeface="宋体" pitchFamily="2" charset="-122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CN" sz="2400" kern="0" dirty="0">
                <a:ea typeface="宋体" pitchFamily="2" charset="-122"/>
              </a:rPr>
              <a:t>				      COL3 CHAR(20)</a:t>
            </a:r>
            <a:r>
              <a:rPr kumimoji="0" lang="zh-CN" altLang="en-US" sz="2700" kern="0" dirty="0">
                <a:ea typeface="宋体" pitchFamily="2" charset="-122"/>
              </a:rPr>
              <a:t>，</a:t>
            </a:r>
            <a:endParaRPr kumimoji="0" lang="zh-CN" altLang="en-US" sz="2400" kern="0" dirty="0">
              <a:ea typeface="宋体" pitchFamily="2" charset="-122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2400" kern="0" dirty="0">
                <a:ea typeface="宋体" pitchFamily="2" charset="-122"/>
              </a:rPr>
              <a:t>                                   </a:t>
            </a:r>
            <a:r>
              <a:rPr kumimoji="0" lang="en-US" altLang="zh-CN" sz="2400" kern="0" dirty="0">
                <a:ea typeface="宋体" pitchFamily="2" charset="-122"/>
              </a:rPr>
              <a:t>COL4 NUMERIC(10</a:t>
            </a:r>
            <a:r>
              <a:rPr kumimoji="0" lang="zh-CN" altLang="en-US" sz="2400" kern="0" dirty="0">
                <a:ea typeface="宋体" pitchFamily="2" charset="-122"/>
              </a:rPr>
              <a:t>，</a:t>
            </a:r>
            <a:r>
              <a:rPr kumimoji="0" lang="en-US" altLang="zh-CN" sz="2400" kern="0" dirty="0">
                <a:ea typeface="宋体" pitchFamily="2" charset="-122"/>
              </a:rPr>
              <a:t>3)</a:t>
            </a:r>
            <a:r>
              <a:rPr kumimoji="0" lang="zh-CN" altLang="en-US" sz="2700" kern="0" dirty="0">
                <a:ea typeface="宋体" pitchFamily="2" charset="-122"/>
              </a:rPr>
              <a:t>，</a:t>
            </a:r>
            <a:endParaRPr kumimoji="0" lang="zh-CN" altLang="en-US" sz="2400" kern="0" dirty="0">
              <a:ea typeface="宋体" pitchFamily="2" charset="-122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2400" kern="0" dirty="0">
                <a:ea typeface="宋体" pitchFamily="2" charset="-122"/>
              </a:rPr>
              <a:t>                                   </a:t>
            </a:r>
            <a:r>
              <a:rPr kumimoji="0" lang="en-US" altLang="zh-CN" sz="2400" kern="0" dirty="0">
                <a:ea typeface="宋体" pitchFamily="2" charset="-122"/>
              </a:rPr>
              <a:t>COL5 DECIMAL(5</a:t>
            </a:r>
            <a:r>
              <a:rPr kumimoji="0" lang="zh-CN" altLang="en-US" sz="2400" kern="0" dirty="0">
                <a:ea typeface="宋体" pitchFamily="2" charset="-122"/>
              </a:rPr>
              <a:t>，</a:t>
            </a:r>
            <a:r>
              <a:rPr kumimoji="0" lang="en-US" altLang="zh-CN" sz="2400" kern="0" dirty="0">
                <a:ea typeface="宋体" pitchFamily="2" charset="-122"/>
              </a:rPr>
              <a:t>2)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CN" sz="2400" kern="0" dirty="0">
                <a:ea typeface="宋体" pitchFamily="2" charset="-122"/>
              </a:rPr>
              <a:t>                                   )</a:t>
            </a:r>
            <a:r>
              <a:rPr kumimoji="0" lang="zh-CN" altLang="en-US" sz="2400" kern="0" dirty="0">
                <a:ea typeface="宋体" pitchFamily="2" charset="-122"/>
              </a:rPr>
              <a:t>；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2400" kern="0" dirty="0">
                <a:ea typeface="宋体" pitchFamily="2" charset="-122"/>
              </a:rPr>
              <a:t>    为用户</a:t>
            </a:r>
            <a:r>
              <a:rPr kumimoji="0" lang="en-US" altLang="zh-CN" sz="2400" kern="0" dirty="0">
                <a:ea typeface="宋体" pitchFamily="2" charset="-122"/>
              </a:rPr>
              <a:t>ZHANG</a:t>
            </a:r>
            <a:r>
              <a:rPr kumimoji="0" lang="zh-CN" altLang="en-US" sz="2400" kern="0" dirty="0">
                <a:ea typeface="宋体" pitchFamily="2" charset="-122"/>
              </a:rPr>
              <a:t>创建了一个模式</a:t>
            </a:r>
            <a:r>
              <a:rPr kumimoji="0" lang="en-US" altLang="zh-CN" sz="2400" kern="0" dirty="0">
                <a:ea typeface="宋体" pitchFamily="2" charset="-122"/>
              </a:rPr>
              <a:t>TEST</a:t>
            </a:r>
            <a:r>
              <a:rPr kumimoji="0" lang="zh-CN" altLang="en-US" sz="2400" kern="0" dirty="0">
                <a:ea typeface="宋体" pitchFamily="2" charset="-122"/>
              </a:rPr>
              <a:t>，并在其中定义了一个表</a:t>
            </a:r>
            <a:r>
              <a:rPr kumimoji="0" lang="en-US" altLang="zh-CN" sz="2400" kern="0" dirty="0">
                <a:ea typeface="宋体" pitchFamily="2" charset="-122"/>
              </a:rPr>
              <a:t>TAB1</a:t>
            </a:r>
            <a:r>
              <a:rPr kumimoji="0" lang="zh-CN" altLang="en-US" sz="2400" kern="0" dirty="0">
                <a:ea typeface="宋体" pitchFamily="2" charset="-122"/>
              </a:rPr>
              <a:t>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D4A1AAB-4746-FB0B-8644-CA9039D7D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28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0521948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14CE094-1B12-42C4-8688-07E7F7B7138D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2355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3.3.1 </a:t>
            </a:r>
            <a:r>
              <a:rPr lang="zh-CN" altLang="en-US" dirty="0"/>
              <a:t>模式的</a:t>
            </a:r>
            <a:r>
              <a:rPr lang="zh-CN" altLang="en-US" b="1" dirty="0"/>
              <a:t>定义与删除</a:t>
            </a:r>
          </a:p>
        </p:txBody>
      </p:sp>
      <p:sp>
        <p:nvSpPr>
          <p:cNvPr id="235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458200" cy="4684713"/>
          </a:xfrm>
        </p:spPr>
        <p:txBody>
          <a:bodyPr/>
          <a:lstStyle/>
          <a:p>
            <a:pPr eaLnBrk="1" hangingPunct="1"/>
            <a:r>
              <a:rPr lang="zh-CN" altLang="en-US" dirty="0"/>
              <a:t>删除模式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FF"/>
                </a:solidFill>
              </a:rPr>
              <a:t>DROP</a:t>
            </a:r>
            <a:r>
              <a:rPr lang="en-US" altLang="zh-CN" sz="2800" dirty="0">
                <a:solidFill>
                  <a:srgbClr val="FF0000"/>
                </a:solidFill>
              </a:rPr>
              <a:t> </a:t>
            </a:r>
            <a:r>
              <a:rPr lang="en-US" altLang="zh-CN" sz="2800" dirty="0"/>
              <a:t>SCHEMA</a:t>
            </a:r>
            <a:r>
              <a:rPr lang="en-US" altLang="zh-CN" sz="2800" dirty="0">
                <a:solidFill>
                  <a:srgbClr val="0000FF"/>
                </a:solidFill>
              </a:rPr>
              <a:t> </a:t>
            </a:r>
            <a:r>
              <a:rPr lang="en-US" altLang="zh-CN" sz="2800" dirty="0"/>
              <a:t>&lt;name&gt; </a:t>
            </a:r>
            <a:r>
              <a:rPr lang="en-US" altLang="zh-CN" sz="2800" dirty="0">
                <a:solidFill>
                  <a:srgbClr val="0000FF"/>
                </a:solidFill>
              </a:rPr>
              <a:t>&lt;</a:t>
            </a:r>
            <a:r>
              <a:rPr lang="en-US" altLang="zh-CN" sz="2800" dirty="0">
                <a:solidFill>
                  <a:srgbClr val="C00000"/>
                </a:solidFill>
              </a:rPr>
              <a:t>CASCADE|RESTRICT</a:t>
            </a:r>
            <a:r>
              <a:rPr lang="en-US" altLang="zh-CN" sz="2800" dirty="0">
                <a:solidFill>
                  <a:srgbClr val="0000FF"/>
                </a:solidFill>
              </a:rPr>
              <a:t>&gt;</a:t>
            </a:r>
          </a:p>
          <a:p>
            <a:pPr eaLnBrk="1" hangingPunct="1"/>
            <a:r>
              <a:rPr lang="en-US" altLang="zh-CN" sz="2800" dirty="0">
                <a:solidFill>
                  <a:srgbClr val="0000FF"/>
                </a:solidFill>
              </a:rPr>
              <a:t>CASCADE</a:t>
            </a:r>
            <a:r>
              <a:rPr lang="en-US" altLang="zh-CN" sz="2800" dirty="0"/>
              <a:t>(</a:t>
            </a:r>
            <a:r>
              <a:rPr lang="zh-CN" altLang="en-US" sz="2800" dirty="0"/>
              <a:t>级联</a:t>
            </a:r>
            <a:r>
              <a:rPr lang="en-US" altLang="zh-CN" sz="2800" dirty="0"/>
              <a:t>)</a:t>
            </a:r>
          </a:p>
          <a:p>
            <a:pPr lvl="1" eaLnBrk="1" hangingPunct="1"/>
            <a:r>
              <a:rPr lang="zh-CN" altLang="en-US" sz="2400" dirty="0"/>
              <a:t>删除模式的同时把该模式中</a:t>
            </a:r>
            <a:r>
              <a:rPr lang="zh-CN" altLang="en-US" sz="2400" u="sng" dirty="0">
                <a:solidFill>
                  <a:schemeClr val="tx2"/>
                </a:solidFill>
              </a:rPr>
              <a:t>所有的数据库对象</a:t>
            </a:r>
            <a:r>
              <a:rPr lang="zh-CN" altLang="en-US" sz="2400" b="1" dirty="0">
                <a:solidFill>
                  <a:srgbClr val="C00000"/>
                </a:solidFill>
              </a:rPr>
              <a:t>全部删除</a:t>
            </a:r>
          </a:p>
          <a:p>
            <a:pPr eaLnBrk="1" hangingPunct="1"/>
            <a:r>
              <a:rPr lang="en-US" altLang="zh-CN" sz="2800" dirty="0"/>
              <a:t>RESTRICT(</a:t>
            </a:r>
            <a:r>
              <a:rPr lang="zh-CN" altLang="en-US" sz="2800" dirty="0"/>
              <a:t>限制</a:t>
            </a:r>
            <a:r>
              <a:rPr lang="en-US" altLang="zh-CN" sz="2800" dirty="0"/>
              <a:t>)</a:t>
            </a:r>
          </a:p>
          <a:p>
            <a:pPr lvl="1" eaLnBrk="1" hangingPunct="1"/>
            <a:r>
              <a:rPr lang="zh-CN" altLang="en-US" sz="2400" dirty="0"/>
              <a:t>如果该模式中定义了下属的数据库对象（如表、视图等），则</a:t>
            </a:r>
            <a:r>
              <a:rPr lang="zh-CN" altLang="en-US" sz="2400" b="1" dirty="0">
                <a:solidFill>
                  <a:srgbClr val="C00000"/>
                </a:solidFill>
              </a:rPr>
              <a:t>拒绝</a:t>
            </a:r>
            <a:r>
              <a:rPr lang="zh-CN" altLang="en-US" sz="2400" b="1" dirty="0">
                <a:solidFill>
                  <a:schemeClr val="tx2"/>
                </a:solidFill>
              </a:rPr>
              <a:t>该删除</a:t>
            </a:r>
            <a:r>
              <a:rPr lang="zh-CN" altLang="en-US" sz="2400" dirty="0"/>
              <a:t>语句的</a:t>
            </a:r>
            <a:r>
              <a:rPr lang="zh-CN" altLang="en-US" sz="2400" b="1" dirty="0">
                <a:solidFill>
                  <a:schemeClr val="tx2"/>
                </a:solidFill>
              </a:rPr>
              <a:t>执行</a:t>
            </a:r>
            <a:r>
              <a:rPr lang="zh-CN" altLang="en-US" sz="2400" dirty="0"/>
              <a:t>。</a:t>
            </a:r>
          </a:p>
          <a:p>
            <a:pPr lvl="1" eaLnBrk="1" hangingPunct="1"/>
            <a:r>
              <a:rPr lang="zh-CN" altLang="en-US" sz="2400" dirty="0"/>
              <a:t>当该模式中</a:t>
            </a:r>
            <a:r>
              <a:rPr lang="zh-CN" altLang="en-US" sz="2400" b="1" dirty="0">
                <a:solidFill>
                  <a:schemeClr val="tx2"/>
                </a:solidFill>
              </a:rPr>
              <a:t>没有任何下属</a:t>
            </a:r>
            <a:r>
              <a:rPr lang="zh-CN" altLang="en-US" sz="2400" dirty="0"/>
              <a:t>的对象时才能执行。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95EBE98-7170-F7AE-D704-103B90C39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29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5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5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5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5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5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5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5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5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6E94E18-321B-45C4-99A3-EC8A90AA4768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2457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3.3.2 </a:t>
            </a:r>
            <a:r>
              <a:rPr lang="zh-CN" altLang="en-US" b="1" dirty="0"/>
              <a:t>定义、删除和修改</a:t>
            </a:r>
            <a:r>
              <a:rPr lang="zh-CN" altLang="en-US" dirty="0"/>
              <a:t>基本表</a:t>
            </a:r>
          </a:p>
        </p:txBody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定义</a:t>
            </a:r>
            <a:r>
              <a:rPr lang="zh-CN" altLang="en-US" dirty="0">
                <a:solidFill>
                  <a:srgbClr val="0000FF"/>
                </a:solidFill>
              </a:rPr>
              <a:t>基本表</a:t>
            </a:r>
            <a:r>
              <a:rPr lang="en-US" altLang="zh-CN" dirty="0"/>
              <a:t>(</a:t>
            </a:r>
            <a:r>
              <a:rPr lang="zh-CN" altLang="en-US" dirty="0"/>
              <a:t>关系</a:t>
            </a:r>
            <a:r>
              <a:rPr lang="en-US" altLang="zh-CN" dirty="0"/>
              <a:t>)</a:t>
            </a:r>
            <a:br>
              <a:rPr lang="zh-CN" altLang="en-US" dirty="0"/>
            </a:br>
            <a:r>
              <a:rPr lang="zh-CN" altLang="en-US" dirty="0"/>
              <a:t>一般格式：</a:t>
            </a:r>
            <a:br>
              <a:rPr lang="zh-CN" altLang="en-US" dirty="0"/>
            </a:br>
            <a:r>
              <a:rPr lang="en-US" altLang="zh-CN" dirty="0">
                <a:solidFill>
                  <a:srgbClr val="FF0000"/>
                </a:solidFill>
              </a:rPr>
              <a:t>CREATE </a:t>
            </a:r>
            <a:r>
              <a:rPr lang="en-US" altLang="zh-CN" dirty="0">
                <a:solidFill>
                  <a:srgbClr val="0000FF"/>
                </a:solidFill>
              </a:rPr>
              <a:t>TABLE </a:t>
            </a:r>
            <a:r>
              <a:rPr lang="en-US" altLang="zh-CN" dirty="0"/>
              <a:t>&lt;</a:t>
            </a:r>
            <a:r>
              <a:rPr lang="zh-CN" altLang="en-US" dirty="0"/>
              <a:t>表名</a:t>
            </a:r>
            <a:r>
              <a:rPr lang="en-US" altLang="zh-CN" dirty="0"/>
              <a:t>&gt;</a:t>
            </a:r>
          </a:p>
          <a:p>
            <a:pPr marL="0" indent="0" eaLnBrk="1" hangingPunct="1">
              <a:buNone/>
            </a:pPr>
            <a:r>
              <a:rPr lang="en-US" altLang="zh-CN" sz="4000" dirty="0">
                <a:solidFill>
                  <a:srgbClr val="C00000"/>
                </a:solidFill>
                <a:highlight>
                  <a:srgbClr val="FFFF00"/>
                </a:highlight>
              </a:rPr>
              <a:t>(</a:t>
            </a:r>
            <a:r>
              <a:rPr lang="en-US" altLang="zh-CN" dirty="0"/>
              <a:t>&lt;</a:t>
            </a:r>
            <a:r>
              <a:rPr lang="zh-CN" altLang="en-US" dirty="0"/>
              <a:t>列名</a:t>
            </a:r>
            <a:r>
              <a:rPr lang="en-US" altLang="zh-CN" dirty="0"/>
              <a:t>1&gt;&lt;</a:t>
            </a:r>
            <a:r>
              <a:rPr lang="zh-CN" altLang="en-US" b="1" dirty="0">
                <a:solidFill>
                  <a:srgbClr val="C00000"/>
                </a:solidFill>
              </a:rPr>
              <a:t>数据类型</a:t>
            </a:r>
            <a:r>
              <a:rPr lang="en-US" altLang="zh-CN" dirty="0"/>
              <a:t>&gt;[</a:t>
            </a:r>
            <a:r>
              <a:rPr lang="zh-CN" altLang="en-US" dirty="0">
                <a:solidFill>
                  <a:srgbClr val="C00000"/>
                </a:solidFill>
              </a:rPr>
              <a:t>列级</a:t>
            </a:r>
            <a:r>
              <a:rPr lang="zh-CN" altLang="en-US" dirty="0"/>
              <a:t>完整性约束条件</a:t>
            </a:r>
            <a:r>
              <a:rPr lang="en-US" altLang="zh-CN" dirty="0"/>
              <a:t>]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FF"/>
                </a:solidFill>
              </a:rPr>
              <a:t>[</a:t>
            </a:r>
            <a:r>
              <a:rPr lang="en-US" altLang="zh-CN" sz="2800" dirty="0">
                <a:solidFill>
                  <a:srgbClr val="FF0000"/>
                </a:solidFill>
              </a:rPr>
              <a:t>,</a:t>
            </a:r>
            <a:r>
              <a:rPr lang="en-US" altLang="zh-CN" sz="2800" dirty="0"/>
              <a:t>&lt;</a:t>
            </a:r>
            <a:r>
              <a:rPr lang="zh-CN" altLang="en-US" sz="2800" dirty="0"/>
              <a:t>列名</a:t>
            </a:r>
            <a:r>
              <a:rPr lang="en-US" altLang="zh-CN" sz="2800" dirty="0"/>
              <a:t>2&gt;&lt;</a:t>
            </a:r>
            <a:r>
              <a:rPr lang="zh-CN" altLang="en-US" sz="2800" dirty="0"/>
              <a:t>数据类型</a:t>
            </a:r>
            <a:r>
              <a:rPr lang="en-US" altLang="zh-CN" sz="2800" dirty="0"/>
              <a:t>&gt;[</a:t>
            </a:r>
            <a:r>
              <a:rPr lang="zh-CN" altLang="en-US" sz="2800" dirty="0">
                <a:solidFill>
                  <a:srgbClr val="C00000"/>
                </a:solidFill>
              </a:rPr>
              <a:t>列级</a:t>
            </a:r>
            <a:r>
              <a:rPr lang="zh-CN" altLang="en-US" sz="2800" dirty="0"/>
              <a:t>完整性约束条件</a:t>
            </a:r>
            <a:r>
              <a:rPr lang="en-US" altLang="zh-CN" sz="2800" dirty="0"/>
              <a:t>]</a:t>
            </a:r>
            <a:r>
              <a:rPr lang="en-US" altLang="zh-CN" sz="2800" dirty="0">
                <a:solidFill>
                  <a:srgbClr val="0000FF"/>
                </a:solidFill>
              </a:rPr>
              <a:t>]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...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[</a:t>
            </a:r>
            <a:r>
              <a:rPr lang="en-US" altLang="zh-CN" dirty="0">
                <a:solidFill>
                  <a:srgbClr val="FF0000"/>
                </a:solidFill>
              </a:rPr>
              <a:t>,</a:t>
            </a:r>
            <a:r>
              <a:rPr lang="zh-CN" altLang="en-US" b="1" dirty="0">
                <a:solidFill>
                  <a:srgbClr val="0000FF"/>
                </a:solidFill>
              </a:rPr>
              <a:t>表级</a:t>
            </a:r>
            <a:r>
              <a:rPr lang="zh-CN" altLang="en-US" dirty="0"/>
              <a:t>完整性约束条件</a:t>
            </a:r>
            <a:r>
              <a:rPr lang="en-US" altLang="zh-CN" dirty="0"/>
              <a:t>]</a:t>
            </a:r>
            <a:r>
              <a:rPr lang="en-US" altLang="zh-CN" sz="4000" dirty="0">
                <a:solidFill>
                  <a:srgbClr val="C00000"/>
                </a:solidFill>
                <a:highlight>
                  <a:srgbClr val="FFFF00"/>
                </a:highlight>
              </a:rPr>
              <a:t>)</a:t>
            </a:r>
            <a:r>
              <a:rPr lang="en-US" altLang="zh-CN" dirty="0"/>
              <a:t>;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91EED3C-AF28-248F-0E95-A719A33A9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30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3.3.2 </a:t>
            </a:r>
            <a:r>
              <a:rPr lang="zh-CN" altLang="en-US"/>
              <a:t>定义、删除和修改基本表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&lt;</a:t>
            </a:r>
            <a:r>
              <a:rPr lang="zh-CN" altLang="en-US" sz="2800" dirty="0"/>
              <a:t>表名</a:t>
            </a:r>
            <a:r>
              <a:rPr lang="en-US" altLang="zh-CN" sz="2800" dirty="0"/>
              <a:t>&gt;</a:t>
            </a:r>
            <a:r>
              <a:rPr lang="zh-CN" altLang="en-US" sz="2800" dirty="0"/>
              <a:t>：所要定义的基本表的名字</a:t>
            </a:r>
          </a:p>
          <a:p>
            <a:r>
              <a:rPr lang="en-US" altLang="zh-CN" sz="2800" dirty="0"/>
              <a:t>&lt;</a:t>
            </a:r>
            <a:r>
              <a:rPr lang="zh-CN" altLang="en-US" sz="2800" dirty="0"/>
              <a:t>列名</a:t>
            </a:r>
            <a:r>
              <a:rPr lang="en-US" altLang="zh-CN" sz="2800" dirty="0"/>
              <a:t>&gt;</a:t>
            </a:r>
            <a:r>
              <a:rPr lang="zh-CN" altLang="en-US" sz="2800" dirty="0"/>
              <a:t>：组成该表的各个属性（列）</a:t>
            </a:r>
          </a:p>
          <a:p>
            <a:r>
              <a:rPr lang="en-US" altLang="zh-CN" sz="2800" dirty="0"/>
              <a:t>&lt;</a:t>
            </a:r>
            <a:r>
              <a:rPr lang="zh-CN" altLang="en-US" sz="2800" dirty="0"/>
              <a:t>列级完整性约束条件</a:t>
            </a:r>
            <a:r>
              <a:rPr lang="en-US" altLang="zh-CN" sz="2800" dirty="0"/>
              <a:t>&gt;</a:t>
            </a:r>
            <a:r>
              <a:rPr lang="zh-CN" altLang="en-US" sz="2800" dirty="0"/>
              <a:t>：涉及相应属性列的完整性约束条件</a:t>
            </a:r>
          </a:p>
          <a:p>
            <a:r>
              <a:rPr lang="en-US" altLang="zh-CN" sz="2800" dirty="0"/>
              <a:t>&lt;</a:t>
            </a:r>
            <a:r>
              <a:rPr lang="zh-CN" altLang="en-US" sz="2800" dirty="0"/>
              <a:t>表级完整性约束条件</a:t>
            </a:r>
            <a:r>
              <a:rPr lang="en-US" altLang="zh-CN" sz="2800" dirty="0"/>
              <a:t>&gt;</a:t>
            </a:r>
            <a:r>
              <a:rPr lang="zh-CN" altLang="en-US" sz="2800" dirty="0"/>
              <a:t>：涉及</a:t>
            </a:r>
            <a:r>
              <a:rPr lang="zh-CN" altLang="en-US" sz="2800" dirty="0">
                <a:solidFill>
                  <a:srgbClr val="0000FF"/>
                </a:solidFill>
              </a:rPr>
              <a:t>一个</a:t>
            </a:r>
            <a:r>
              <a:rPr lang="zh-CN" altLang="en-US" sz="2800" dirty="0"/>
              <a:t>或</a:t>
            </a:r>
            <a:r>
              <a:rPr lang="zh-CN" altLang="en-US" sz="2800" dirty="0">
                <a:solidFill>
                  <a:srgbClr val="0000FF"/>
                </a:solidFill>
              </a:rPr>
              <a:t>多个属性列</a:t>
            </a:r>
            <a:r>
              <a:rPr lang="zh-CN" altLang="en-US" sz="2800" dirty="0"/>
              <a:t>的完整性约束条件</a:t>
            </a:r>
          </a:p>
          <a:p>
            <a:r>
              <a:rPr lang="zh-CN" altLang="en-US" sz="2800" dirty="0"/>
              <a:t>如果</a:t>
            </a:r>
            <a:r>
              <a:rPr lang="zh-CN" altLang="en-US" sz="2800" dirty="0">
                <a:solidFill>
                  <a:srgbClr val="0000FF"/>
                </a:solidFill>
              </a:rPr>
              <a:t>完整性约束条件涉及到</a:t>
            </a:r>
            <a:r>
              <a:rPr lang="zh-CN" altLang="en-US" sz="2800" dirty="0"/>
              <a:t>该表的</a:t>
            </a:r>
            <a:r>
              <a:rPr lang="zh-CN" altLang="en-US" sz="2800" dirty="0">
                <a:solidFill>
                  <a:srgbClr val="C00000"/>
                </a:solidFill>
              </a:rPr>
              <a:t>多个属性列</a:t>
            </a:r>
            <a:r>
              <a:rPr lang="zh-CN" altLang="en-US" sz="2800" dirty="0"/>
              <a:t>，则</a:t>
            </a:r>
            <a:r>
              <a:rPr lang="zh-CN" altLang="en-US" sz="2800" b="1" dirty="0">
                <a:solidFill>
                  <a:srgbClr val="0000FF"/>
                </a:solidFill>
              </a:rPr>
              <a:t>必须定义</a:t>
            </a:r>
            <a:r>
              <a:rPr lang="zh-CN" altLang="en-US" sz="2800" dirty="0">
                <a:solidFill>
                  <a:srgbClr val="C00000"/>
                </a:solidFill>
              </a:rPr>
              <a:t>在表级上</a:t>
            </a:r>
            <a:r>
              <a:rPr lang="zh-CN" altLang="en-US" sz="2800" dirty="0"/>
              <a:t>，否则</a:t>
            </a:r>
            <a:r>
              <a:rPr lang="zh-CN" altLang="en-US" sz="2800" u="sng" dirty="0"/>
              <a:t>既可以定义在列级也可以定义在表级</a:t>
            </a:r>
            <a:r>
              <a:rPr lang="zh-CN" altLang="en-US" sz="2800" dirty="0"/>
              <a:t>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4A4D9F3-FD59-42AF-949C-B1F6DAC02EB9}" type="datetime1">
              <a:rPr lang="zh-CN" altLang="en-US" smtClean="0"/>
              <a:t>2025/9/24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《数据库系统概论》- 第3章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A713FB-D4B4-B680-996E-79C531995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31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3946144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017ED368-C493-44F3-8473-DD745B423355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2662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3.3.2 </a:t>
            </a:r>
            <a:r>
              <a:rPr lang="zh-CN" altLang="en-US"/>
              <a:t>定义、删除和修改基本表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82000" cy="468471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sz="2800" dirty="0"/>
              <a:t>例：定义学生表的方法。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800" dirty="0"/>
              <a:t>下面的例子一般为标准</a:t>
            </a:r>
            <a:r>
              <a:rPr lang="en-US" altLang="zh-CN" sz="2800" dirty="0"/>
              <a:t>SQL</a:t>
            </a:r>
            <a:r>
              <a:rPr lang="zh-CN" altLang="en-US" sz="2800" dirty="0"/>
              <a:t>。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zh-CN" altLang="en-US" sz="9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/>
              <a:t>CREATE TABLE </a:t>
            </a:r>
            <a:r>
              <a:rPr lang="en-US" altLang="zh-CN" sz="2800" dirty="0">
                <a:solidFill>
                  <a:schemeClr val="tx2"/>
                </a:solidFill>
              </a:rPr>
              <a:t>student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/>
              <a:t>(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800" dirty="0"/>
              <a:t>	</a:t>
            </a:r>
            <a:r>
              <a:rPr lang="en-US" altLang="zh-CN" sz="2800" dirty="0" err="1">
                <a:solidFill>
                  <a:schemeClr val="tx2"/>
                </a:solidFill>
              </a:rPr>
              <a:t>sno</a:t>
            </a:r>
            <a:r>
              <a:rPr lang="en-US" altLang="zh-CN" sz="2800" dirty="0">
                <a:solidFill>
                  <a:schemeClr val="tx2"/>
                </a:solidFill>
              </a:rPr>
              <a:t> </a:t>
            </a:r>
            <a:r>
              <a:rPr lang="en-US" altLang="zh-CN" sz="2800" dirty="0"/>
              <a:t>char(5) </a:t>
            </a:r>
            <a:r>
              <a:rPr lang="en-US" altLang="zh-CN" sz="2800" dirty="0">
                <a:solidFill>
                  <a:srgbClr val="C00000"/>
                </a:solidFill>
              </a:rPr>
              <a:t>PRIMARY KEY</a:t>
            </a:r>
            <a:r>
              <a:rPr lang="en-US" altLang="zh-CN" sz="2800" dirty="0"/>
              <a:t>,   </a:t>
            </a:r>
            <a:r>
              <a:rPr lang="en-US" altLang="zh-CN" sz="1600" dirty="0"/>
              <a:t>/* </a:t>
            </a:r>
            <a:r>
              <a:rPr lang="zh-CN" altLang="en-US" sz="1600" dirty="0"/>
              <a:t>列级完整性约束条件</a:t>
            </a:r>
            <a:r>
              <a:rPr lang="en-US" altLang="zh-CN" sz="1600" dirty="0"/>
              <a:t>,</a:t>
            </a:r>
            <a:r>
              <a:rPr lang="en-US" altLang="zh-CN" sz="1600" dirty="0" err="1"/>
              <a:t>Sno</a:t>
            </a:r>
            <a:r>
              <a:rPr lang="zh-CN" altLang="en-US" sz="1600" dirty="0"/>
              <a:t>是主码*</a:t>
            </a:r>
            <a:r>
              <a:rPr lang="en-US" altLang="zh-CN" sz="1600" dirty="0"/>
              <a:t>/</a:t>
            </a:r>
            <a:endParaRPr lang="en-US" altLang="zh-CN" sz="280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800" dirty="0"/>
              <a:t>	</a:t>
            </a:r>
            <a:r>
              <a:rPr lang="en-US" altLang="zh-CN" sz="2800" dirty="0" err="1">
                <a:solidFill>
                  <a:schemeClr val="tx2"/>
                </a:solidFill>
              </a:rPr>
              <a:t>sname</a:t>
            </a:r>
            <a:r>
              <a:rPr lang="en-US" altLang="zh-CN" sz="2800" dirty="0">
                <a:solidFill>
                  <a:schemeClr val="tx2"/>
                </a:solidFill>
              </a:rPr>
              <a:t> </a:t>
            </a:r>
            <a:r>
              <a:rPr lang="en-US" altLang="zh-CN" sz="2800" dirty="0" err="1"/>
              <a:t>varchar</a:t>
            </a:r>
            <a:r>
              <a:rPr lang="en-US" altLang="zh-CN" sz="2800" dirty="0"/>
              <a:t>(20) </a:t>
            </a:r>
            <a:r>
              <a:rPr lang="en-US" altLang="zh-CN" sz="2800" dirty="0">
                <a:solidFill>
                  <a:srgbClr val="C00000"/>
                </a:solidFill>
              </a:rPr>
              <a:t>UNIQUE</a:t>
            </a:r>
            <a:r>
              <a:rPr lang="en-US" altLang="zh-CN" sz="2800" dirty="0"/>
              <a:t>, </a:t>
            </a:r>
            <a:r>
              <a:rPr lang="en-US" altLang="zh-CN" sz="1800" dirty="0"/>
              <a:t>/* </a:t>
            </a:r>
            <a:r>
              <a:rPr lang="en-US" altLang="zh-CN" sz="1800" dirty="0" err="1"/>
              <a:t>Sname</a:t>
            </a:r>
            <a:r>
              <a:rPr lang="zh-CN" altLang="en-US" sz="1800" dirty="0"/>
              <a:t>取唯一值*</a:t>
            </a:r>
            <a:r>
              <a:rPr lang="en-US" altLang="zh-CN" sz="1800" dirty="0"/>
              <a:t>/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/>
              <a:t>	</a:t>
            </a:r>
            <a:r>
              <a:rPr lang="en-US" altLang="zh-CN" sz="2800" dirty="0" err="1">
                <a:solidFill>
                  <a:schemeClr val="tx2"/>
                </a:solidFill>
              </a:rPr>
              <a:t>sgender</a:t>
            </a:r>
            <a:r>
              <a:rPr lang="en-US" altLang="zh-CN" sz="2800" dirty="0">
                <a:solidFill>
                  <a:schemeClr val="tx2"/>
                </a:solidFill>
              </a:rPr>
              <a:t> </a:t>
            </a:r>
            <a:r>
              <a:rPr lang="en-US" altLang="zh-CN" sz="2800" dirty="0"/>
              <a:t>char(1),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/>
              <a:t>	</a:t>
            </a:r>
            <a:r>
              <a:rPr lang="en-US" altLang="zh-CN" sz="2800" dirty="0">
                <a:solidFill>
                  <a:schemeClr val="tx2"/>
                </a:solidFill>
              </a:rPr>
              <a:t>sage</a:t>
            </a:r>
            <a:r>
              <a:rPr lang="en-US" altLang="zh-CN" sz="2800" dirty="0"/>
              <a:t>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,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/>
              <a:t>	</a:t>
            </a:r>
            <a:r>
              <a:rPr lang="en-US" altLang="zh-CN" sz="2800" dirty="0" err="1">
                <a:solidFill>
                  <a:schemeClr val="tx2"/>
                </a:solidFill>
              </a:rPr>
              <a:t>sdept</a:t>
            </a:r>
            <a:r>
              <a:rPr lang="en-US" altLang="zh-CN" sz="2800" dirty="0">
                <a:solidFill>
                  <a:schemeClr val="tx2"/>
                </a:solidFill>
              </a:rPr>
              <a:t> </a:t>
            </a:r>
            <a:r>
              <a:rPr lang="en-US" altLang="zh-CN" sz="2800" dirty="0"/>
              <a:t>char(15)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/>
              <a:t>);</a:t>
            </a:r>
            <a:endParaRPr lang="zh-CN" altLang="en-US" sz="2800" dirty="0"/>
          </a:p>
        </p:txBody>
      </p:sp>
      <p:sp>
        <p:nvSpPr>
          <p:cNvPr id="2" name="圆角矩形标注 1"/>
          <p:cNvSpPr/>
          <p:nvPr/>
        </p:nvSpPr>
        <p:spPr bwMode="auto">
          <a:xfrm>
            <a:off x="5029200" y="2438400"/>
            <a:ext cx="1295400" cy="533400"/>
          </a:xfrm>
          <a:prstGeom prst="wedgeRoundRectCallout">
            <a:avLst>
              <a:gd name="adj1" fmla="val -71253"/>
              <a:gd name="adj2" fmla="val 111480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  <a:cs typeface="Arial" pitchFamily="34" charset="0"/>
              </a:rPr>
              <a:t>主码</a:t>
            </a:r>
          </a:p>
        </p:txBody>
      </p:sp>
      <p:sp>
        <p:nvSpPr>
          <p:cNvPr id="3" name="圆角矩形标注 2"/>
          <p:cNvSpPr/>
          <p:nvPr/>
        </p:nvSpPr>
        <p:spPr bwMode="auto">
          <a:xfrm>
            <a:off x="5638800" y="4724400"/>
            <a:ext cx="1676400" cy="609600"/>
          </a:xfrm>
          <a:prstGeom prst="wedgeRoundRectCallout">
            <a:avLst>
              <a:gd name="adj1" fmla="val -83962"/>
              <a:gd name="adj2" fmla="val -159368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zh-CN" sz="2000" dirty="0">
                <a:cs typeface="Arial" pitchFamily="34" charset="0"/>
              </a:rPr>
              <a:t>UNIQUE </a:t>
            </a:r>
            <a:r>
              <a:rPr lang="zh-CN" altLang="en-US" sz="2000" dirty="0">
                <a:cs typeface="Arial" pitchFamily="34" charset="0"/>
              </a:rPr>
              <a:t>约束</a:t>
            </a:r>
            <a:endParaRPr kumimoji="1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3B0528-8E1E-A6D8-F6FF-220FE1E48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32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9E16B0E-E326-40DE-AE71-E8B3E9B1B871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2765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3.3.2 </a:t>
            </a:r>
            <a:r>
              <a:rPr lang="zh-CN" altLang="en-US"/>
              <a:t>定义、删除和修改基本表</a:t>
            </a:r>
          </a:p>
        </p:txBody>
      </p:sp>
      <p:sp>
        <p:nvSpPr>
          <p:cNvPr id="276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略去</a:t>
            </a:r>
            <a:r>
              <a:rPr lang="en-US" altLang="zh-CN" sz="2800" dirty="0"/>
              <a:t>course</a:t>
            </a:r>
            <a:r>
              <a:rPr lang="zh-CN" altLang="en-US" sz="2800" dirty="0"/>
              <a:t>表，下面定义</a:t>
            </a:r>
            <a:r>
              <a:rPr lang="en-US" altLang="zh-CN" sz="2800" dirty="0"/>
              <a:t>SC</a:t>
            </a:r>
            <a:r>
              <a:rPr lang="zh-CN" altLang="en-US" sz="2800" dirty="0"/>
              <a:t>表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CREATE TABLE SC(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	</a:t>
            </a:r>
            <a:r>
              <a:rPr lang="en-US" altLang="zh-CN" sz="2800" dirty="0" err="1">
                <a:solidFill>
                  <a:schemeClr val="tx2"/>
                </a:solidFill>
              </a:rPr>
              <a:t>sno</a:t>
            </a:r>
            <a:r>
              <a:rPr lang="en-US" altLang="zh-CN" sz="2800" dirty="0">
                <a:solidFill>
                  <a:schemeClr val="tx2"/>
                </a:solidFill>
              </a:rPr>
              <a:t> </a:t>
            </a:r>
            <a:r>
              <a:rPr lang="en-US" altLang="zh-CN" sz="2800" dirty="0"/>
              <a:t>char(5),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	</a:t>
            </a:r>
            <a:r>
              <a:rPr lang="en-US" altLang="zh-CN" sz="2800" dirty="0" err="1">
                <a:solidFill>
                  <a:schemeClr val="tx2"/>
                </a:solidFill>
              </a:rPr>
              <a:t>cno</a:t>
            </a:r>
            <a:r>
              <a:rPr lang="en-US" altLang="zh-CN" sz="2800" dirty="0">
                <a:solidFill>
                  <a:schemeClr val="tx2"/>
                </a:solidFill>
              </a:rPr>
              <a:t> </a:t>
            </a:r>
            <a:r>
              <a:rPr lang="en-US" altLang="zh-CN" sz="2800" dirty="0"/>
              <a:t>char(5),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	</a:t>
            </a:r>
            <a:r>
              <a:rPr lang="en-US" altLang="zh-CN" sz="2800" dirty="0">
                <a:solidFill>
                  <a:schemeClr val="tx2"/>
                </a:solidFill>
              </a:rPr>
              <a:t>grade</a:t>
            </a:r>
            <a:r>
              <a:rPr lang="en-US" altLang="zh-CN" sz="2800" dirty="0"/>
              <a:t>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,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	</a:t>
            </a:r>
            <a:r>
              <a:rPr lang="en-US" altLang="zh-CN" sz="2800" dirty="0">
                <a:solidFill>
                  <a:srgbClr val="C00000"/>
                </a:solidFill>
              </a:rPr>
              <a:t>PRIMARY KEY </a:t>
            </a:r>
            <a:r>
              <a:rPr lang="en-US" altLang="zh-CN" sz="2800" dirty="0"/>
              <a:t>(</a:t>
            </a:r>
            <a:r>
              <a:rPr lang="en-US" altLang="zh-CN" sz="2800" dirty="0" err="1"/>
              <a:t>sno,cno</a:t>
            </a:r>
            <a:r>
              <a:rPr lang="en-US" altLang="zh-CN" sz="2800" dirty="0"/>
              <a:t>),   // </a:t>
            </a:r>
            <a:r>
              <a:rPr lang="zh-CN" altLang="en-US" sz="2800" dirty="0"/>
              <a:t>表级约束</a:t>
            </a:r>
            <a:endParaRPr lang="en-US" altLang="zh-CN" sz="28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	</a:t>
            </a:r>
            <a:r>
              <a:rPr lang="en-US" altLang="zh-CN" sz="2800" dirty="0">
                <a:solidFill>
                  <a:srgbClr val="C00000"/>
                </a:solidFill>
              </a:rPr>
              <a:t>FOREIGN KEY </a:t>
            </a:r>
            <a:r>
              <a:rPr lang="en-US" altLang="zh-CN" sz="2800" dirty="0"/>
              <a:t>(</a:t>
            </a:r>
            <a:r>
              <a:rPr lang="en-US" altLang="zh-CN" sz="2800" dirty="0" err="1"/>
              <a:t>sno</a:t>
            </a:r>
            <a:r>
              <a:rPr lang="en-US" altLang="zh-CN" sz="2800" dirty="0"/>
              <a:t>) </a:t>
            </a:r>
            <a:r>
              <a:rPr lang="en-US" altLang="zh-CN" sz="2800" dirty="0">
                <a:solidFill>
                  <a:srgbClr val="C00000"/>
                </a:solidFill>
              </a:rPr>
              <a:t>REFERENCES</a:t>
            </a:r>
            <a:r>
              <a:rPr lang="en-US" altLang="zh-CN" sz="2800" dirty="0"/>
              <a:t> student(</a:t>
            </a:r>
            <a:r>
              <a:rPr lang="en-US" altLang="zh-CN" sz="2800" dirty="0" err="1"/>
              <a:t>sno</a:t>
            </a:r>
            <a:r>
              <a:rPr lang="en-US" altLang="zh-CN" sz="2800" dirty="0"/>
              <a:t>),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	</a:t>
            </a:r>
            <a:r>
              <a:rPr lang="en-US" altLang="zh-CN" sz="2800" dirty="0">
                <a:solidFill>
                  <a:srgbClr val="C00000"/>
                </a:solidFill>
              </a:rPr>
              <a:t>FOREIGN KEY </a:t>
            </a:r>
            <a:r>
              <a:rPr lang="en-US" altLang="zh-CN" sz="2800" dirty="0"/>
              <a:t>(</a:t>
            </a:r>
            <a:r>
              <a:rPr lang="en-US" altLang="zh-CN" sz="2800" dirty="0" err="1"/>
              <a:t>cno</a:t>
            </a:r>
            <a:r>
              <a:rPr lang="en-US" altLang="zh-CN" sz="2800" dirty="0"/>
              <a:t>) </a:t>
            </a:r>
            <a:r>
              <a:rPr lang="en-US" altLang="zh-CN" sz="2800" dirty="0">
                <a:solidFill>
                  <a:srgbClr val="C00000"/>
                </a:solidFill>
              </a:rPr>
              <a:t>REFERENCES</a:t>
            </a:r>
            <a:r>
              <a:rPr lang="en-US" altLang="zh-CN" sz="2800" dirty="0"/>
              <a:t> course(</a:t>
            </a:r>
            <a:r>
              <a:rPr lang="en-US" altLang="zh-CN" sz="2800" dirty="0" err="1"/>
              <a:t>cno</a:t>
            </a:r>
            <a:r>
              <a:rPr lang="en-US" altLang="zh-CN" sz="2800" dirty="0"/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);</a:t>
            </a:r>
            <a:endParaRPr lang="zh-CN" altLang="en-US" sz="2800" dirty="0"/>
          </a:p>
        </p:txBody>
      </p:sp>
      <p:sp>
        <p:nvSpPr>
          <p:cNvPr id="2" name="圆角矩形标注 1"/>
          <p:cNvSpPr/>
          <p:nvPr/>
        </p:nvSpPr>
        <p:spPr bwMode="auto">
          <a:xfrm>
            <a:off x="4724400" y="2209800"/>
            <a:ext cx="3048000" cy="1295400"/>
          </a:xfrm>
          <a:prstGeom prst="wedgeRoundRectCallout">
            <a:avLst>
              <a:gd name="adj1" fmla="val -42618"/>
              <a:gd name="adj2" fmla="val 134162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dirty="0" err="1">
                <a:cs typeface="Arial" pitchFamily="34" charset="0"/>
              </a:rPr>
              <a:t>Sno</a:t>
            </a:r>
            <a:r>
              <a:rPr lang="zh-CN" altLang="en-US" dirty="0">
                <a:cs typeface="Arial" pitchFamily="34" charset="0"/>
              </a:rPr>
              <a:t>是</a:t>
            </a:r>
            <a:r>
              <a:rPr lang="zh-CN" altLang="en-US" dirty="0">
                <a:solidFill>
                  <a:srgbClr val="0000FF"/>
                </a:solidFill>
                <a:cs typeface="Arial" pitchFamily="34" charset="0"/>
              </a:rPr>
              <a:t>外码</a:t>
            </a:r>
            <a:endParaRPr lang="en-US" altLang="zh-CN" dirty="0">
              <a:solidFill>
                <a:srgbClr val="0000FF"/>
              </a:solidFill>
              <a:cs typeface="Arial" pitchFamily="34" charset="0"/>
            </a:endParaRPr>
          </a:p>
          <a:p>
            <a:r>
              <a:rPr lang="zh-CN" altLang="en-US" dirty="0">
                <a:cs typeface="Arial" pitchFamily="34" charset="0"/>
              </a:rPr>
              <a:t> 被参照表是</a:t>
            </a:r>
            <a:r>
              <a:rPr lang="en-US" altLang="zh-CN" dirty="0">
                <a:cs typeface="Arial" pitchFamily="34" charset="0"/>
              </a:rPr>
              <a:t>S</a:t>
            </a:r>
            <a:r>
              <a:rPr lang="en-US" altLang="zh-CN" dirty="0"/>
              <a:t>tudent</a:t>
            </a:r>
          </a:p>
          <a:p>
            <a:r>
              <a:rPr lang="zh-CN" altLang="en-US" dirty="0">
                <a:cs typeface="Arial" pitchFamily="34" charset="0"/>
              </a:rPr>
              <a:t>被参照列是</a:t>
            </a:r>
            <a:r>
              <a:rPr lang="en-US" altLang="zh-CN" dirty="0" err="1">
                <a:cs typeface="Arial" pitchFamily="34" charset="0"/>
              </a:rPr>
              <a:t>Sno</a:t>
            </a:r>
            <a:endParaRPr lang="en-US" altLang="zh-CN" dirty="0">
              <a:cs typeface="Arial" pitchFamily="34" charset="0"/>
            </a:endParaRPr>
          </a:p>
        </p:txBody>
      </p:sp>
      <p:sp>
        <p:nvSpPr>
          <p:cNvPr id="3" name="椭圆 2"/>
          <p:cNvSpPr/>
          <p:nvPr/>
        </p:nvSpPr>
        <p:spPr bwMode="auto">
          <a:xfrm>
            <a:off x="914400" y="2362200"/>
            <a:ext cx="838200" cy="12192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C48322-A2A0-A239-6BAE-7C45EC351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33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6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6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6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6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6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6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AF0F319-6CD1-4DDC-B006-A4D0F5BB4D3D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2867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3.3.2 </a:t>
            </a:r>
            <a:r>
              <a:rPr lang="zh-CN" altLang="en-US"/>
              <a:t>定义、删除和修改基本表</a:t>
            </a:r>
          </a:p>
        </p:txBody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sz="2800" dirty="0"/>
              <a:t>约束</a:t>
            </a:r>
            <a:r>
              <a:rPr lang="zh-CN" altLang="en-US" sz="2800" dirty="0">
                <a:solidFill>
                  <a:srgbClr val="0000FF"/>
                </a:solidFill>
              </a:rPr>
              <a:t>更完整</a:t>
            </a:r>
            <a:r>
              <a:rPr lang="zh-CN" altLang="en-US" sz="2800" dirty="0"/>
              <a:t>的形式：</a:t>
            </a:r>
            <a:endParaRPr lang="en-US" altLang="zh-CN" sz="2800" dirty="0"/>
          </a:p>
          <a:p>
            <a:pPr eaLnBrk="1" hangingPunct="1">
              <a:lnSpc>
                <a:spcPct val="80000"/>
              </a:lnSpc>
            </a:pPr>
            <a:endParaRPr lang="zh-CN" altLang="en-US" sz="28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CREATE TABLE SC(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	</a:t>
            </a:r>
            <a:r>
              <a:rPr lang="en-US" altLang="zh-CN" sz="2400" dirty="0" err="1"/>
              <a:t>sno</a:t>
            </a:r>
            <a:r>
              <a:rPr lang="en-US" altLang="zh-CN" sz="2400" dirty="0"/>
              <a:t> char(5),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	</a:t>
            </a:r>
            <a:r>
              <a:rPr lang="en-US" altLang="zh-CN" sz="2400" dirty="0" err="1"/>
              <a:t>cno</a:t>
            </a:r>
            <a:r>
              <a:rPr lang="en-US" altLang="zh-CN" sz="2400" dirty="0"/>
              <a:t> char(5),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	grade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,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dirty="0"/>
              <a:t>	</a:t>
            </a:r>
            <a:r>
              <a:rPr lang="en-US" altLang="zh-CN" sz="2000" dirty="0">
                <a:solidFill>
                  <a:srgbClr val="C00000"/>
                </a:solidFill>
              </a:rPr>
              <a:t>CONSTRAINT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PK_sno_cno</a:t>
            </a: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800080"/>
                </a:solidFill>
              </a:rPr>
              <a:t>PRIMARY KEY </a:t>
            </a:r>
            <a:r>
              <a:rPr lang="en-US" altLang="zh-CN" sz="2000" dirty="0"/>
              <a:t>(</a:t>
            </a:r>
            <a:r>
              <a:rPr lang="en-US" altLang="zh-CN" sz="2000" dirty="0" err="1"/>
              <a:t>sno,cno</a:t>
            </a:r>
            <a:r>
              <a:rPr lang="en-US" altLang="zh-CN" sz="2000" dirty="0"/>
              <a:t>),</a:t>
            </a: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2000" dirty="0"/>
              <a:t>	</a:t>
            </a:r>
            <a:r>
              <a:rPr lang="en-US" altLang="zh-CN" sz="2000" dirty="0">
                <a:solidFill>
                  <a:srgbClr val="C00000"/>
                </a:solidFill>
              </a:rPr>
              <a:t>CONSTRAINT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FK_sno</a:t>
            </a: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800080"/>
                </a:solidFill>
              </a:rPr>
              <a:t>FOREIGN KEY </a:t>
            </a:r>
            <a:r>
              <a:rPr lang="en-US" altLang="zh-CN" sz="2000" dirty="0"/>
              <a:t>(</a:t>
            </a:r>
            <a:r>
              <a:rPr lang="en-US" altLang="zh-CN" sz="2000" dirty="0" err="1"/>
              <a:t>sno</a:t>
            </a:r>
            <a:r>
              <a:rPr lang="en-US" altLang="zh-CN" sz="2000" dirty="0"/>
              <a:t>) </a:t>
            </a:r>
            <a:r>
              <a:rPr lang="en-US" altLang="zh-CN" sz="2000" dirty="0">
                <a:solidFill>
                  <a:srgbClr val="800080"/>
                </a:solidFill>
              </a:rPr>
              <a:t>REFERENCES </a:t>
            </a:r>
            <a:r>
              <a:rPr lang="en-US" altLang="zh-CN" sz="2000" dirty="0"/>
              <a:t>student(</a:t>
            </a:r>
            <a:r>
              <a:rPr lang="en-US" altLang="zh-CN" sz="2000" dirty="0" err="1"/>
              <a:t>sno</a:t>
            </a:r>
            <a:r>
              <a:rPr lang="en-US" altLang="zh-CN" sz="2000" dirty="0"/>
              <a:t>), </a:t>
            </a: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2000" dirty="0"/>
              <a:t>	</a:t>
            </a:r>
            <a:r>
              <a:rPr lang="en-US" altLang="zh-CN" sz="2000" dirty="0">
                <a:solidFill>
                  <a:srgbClr val="C00000"/>
                </a:solidFill>
              </a:rPr>
              <a:t>CONSTRAINT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FK_cno</a:t>
            </a: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800080"/>
                </a:solidFill>
              </a:rPr>
              <a:t>FOREIGN KEY </a:t>
            </a:r>
            <a:r>
              <a:rPr lang="en-US" altLang="zh-CN" sz="2000" dirty="0"/>
              <a:t>(</a:t>
            </a:r>
            <a:r>
              <a:rPr lang="en-US" altLang="zh-CN" sz="2000" dirty="0" err="1"/>
              <a:t>cno</a:t>
            </a:r>
            <a:r>
              <a:rPr lang="en-US" altLang="zh-CN" sz="2000" dirty="0"/>
              <a:t>) </a:t>
            </a:r>
            <a:r>
              <a:rPr lang="en-US" altLang="zh-CN" sz="2000" dirty="0">
                <a:solidFill>
                  <a:srgbClr val="800080"/>
                </a:solidFill>
              </a:rPr>
              <a:t>REFERENCES </a:t>
            </a:r>
            <a:r>
              <a:rPr lang="en-US" altLang="zh-CN" sz="2000" dirty="0"/>
              <a:t>course(</a:t>
            </a:r>
            <a:r>
              <a:rPr lang="en-US" altLang="zh-CN" sz="2000" dirty="0" err="1"/>
              <a:t>cno</a:t>
            </a:r>
            <a:r>
              <a:rPr lang="en-US" altLang="zh-CN" sz="2000" dirty="0"/>
              <a:t>),</a:t>
            </a:r>
            <a:endParaRPr lang="zh-CN" altLang="en-US" sz="2000" dirty="0"/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000" dirty="0"/>
              <a:t>    </a:t>
            </a:r>
            <a:r>
              <a:rPr lang="en-US" altLang="zh-CN" sz="2000" dirty="0">
                <a:solidFill>
                  <a:srgbClr val="C00000"/>
                </a:solidFill>
              </a:rPr>
              <a:t>CONSTRAINT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CK_grade</a:t>
            </a: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0000FF"/>
                </a:solidFill>
              </a:rPr>
              <a:t>CHECK </a:t>
            </a:r>
            <a:r>
              <a:rPr lang="en-US" altLang="zh-CN" sz="2000" dirty="0"/>
              <a:t>(grade&gt;=0 and grade &lt;=100)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);</a:t>
            </a:r>
            <a:endParaRPr lang="zh-CN" altLang="en-US" sz="2400" dirty="0"/>
          </a:p>
        </p:txBody>
      </p:sp>
      <p:sp>
        <p:nvSpPr>
          <p:cNvPr id="2" name="圆角矩形标注 1"/>
          <p:cNvSpPr/>
          <p:nvPr/>
        </p:nvSpPr>
        <p:spPr bwMode="auto">
          <a:xfrm>
            <a:off x="3352800" y="2633449"/>
            <a:ext cx="2209800" cy="533400"/>
          </a:xfrm>
          <a:prstGeom prst="wedgeRoundRectCallout">
            <a:avLst>
              <a:gd name="adj1" fmla="val -92674"/>
              <a:gd name="adj2" fmla="val 169897"/>
              <a:gd name="adj3" fmla="val 16667"/>
            </a:avLst>
          </a:prstGeom>
          <a:solidFill>
            <a:srgbClr val="FFC9C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>
                <a:cs typeface="Arial" pitchFamily="34" charset="0"/>
              </a:rPr>
              <a:t>定义一个约束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pitchFamily="34" charset="0"/>
            </a:endParaRPr>
          </a:p>
        </p:txBody>
      </p:sp>
      <p:sp>
        <p:nvSpPr>
          <p:cNvPr id="8" name="圆角矩形标注 7"/>
          <p:cNvSpPr/>
          <p:nvPr/>
        </p:nvSpPr>
        <p:spPr bwMode="auto">
          <a:xfrm>
            <a:off x="6345640" y="2362200"/>
            <a:ext cx="1883960" cy="533400"/>
          </a:xfrm>
          <a:prstGeom prst="wedgeRoundRectCallout">
            <a:avLst>
              <a:gd name="adj1" fmla="val -203719"/>
              <a:gd name="adj2" fmla="val 245830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>
                <a:cs typeface="Arial" pitchFamily="34" charset="0"/>
              </a:rPr>
              <a:t>约束名称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CBBF3DE-AEC2-90EF-ECEF-9F0FA93EA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34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6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6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6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6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86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6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40A00DF-2671-4666-8AFB-5C66C2AAC6F1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2969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3.3.2 </a:t>
            </a:r>
            <a:r>
              <a:rPr lang="zh-CN" altLang="en-US"/>
              <a:t>定义、删除和修改基本表</a:t>
            </a:r>
          </a:p>
        </p:txBody>
      </p:sp>
      <p:sp>
        <p:nvSpPr>
          <p:cNvPr id="297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上述例子可以看出</a:t>
            </a:r>
            <a:r>
              <a:rPr lang="en-US" altLang="zh-CN" u="sng" dirty="0"/>
              <a:t>SQL</a:t>
            </a:r>
            <a:r>
              <a:rPr lang="zh-CN" altLang="en-US" u="sng" dirty="0"/>
              <a:t>基本表定义</a:t>
            </a:r>
            <a:r>
              <a:rPr lang="zh-CN" altLang="en-US" dirty="0"/>
              <a:t>的概貌。</a:t>
            </a:r>
          </a:p>
          <a:p>
            <a:pPr eaLnBrk="1" hangingPunct="1"/>
            <a:r>
              <a:rPr lang="zh-CN" altLang="en-US" dirty="0"/>
              <a:t>应注意</a:t>
            </a:r>
            <a:r>
              <a:rPr lang="zh-CN" altLang="en-US" b="1" u="sng" dirty="0">
                <a:solidFill>
                  <a:srgbClr val="0000FF"/>
                </a:solidFill>
              </a:rPr>
              <a:t>完整性约束</a:t>
            </a:r>
            <a:r>
              <a:rPr lang="zh-CN" altLang="en-US" dirty="0"/>
              <a:t>的定义</a:t>
            </a:r>
          </a:p>
          <a:p>
            <a:pPr lvl="1" eaLnBrk="1" hangingPunct="1"/>
            <a:r>
              <a:rPr lang="zh-CN" altLang="en-US" dirty="0"/>
              <a:t>主码：</a:t>
            </a:r>
            <a:r>
              <a:rPr lang="en-US" altLang="zh-CN" dirty="0">
                <a:solidFill>
                  <a:srgbClr val="FF0000"/>
                </a:solidFill>
              </a:rPr>
              <a:t>PRIMARY KEY</a:t>
            </a:r>
            <a:r>
              <a:rPr lang="zh-CN" altLang="en-US" dirty="0"/>
              <a:t>关键字。</a:t>
            </a:r>
          </a:p>
          <a:p>
            <a:pPr lvl="1" eaLnBrk="1" hangingPunct="1"/>
            <a:r>
              <a:rPr lang="zh-CN" altLang="en-US" dirty="0"/>
              <a:t>外码：</a:t>
            </a:r>
            <a:r>
              <a:rPr lang="en-US" altLang="zh-CN" dirty="0">
                <a:solidFill>
                  <a:srgbClr val="FF0000"/>
                </a:solidFill>
              </a:rPr>
              <a:t>FOREIGN KEY</a:t>
            </a:r>
            <a:r>
              <a:rPr lang="zh-CN" altLang="en-US" dirty="0"/>
              <a:t>关键字。</a:t>
            </a:r>
          </a:p>
          <a:p>
            <a:pPr lvl="1" eaLnBrk="1" hangingPunct="1"/>
            <a:r>
              <a:rPr lang="zh-CN" altLang="en-US" dirty="0"/>
              <a:t>用户定义：</a:t>
            </a:r>
            <a:r>
              <a:rPr lang="en-US" altLang="zh-CN" dirty="0">
                <a:solidFill>
                  <a:srgbClr val="FF0000"/>
                </a:solidFill>
              </a:rPr>
              <a:t>CHECK, NOT NULL, </a:t>
            </a:r>
            <a:r>
              <a:rPr lang="en-US" altLang="zh-CN" dirty="0">
                <a:solidFill>
                  <a:srgbClr val="C00000"/>
                </a:solidFill>
              </a:rPr>
              <a:t>UNIQUE</a:t>
            </a:r>
            <a:r>
              <a:rPr lang="zh-CN" altLang="en-US" dirty="0"/>
              <a:t>关键字。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A09F7C4-4F06-F93E-8DA1-A2FA76C31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35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97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97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97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97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297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97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CA29545-18C6-4A14-972D-E918C6353875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3174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3.3.2 </a:t>
            </a:r>
            <a:r>
              <a:rPr lang="zh-CN" altLang="en-US"/>
              <a:t>定义、删除和修改基本表</a:t>
            </a:r>
          </a:p>
        </p:txBody>
      </p:sp>
      <p:sp>
        <p:nvSpPr>
          <p:cNvPr id="317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zh-CN" altLang="en-US" dirty="0"/>
              <a:t>模式与表</a:t>
            </a:r>
          </a:p>
          <a:p>
            <a:pPr marL="990600" lvl="1" indent="-533400" eaLnBrk="1" hangingPunct="1"/>
            <a:r>
              <a:rPr lang="zh-CN" altLang="en-US" dirty="0"/>
              <a:t>每一个基本表</a:t>
            </a:r>
            <a:r>
              <a:rPr lang="zh-CN" altLang="en-US" b="1" dirty="0">
                <a:solidFill>
                  <a:srgbClr val="0000FF"/>
                </a:solidFill>
              </a:rPr>
              <a:t>属于</a:t>
            </a:r>
            <a:r>
              <a:rPr lang="zh-CN" altLang="en-US" dirty="0"/>
              <a:t>某一个模式，一个模式包含多个基本表。</a:t>
            </a:r>
          </a:p>
          <a:p>
            <a:pPr marL="590550" indent="-533400" eaLnBrk="1" hangingPunct="1"/>
            <a:r>
              <a:rPr lang="zh-CN" altLang="en-US" dirty="0"/>
              <a:t>定义</a:t>
            </a:r>
            <a:r>
              <a:rPr lang="zh-CN" altLang="en-US" u="sng" dirty="0">
                <a:solidFill>
                  <a:srgbClr val="C00000"/>
                </a:solidFill>
              </a:rPr>
              <a:t>基本表</a:t>
            </a:r>
            <a:r>
              <a:rPr lang="zh-CN" altLang="en-US" u="sng" dirty="0">
                <a:solidFill>
                  <a:srgbClr val="0000FF"/>
                </a:solidFill>
              </a:rPr>
              <a:t>所属</a:t>
            </a:r>
            <a:r>
              <a:rPr lang="zh-CN" altLang="en-US" u="sng" dirty="0">
                <a:solidFill>
                  <a:srgbClr val="C00000"/>
                </a:solidFill>
              </a:rPr>
              <a:t>模式</a:t>
            </a:r>
            <a:r>
              <a:rPr lang="zh-CN" altLang="en-US" dirty="0"/>
              <a:t>：</a:t>
            </a:r>
          </a:p>
          <a:p>
            <a:pPr marL="990600" lvl="1" indent="-533400" eaLnBrk="1" hangingPunct="1">
              <a:buFont typeface="+mj-lt"/>
              <a:buAutoNum type="arabicPeriod"/>
            </a:pPr>
            <a:r>
              <a:rPr lang="zh-CN" altLang="en-US" dirty="0"/>
              <a:t>在创建模式语句中</a:t>
            </a:r>
            <a:r>
              <a:rPr lang="zh-CN" altLang="en-US" dirty="0">
                <a:solidFill>
                  <a:srgbClr val="C00000"/>
                </a:solidFill>
              </a:rPr>
              <a:t>同时</a:t>
            </a:r>
            <a:r>
              <a:rPr lang="zh-CN" altLang="en-US" dirty="0"/>
              <a:t>创建表；</a:t>
            </a:r>
          </a:p>
          <a:p>
            <a:pPr marL="990600" lvl="1" indent="-533400" eaLnBrk="1" hangingPunct="1">
              <a:buFont typeface="Wingdings" pitchFamily="2" charset="2"/>
              <a:buAutoNum type="arabicPeriod"/>
            </a:pPr>
            <a:r>
              <a:rPr lang="zh-CN" altLang="en-US" dirty="0"/>
              <a:t>在表名中</a:t>
            </a:r>
            <a:r>
              <a:rPr lang="zh-CN" altLang="en-US" dirty="0">
                <a:solidFill>
                  <a:srgbClr val="C00000"/>
                </a:solidFill>
              </a:rPr>
              <a:t>明显</a:t>
            </a:r>
            <a:r>
              <a:rPr lang="zh-CN" altLang="en-US" dirty="0"/>
              <a:t>地给出模式名；</a:t>
            </a:r>
            <a:endParaRPr lang="en-US" altLang="zh-CN" dirty="0"/>
          </a:p>
          <a:p>
            <a:pPr marL="457200" lvl="1" indent="0" eaLnBrk="1" hangingPunct="1">
              <a:buNone/>
            </a:pPr>
            <a:r>
              <a:rPr lang="en-US" altLang="zh-CN" dirty="0">
                <a:ea typeface="宋体" pitchFamily="2" charset="-122"/>
              </a:rPr>
              <a:t>Create table </a:t>
            </a:r>
            <a:r>
              <a:rPr lang="en-US" altLang="zh-CN" dirty="0">
                <a:solidFill>
                  <a:srgbClr val="C00000"/>
                </a:solidFill>
                <a:ea typeface="宋体" pitchFamily="2" charset="-122"/>
              </a:rPr>
              <a:t>“S-</a:t>
            </a:r>
            <a:r>
              <a:rPr lang="en-US" altLang="zh-CN" dirty="0" err="1">
                <a:solidFill>
                  <a:srgbClr val="C00000"/>
                </a:solidFill>
                <a:ea typeface="宋体" pitchFamily="2" charset="-122"/>
              </a:rPr>
              <a:t>T”.</a:t>
            </a:r>
            <a:r>
              <a:rPr lang="en-US" altLang="zh-CN" dirty="0" err="1">
                <a:ea typeface="宋体" pitchFamily="2" charset="-122"/>
              </a:rPr>
              <a:t>Student</a:t>
            </a:r>
            <a:r>
              <a:rPr lang="zh-CN" altLang="en-US" dirty="0">
                <a:ea typeface="宋体" pitchFamily="2" charset="-122"/>
              </a:rPr>
              <a:t>（</a:t>
            </a:r>
            <a:r>
              <a:rPr lang="en-US" altLang="zh-CN" dirty="0">
                <a:ea typeface="宋体" pitchFamily="2" charset="-122"/>
              </a:rPr>
              <a:t>......</a:t>
            </a:r>
            <a:r>
              <a:rPr lang="zh-CN" altLang="en-US" dirty="0">
                <a:ea typeface="宋体" pitchFamily="2" charset="-122"/>
              </a:rPr>
              <a:t>）</a:t>
            </a:r>
            <a:r>
              <a:rPr lang="en-US" altLang="zh-CN" dirty="0">
                <a:ea typeface="宋体" pitchFamily="2" charset="-122"/>
              </a:rPr>
              <a:t>;</a:t>
            </a:r>
            <a:r>
              <a:rPr lang="en-US" altLang="zh-CN" sz="2000" dirty="0">
                <a:ea typeface="宋体" pitchFamily="2" charset="-122"/>
              </a:rPr>
              <a:t>/*</a:t>
            </a:r>
            <a:r>
              <a:rPr lang="zh-CN" altLang="en-US" sz="2000" dirty="0">
                <a:ea typeface="宋体" pitchFamily="2" charset="-122"/>
              </a:rPr>
              <a:t>模式名为 </a:t>
            </a:r>
            <a:r>
              <a:rPr lang="en-US" altLang="zh-CN" sz="2000" dirty="0">
                <a:ea typeface="宋体" pitchFamily="2" charset="-122"/>
              </a:rPr>
              <a:t>S-T*/</a:t>
            </a:r>
          </a:p>
          <a:p>
            <a:pPr marL="990600" lvl="1" indent="-533400" eaLnBrk="1" hangingPunct="1">
              <a:buFont typeface="+mj-lt"/>
              <a:buAutoNum type="arabicPeriod" startAt="3"/>
            </a:pPr>
            <a:r>
              <a:rPr lang="zh-CN" altLang="en-US" dirty="0">
                <a:solidFill>
                  <a:srgbClr val="C00000"/>
                </a:solidFill>
              </a:rPr>
              <a:t>设置所属的模式</a:t>
            </a:r>
            <a:r>
              <a:rPr lang="zh-CN" altLang="en-US" dirty="0"/>
              <a:t>，在创建表时表名中不必给出模式名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EE32B04-7043-77AF-3582-361EA6B4B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36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7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7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7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7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7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7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17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7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D843F90-CC2D-48A1-9C97-6672F080F3CB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3277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3.3.2 </a:t>
            </a:r>
            <a:r>
              <a:rPr lang="zh-CN" altLang="en-US"/>
              <a:t>定义、删除和修改基本表</a:t>
            </a:r>
          </a:p>
        </p:txBody>
      </p:sp>
      <p:sp>
        <p:nvSpPr>
          <p:cNvPr id="327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修改基本表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可</a:t>
            </a:r>
            <a:r>
              <a:rPr lang="zh-CN" altLang="en-US" dirty="0">
                <a:solidFill>
                  <a:srgbClr val="C00000"/>
                </a:solidFill>
              </a:rPr>
              <a:t>增加</a:t>
            </a:r>
            <a:r>
              <a:rPr lang="zh-CN" altLang="en-US" dirty="0">
                <a:solidFill>
                  <a:srgbClr val="0000FF"/>
                </a:solidFill>
              </a:rPr>
              <a:t>新列，</a:t>
            </a:r>
            <a:r>
              <a:rPr lang="zh-CN" altLang="en-US" dirty="0">
                <a:solidFill>
                  <a:srgbClr val="C00000"/>
                </a:solidFill>
              </a:rPr>
              <a:t>删除</a:t>
            </a:r>
            <a:r>
              <a:rPr lang="zh-CN" altLang="en-US" dirty="0">
                <a:solidFill>
                  <a:srgbClr val="0000FF"/>
                </a:solidFill>
              </a:rPr>
              <a:t>列上的完整性约束，</a:t>
            </a:r>
            <a:r>
              <a:rPr lang="zh-CN" altLang="en-US" dirty="0">
                <a:solidFill>
                  <a:srgbClr val="C00000"/>
                </a:solidFill>
              </a:rPr>
              <a:t>修改</a:t>
            </a:r>
            <a:r>
              <a:rPr lang="zh-CN" altLang="en-US" dirty="0">
                <a:solidFill>
                  <a:srgbClr val="0000FF"/>
                </a:solidFill>
              </a:rPr>
              <a:t>列的数据类型</a:t>
            </a:r>
            <a:r>
              <a:rPr lang="zh-CN" altLang="en-US" dirty="0"/>
              <a:t>等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1000" b="1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rgbClr val="0000FF"/>
                </a:solidFill>
              </a:rPr>
              <a:t>ALTER TABLE </a:t>
            </a:r>
            <a:r>
              <a:rPr lang="en-US" altLang="zh-CN" dirty="0"/>
              <a:t>&lt;</a:t>
            </a:r>
            <a:r>
              <a:rPr lang="zh-CN" altLang="en-US" dirty="0"/>
              <a:t>表名</a:t>
            </a:r>
            <a:r>
              <a:rPr lang="en-US" altLang="zh-CN" dirty="0"/>
              <a:t>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[</a:t>
            </a:r>
            <a:r>
              <a:rPr lang="en-US" altLang="zh-CN" dirty="0">
                <a:solidFill>
                  <a:srgbClr val="0000FF"/>
                </a:solidFill>
              </a:rPr>
              <a:t>ADD</a:t>
            </a:r>
            <a:r>
              <a:rPr lang="en-US" altLang="zh-CN" dirty="0"/>
              <a:t> &lt;</a:t>
            </a:r>
            <a:r>
              <a:rPr lang="zh-CN" altLang="en-US" dirty="0"/>
              <a:t>新列名</a:t>
            </a:r>
            <a:r>
              <a:rPr lang="en-US" altLang="zh-CN" dirty="0"/>
              <a:t>&gt;&lt;</a:t>
            </a:r>
            <a:r>
              <a:rPr lang="zh-CN" altLang="en-US" dirty="0"/>
              <a:t>数据类型</a:t>
            </a:r>
            <a:r>
              <a:rPr lang="en-US" altLang="zh-CN" dirty="0"/>
              <a:t>&gt;[</a:t>
            </a:r>
            <a:r>
              <a:rPr lang="zh-CN" altLang="en-US" dirty="0"/>
              <a:t>完整性约束</a:t>
            </a:r>
            <a:r>
              <a:rPr lang="en-US" altLang="zh-CN" dirty="0"/>
              <a:t>]]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[</a:t>
            </a:r>
            <a:r>
              <a:rPr lang="en-US" altLang="zh-CN" dirty="0">
                <a:solidFill>
                  <a:srgbClr val="0000FF"/>
                </a:solidFill>
              </a:rPr>
              <a:t>DROP</a:t>
            </a:r>
            <a:r>
              <a:rPr lang="en-US" altLang="zh-CN" dirty="0"/>
              <a:t> &lt;</a:t>
            </a:r>
            <a:r>
              <a:rPr lang="zh-CN" altLang="en-US" dirty="0"/>
              <a:t>完整性约束名</a:t>
            </a:r>
            <a:r>
              <a:rPr lang="en-US" altLang="zh-CN" dirty="0"/>
              <a:t>&gt;]</a:t>
            </a:r>
          </a:p>
          <a:p>
            <a:pPr eaLnBrk="1" hangingPunct="1">
              <a:buNone/>
            </a:pPr>
            <a:r>
              <a:rPr lang="en-US" altLang="zh-CN" dirty="0"/>
              <a:t>[</a:t>
            </a:r>
            <a:r>
              <a:rPr lang="en-US" altLang="zh-CN" dirty="0">
                <a:solidFill>
                  <a:srgbClr val="0000FF"/>
                </a:solidFill>
              </a:rPr>
              <a:t>ALTER </a:t>
            </a:r>
            <a:r>
              <a:rPr lang="en-US" altLang="zh-CN" dirty="0">
                <a:solidFill>
                  <a:srgbClr val="C00000"/>
                </a:solidFill>
              </a:rPr>
              <a:t>COLUMN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en-US" altLang="zh-CN" dirty="0"/>
              <a:t>&lt;</a:t>
            </a:r>
            <a:r>
              <a:rPr lang="zh-CN" altLang="en-US" dirty="0"/>
              <a:t>列名</a:t>
            </a:r>
            <a:r>
              <a:rPr lang="en-US" altLang="zh-CN" dirty="0"/>
              <a:t>&gt;&lt;</a:t>
            </a:r>
            <a:r>
              <a:rPr lang="zh-CN" altLang="en-US" dirty="0"/>
              <a:t>数据类型</a:t>
            </a:r>
            <a:r>
              <a:rPr lang="en-US" altLang="zh-CN" dirty="0"/>
              <a:t>&gt;];</a:t>
            </a:r>
            <a:endParaRPr lang="en-US" altLang="zh-CN" b="1" dirty="0"/>
          </a:p>
          <a:p>
            <a:pPr eaLnBrk="1" hangingPunct="1"/>
            <a:endParaRPr lang="zh-CN" altLang="en-US" sz="28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597E895-3E31-5716-C3F7-16104A8B0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37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7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7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7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7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7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7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7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7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1EA5C86-B960-4934-929A-FF33181B07B5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3277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3.3.2 </a:t>
            </a:r>
            <a:r>
              <a:rPr lang="zh-CN" altLang="en-US"/>
              <a:t>定义、删除和修改基本表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838200" y="1676400"/>
            <a:ext cx="82296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>
              <a:lnSpc>
                <a:spcPct val="140000"/>
              </a:lnSpc>
              <a:buFont typeface="Wingdings" pitchFamily="2" charset="2"/>
              <a:buNone/>
            </a:pPr>
            <a:r>
              <a:rPr kumimoji="0" lang="en-US" altLang="zh-CN" sz="2000" kern="0" dirty="0">
                <a:ea typeface="宋体" pitchFamily="2" charset="-122"/>
              </a:rPr>
              <a:t>[</a:t>
            </a:r>
            <a:r>
              <a:rPr kumimoji="0" lang="zh-CN" altLang="en-US" sz="2000" kern="0" dirty="0">
                <a:ea typeface="宋体" pitchFamily="2" charset="-122"/>
              </a:rPr>
              <a:t>例</a:t>
            </a:r>
            <a:r>
              <a:rPr kumimoji="0" lang="en-US" altLang="zh-CN" sz="2000" kern="0" dirty="0">
                <a:ea typeface="宋体" pitchFamily="2" charset="-122"/>
              </a:rPr>
              <a:t>8]</a:t>
            </a:r>
            <a:r>
              <a:rPr kumimoji="0" lang="zh-CN" altLang="en-US" sz="2000" kern="0" dirty="0">
                <a:ea typeface="宋体" pitchFamily="2" charset="-122"/>
              </a:rPr>
              <a:t>向</a:t>
            </a:r>
            <a:r>
              <a:rPr kumimoji="0" lang="en-US" altLang="zh-CN" sz="2000" kern="0" dirty="0">
                <a:ea typeface="宋体" pitchFamily="2" charset="-122"/>
              </a:rPr>
              <a:t>Student</a:t>
            </a:r>
            <a:r>
              <a:rPr kumimoji="0" lang="zh-CN" altLang="en-US" sz="2000" kern="0" dirty="0">
                <a:ea typeface="宋体" pitchFamily="2" charset="-122"/>
              </a:rPr>
              <a:t>表增加</a:t>
            </a:r>
            <a:r>
              <a:rPr kumimoji="0" lang="zh-CN" altLang="en-US" sz="2000" kern="0" dirty="0">
                <a:latin typeface="Courier New"/>
                <a:ea typeface="宋体" pitchFamily="2" charset="-122"/>
              </a:rPr>
              <a:t>“</a:t>
            </a:r>
            <a:r>
              <a:rPr kumimoji="0" lang="zh-CN" altLang="en-US" sz="2000" kern="0" dirty="0">
                <a:ea typeface="宋体" pitchFamily="2" charset="-122"/>
              </a:rPr>
              <a:t>入学时间</a:t>
            </a:r>
            <a:r>
              <a:rPr kumimoji="0" lang="zh-CN" altLang="en-US" sz="2000" kern="0" dirty="0">
                <a:latin typeface="Courier New"/>
                <a:ea typeface="宋体" pitchFamily="2" charset="-122"/>
              </a:rPr>
              <a:t>”</a:t>
            </a:r>
            <a:r>
              <a:rPr kumimoji="0" lang="zh-CN" altLang="en-US" sz="2000" kern="0" dirty="0">
                <a:solidFill>
                  <a:srgbClr val="C00000"/>
                </a:solidFill>
                <a:ea typeface="宋体" pitchFamily="2" charset="-122"/>
              </a:rPr>
              <a:t>列</a:t>
            </a:r>
            <a:r>
              <a:rPr kumimoji="0" lang="zh-CN" altLang="en-US" sz="2000" kern="0" dirty="0">
                <a:ea typeface="宋体" pitchFamily="2" charset="-122"/>
              </a:rPr>
              <a:t>，其数据类型为日期型。</a:t>
            </a:r>
          </a:p>
          <a:p>
            <a:pPr lvl="1" algn="just">
              <a:lnSpc>
                <a:spcPct val="140000"/>
              </a:lnSpc>
              <a:buFont typeface="Wingdings" pitchFamily="2" charset="2"/>
              <a:buNone/>
            </a:pPr>
            <a:r>
              <a:rPr kumimoji="0" lang="zh-CN" altLang="en-US" sz="2000" kern="0" dirty="0">
                <a:ea typeface="宋体" pitchFamily="2" charset="-122"/>
              </a:rPr>
              <a:t>     </a:t>
            </a:r>
            <a:r>
              <a:rPr kumimoji="0" lang="en-US" altLang="zh-CN" sz="2000" kern="0" dirty="0">
                <a:ea typeface="宋体" pitchFamily="2" charset="-122"/>
              </a:rPr>
              <a:t>ALTER TABLE Student </a:t>
            </a:r>
            <a:r>
              <a:rPr kumimoji="0" lang="en-US" altLang="zh-CN" sz="2000" kern="0" dirty="0">
                <a:solidFill>
                  <a:srgbClr val="0000FF"/>
                </a:solidFill>
                <a:ea typeface="宋体" pitchFamily="2" charset="-122"/>
              </a:rPr>
              <a:t>ADD</a:t>
            </a:r>
            <a:r>
              <a:rPr kumimoji="0" lang="en-US" altLang="zh-CN" sz="2000" kern="0" dirty="0">
                <a:solidFill>
                  <a:srgbClr val="C00000"/>
                </a:solidFill>
                <a:ea typeface="宋体" pitchFamily="2" charset="-122"/>
              </a:rPr>
              <a:t> </a:t>
            </a:r>
            <a:r>
              <a:rPr kumimoji="0" lang="en-US" altLang="zh-CN" sz="2000" kern="0" dirty="0" err="1">
                <a:solidFill>
                  <a:srgbClr val="C00000"/>
                </a:solidFill>
                <a:ea typeface="宋体" pitchFamily="2" charset="-122"/>
              </a:rPr>
              <a:t>S_entrance</a:t>
            </a:r>
            <a:r>
              <a:rPr kumimoji="0" lang="en-US" altLang="zh-CN" sz="2000" kern="0" dirty="0">
                <a:solidFill>
                  <a:srgbClr val="C00000"/>
                </a:solidFill>
                <a:ea typeface="宋体" pitchFamily="2" charset="-122"/>
              </a:rPr>
              <a:t> DATE</a:t>
            </a:r>
            <a:r>
              <a:rPr kumimoji="0" lang="zh-CN" altLang="en-US" sz="2000" kern="0" dirty="0">
                <a:ea typeface="宋体" pitchFamily="2" charset="-122"/>
              </a:rPr>
              <a:t>；</a:t>
            </a:r>
          </a:p>
          <a:p>
            <a:pPr lvl="1" algn="just">
              <a:lnSpc>
                <a:spcPct val="140000"/>
              </a:lnSpc>
            </a:pPr>
            <a:r>
              <a:rPr kumimoji="0" lang="zh-CN" altLang="en-US" sz="2000" kern="0" dirty="0">
                <a:ea typeface="宋体" pitchFamily="2" charset="-122"/>
              </a:rPr>
              <a:t>不论基本表中原来是否已有数据，</a:t>
            </a:r>
            <a:r>
              <a:rPr kumimoji="0" lang="zh-CN" altLang="en-US" sz="2000" b="1" kern="0" dirty="0">
                <a:solidFill>
                  <a:schemeClr val="tx2"/>
                </a:solidFill>
                <a:ea typeface="宋体" pitchFamily="2" charset="-122"/>
              </a:rPr>
              <a:t>新增加的列</a:t>
            </a:r>
            <a:r>
              <a:rPr kumimoji="0" lang="zh-CN" altLang="en-US" sz="2000" b="1" kern="0" dirty="0">
                <a:ea typeface="宋体" pitchFamily="2" charset="-122"/>
              </a:rPr>
              <a:t>一律</a:t>
            </a:r>
            <a:r>
              <a:rPr kumimoji="0" lang="zh-CN" altLang="en-US" sz="2000" b="1" kern="0" dirty="0">
                <a:solidFill>
                  <a:schemeClr val="tx2"/>
                </a:solidFill>
                <a:ea typeface="宋体" pitchFamily="2" charset="-122"/>
              </a:rPr>
              <a:t>为空值</a:t>
            </a:r>
            <a:r>
              <a:rPr kumimoji="0" lang="zh-CN" altLang="en-US" sz="2000" kern="0" dirty="0">
                <a:ea typeface="宋体" pitchFamily="2" charset="-122"/>
              </a:rPr>
              <a:t>。</a:t>
            </a:r>
            <a:r>
              <a:rPr kumimoji="0" lang="zh-CN" altLang="en-US" sz="2000" kern="0" dirty="0">
                <a:latin typeface="Courier New"/>
                <a:ea typeface="宋体" pitchFamily="2" charset="-122"/>
              </a:rPr>
              <a:t> </a:t>
            </a:r>
            <a:endParaRPr kumimoji="0" lang="zh-CN" altLang="en-US" sz="2000" kern="0" dirty="0">
              <a:ea typeface="宋体" pitchFamily="2" charset="-122"/>
            </a:endParaRPr>
          </a:p>
          <a:p>
            <a:pPr>
              <a:lnSpc>
                <a:spcPct val="140000"/>
              </a:lnSpc>
              <a:buFont typeface="Wingdings" pitchFamily="2" charset="2"/>
              <a:buNone/>
            </a:pPr>
            <a:r>
              <a:rPr kumimoji="0" lang="en-US" altLang="zh-CN" sz="2000" kern="0" dirty="0">
                <a:ea typeface="宋体" pitchFamily="2" charset="-122"/>
              </a:rPr>
              <a:t>[</a:t>
            </a:r>
            <a:r>
              <a:rPr kumimoji="0" lang="zh-CN" altLang="en-US" sz="2000" kern="0" dirty="0">
                <a:ea typeface="宋体" pitchFamily="2" charset="-122"/>
              </a:rPr>
              <a:t>例</a:t>
            </a:r>
            <a:r>
              <a:rPr kumimoji="0" lang="en-US" altLang="zh-CN" sz="2000" kern="0" dirty="0">
                <a:ea typeface="宋体" pitchFamily="2" charset="-122"/>
              </a:rPr>
              <a:t>9]</a:t>
            </a:r>
            <a:r>
              <a:rPr kumimoji="0" lang="zh-CN" altLang="en-US" sz="2000" kern="0" dirty="0">
                <a:ea typeface="宋体" pitchFamily="2" charset="-122"/>
              </a:rPr>
              <a:t>将年龄的数据类型由字符型（假设原来的数据类型是字符型）改为整数。</a:t>
            </a:r>
          </a:p>
          <a:p>
            <a:pPr>
              <a:lnSpc>
                <a:spcPct val="140000"/>
              </a:lnSpc>
              <a:buFont typeface="Wingdings" pitchFamily="2" charset="2"/>
              <a:buNone/>
            </a:pPr>
            <a:r>
              <a:rPr kumimoji="0" lang="zh-CN" altLang="en-US" sz="2000" kern="0" dirty="0">
                <a:ea typeface="宋体" pitchFamily="2" charset="-122"/>
              </a:rPr>
              <a:t>    		</a:t>
            </a:r>
            <a:r>
              <a:rPr kumimoji="0" lang="en-US" altLang="zh-CN" sz="2000" kern="0" dirty="0">
                <a:ea typeface="宋体" pitchFamily="2" charset="-122"/>
              </a:rPr>
              <a:t>ALTER TABLE Student </a:t>
            </a:r>
            <a:r>
              <a:rPr kumimoji="0" lang="en-US" altLang="zh-CN" sz="2000" kern="0" dirty="0">
                <a:solidFill>
                  <a:srgbClr val="0000FF"/>
                </a:solidFill>
                <a:ea typeface="宋体" pitchFamily="2" charset="-122"/>
              </a:rPr>
              <a:t>ALTER</a:t>
            </a:r>
            <a:r>
              <a:rPr kumimoji="0" lang="en-US" altLang="zh-CN" sz="2000" kern="0" dirty="0">
                <a:solidFill>
                  <a:srgbClr val="C00000"/>
                </a:solidFill>
                <a:ea typeface="宋体" pitchFamily="2" charset="-122"/>
              </a:rPr>
              <a:t> COLUMN </a:t>
            </a:r>
            <a:r>
              <a:rPr kumimoji="0" lang="en-US" altLang="zh-CN" sz="2000" kern="0" dirty="0">
                <a:solidFill>
                  <a:schemeClr val="tx2"/>
                </a:solidFill>
                <a:ea typeface="宋体" pitchFamily="2" charset="-122"/>
              </a:rPr>
              <a:t>Sage</a:t>
            </a:r>
            <a:r>
              <a:rPr kumimoji="0" lang="en-US" altLang="zh-CN" sz="2000" kern="0" dirty="0">
                <a:solidFill>
                  <a:srgbClr val="C00000"/>
                </a:solidFill>
                <a:ea typeface="宋体" pitchFamily="2" charset="-122"/>
              </a:rPr>
              <a:t> INT</a:t>
            </a:r>
            <a:r>
              <a:rPr kumimoji="0" lang="zh-CN" altLang="en-US" sz="2000" kern="0" dirty="0">
                <a:ea typeface="宋体" pitchFamily="2" charset="-122"/>
              </a:rPr>
              <a:t>；</a:t>
            </a:r>
          </a:p>
          <a:p>
            <a:pPr>
              <a:lnSpc>
                <a:spcPct val="140000"/>
              </a:lnSpc>
              <a:buFont typeface="Wingdings" pitchFamily="2" charset="2"/>
              <a:buNone/>
            </a:pPr>
            <a:r>
              <a:rPr kumimoji="0" lang="en-US" altLang="zh-CN" sz="2000" kern="0" dirty="0">
                <a:ea typeface="宋体" pitchFamily="2" charset="-122"/>
              </a:rPr>
              <a:t>[</a:t>
            </a:r>
            <a:r>
              <a:rPr kumimoji="0" lang="zh-CN" altLang="en-US" sz="2000" kern="0" dirty="0">
                <a:ea typeface="宋体" pitchFamily="2" charset="-122"/>
              </a:rPr>
              <a:t>例</a:t>
            </a:r>
            <a:r>
              <a:rPr kumimoji="0" lang="en-US" altLang="zh-CN" sz="2000" kern="0" dirty="0">
                <a:ea typeface="宋体" pitchFamily="2" charset="-122"/>
              </a:rPr>
              <a:t>10]</a:t>
            </a:r>
            <a:r>
              <a:rPr kumimoji="0" lang="zh-CN" altLang="en-US" sz="2000" kern="0" dirty="0">
                <a:ea typeface="宋体" pitchFamily="2" charset="-122"/>
              </a:rPr>
              <a:t>增加课程名称必须取唯一值的约束条件。</a:t>
            </a:r>
          </a:p>
          <a:p>
            <a:pPr>
              <a:lnSpc>
                <a:spcPct val="140000"/>
              </a:lnSpc>
              <a:buFont typeface="Wingdings" pitchFamily="2" charset="2"/>
              <a:buNone/>
            </a:pPr>
            <a:r>
              <a:rPr kumimoji="0" lang="zh-CN" altLang="en-US" sz="2000" kern="0" dirty="0">
                <a:ea typeface="宋体" pitchFamily="2" charset="-122"/>
              </a:rPr>
              <a:t>    		</a:t>
            </a:r>
            <a:r>
              <a:rPr kumimoji="0" lang="en-US" altLang="zh-CN" sz="2000" kern="0" dirty="0">
                <a:ea typeface="宋体" pitchFamily="2" charset="-122"/>
              </a:rPr>
              <a:t>ALTER TABLE Course </a:t>
            </a:r>
            <a:r>
              <a:rPr kumimoji="0" lang="en-US" altLang="zh-CN" sz="2000" kern="0" dirty="0">
                <a:solidFill>
                  <a:srgbClr val="0000FF"/>
                </a:solidFill>
                <a:ea typeface="宋体" pitchFamily="2" charset="-122"/>
              </a:rPr>
              <a:t>ADD</a:t>
            </a:r>
            <a:r>
              <a:rPr kumimoji="0" lang="en-US" altLang="zh-CN" sz="2000" kern="0" dirty="0">
                <a:solidFill>
                  <a:srgbClr val="C00000"/>
                </a:solidFill>
                <a:ea typeface="宋体" pitchFamily="2" charset="-122"/>
              </a:rPr>
              <a:t> UNIQUE</a:t>
            </a:r>
            <a:r>
              <a:rPr kumimoji="0" lang="en-US" altLang="zh-CN" sz="2000" kern="0" dirty="0">
                <a:solidFill>
                  <a:schemeClr val="tx2"/>
                </a:solidFill>
                <a:ea typeface="宋体" pitchFamily="2" charset="-122"/>
              </a:rPr>
              <a:t>(</a:t>
            </a:r>
            <a:r>
              <a:rPr kumimoji="0" lang="en-US" altLang="zh-CN" sz="2000" kern="0" dirty="0" err="1">
                <a:solidFill>
                  <a:schemeClr val="tx2"/>
                </a:solidFill>
                <a:ea typeface="宋体" pitchFamily="2" charset="-122"/>
              </a:rPr>
              <a:t>Cname</a:t>
            </a:r>
            <a:r>
              <a:rPr kumimoji="0" lang="en-US" altLang="zh-CN" sz="2000" kern="0" dirty="0">
                <a:solidFill>
                  <a:schemeClr val="tx2"/>
                </a:solidFill>
                <a:ea typeface="宋体" pitchFamily="2" charset="-122"/>
              </a:rPr>
              <a:t>)</a:t>
            </a:r>
            <a:r>
              <a:rPr kumimoji="0" lang="en-US" altLang="zh-CN" sz="2000" kern="0" dirty="0">
                <a:ea typeface="宋体" pitchFamily="2" charset="-122"/>
              </a:rPr>
              <a:t>;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07D9D4A-BB50-5BC0-1D20-91054FC8F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38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053395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6D6B933-C34B-4248-B9D7-26E0912FC2FD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3379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补 充</a:t>
            </a:r>
          </a:p>
        </p:txBody>
      </p:sp>
      <p:sp>
        <p:nvSpPr>
          <p:cNvPr id="337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删除列</a:t>
            </a:r>
          </a:p>
          <a:p>
            <a:pPr eaLnBrk="1" hangingPunct="1">
              <a:buFont typeface="Wingdings" pitchFamily="2" charset="2"/>
              <a:buNone/>
            </a:pPr>
            <a:r>
              <a:rPr lang="es-ES" altLang="zh-CN" sz="2800" dirty="0">
                <a:solidFill>
                  <a:srgbClr val="0000FF"/>
                </a:solidFill>
              </a:rPr>
              <a:t>DROP</a:t>
            </a:r>
            <a:r>
              <a:rPr lang="es-ES" altLang="zh-CN" sz="2800" dirty="0"/>
              <a:t> [ COLUMN ] </a:t>
            </a:r>
            <a:r>
              <a:rPr lang="es-ES" altLang="zh-CN" sz="2800" i="1" dirty="0"/>
              <a:t>column</a:t>
            </a:r>
            <a:r>
              <a:rPr lang="es-ES" altLang="zh-CN" sz="2800" dirty="0"/>
              <a:t> [ RESTRICT | CASCADE ]</a:t>
            </a:r>
            <a:endParaRPr lang="en-US" altLang="zh-CN" sz="2800" dirty="0"/>
          </a:p>
          <a:p>
            <a:pPr eaLnBrk="1" hangingPunct="1"/>
            <a:endParaRPr lang="zh-CN" altLang="en-US" sz="1000" dirty="0"/>
          </a:p>
          <a:p>
            <a:pPr eaLnBrk="1" hangingPunct="1"/>
            <a:r>
              <a:rPr lang="zh-CN" altLang="en-US" dirty="0">
                <a:solidFill>
                  <a:srgbClr val="C00000"/>
                </a:solidFill>
              </a:rPr>
              <a:t>增加表级完整性约束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 </a:t>
            </a:r>
            <a:r>
              <a:rPr lang="en-US" altLang="zh-CN" sz="2800" dirty="0">
                <a:solidFill>
                  <a:srgbClr val="0000FF"/>
                </a:solidFill>
              </a:rPr>
              <a:t>ADD</a:t>
            </a:r>
            <a:r>
              <a:rPr lang="en-US" altLang="zh-CN" sz="2800" dirty="0"/>
              <a:t> </a:t>
            </a:r>
            <a:r>
              <a:rPr lang="en-US" altLang="zh-CN" sz="2800" dirty="0" err="1">
                <a:solidFill>
                  <a:schemeClr val="tx2"/>
                </a:solidFill>
              </a:rPr>
              <a:t>table_constraint</a:t>
            </a:r>
            <a:endParaRPr lang="en-US" altLang="zh-CN" sz="2800" dirty="0">
              <a:solidFill>
                <a:schemeClr val="tx2"/>
              </a:solidFill>
            </a:endParaRPr>
          </a:p>
          <a:p>
            <a:pPr eaLnBrk="1" hangingPunct="1"/>
            <a:endParaRPr lang="zh-CN" altLang="en-US" sz="1000" dirty="0"/>
          </a:p>
          <a:p>
            <a:pPr eaLnBrk="1" hangingPunct="1"/>
            <a:r>
              <a:rPr lang="zh-CN" altLang="en-US" dirty="0"/>
              <a:t>列更名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FF"/>
                </a:solidFill>
              </a:rPr>
              <a:t>ALTER</a:t>
            </a:r>
            <a:r>
              <a:rPr lang="en-US" altLang="zh-CN" sz="2800" dirty="0"/>
              <a:t> </a:t>
            </a:r>
            <a:r>
              <a:rPr lang="en-US" altLang="zh-CN" sz="2800" dirty="0">
                <a:solidFill>
                  <a:schemeClr val="tx2"/>
                </a:solidFill>
              </a:rPr>
              <a:t>TABLE</a:t>
            </a:r>
            <a:r>
              <a:rPr lang="en-US" altLang="zh-CN" sz="2800" dirty="0"/>
              <a:t> name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>
                <a:solidFill>
                  <a:srgbClr val="0000FF"/>
                </a:solidFill>
              </a:rPr>
              <a:t>RENAME</a:t>
            </a:r>
            <a:r>
              <a:rPr lang="en-US" altLang="zh-CN" sz="2800" dirty="0"/>
              <a:t> [COLUMN] </a:t>
            </a:r>
            <a:r>
              <a:rPr lang="en-US" altLang="zh-CN" sz="2800" i="1" dirty="0"/>
              <a:t>column</a:t>
            </a:r>
            <a:r>
              <a:rPr lang="en-US" altLang="zh-CN" sz="2800" dirty="0"/>
              <a:t> </a:t>
            </a:r>
            <a:r>
              <a:rPr lang="en-US" altLang="zh-CN" sz="2800" dirty="0">
                <a:solidFill>
                  <a:srgbClr val="0000FF"/>
                </a:solidFill>
              </a:rPr>
              <a:t>TO</a:t>
            </a:r>
            <a:r>
              <a:rPr lang="en-US" altLang="zh-CN" sz="2800" dirty="0"/>
              <a:t> </a:t>
            </a:r>
            <a:r>
              <a:rPr lang="en-US" altLang="zh-CN" sz="2800" i="1" dirty="0" err="1"/>
              <a:t>new_column</a:t>
            </a:r>
            <a:endParaRPr lang="zh-CN" altLang="en-US" sz="2800" i="1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AE8779C-F922-C6D3-3EA5-81526EC37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39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7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7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37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37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7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37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0CD641DF-A5F2-4C0D-ACDD-B29FB4FDF7F1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3481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348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补充  </a:t>
            </a:r>
            <a:r>
              <a:rPr lang="en-US" altLang="zh-CN" dirty="0"/>
              <a:t>PostgreSQL  </a:t>
            </a:r>
            <a:r>
              <a:rPr lang="en-US" altLang="zh-CN" dirty="0">
                <a:latin typeface="Arial" charset="0"/>
              </a:rPr>
              <a:t>“</a:t>
            </a:r>
            <a:r>
              <a:rPr lang="en-US" altLang="zh-CN" dirty="0"/>
              <a:t>\h alter table</a:t>
            </a:r>
            <a:r>
              <a:rPr lang="en-US" altLang="zh-CN" dirty="0">
                <a:latin typeface="Arial" charset="0"/>
              </a:rPr>
              <a:t>”</a:t>
            </a:r>
            <a:endParaRPr lang="en-US" altLang="zh-CN" dirty="0"/>
          </a:p>
        </p:txBody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cs2009=# </a:t>
            </a:r>
            <a:r>
              <a:rPr lang="en-US" altLang="zh-CN" sz="2400" dirty="0">
                <a:solidFill>
                  <a:srgbClr val="C00000"/>
                </a:solidFill>
              </a:rPr>
              <a:t>\h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0000FF"/>
                </a:solidFill>
              </a:rPr>
              <a:t>alter table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Command:     </a:t>
            </a:r>
            <a:r>
              <a:rPr lang="en-US" altLang="zh-CN" sz="2400" dirty="0">
                <a:solidFill>
                  <a:srgbClr val="0000FF"/>
                </a:solidFill>
              </a:rPr>
              <a:t>ALTER TABLE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Description: change the definition of a table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Syntax: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ALTER TABLE [ ONLY ] name [ * ]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    action [, ... ]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ALTER TABLE [ ONLY ] name [ * ]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    </a:t>
            </a:r>
            <a:r>
              <a:rPr lang="en-US" altLang="zh-CN" sz="2400" dirty="0">
                <a:solidFill>
                  <a:srgbClr val="0000FF"/>
                </a:solidFill>
              </a:rPr>
              <a:t>RENAME</a:t>
            </a:r>
            <a:r>
              <a:rPr lang="en-US" altLang="zh-CN" sz="2400" dirty="0"/>
              <a:t> [ COLUMN ] column TO </a:t>
            </a:r>
            <a:r>
              <a:rPr lang="en-US" altLang="zh-CN" sz="2400" dirty="0" err="1"/>
              <a:t>new_column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ALTER TABLE name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    </a:t>
            </a:r>
            <a:r>
              <a:rPr lang="en-US" altLang="zh-CN" sz="2400" dirty="0">
                <a:solidFill>
                  <a:srgbClr val="0000FF"/>
                </a:solidFill>
              </a:rPr>
              <a:t>RENAME</a:t>
            </a:r>
            <a:r>
              <a:rPr lang="en-US" altLang="zh-CN" sz="2400" dirty="0"/>
              <a:t> TO </a:t>
            </a:r>
            <a:r>
              <a:rPr lang="en-US" altLang="zh-CN" sz="2400" dirty="0" err="1"/>
              <a:t>new_name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ALTER TABLE name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    </a:t>
            </a:r>
            <a:r>
              <a:rPr lang="en-US" altLang="zh-CN" sz="2400" dirty="0">
                <a:solidFill>
                  <a:schemeClr val="tx2"/>
                </a:solidFill>
              </a:rPr>
              <a:t>SET SCHEMA </a:t>
            </a:r>
            <a:r>
              <a:rPr lang="en-US" altLang="zh-CN" sz="2400" dirty="0" err="1"/>
              <a:t>new_schema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</a:pPr>
            <a:endParaRPr lang="en-US" altLang="zh-CN" sz="24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F3D4194-D462-20CA-70CE-680D220B6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40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8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8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8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8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8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8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8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8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48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48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8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8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48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48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48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48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8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48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48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48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42720B9-5C87-4227-854B-06E16E0DF0AB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3584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358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补充  </a:t>
            </a:r>
            <a:r>
              <a:rPr lang="en-US" altLang="zh-CN"/>
              <a:t>PostgreSQL  </a:t>
            </a:r>
            <a:r>
              <a:rPr lang="en-US" altLang="zh-CN">
                <a:latin typeface="Arial" charset="0"/>
              </a:rPr>
              <a:t>“</a:t>
            </a:r>
            <a:r>
              <a:rPr lang="en-US" altLang="zh-CN"/>
              <a:t>\h alter table</a:t>
            </a:r>
            <a:r>
              <a:rPr lang="en-US" altLang="zh-CN">
                <a:latin typeface="Arial" charset="0"/>
              </a:rPr>
              <a:t>”</a:t>
            </a:r>
            <a:endParaRPr lang="en-US" altLang="zh-CN"/>
          </a:p>
        </p:txBody>
      </p:sp>
      <p:sp>
        <p:nvSpPr>
          <p:cNvPr id="358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dirty="0"/>
              <a:t>where action is one of: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CN" sz="18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dirty="0"/>
              <a:t>    ADD [ COLUMN ] column type [ </a:t>
            </a:r>
            <a:r>
              <a:rPr lang="en-US" altLang="zh-CN" sz="1800" dirty="0" err="1"/>
              <a:t>column_constraint</a:t>
            </a:r>
            <a:r>
              <a:rPr lang="en-US" altLang="zh-CN" sz="1800" dirty="0"/>
              <a:t> [ ... ] ]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dirty="0"/>
              <a:t>    DROP [ COLUMN ] column [ RESTRICT | CASCADE ]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dirty="0"/>
              <a:t>    ALTER [ COLUMN ] column TYPE </a:t>
            </a:r>
            <a:r>
              <a:rPr lang="en-US" altLang="zh-CN" sz="1800" dirty="0" err="1"/>
              <a:t>type</a:t>
            </a:r>
            <a:r>
              <a:rPr lang="en-US" altLang="zh-CN" sz="1800" dirty="0"/>
              <a:t> [ USING expression ]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dirty="0"/>
              <a:t>    ALTER [ COLUMN ] column SET DEFAULT expression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dirty="0"/>
              <a:t>    ALTER [ COLUMN ] column DROP DEFAULT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dirty="0"/>
              <a:t>    ALTER [ COLUMN ] column { SET | DROP } NOT NULL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dirty="0"/>
              <a:t>    ALTER [ COLUMN ] column SET STATISTICS integer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dirty="0"/>
              <a:t>    ALTER [ COLUMN ] column SET STORAGE { PLAIN | EXTERNAL | EXTENDED | MAIN 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dirty="0"/>
              <a:t>    ADD </a:t>
            </a:r>
            <a:r>
              <a:rPr lang="en-US" altLang="zh-CN" sz="1800" dirty="0" err="1"/>
              <a:t>table_constraint</a:t>
            </a:r>
            <a:endParaRPr lang="en-US" altLang="zh-CN" sz="18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dirty="0"/>
              <a:t>    DROP CONSTRAINT </a:t>
            </a:r>
            <a:r>
              <a:rPr lang="en-US" altLang="zh-CN" sz="1800" dirty="0" err="1"/>
              <a:t>constraint_name</a:t>
            </a:r>
            <a:r>
              <a:rPr lang="en-US" altLang="zh-CN" sz="1800" dirty="0"/>
              <a:t> [ RESTRICT | CASCADE ]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dirty="0"/>
              <a:t>    DISABLE TRIGGER [ </a:t>
            </a:r>
            <a:r>
              <a:rPr lang="en-US" altLang="zh-CN" sz="1800" dirty="0" err="1"/>
              <a:t>trigger_name</a:t>
            </a:r>
            <a:r>
              <a:rPr lang="en-US" altLang="zh-CN" sz="1800" dirty="0"/>
              <a:t> | ALL | USER ]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dirty="0"/>
              <a:t>    ENABLE TRIGGER [ </a:t>
            </a:r>
            <a:r>
              <a:rPr lang="en-US" altLang="zh-CN" sz="1800" dirty="0" err="1"/>
              <a:t>trigger_name</a:t>
            </a:r>
            <a:r>
              <a:rPr lang="en-US" altLang="zh-CN" sz="1800" dirty="0"/>
              <a:t> | ALL | USER ]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dirty="0"/>
              <a:t>    ENABLE REPLICA TRIGGER </a:t>
            </a:r>
            <a:r>
              <a:rPr lang="en-US" altLang="zh-CN" sz="1800" dirty="0" err="1"/>
              <a:t>trigger_name</a:t>
            </a:r>
            <a:endParaRPr lang="en-US" altLang="zh-CN" sz="18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1800" dirty="0"/>
              <a:t>    ENABLE ALWAYS TRIGGER </a:t>
            </a:r>
            <a:r>
              <a:rPr lang="en-US" altLang="zh-CN" sz="1800" dirty="0" err="1"/>
              <a:t>trigger_name</a:t>
            </a:r>
            <a:endParaRPr lang="en-US" altLang="zh-CN" sz="18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F62F7E4-DA96-405C-35EC-781573A66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41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50D47B2-AF4F-4127-BCF1-1F6CC835161A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3686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补充  </a:t>
            </a:r>
            <a:r>
              <a:rPr lang="en-US" altLang="zh-CN"/>
              <a:t>PostgreSQL  </a:t>
            </a:r>
            <a:r>
              <a:rPr lang="en-US" altLang="zh-CN">
                <a:latin typeface="Arial" charset="0"/>
              </a:rPr>
              <a:t>“</a:t>
            </a:r>
            <a:r>
              <a:rPr lang="en-US" altLang="zh-CN"/>
              <a:t>\h alter table</a:t>
            </a:r>
            <a:r>
              <a:rPr lang="en-US" altLang="zh-CN">
                <a:latin typeface="Arial" charset="0"/>
              </a:rPr>
              <a:t>”</a:t>
            </a:r>
            <a:endParaRPr lang="zh-CN" altLang="en-US"/>
          </a:p>
        </p:txBody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/>
              <a:t>    DISABLE RULE rewrite_rule_name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/>
              <a:t>    ENABLE RULE rewrite_rule_name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/>
              <a:t>    ENABLE REPLICA RULE rewrite_rule_name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/>
              <a:t>    ENABLE ALWAYS RULE rewrite_rule_name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/>
              <a:t>    CLUSTER ON index_name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/>
              <a:t>    SET WITHOUT CLUSTER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/>
              <a:t>    SET WITHOUT OIDS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/>
              <a:t>    SET ( storage_parameter = value [, ... ] 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/>
              <a:t>    RESET ( storage_parameter [, ... ] 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/>
              <a:t>    INHERIT parent_table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/>
              <a:t>    NO INHERIT parent_table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/>
              <a:t>    OWNER TO new_owner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/>
              <a:t>    SET TABLESPACE new_tablespace</a:t>
            </a:r>
            <a:endParaRPr lang="zh-CN" altLang="en-US" sz="2000"/>
          </a:p>
          <a:p>
            <a:pPr eaLnBrk="1" hangingPunct="1">
              <a:lnSpc>
                <a:spcPct val="80000"/>
              </a:lnSpc>
            </a:pPr>
            <a:endParaRPr lang="zh-CN" altLang="en-US" sz="200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BA14A99-C64A-8200-36D5-CC88B3089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42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01BB5146-F74E-410C-BACE-858453052950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3789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思考：如何解决多个表的相互引用问题？</a:t>
            </a:r>
          </a:p>
        </p:txBody>
      </p:sp>
      <p:sp>
        <p:nvSpPr>
          <p:cNvPr id="378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示例</a:t>
            </a:r>
          </a:p>
          <a:p>
            <a:pPr lvl="1" eaLnBrk="1" hangingPunct="1"/>
            <a:r>
              <a:rPr lang="zh-CN" altLang="en-US" dirty="0"/>
              <a:t>教师表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dirty="0"/>
              <a:t>Teacher(</a:t>
            </a:r>
            <a:r>
              <a:rPr lang="en-US" altLang="zh-CN" u="sng" dirty="0" err="1"/>
              <a:t>tno</a:t>
            </a:r>
            <a:r>
              <a:rPr lang="en-US" altLang="zh-CN" dirty="0"/>
              <a:t>, name, </a:t>
            </a:r>
            <a:r>
              <a:rPr lang="en-US" altLang="zh-CN" dirty="0" err="1">
                <a:solidFill>
                  <a:srgbClr val="0000FF"/>
                </a:solidFill>
              </a:rPr>
              <a:t>dept</a:t>
            </a:r>
            <a:r>
              <a:rPr lang="en-US" altLang="zh-CN" dirty="0"/>
              <a:t>)</a:t>
            </a:r>
          </a:p>
          <a:p>
            <a:pPr lvl="1" eaLnBrk="1" hangingPunct="1"/>
            <a:r>
              <a:rPr lang="zh-CN" altLang="en-US" dirty="0"/>
              <a:t>院系表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dirty="0" err="1"/>
              <a:t>Dept</a:t>
            </a:r>
            <a:r>
              <a:rPr lang="en-US" altLang="zh-CN" dirty="0"/>
              <a:t>(</a:t>
            </a:r>
            <a:r>
              <a:rPr lang="en-US" altLang="zh-CN" u="sng" dirty="0" err="1"/>
              <a:t>dno</a:t>
            </a:r>
            <a:r>
              <a:rPr lang="en-US" altLang="zh-CN" dirty="0"/>
              <a:t>, name, </a:t>
            </a:r>
            <a:r>
              <a:rPr lang="en-US" altLang="zh-CN" dirty="0">
                <a:solidFill>
                  <a:srgbClr val="0000FF"/>
                </a:solidFill>
              </a:rPr>
              <a:t>head</a:t>
            </a:r>
            <a:r>
              <a:rPr lang="en-US" altLang="zh-CN" dirty="0"/>
              <a:t>)</a:t>
            </a:r>
          </a:p>
          <a:p>
            <a:pPr lvl="1" eaLnBrk="1" hangingPunct="1">
              <a:buFont typeface="Wingdings" pitchFamily="2" charset="2"/>
              <a:buNone/>
            </a:pPr>
            <a:endParaRPr lang="en-US" altLang="zh-CN" dirty="0"/>
          </a:p>
          <a:p>
            <a:pPr lvl="1" eaLnBrk="1" hangingPunct="1">
              <a:buFont typeface="Wingdings" pitchFamily="2" charset="2"/>
              <a:buNone/>
            </a:pPr>
            <a:r>
              <a:rPr lang="zh-CN" altLang="en-US" dirty="0"/>
              <a:t>教师表的</a:t>
            </a:r>
            <a:r>
              <a:rPr lang="en-US" altLang="zh-CN" dirty="0" err="1">
                <a:solidFill>
                  <a:srgbClr val="0000FF"/>
                </a:solidFill>
              </a:rPr>
              <a:t>dept</a:t>
            </a:r>
            <a:r>
              <a:rPr lang="zh-CN" altLang="en-US" dirty="0">
                <a:solidFill>
                  <a:srgbClr val="FF0000"/>
                </a:solidFill>
              </a:rPr>
              <a:t>引用</a:t>
            </a:r>
            <a:r>
              <a:rPr lang="en-US" altLang="zh-CN" dirty="0" err="1">
                <a:solidFill>
                  <a:srgbClr val="0000FF"/>
                </a:solidFill>
              </a:rPr>
              <a:t>Dept</a:t>
            </a:r>
            <a:r>
              <a:rPr lang="zh-CN" altLang="en-US" dirty="0">
                <a:solidFill>
                  <a:srgbClr val="0000FF"/>
                </a:solidFill>
              </a:rPr>
              <a:t>的</a:t>
            </a:r>
            <a:r>
              <a:rPr lang="en-US" altLang="zh-CN" dirty="0" err="1">
                <a:solidFill>
                  <a:srgbClr val="0000FF"/>
                </a:solidFill>
              </a:rPr>
              <a:t>dno</a:t>
            </a:r>
            <a:r>
              <a:rPr lang="zh-CN" altLang="en-US" dirty="0"/>
              <a:t>，而</a:t>
            </a:r>
            <a:r>
              <a:rPr lang="zh-CN" altLang="en-US" dirty="0">
                <a:solidFill>
                  <a:srgbClr val="0000FF"/>
                </a:solidFill>
              </a:rPr>
              <a:t>院系表的</a:t>
            </a:r>
            <a:r>
              <a:rPr lang="en-US" altLang="zh-CN" dirty="0">
                <a:solidFill>
                  <a:srgbClr val="0000FF"/>
                </a:solidFill>
              </a:rPr>
              <a:t>head</a:t>
            </a:r>
            <a:r>
              <a:rPr lang="zh-CN" altLang="en-US" dirty="0">
                <a:solidFill>
                  <a:srgbClr val="FF0000"/>
                </a:solidFill>
              </a:rPr>
              <a:t>又引用了</a:t>
            </a:r>
            <a:r>
              <a:rPr lang="en-US" altLang="zh-CN" dirty="0">
                <a:solidFill>
                  <a:srgbClr val="0000FF"/>
                </a:solidFill>
              </a:rPr>
              <a:t>Teacher</a:t>
            </a:r>
            <a:r>
              <a:rPr lang="zh-CN" altLang="en-US" dirty="0">
                <a:solidFill>
                  <a:srgbClr val="0000FF"/>
                </a:solidFill>
              </a:rPr>
              <a:t>的</a:t>
            </a:r>
            <a:r>
              <a:rPr lang="en-US" altLang="zh-CN" dirty="0" err="1">
                <a:solidFill>
                  <a:srgbClr val="0000FF"/>
                </a:solidFill>
              </a:rPr>
              <a:t>tno</a:t>
            </a:r>
            <a:r>
              <a:rPr lang="zh-CN" altLang="en-US" dirty="0"/>
              <a:t>，如何定义？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273B378-63B3-5CCF-F051-DA2E5114A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43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8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8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78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8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78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78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78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78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5C9F2A4-7189-452C-8C61-653CB75D702A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3891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389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思考：如何解决多个表的相互引用问题？</a:t>
            </a:r>
            <a:endParaRPr lang="zh-CN" altLang="en-US" dirty="0"/>
          </a:p>
        </p:txBody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解决方案一：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create table Teacher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( </a:t>
            </a:r>
            <a:r>
              <a:rPr lang="en-US" altLang="zh-CN" sz="2800" dirty="0" err="1"/>
              <a:t>tno</a:t>
            </a:r>
            <a:r>
              <a:rPr lang="en-US" altLang="zh-CN" sz="2800" dirty="0"/>
              <a:t> char(4) </a:t>
            </a:r>
            <a:r>
              <a:rPr lang="en-US" altLang="zh-CN" sz="2800" dirty="0">
                <a:solidFill>
                  <a:schemeClr val="tx2"/>
                </a:solidFill>
              </a:rPr>
              <a:t>primary key</a:t>
            </a:r>
            <a:r>
              <a:rPr lang="en-US" altLang="zh-CN" sz="2800" dirty="0"/>
              <a:t>,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name </a:t>
            </a:r>
            <a:r>
              <a:rPr lang="en-US" altLang="zh-CN" sz="2800" dirty="0" err="1"/>
              <a:t>varchar</a:t>
            </a:r>
            <a:r>
              <a:rPr lang="en-US" altLang="zh-CN" sz="2800" dirty="0"/>
              <a:t>(15),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dept char(4) </a:t>
            </a:r>
          </a:p>
          <a:p>
            <a:pPr eaLnBrk="1" hangingPunct="1">
              <a:buNone/>
            </a:pPr>
            <a:r>
              <a:rPr lang="en-US" altLang="zh-CN" sz="2800" dirty="0"/>
              <a:t>  </a:t>
            </a:r>
            <a:r>
              <a:rPr lang="en-US" altLang="zh-CN" sz="2800" dirty="0">
                <a:solidFill>
                  <a:schemeClr val="tx2"/>
                </a:solidFill>
              </a:rPr>
              <a:t>foreign key </a:t>
            </a:r>
            <a:r>
              <a:rPr lang="en-US" altLang="zh-CN" sz="2800" dirty="0">
                <a:solidFill>
                  <a:srgbClr val="FF0000"/>
                </a:solidFill>
              </a:rPr>
              <a:t>dept</a:t>
            </a:r>
            <a:r>
              <a:rPr lang="en-US" altLang="zh-CN" sz="2800" dirty="0">
                <a:solidFill>
                  <a:srgbClr val="0000FF"/>
                </a:solidFill>
              </a:rPr>
              <a:t> </a:t>
            </a:r>
            <a:r>
              <a:rPr lang="en-US" altLang="zh-CN" sz="2800" dirty="0">
                <a:solidFill>
                  <a:schemeClr val="tx2"/>
                </a:solidFill>
              </a:rPr>
              <a:t>references </a:t>
            </a:r>
            <a:r>
              <a:rPr lang="en-US" altLang="zh-CN" sz="2800" dirty="0"/>
              <a:t>Dept</a:t>
            </a:r>
            <a:r>
              <a:rPr lang="en-US" altLang="zh-CN" sz="2800" dirty="0">
                <a:solidFill>
                  <a:srgbClr val="FF0000"/>
                </a:solidFill>
              </a:rPr>
              <a:t>(</a:t>
            </a:r>
            <a:r>
              <a:rPr lang="en-US" altLang="zh-CN" sz="2800" dirty="0" err="1">
                <a:solidFill>
                  <a:srgbClr val="0000FF"/>
                </a:solidFill>
              </a:rPr>
              <a:t>dno</a:t>
            </a:r>
            <a:r>
              <a:rPr lang="en-US" altLang="zh-CN" sz="2800" dirty="0">
                <a:solidFill>
                  <a:srgbClr val="FF0000"/>
                </a:solidFill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);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/>
              <a:t>类似定义</a:t>
            </a:r>
            <a:r>
              <a:rPr lang="en-US" altLang="zh-CN" sz="2800" dirty="0"/>
              <a:t>dept</a:t>
            </a:r>
            <a:r>
              <a:rPr lang="zh-CN" altLang="en-US" sz="2800" dirty="0"/>
              <a:t>。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有何问题</a:t>
            </a:r>
            <a:r>
              <a:rPr lang="zh-CN" altLang="en-US" sz="2800" dirty="0"/>
              <a:t>？</a:t>
            </a:r>
          </a:p>
          <a:p>
            <a:pPr eaLnBrk="1" hangingPunct="1"/>
            <a:endParaRPr lang="zh-CN" altLang="en-US" sz="2800" dirty="0"/>
          </a:p>
        </p:txBody>
      </p:sp>
      <p:sp>
        <p:nvSpPr>
          <p:cNvPr id="7" name="十字形 6"/>
          <p:cNvSpPr/>
          <p:nvPr/>
        </p:nvSpPr>
        <p:spPr bwMode="auto">
          <a:xfrm rot="2621431">
            <a:off x="3038460" y="2500189"/>
            <a:ext cx="3479829" cy="3480717"/>
          </a:xfrm>
          <a:prstGeom prst="plus">
            <a:avLst>
              <a:gd name="adj" fmla="val 40584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144DD39-7C6E-6E1E-FA85-896DC1505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44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F9A4B07-E4C4-4BDE-B34C-0DA34BCF2B19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3993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399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正确解决方案</a:t>
            </a:r>
          </a:p>
        </p:txBody>
      </p:sp>
      <p:sp>
        <p:nvSpPr>
          <p:cNvPr id="399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create table Teacher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( </a:t>
            </a:r>
            <a:r>
              <a:rPr lang="en-US" altLang="zh-CN" sz="2800" dirty="0" err="1"/>
              <a:t>tno</a:t>
            </a:r>
            <a:r>
              <a:rPr lang="en-US" altLang="zh-CN" sz="2800" dirty="0"/>
              <a:t> char(4) </a:t>
            </a:r>
            <a:r>
              <a:rPr lang="en-US" altLang="zh-CN" sz="2800" dirty="0">
                <a:solidFill>
                  <a:srgbClr val="0000FF"/>
                </a:solidFill>
              </a:rPr>
              <a:t>primary key</a:t>
            </a:r>
            <a:r>
              <a:rPr lang="en-US" altLang="zh-CN" sz="2800" dirty="0"/>
              <a:t>,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name </a:t>
            </a:r>
            <a:r>
              <a:rPr lang="en-US" altLang="zh-CN" sz="2800" dirty="0" err="1"/>
              <a:t>varchar</a:t>
            </a:r>
            <a:r>
              <a:rPr lang="en-US" altLang="zh-CN" sz="2800" dirty="0"/>
              <a:t>(15),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dept char(4)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create table Dept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( </a:t>
            </a:r>
            <a:r>
              <a:rPr lang="en-US" altLang="zh-CN" sz="2800" dirty="0" err="1"/>
              <a:t>dno</a:t>
            </a:r>
            <a:r>
              <a:rPr lang="en-US" altLang="zh-CN" sz="2800" dirty="0"/>
              <a:t> char(4) </a:t>
            </a:r>
            <a:r>
              <a:rPr lang="en-US" altLang="zh-CN" sz="2800" dirty="0">
                <a:solidFill>
                  <a:srgbClr val="0000FF"/>
                </a:solidFill>
              </a:rPr>
              <a:t>primary key</a:t>
            </a:r>
            <a:r>
              <a:rPr lang="en-US" altLang="zh-CN" sz="2800" dirty="0"/>
              <a:t>,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name </a:t>
            </a:r>
            <a:r>
              <a:rPr lang="en-US" altLang="zh-CN" sz="2800" dirty="0" err="1"/>
              <a:t>varchar</a:t>
            </a:r>
            <a:r>
              <a:rPr lang="en-US" altLang="zh-CN" sz="2800" dirty="0"/>
              <a:t>(20),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head char(4));</a:t>
            </a:r>
            <a:endParaRPr lang="zh-CN" altLang="en-US" sz="28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C8389AF-3131-F0B6-C565-A4463F3FF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45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B94D728-4C9F-44E9-85FE-ADFB741F4C26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4096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409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正确解决方案</a:t>
            </a:r>
          </a:p>
        </p:txBody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rgbClr val="C00000"/>
                </a:solidFill>
              </a:rPr>
              <a:t>alter</a:t>
            </a:r>
            <a:r>
              <a:rPr lang="en-US" altLang="zh-CN" dirty="0"/>
              <a:t> table Teacher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C00000"/>
                </a:solidFill>
              </a:rPr>
              <a:t>add constraint </a:t>
            </a:r>
            <a:r>
              <a:rPr lang="en-US" altLang="zh-CN" dirty="0" err="1"/>
              <a:t>dept_fkey</a:t>
            </a:r>
            <a:r>
              <a:rPr lang="en-US" altLang="zh-CN" dirty="0"/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   </a:t>
            </a:r>
            <a:r>
              <a:rPr lang="en-US" altLang="zh-CN" dirty="0">
                <a:solidFill>
                  <a:srgbClr val="0000FF"/>
                </a:solidFill>
              </a:rPr>
              <a:t>foreign key </a:t>
            </a:r>
            <a:r>
              <a:rPr lang="en-US" altLang="zh-CN" dirty="0"/>
              <a:t>(dept) </a:t>
            </a:r>
            <a:r>
              <a:rPr lang="en-US" altLang="zh-CN" dirty="0">
                <a:solidFill>
                  <a:srgbClr val="0000FF"/>
                </a:solidFill>
              </a:rPr>
              <a:t>references</a:t>
            </a:r>
            <a:r>
              <a:rPr lang="en-US" altLang="zh-CN" dirty="0"/>
              <a:t> Dept(</a:t>
            </a:r>
            <a:r>
              <a:rPr lang="en-US" altLang="zh-CN" dirty="0" err="1"/>
              <a:t>dno</a:t>
            </a:r>
            <a:r>
              <a:rPr lang="en-US" altLang="zh-CN" dirty="0"/>
              <a:t>);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rgbClr val="C00000"/>
                </a:solidFill>
              </a:rPr>
              <a:t>alter</a:t>
            </a:r>
            <a:r>
              <a:rPr lang="en-US" altLang="zh-CN" dirty="0"/>
              <a:t> table Dept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  </a:t>
            </a:r>
            <a:r>
              <a:rPr lang="en-US" altLang="zh-CN" dirty="0">
                <a:solidFill>
                  <a:srgbClr val="C00000"/>
                </a:solidFill>
              </a:rPr>
              <a:t>add constraint </a:t>
            </a:r>
            <a:r>
              <a:rPr lang="en-US" altLang="zh-CN" dirty="0" err="1"/>
              <a:t>head_fkey</a:t>
            </a:r>
            <a:endParaRPr lang="en-US" altLang="zh-CN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  </a:t>
            </a:r>
            <a:r>
              <a:rPr lang="en-US" altLang="zh-CN" dirty="0">
                <a:solidFill>
                  <a:srgbClr val="0000FF"/>
                </a:solidFill>
              </a:rPr>
              <a:t>foreign key </a:t>
            </a:r>
            <a:r>
              <a:rPr lang="en-US" altLang="zh-CN" dirty="0"/>
              <a:t>(head) </a:t>
            </a:r>
            <a:r>
              <a:rPr lang="en-US" altLang="zh-CN" dirty="0">
                <a:solidFill>
                  <a:srgbClr val="0000FF"/>
                </a:solidFill>
              </a:rPr>
              <a:t>references</a:t>
            </a:r>
            <a:r>
              <a:rPr lang="en-US" altLang="zh-CN" dirty="0"/>
              <a:t> Teacher(</a:t>
            </a:r>
            <a:r>
              <a:rPr lang="en-US" altLang="zh-CN" dirty="0" err="1"/>
              <a:t>tno</a:t>
            </a:r>
            <a:r>
              <a:rPr lang="en-US" altLang="zh-CN" dirty="0"/>
              <a:t>);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169B55A-42C6-45B1-DFC2-E5CAB6F5F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46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9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9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09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09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19C3567-07F3-4900-A776-2E64A5BC5939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4198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419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3.3.2 </a:t>
            </a:r>
            <a:r>
              <a:rPr lang="zh-CN" altLang="en-US"/>
              <a:t>定义、删除和修改基本表</a:t>
            </a:r>
          </a:p>
        </p:txBody>
      </p:sp>
      <p:sp>
        <p:nvSpPr>
          <p:cNvPr id="419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chemeClr val="tx2"/>
                </a:solidFill>
              </a:rPr>
              <a:t>删除基本表</a:t>
            </a:r>
          </a:p>
          <a:p>
            <a:pPr>
              <a:buNone/>
            </a:pPr>
            <a:r>
              <a:rPr lang="en-US" altLang="zh-CN" sz="2800" dirty="0"/>
              <a:t>DROP TABLE &lt;</a:t>
            </a:r>
            <a:r>
              <a:rPr lang="zh-CN" altLang="en-US" sz="2800" dirty="0"/>
              <a:t>表名</a:t>
            </a:r>
            <a:r>
              <a:rPr lang="en-US" altLang="zh-CN" sz="2800" dirty="0"/>
              <a:t>&gt;</a:t>
            </a:r>
            <a:r>
              <a:rPr lang="zh-CN" altLang="en-US" sz="2800" dirty="0">
                <a:ea typeface="宋体" pitchFamily="2" charset="-122"/>
              </a:rPr>
              <a:t>［</a:t>
            </a:r>
            <a:r>
              <a:rPr lang="en-US" altLang="zh-CN" sz="2800" dirty="0">
                <a:solidFill>
                  <a:srgbClr val="0000FF"/>
                </a:solidFill>
                <a:ea typeface="宋体" pitchFamily="2" charset="-122"/>
              </a:rPr>
              <a:t>RESTRICT| CASCADE</a:t>
            </a:r>
            <a:r>
              <a:rPr lang="zh-CN" altLang="en-US" sz="2800" dirty="0">
                <a:ea typeface="宋体" pitchFamily="2" charset="-122"/>
              </a:rPr>
              <a:t>］；</a:t>
            </a:r>
          </a:p>
          <a:p>
            <a:r>
              <a:rPr lang="en-US" altLang="zh-CN" sz="2800" dirty="0">
                <a:ea typeface="宋体" pitchFamily="2" charset="-122"/>
              </a:rPr>
              <a:t>RESTRICT</a:t>
            </a:r>
            <a:r>
              <a:rPr lang="zh-CN" altLang="en-US" sz="2800" dirty="0">
                <a:ea typeface="宋体" pitchFamily="2" charset="-122"/>
              </a:rPr>
              <a:t>：删除表是有限制的。</a:t>
            </a:r>
          </a:p>
          <a:p>
            <a:pPr lvl="1"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  <a:ea typeface="宋体" pitchFamily="2" charset="-122"/>
              </a:rPr>
              <a:t>欲删除</a:t>
            </a:r>
            <a:r>
              <a:rPr lang="zh-CN" altLang="en-US" sz="2400" dirty="0">
                <a:ea typeface="宋体" pitchFamily="2" charset="-122"/>
              </a:rPr>
              <a:t>的基本表</a:t>
            </a:r>
            <a:r>
              <a:rPr lang="zh-CN" altLang="en-US" sz="2400" dirty="0">
                <a:solidFill>
                  <a:srgbClr val="0000FF"/>
                </a:solidFill>
                <a:ea typeface="宋体" pitchFamily="2" charset="-122"/>
              </a:rPr>
              <a:t>不能被</a:t>
            </a:r>
            <a:r>
              <a:rPr lang="zh-CN" altLang="en-US" sz="2400" dirty="0">
                <a:solidFill>
                  <a:srgbClr val="FF0000"/>
                </a:solidFill>
                <a:ea typeface="宋体" pitchFamily="2" charset="-122"/>
              </a:rPr>
              <a:t>其他表</a:t>
            </a:r>
            <a:r>
              <a:rPr lang="zh-CN" altLang="en-US" sz="2400" dirty="0">
                <a:solidFill>
                  <a:srgbClr val="0000FF"/>
                </a:solidFill>
                <a:ea typeface="宋体" pitchFamily="2" charset="-122"/>
              </a:rPr>
              <a:t>的约束所</a:t>
            </a:r>
            <a:r>
              <a:rPr lang="zh-CN" altLang="en-US" sz="2400" dirty="0">
                <a:solidFill>
                  <a:srgbClr val="FF0000"/>
                </a:solidFill>
                <a:ea typeface="宋体" pitchFamily="2" charset="-122"/>
              </a:rPr>
              <a:t>引用</a:t>
            </a:r>
          </a:p>
          <a:p>
            <a:pPr lvl="1">
              <a:buFont typeface="Wingdings" pitchFamily="2" charset="2"/>
              <a:buChar char="Ø"/>
            </a:pPr>
            <a:r>
              <a:rPr lang="zh-CN" altLang="en-US" sz="2400" dirty="0">
                <a:ea typeface="宋体" pitchFamily="2" charset="-122"/>
              </a:rPr>
              <a:t>如果</a:t>
            </a:r>
            <a:r>
              <a:rPr lang="zh-CN" altLang="en-US" sz="2400" u="sng" dirty="0">
                <a:ea typeface="宋体" pitchFamily="2" charset="-122"/>
              </a:rPr>
              <a:t>存在依赖该表的对象</a:t>
            </a:r>
            <a:r>
              <a:rPr lang="zh-CN" altLang="en-US" sz="2400" dirty="0">
                <a:ea typeface="宋体" pitchFamily="2" charset="-122"/>
              </a:rPr>
              <a:t>，则此表</a:t>
            </a:r>
            <a:r>
              <a:rPr lang="zh-CN" altLang="en-US" sz="2400" dirty="0">
                <a:solidFill>
                  <a:srgbClr val="0000FF"/>
                </a:solidFill>
                <a:ea typeface="宋体" pitchFamily="2" charset="-122"/>
              </a:rPr>
              <a:t>不能被删除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ea typeface="宋体" pitchFamily="2" charset="-122"/>
              </a:rPr>
              <a:t>CASCADE</a:t>
            </a:r>
            <a:r>
              <a:rPr lang="zh-CN" altLang="en-US" sz="2800" dirty="0">
                <a:ea typeface="宋体" pitchFamily="2" charset="-122"/>
              </a:rPr>
              <a:t>：删除该表没有限制。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>
                <a:ea typeface="宋体" pitchFamily="2" charset="-122"/>
              </a:rPr>
              <a:t>在删除基本表的同时，</a:t>
            </a:r>
            <a:r>
              <a:rPr lang="zh-CN" altLang="en-US" sz="2400" dirty="0">
                <a:solidFill>
                  <a:srgbClr val="0000FF"/>
                </a:solidFill>
                <a:ea typeface="宋体" pitchFamily="2" charset="-122"/>
              </a:rPr>
              <a:t>相关的依赖对象一起删除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E755CBD-F8F5-D4C4-D076-A8B03543C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47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9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9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9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9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19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19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19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19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19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19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4028248-FA2E-4366-BB77-9B72C711F4EA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4813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481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本章目录</a:t>
            </a:r>
          </a:p>
        </p:txBody>
      </p:sp>
      <p:sp>
        <p:nvSpPr>
          <p:cNvPr id="481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00200"/>
            <a:ext cx="7583488" cy="4532313"/>
          </a:xfrm>
        </p:spPr>
        <p:txBody>
          <a:bodyPr/>
          <a:lstStyle/>
          <a:p>
            <a:pPr eaLnBrk="1" hangingPunct="1"/>
            <a:r>
              <a:rPr lang="en-US" altLang="zh-CN" dirty="0"/>
              <a:t>3.1 SQL</a:t>
            </a:r>
            <a:r>
              <a:rPr lang="zh-CN" altLang="en-US" dirty="0"/>
              <a:t>概述</a:t>
            </a:r>
          </a:p>
          <a:p>
            <a:pPr eaLnBrk="1" hangingPunct="1"/>
            <a:r>
              <a:rPr lang="en-US" altLang="zh-CN" dirty="0"/>
              <a:t>3.2 </a:t>
            </a:r>
            <a:r>
              <a:rPr lang="zh-CN" altLang="en-US" dirty="0"/>
              <a:t>示例数据库</a:t>
            </a:r>
          </a:p>
          <a:p>
            <a:pPr eaLnBrk="1" hangingPunct="1"/>
            <a:r>
              <a:rPr lang="en-US" altLang="zh-CN" dirty="0"/>
              <a:t>3.3 </a:t>
            </a:r>
            <a:r>
              <a:rPr lang="zh-CN" altLang="en-US" dirty="0"/>
              <a:t>数据定义</a:t>
            </a:r>
          </a:p>
          <a:p>
            <a:pPr eaLnBrk="1" hangingPunct="1"/>
            <a:r>
              <a:rPr lang="en-US" altLang="zh-CN" dirty="0"/>
              <a:t>3.4 SQL</a:t>
            </a:r>
            <a:r>
              <a:rPr lang="zh-CN" altLang="en-US" dirty="0"/>
              <a:t>查询</a:t>
            </a:r>
            <a:endParaRPr lang="zh-CN" altLang="en-US" dirty="0">
              <a:solidFill>
                <a:srgbClr val="CC0000"/>
              </a:solidFill>
            </a:endParaRPr>
          </a:p>
          <a:p>
            <a:pPr eaLnBrk="1" hangingPunct="1"/>
            <a:r>
              <a:rPr lang="en-US" altLang="zh-CN" dirty="0"/>
              <a:t>3.5 </a:t>
            </a:r>
            <a:r>
              <a:rPr lang="zh-CN" altLang="en-US" dirty="0"/>
              <a:t>数据更新</a:t>
            </a:r>
            <a:endParaRPr lang="zh-CN" altLang="en-US" dirty="0">
              <a:solidFill>
                <a:srgbClr val="CC0000"/>
              </a:solidFill>
            </a:endParaRPr>
          </a:p>
        </p:txBody>
      </p:sp>
      <p:sp>
        <p:nvSpPr>
          <p:cNvPr id="198660" name="AutoShape 4"/>
          <p:cNvSpPr>
            <a:spLocks noChangeArrowheads="1"/>
          </p:cNvSpPr>
          <p:nvPr/>
        </p:nvSpPr>
        <p:spPr bwMode="auto">
          <a:xfrm>
            <a:off x="838200" y="3505200"/>
            <a:ext cx="457200" cy="457200"/>
          </a:xfrm>
          <a:prstGeom prst="rightArrow">
            <a:avLst>
              <a:gd name="adj1" fmla="val 50000"/>
              <a:gd name="adj2" fmla="val 40278"/>
            </a:avLst>
          </a:prstGeom>
          <a:solidFill>
            <a:srgbClr val="FFCC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F0C83F7-7C99-52CC-CA36-272FC2C6F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48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6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A38B6BC-5823-45C1-B34F-AE205C308C9E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4915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491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 SQL</a:t>
            </a:r>
            <a:r>
              <a:rPr lang="zh-CN" altLang="en-US"/>
              <a:t>查询</a:t>
            </a:r>
          </a:p>
        </p:txBody>
      </p:sp>
      <p:sp>
        <p:nvSpPr>
          <p:cNvPr id="491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要求重点掌握</a:t>
            </a:r>
          </a:p>
          <a:p>
            <a:pPr lvl="1" eaLnBrk="1" hangingPunct="1"/>
            <a:r>
              <a:rPr lang="zh-CN" altLang="en-US" dirty="0"/>
              <a:t>比较困难的是</a:t>
            </a:r>
            <a:r>
              <a:rPr lang="en-US" altLang="zh-CN" dirty="0"/>
              <a:t>2-3</a:t>
            </a:r>
            <a:r>
              <a:rPr lang="zh-CN" altLang="en-US" dirty="0"/>
              <a:t>层的</a:t>
            </a:r>
            <a:r>
              <a:rPr lang="zh-CN" altLang="en-US" b="1" dirty="0">
                <a:solidFill>
                  <a:srgbClr val="800080"/>
                </a:solidFill>
              </a:rPr>
              <a:t>嵌套查询</a:t>
            </a:r>
            <a:r>
              <a:rPr lang="zh-CN" altLang="en-US" dirty="0"/>
              <a:t>。</a:t>
            </a:r>
          </a:p>
          <a:p>
            <a:pPr eaLnBrk="1" hangingPunct="1"/>
            <a:r>
              <a:rPr lang="zh-CN" altLang="en-US" dirty="0"/>
              <a:t>一般格式：</a:t>
            </a:r>
          </a:p>
          <a:p>
            <a:pPr marL="457200" lvl="1" indent="0" eaLnBrk="1" hangingPunct="1"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SELECT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[ALL|DISTINCT]&lt;</a:t>
            </a:r>
            <a:r>
              <a:rPr lang="zh-CN" altLang="en-US" b="1" dirty="0">
                <a:solidFill>
                  <a:srgbClr val="0000FF"/>
                </a:solidFill>
              </a:rPr>
              <a:t>目标列表达式</a:t>
            </a:r>
            <a:r>
              <a:rPr lang="en-US" altLang="zh-CN" dirty="0"/>
              <a:t>&gt;[,</a:t>
            </a:r>
            <a:r>
              <a:rPr lang="zh-CN" altLang="en-US" dirty="0"/>
              <a:t>目标列表达式</a:t>
            </a:r>
            <a:r>
              <a:rPr lang="en-US" altLang="zh-CN" dirty="0"/>
              <a:t>]</a:t>
            </a:r>
            <a:r>
              <a:rPr lang="en-US" altLang="zh-CN" dirty="0">
                <a:latin typeface="Arial" charset="0"/>
              </a:rPr>
              <a:t>…</a:t>
            </a:r>
            <a:endParaRPr lang="en-US" altLang="zh-CN" dirty="0"/>
          </a:p>
          <a:p>
            <a:pPr marL="457200" lvl="1" indent="0" eaLnBrk="1" hangingPunct="1">
              <a:buNone/>
            </a:pPr>
            <a:r>
              <a:rPr lang="en-US" altLang="zh-CN" b="1" dirty="0">
                <a:solidFill>
                  <a:schemeClr val="hlink"/>
                </a:solidFill>
              </a:rPr>
              <a:t>FROM</a:t>
            </a:r>
            <a:r>
              <a:rPr lang="en-US" altLang="zh-CN" dirty="0"/>
              <a:t> &lt;</a:t>
            </a:r>
            <a:r>
              <a:rPr lang="zh-CN" altLang="en-US" dirty="0">
                <a:solidFill>
                  <a:srgbClr val="0000FF"/>
                </a:solidFill>
              </a:rPr>
              <a:t>表名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chemeClr val="tx2"/>
                </a:solidFill>
              </a:rPr>
              <a:t>视图名</a:t>
            </a:r>
            <a:r>
              <a:rPr lang="en-US" altLang="zh-CN" dirty="0"/>
              <a:t>&gt;[, &lt;</a:t>
            </a:r>
            <a:r>
              <a:rPr lang="zh-CN" altLang="en-US" dirty="0"/>
              <a:t>表名或视图名</a:t>
            </a:r>
            <a:r>
              <a:rPr lang="en-US" altLang="zh-CN" dirty="0"/>
              <a:t>&gt;]</a:t>
            </a:r>
            <a:r>
              <a:rPr lang="en-US" altLang="zh-CN" dirty="0">
                <a:latin typeface="Arial" charset="0"/>
              </a:rPr>
              <a:t>…</a:t>
            </a:r>
            <a:endParaRPr lang="en-US" altLang="zh-CN" dirty="0"/>
          </a:p>
          <a:p>
            <a:pPr marL="457200" lvl="1" indent="0" eaLnBrk="1" hangingPunct="1">
              <a:buNone/>
            </a:pPr>
            <a:r>
              <a:rPr lang="en-US" altLang="zh-CN" dirty="0"/>
              <a:t>[</a:t>
            </a:r>
            <a:r>
              <a:rPr lang="en-US" altLang="zh-CN" b="1" dirty="0">
                <a:solidFill>
                  <a:schemeClr val="hlink"/>
                </a:solidFill>
              </a:rPr>
              <a:t>WHERE</a:t>
            </a:r>
            <a:r>
              <a:rPr lang="en-US" altLang="zh-CN" dirty="0"/>
              <a:t> &lt;</a:t>
            </a:r>
            <a:r>
              <a:rPr lang="zh-CN" altLang="en-US" b="1" dirty="0">
                <a:solidFill>
                  <a:srgbClr val="0000FF"/>
                </a:solidFill>
              </a:rPr>
              <a:t>条件表达式</a:t>
            </a:r>
            <a:r>
              <a:rPr lang="en-US" altLang="zh-CN" dirty="0"/>
              <a:t>&gt;]</a:t>
            </a:r>
          </a:p>
          <a:p>
            <a:pPr marL="457200" lvl="1" indent="0" eaLnBrk="1" hangingPunct="1">
              <a:buNone/>
            </a:pPr>
            <a:r>
              <a:rPr lang="en-US" altLang="zh-CN" dirty="0"/>
              <a:t>[</a:t>
            </a:r>
            <a:r>
              <a:rPr lang="en-US" altLang="zh-CN" b="1" dirty="0">
                <a:solidFill>
                  <a:srgbClr val="006600"/>
                </a:solidFill>
              </a:rPr>
              <a:t>GROUP BY </a:t>
            </a:r>
            <a:r>
              <a:rPr lang="en-US" altLang="zh-CN" dirty="0"/>
              <a:t>&lt;</a:t>
            </a:r>
            <a:r>
              <a:rPr lang="zh-CN" altLang="en-US" dirty="0"/>
              <a:t>列名</a:t>
            </a:r>
            <a:r>
              <a:rPr lang="en-US" altLang="zh-CN" dirty="0"/>
              <a:t>1&gt; [</a:t>
            </a:r>
            <a:r>
              <a:rPr lang="en-US" altLang="zh-CN" dirty="0">
                <a:solidFill>
                  <a:srgbClr val="C00000"/>
                </a:solidFill>
              </a:rPr>
              <a:t>HAVING</a:t>
            </a:r>
            <a:r>
              <a:rPr lang="en-US" altLang="zh-CN" dirty="0"/>
              <a:t> &lt;</a:t>
            </a:r>
            <a:r>
              <a:rPr lang="zh-CN" altLang="en-US" dirty="0"/>
              <a:t>条件表达式</a:t>
            </a:r>
            <a:r>
              <a:rPr lang="en-US" altLang="zh-CN" dirty="0"/>
              <a:t>&gt;]]</a:t>
            </a:r>
          </a:p>
          <a:p>
            <a:pPr marL="457200" lvl="1" indent="0" eaLnBrk="1" hangingPunct="1">
              <a:buNone/>
            </a:pPr>
            <a:r>
              <a:rPr lang="en-US" altLang="zh-CN" dirty="0"/>
              <a:t>[</a:t>
            </a:r>
            <a:r>
              <a:rPr lang="en-US" altLang="zh-CN" b="1" dirty="0">
                <a:solidFill>
                  <a:srgbClr val="660066"/>
                </a:solidFill>
              </a:rPr>
              <a:t>ORDER BY </a:t>
            </a:r>
            <a:r>
              <a:rPr lang="en-US" altLang="zh-CN" dirty="0"/>
              <a:t>&lt;</a:t>
            </a:r>
            <a:r>
              <a:rPr lang="zh-CN" altLang="en-US" dirty="0"/>
              <a:t>列名</a:t>
            </a:r>
            <a:r>
              <a:rPr lang="en-US" altLang="zh-CN" dirty="0"/>
              <a:t>2&gt; [ASC|DESC]];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D5A1090-715F-44B2-AE50-7412B73CC2FB}"/>
              </a:ext>
            </a:extLst>
          </p:cNvPr>
          <p:cNvSpPr txBox="1"/>
          <p:nvPr/>
        </p:nvSpPr>
        <p:spPr>
          <a:xfrm>
            <a:off x="4114800" y="3962400"/>
            <a:ext cx="1866217" cy="76944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4400" dirty="0"/>
              <a:t>SFW</a:t>
            </a:r>
            <a:r>
              <a:rPr lang="zh-CN" altLang="en-US" sz="4400" dirty="0"/>
              <a:t>块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3C5FDE-1D7A-BB61-2CDC-3D78D93AE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49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1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1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91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1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91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91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91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91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91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91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0B2C02FD-82D0-425B-A375-8E402280FE0E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5017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501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 SQL</a:t>
            </a:r>
            <a:r>
              <a:rPr lang="zh-CN" altLang="en-US"/>
              <a:t>查询</a:t>
            </a:r>
          </a:p>
        </p:txBody>
      </p:sp>
      <p:sp>
        <p:nvSpPr>
          <p:cNvPr id="501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简单的</a:t>
            </a:r>
            <a:r>
              <a:rPr lang="en-US" altLang="zh-CN" dirty="0">
                <a:solidFill>
                  <a:schemeClr val="tx2"/>
                </a:solidFill>
              </a:rPr>
              <a:t>SQL</a:t>
            </a:r>
            <a:r>
              <a:rPr lang="zh-CN" altLang="en-US" dirty="0">
                <a:solidFill>
                  <a:schemeClr val="tx2"/>
                </a:solidFill>
              </a:rPr>
              <a:t>查询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chemeClr val="tx2"/>
                </a:solidFill>
              </a:rPr>
              <a:t>关系代数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联系</a:t>
            </a:r>
            <a:r>
              <a:rPr lang="zh-CN" altLang="en-US" dirty="0"/>
              <a:t>：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   </a:t>
            </a:r>
            <a:r>
              <a:rPr lang="en-US" altLang="zh-CN" sz="2800" dirty="0"/>
              <a:t>SELECT </a:t>
            </a:r>
            <a:r>
              <a:rPr lang="en-US" altLang="zh-CN" sz="2800" dirty="0">
                <a:solidFill>
                  <a:schemeClr val="tx2"/>
                </a:solidFill>
              </a:rPr>
              <a:t>A</a:t>
            </a:r>
            <a:r>
              <a:rPr lang="en-US" altLang="zh-CN" sz="2800" baseline="-25000" dirty="0">
                <a:solidFill>
                  <a:schemeClr val="tx2"/>
                </a:solidFill>
              </a:rPr>
              <a:t>1</a:t>
            </a:r>
            <a:r>
              <a:rPr lang="en-US" altLang="zh-CN" sz="2800" dirty="0">
                <a:solidFill>
                  <a:schemeClr val="tx2"/>
                </a:solidFill>
              </a:rPr>
              <a:t>, A</a:t>
            </a:r>
            <a:r>
              <a:rPr lang="en-US" altLang="zh-CN" sz="2800" baseline="-25000" dirty="0">
                <a:solidFill>
                  <a:schemeClr val="tx2"/>
                </a:solidFill>
              </a:rPr>
              <a:t>2</a:t>
            </a:r>
            <a:r>
              <a:rPr lang="en-US" altLang="zh-CN" sz="2800" dirty="0">
                <a:solidFill>
                  <a:schemeClr val="tx2"/>
                </a:solidFill>
              </a:rPr>
              <a:t>, </a:t>
            </a:r>
            <a:r>
              <a:rPr lang="en-US" altLang="zh-CN" sz="2800" dirty="0">
                <a:solidFill>
                  <a:schemeClr val="tx2"/>
                </a:solidFill>
                <a:latin typeface="Arial" charset="0"/>
              </a:rPr>
              <a:t>… </a:t>
            </a:r>
            <a:r>
              <a:rPr lang="en-US" altLang="zh-CN" sz="2800" dirty="0">
                <a:solidFill>
                  <a:schemeClr val="tx2"/>
                </a:solidFill>
              </a:rPr>
              <a:t>,A</a:t>
            </a:r>
            <a:r>
              <a:rPr lang="en-US" altLang="zh-CN" sz="2800" baseline="-25000" dirty="0">
                <a:solidFill>
                  <a:schemeClr val="tx2"/>
                </a:solidFill>
              </a:rPr>
              <a:t>n</a:t>
            </a:r>
            <a:r>
              <a:rPr lang="en-US" altLang="zh-CN" sz="2800" dirty="0">
                <a:solidFill>
                  <a:schemeClr val="tx2"/>
                </a:solidFill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	FROM T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 T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 … ,T</a:t>
            </a:r>
            <a:r>
              <a:rPr lang="en-US" altLang="zh-CN" sz="2800" baseline="-25000" dirty="0"/>
              <a:t>k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 WHERE </a:t>
            </a:r>
            <a:r>
              <a:rPr lang="en-US" altLang="zh-CN" sz="2800" dirty="0">
                <a:solidFill>
                  <a:srgbClr val="C00000"/>
                </a:solidFill>
              </a:rPr>
              <a:t>F</a:t>
            </a:r>
            <a:r>
              <a:rPr lang="en-US" altLang="zh-CN" sz="2800" dirty="0"/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相当于：</a:t>
            </a:r>
          </a:p>
          <a:p>
            <a:pPr eaLnBrk="1" hangingPunct="1">
              <a:buNone/>
            </a:pPr>
            <a:r>
              <a:rPr lang="zh-CN" altLang="en-US" dirty="0"/>
              <a:t>   ∏ </a:t>
            </a:r>
            <a:r>
              <a:rPr lang="en-US" altLang="zh-CN" baseline="-15000" dirty="0">
                <a:solidFill>
                  <a:schemeClr val="tx2"/>
                </a:solidFill>
              </a:rPr>
              <a:t>A</a:t>
            </a:r>
            <a:r>
              <a:rPr lang="en-US" altLang="zh-CN" baseline="-25000" dirty="0">
                <a:solidFill>
                  <a:schemeClr val="tx2"/>
                </a:solidFill>
              </a:rPr>
              <a:t>1</a:t>
            </a:r>
            <a:r>
              <a:rPr lang="en-US" altLang="zh-CN" baseline="-15000" dirty="0">
                <a:solidFill>
                  <a:schemeClr val="tx2"/>
                </a:solidFill>
              </a:rPr>
              <a:t>,A</a:t>
            </a:r>
            <a:r>
              <a:rPr lang="en-US" altLang="zh-CN" baseline="-25000" dirty="0">
                <a:solidFill>
                  <a:schemeClr val="tx2"/>
                </a:solidFill>
              </a:rPr>
              <a:t>2</a:t>
            </a:r>
            <a:r>
              <a:rPr lang="en-US" altLang="zh-CN" baseline="-15000" dirty="0">
                <a:solidFill>
                  <a:schemeClr val="tx2"/>
                </a:solidFill>
              </a:rPr>
              <a:t>,</a:t>
            </a:r>
            <a:r>
              <a:rPr lang="en-US" altLang="zh-CN" baseline="-15000" dirty="0">
                <a:solidFill>
                  <a:schemeClr val="tx2"/>
                </a:solidFill>
                <a:latin typeface="Arial" charset="0"/>
              </a:rPr>
              <a:t>…</a:t>
            </a:r>
            <a:r>
              <a:rPr lang="en-US" altLang="zh-CN" baseline="-15000" dirty="0">
                <a:solidFill>
                  <a:schemeClr val="tx2"/>
                </a:solidFill>
              </a:rPr>
              <a:t>,An </a:t>
            </a:r>
            <a:r>
              <a:rPr lang="el-GR" altLang="zh-CN" dirty="0"/>
              <a:t>σ</a:t>
            </a:r>
            <a:r>
              <a:rPr lang="en-US" altLang="zh-CN" baseline="-15000" dirty="0">
                <a:solidFill>
                  <a:srgbClr val="C00000"/>
                </a:solidFill>
              </a:rPr>
              <a:t>F</a:t>
            </a:r>
            <a:r>
              <a:rPr lang="en-US" altLang="zh-CN" dirty="0"/>
              <a:t>(T</a:t>
            </a:r>
            <a:r>
              <a:rPr lang="en-US" altLang="zh-CN" baseline="-25000" dirty="0"/>
              <a:t>1</a:t>
            </a:r>
            <a:r>
              <a:rPr lang="en-US" altLang="zh-CN" dirty="0"/>
              <a:t>×T</a:t>
            </a:r>
            <a:r>
              <a:rPr lang="en-US" altLang="zh-CN" baseline="-25000" dirty="0"/>
              <a:t>2</a:t>
            </a:r>
            <a:r>
              <a:rPr lang="en-US" altLang="zh-CN" dirty="0"/>
              <a:t> ×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 ×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k</a:t>
            </a:r>
            <a:r>
              <a:rPr lang="en-US" altLang="zh-CN" dirty="0"/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其中</a:t>
            </a:r>
            <a:r>
              <a:rPr lang="en-US" altLang="zh-CN" dirty="0">
                <a:solidFill>
                  <a:srgbClr val="C00000"/>
                </a:solidFill>
              </a:rPr>
              <a:t>F</a:t>
            </a:r>
            <a:r>
              <a:rPr lang="zh-CN" altLang="en-US" dirty="0"/>
              <a:t>中有的可能是</a:t>
            </a:r>
            <a:r>
              <a:rPr lang="zh-CN" altLang="en-US" dirty="0">
                <a:solidFill>
                  <a:srgbClr val="0000FF"/>
                </a:solidFill>
              </a:rPr>
              <a:t>连接条件</a:t>
            </a:r>
            <a:r>
              <a:rPr lang="zh-CN" altLang="en-US" dirty="0"/>
              <a:t>，与后面的广义笛卡儿集构成连接。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157908A-8E63-6E6B-FAE4-C258A7146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50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1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1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1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01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01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01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EF6CC82-DB56-4569-B84A-0CAABF160726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5120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512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 SQL</a:t>
            </a:r>
            <a:r>
              <a:rPr lang="zh-CN" altLang="en-US"/>
              <a:t>查询</a:t>
            </a:r>
          </a:p>
        </p:txBody>
      </p:sp>
      <p:sp>
        <p:nvSpPr>
          <p:cNvPr id="512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含义</a:t>
            </a:r>
            <a:r>
              <a:rPr lang="en-US" altLang="zh-CN" sz="2800" dirty="0"/>
              <a:t>:</a:t>
            </a:r>
            <a:r>
              <a:rPr lang="zh-CN" altLang="en-US" sz="2800" dirty="0"/>
              <a:t>根据</a:t>
            </a:r>
            <a:r>
              <a:rPr lang="en-US" altLang="zh-CN" sz="2800" b="1" dirty="0">
                <a:solidFill>
                  <a:schemeClr val="tx2"/>
                </a:solidFill>
              </a:rPr>
              <a:t>WHERE</a:t>
            </a:r>
            <a:r>
              <a:rPr lang="zh-CN" altLang="en-US" sz="2800" dirty="0"/>
              <a:t>子句的</a:t>
            </a:r>
            <a:r>
              <a:rPr lang="zh-CN" altLang="en-US" sz="2800" dirty="0">
                <a:solidFill>
                  <a:srgbClr val="C00000"/>
                </a:solidFill>
              </a:rPr>
              <a:t>条件表达式</a:t>
            </a:r>
            <a:r>
              <a:rPr lang="zh-CN" altLang="en-US" sz="2800" dirty="0"/>
              <a:t>，从</a:t>
            </a:r>
            <a:r>
              <a:rPr lang="en-US" altLang="zh-CN" sz="2800" b="1" dirty="0">
                <a:solidFill>
                  <a:schemeClr val="tx2"/>
                </a:solidFill>
              </a:rPr>
              <a:t>FROM</a:t>
            </a:r>
            <a:r>
              <a:rPr lang="zh-CN" altLang="en-US" sz="2800" dirty="0"/>
              <a:t>子句指定的</a:t>
            </a:r>
            <a:r>
              <a:rPr lang="zh-CN" altLang="en-US" sz="2800" dirty="0">
                <a:solidFill>
                  <a:schemeClr val="tx2"/>
                </a:solidFill>
              </a:rPr>
              <a:t>基本表或视图</a:t>
            </a:r>
            <a:r>
              <a:rPr lang="zh-CN" altLang="en-US" sz="2800" dirty="0"/>
              <a:t>中</a:t>
            </a:r>
            <a:r>
              <a:rPr lang="zh-CN" altLang="en-US" sz="2800" i="1" u="sng" dirty="0">
                <a:solidFill>
                  <a:srgbClr val="0000FF"/>
                </a:solidFill>
              </a:rPr>
              <a:t>找出满足条件的元组</a:t>
            </a:r>
            <a:r>
              <a:rPr lang="zh-CN" altLang="en-US" sz="2800" dirty="0"/>
              <a:t>，再</a:t>
            </a:r>
            <a:r>
              <a:rPr lang="zh-CN" altLang="en-US" sz="2800" dirty="0">
                <a:solidFill>
                  <a:srgbClr val="C00000"/>
                </a:solidFill>
              </a:rPr>
              <a:t>按</a:t>
            </a:r>
            <a:r>
              <a:rPr lang="en-US" altLang="zh-CN" sz="2800" dirty="0">
                <a:solidFill>
                  <a:srgbClr val="C00000"/>
                </a:solidFill>
              </a:rPr>
              <a:t>SELECT</a:t>
            </a:r>
            <a:r>
              <a:rPr lang="zh-CN" altLang="en-US" sz="2800" dirty="0">
                <a:solidFill>
                  <a:srgbClr val="C00000"/>
                </a:solidFill>
              </a:rPr>
              <a:t>子句</a:t>
            </a:r>
            <a:r>
              <a:rPr lang="zh-CN" altLang="en-US" sz="2800" dirty="0"/>
              <a:t>中的</a:t>
            </a:r>
            <a:r>
              <a:rPr lang="zh-CN" altLang="en-US" sz="2800" dirty="0">
                <a:solidFill>
                  <a:srgbClr val="C00000"/>
                </a:solidFill>
              </a:rPr>
              <a:t>目标列表达式</a:t>
            </a:r>
            <a:r>
              <a:rPr lang="zh-CN" altLang="en-US" sz="2800" dirty="0"/>
              <a:t>，</a:t>
            </a:r>
            <a:r>
              <a:rPr lang="zh-CN" altLang="en-US" sz="2800" i="1" u="sng" dirty="0">
                <a:solidFill>
                  <a:srgbClr val="0000FF"/>
                </a:solidFill>
              </a:rPr>
              <a:t>选出元组中的属性值</a:t>
            </a:r>
            <a:r>
              <a:rPr lang="zh-CN" altLang="en-US" sz="2800" dirty="0"/>
              <a:t>形成</a:t>
            </a:r>
            <a:r>
              <a:rPr lang="zh-CN" altLang="en-US" sz="2800" b="1" dirty="0"/>
              <a:t>结果表</a:t>
            </a:r>
            <a:r>
              <a:rPr lang="zh-CN" altLang="en-US" sz="2800" dirty="0"/>
              <a:t>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如果有</a:t>
            </a:r>
            <a:r>
              <a:rPr lang="en-US" altLang="zh-CN" sz="2800" dirty="0">
                <a:solidFill>
                  <a:srgbClr val="C00000"/>
                </a:solidFill>
              </a:rPr>
              <a:t>GROUP</a:t>
            </a:r>
            <a:r>
              <a:rPr lang="zh-CN" altLang="en-US" sz="2800" dirty="0"/>
              <a:t>子句，则将</a:t>
            </a:r>
            <a:r>
              <a:rPr lang="en-US" altLang="zh-CN" sz="2800" dirty="0"/>
              <a:t>WHERE</a:t>
            </a:r>
            <a:r>
              <a:rPr lang="zh-CN" altLang="en-US" sz="2800" dirty="0"/>
              <a:t>选出</a:t>
            </a:r>
            <a:r>
              <a:rPr lang="zh-CN" altLang="en-US" sz="2800" u="sng" dirty="0">
                <a:solidFill>
                  <a:srgbClr val="C00000"/>
                </a:solidFill>
              </a:rPr>
              <a:t>元组按</a:t>
            </a:r>
            <a:r>
              <a:rPr lang="en-US" altLang="zh-CN" sz="2800" u="sng" dirty="0">
                <a:solidFill>
                  <a:srgbClr val="C00000"/>
                </a:solidFill>
              </a:rPr>
              <a:t>&lt;</a:t>
            </a:r>
            <a:r>
              <a:rPr lang="zh-CN" altLang="en-US" sz="2800" u="sng" dirty="0">
                <a:solidFill>
                  <a:srgbClr val="C00000"/>
                </a:solidFill>
              </a:rPr>
              <a:t>列名</a:t>
            </a:r>
            <a:r>
              <a:rPr lang="en-US" altLang="zh-CN" sz="2800" u="sng" dirty="0">
                <a:solidFill>
                  <a:srgbClr val="C00000"/>
                </a:solidFill>
              </a:rPr>
              <a:t>1&gt;</a:t>
            </a:r>
            <a:r>
              <a:rPr lang="zh-CN" altLang="en-US" sz="2800" u="sng" dirty="0">
                <a:solidFill>
                  <a:srgbClr val="C00000"/>
                </a:solidFill>
              </a:rPr>
              <a:t>的值</a:t>
            </a:r>
            <a:r>
              <a:rPr lang="zh-CN" altLang="en-US" sz="2800" b="1" u="sng" dirty="0">
                <a:solidFill>
                  <a:srgbClr val="C00000"/>
                </a:solidFill>
              </a:rPr>
              <a:t>进行分组</a:t>
            </a:r>
            <a:r>
              <a:rPr lang="zh-CN" altLang="en-US" sz="2800" dirty="0"/>
              <a:t>，即将该</a:t>
            </a:r>
            <a:r>
              <a:rPr lang="zh-CN" altLang="en-US" sz="2800" u="sng" dirty="0"/>
              <a:t>属性列值</a:t>
            </a:r>
            <a:r>
              <a:rPr lang="zh-CN" altLang="en-US" sz="2800" u="sng" dirty="0">
                <a:solidFill>
                  <a:srgbClr val="FF0000"/>
                </a:solidFill>
              </a:rPr>
              <a:t>相等</a:t>
            </a:r>
            <a:r>
              <a:rPr lang="zh-CN" altLang="en-US" sz="2800" u="sng" dirty="0"/>
              <a:t>的元组分为一个组</a:t>
            </a:r>
            <a:r>
              <a:rPr lang="zh-CN" altLang="en-US" sz="2800" dirty="0"/>
              <a:t>，每个组</a:t>
            </a:r>
            <a:r>
              <a:rPr lang="zh-CN" altLang="en-US" sz="2800" u="sng" dirty="0">
                <a:solidFill>
                  <a:schemeClr val="tx2"/>
                </a:solidFill>
              </a:rPr>
              <a:t>产生结果表</a:t>
            </a:r>
            <a:r>
              <a:rPr lang="zh-CN" altLang="en-US" sz="2800" u="sng" dirty="0"/>
              <a:t>中的</a:t>
            </a:r>
            <a:r>
              <a:rPr lang="zh-CN" altLang="en-US" sz="2800" u="sng" dirty="0">
                <a:solidFill>
                  <a:srgbClr val="C00000"/>
                </a:solidFill>
              </a:rPr>
              <a:t>一条记录</a:t>
            </a:r>
            <a:r>
              <a:rPr lang="zh-CN" altLang="en-US" sz="2800" dirty="0"/>
              <a:t>。通常会在</a:t>
            </a:r>
            <a:r>
              <a:rPr lang="zh-CN" altLang="en-US" sz="2800" b="1" dirty="0">
                <a:solidFill>
                  <a:schemeClr val="tx2"/>
                </a:solidFill>
              </a:rPr>
              <a:t>每组中作用</a:t>
            </a:r>
            <a:r>
              <a:rPr lang="zh-CN" altLang="en-US" sz="2800" b="1" u="sng" dirty="0">
                <a:solidFill>
                  <a:schemeClr val="tx2"/>
                </a:solidFill>
              </a:rPr>
              <a:t>集函数</a:t>
            </a:r>
            <a:r>
              <a:rPr lang="zh-CN" altLang="en-US" sz="2800" dirty="0"/>
              <a:t>。如果</a:t>
            </a:r>
            <a:r>
              <a:rPr lang="en-US" altLang="zh-CN" sz="2800" dirty="0"/>
              <a:t>GROUP</a:t>
            </a:r>
            <a:r>
              <a:rPr lang="zh-CN" altLang="en-US" sz="2800" dirty="0"/>
              <a:t>子句带</a:t>
            </a:r>
            <a:r>
              <a:rPr lang="en-US" altLang="zh-CN" sz="2800" dirty="0">
                <a:solidFill>
                  <a:srgbClr val="C00000"/>
                </a:solidFill>
              </a:rPr>
              <a:t>HAVING</a:t>
            </a:r>
            <a:r>
              <a:rPr lang="zh-CN" altLang="en-US" sz="2800" dirty="0"/>
              <a:t>短语，则只有</a:t>
            </a:r>
            <a:r>
              <a:rPr lang="zh-CN" altLang="en-US" sz="2800" u="sng" dirty="0">
                <a:solidFill>
                  <a:srgbClr val="006600"/>
                </a:solidFill>
              </a:rPr>
              <a:t>满足指定条件</a:t>
            </a:r>
            <a:r>
              <a:rPr lang="zh-CN" altLang="en-US" sz="2800" u="sng" dirty="0"/>
              <a:t>的组</a:t>
            </a:r>
            <a:r>
              <a:rPr lang="zh-CN" altLang="en-US" sz="2800" dirty="0"/>
              <a:t>才予输出。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如果有</a:t>
            </a:r>
            <a:r>
              <a:rPr lang="en-US" altLang="zh-CN" sz="2800" dirty="0">
                <a:solidFill>
                  <a:srgbClr val="C00000"/>
                </a:solidFill>
              </a:rPr>
              <a:t>ORDER</a:t>
            </a:r>
            <a:r>
              <a:rPr lang="zh-CN" altLang="en-US" sz="2800" dirty="0"/>
              <a:t>子句，则结果表还要按</a:t>
            </a:r>
            <a:r>
              <a:rPr lang="en-US" altLang="zh-CN" sz="2800" dirty="0"/>
              <a:t>&lt;</a:t>
            </a:r>
            <a:r>
              <a:rPr lang="zh-CN" altLang="en-US" sz="2800" dirty="0"/>
              <a:t>列名</a:t>
            </a:r>
            <a:r>
              <a:rPr lang="en-US" altLang="zh-CN" sz="2800" dirty="0"/>
              <a:t>2&gt;</a:t>
            </a:r>
            <a:r>
              <a:rPr lang="zh-CN" altLang="en-US" sz="2800" dirty="0"/>
              <a:t>的值的</a:t>
            </a:r>
            <a:r>
              <a:rPr lang="zh-CN" altLang="en-US" sz="2800" u="sng" dirty="0">
                <a:solidFill>
                  <a:srgbClr val="C00000"/>
                </a:solidFill>
              </a:rPr>
              <a:t>升序</a:t>
            </a:r>
            <a:r>
              <a:rPr lang="zh-CN" altLang="en-US" sz="2800" u="sng" dirty="0"/>
              <a:t>或</a:t>
            </a:r>
            <a:r>
              <a:rPr lang="zh-CN" altLang="en-US" sz="2800" u="sng" dirty="0">
                <a:solidFill>
                  <a:srgbClr val="C00000"/>
                </a:solidFill>
              </a:rPr>
              <a:t>降序排序</a:t>
            </a:r>
            <a:r>
              <a:rPr lang="zh-CN" altLang="en-US" sz="2800" dirty="0"/>
              <a:t>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355E895-7CCE-BE83-D5FB-BB7FEBCC8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51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655614F-4006-4E67-A659-BB09EB892D4A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5222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522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3.4.1 </a:t>
            </a:r>
            <a:r>
              <a:rPr lang="zh-CN" altLang="en-US" dirty="0"/>
              <a:t>单表</a:t>
            </a:r>
            <a:r>
              <a:rPr lang="en-US" altLang="zh-CN" dirty="0"/>
              <a:t>(</a:t>
            </a:r>
            <a:r>
              <a:rPr lang="zh-CN" altLang="en-US" dirty="0"/>
              <a:t>关系</a:t>
            </a:r>
            <a:r>
              <a:rPr lang="en-US" altLang="zh-CN" dirty="0"/>
              <a:t>)</a:t>
            </a:r>
            <a:r>
              <a:rPr lang="zh-CN" altLang="en-US" dirty="0"/>
              <a:t>查询 </a:t>
            </a:r>
            <a:r>
              <a:rPr lang="en-US" altLang="zh-CN" dirty="0"/>
              <a:t>--</a:t>
            </a:r>
            <a:r>
              <a:rPr lang="zh-CN" altLang="en-US" dirty="0"/>
              <a:t>比较简单</a:t>
            </a:r>
            <a:endParaRPr lang="en-US" altLang="zh-CN" dirty="0"/>
          </a:p>
        </p:txBody>
      </p:sp>
      <p:sp>
        <p:nvSpPr>
          <p:cNvPr id="522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0000FF"/>
                </a:solidFill>
              </a:rPr>
              <a:t>一、选择表中的</a:t>
            </a:r>
            <a:r>
              <a:rPr lang="zh-CN" altLang="en-US" dirty="0">
                <a:solidFill>
                  <a:srgbClr val="C00000"/>
                </a:solidFill>
              </a:rPr>
              <a:t>若干列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1. </a:t>
            </a:r>
            <a:r>
              <a:rPr lang="zh-CN" altLang="en-US" dirty="0"/>
              <a:t>查询</a:t>
            </a:r>
            <a:r>
              <a:rPr lang="zh-CN" altLang="en-US" u="sng" dirty="0">
                <a:solidFill>
                  <a:srgbClr val="C00000"/>
                </a:solidFill>
              </a:rPr>
              <a:t>指定列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900" dirty="0"/>
          </a:p>
          <a:p>
            <a:pPr eaLnBrk="1" hangingPunct="1"/>
            <a:r>
              <a:rPr lang="zh-CN" altLang="en-US" sz="2800" dirty="0"/>
              <a:t>例</a:t>
            </a:r>
            <a:r>
              <a:rPr lang="en-US" altLang="zh-CN" sz="2800" dirty="0"/>
              <a:t>1 </a:t>
            </a:r>
            <a:r>
              <a:rPr lang="zh-CN" altLang="en-US" sz="2800" dirty="0"/>
              <a:t>查询全体学生的学号与姓名。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FF"/>
                </a:solidFill>
              </a:rPr>
              <a:t>SELECT</a:t>
            </a:r>
            <a:r>
              <a:rPr lang="en-US" altLang="zh-CN" sz="2800" dirty="0">
                <a:solidFill>
                  <a:srgbClr val="C00000"/>
                </a:solidFill>
              </a:rPr>
              <a:t> </a:t>
            </a:r>
            <a:r>
              <a:rPr lang="en-US" altLang="zh-CN" sz="2800" dirty="0" err="1">
                <a:solidFill>
                  <a:srgbClr val="C00000"/>
                </a:solidFill>
              </a:rPr>
              <a:t>Sno</a:t>
            </a:r>
            <a:r>
              <a:rPr lang="en-US" altLang="zh-CN" sz="2800" dirty="0">
                <a:solidFill>
                  <a:srgbClr val="C00000"/>
                </a:solidFill>
              </a:rPr>
              <a:t>, </a:t>
            </a:r>
            <a:r>
              <a:rPr lang="en-US" altLang="zh-CN" sz="2800" dirty="0" err="1">
                <a:solidFill>
                  <a:srgbClr val="C00000"/>
                </a:solidFill>
              </a:rPr>
              <a:t>Sname</a:t>
            </a:r>
            <a:endParaRPr lang="en-US" altLang="zh-CN" sz="2800" dirty="0">
              <a:solidFill>
                <a:srgbClr val="C00000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C00000"/>
                </a:solidFill>
              </a:rPr>
              <a:t>	</a:t>
            </a:r>
            <a:r>
              <a:rPr lang="en-US" altLang="zh-CN" sz="2800" dirty="0">
                <a:solidFill>
                  <a:srgbClr val="0000FF"/>
                </a:solidFill>
              </a:rPr>
              <a:t>FROM</a:t>
            </a:r>
            <a:r>
              <a:rPr lang="en-US" altLang="zh-CN" sz="2800" dirty="0">
                <a:solidFill>
                  <a:srgbClr val="C00000"/>
                </a:solidFill>
              </a:rPr>
              <a:t> Student;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80"/>
                </a:solidFill>
              </a:rPr>
              <a:t>&lt;</a:t>
            </a:r>
            <a:r>
              <a:rPr lang="zh-CN" altLang="en-US" sz="2800" dirty="0">
                <a:solidFill>
                  <a:srgbClr val="000080"/>
                </a:solidFill>
              </a:rPr>
              <a:t>目标列表达式</a:t>
            </a:r>
            <a:r>
              <a:rPr lang="en-US" altLang="zh-CN" sz="2800" dirty="0">
                <a:solidFill>
                  <a:srgbClr val="000080"/>
                </a:solidFill>
              </a:rPr>
              <a:t>&gt; </a:t>
            </a:r>
            <a:r>
              <a:rPr lang="zh-CN" altLang="en-US" sz="2800" dirty="0">
                <a:solidFill>
                  <a:srgbClr val="000080"/>
                </a:solidFill>
              </a:rPr>
              <a:t>中各个列的先后</a:t>
            </a:r>
            <a:r>
              <a:rPr lang="zh-CN" altLang="en-US" sz="2800" dirty="0">
                <a:solidFill>
                  <a:srgbClr val="0000FF"/>
                </a:solidFill>
              </a:rPr>
              <a:t>顺序</a:t>
            </a:r>
            <a:r>
              <a:rPr lang="zh-CN" altLang="en-US" sz="2800" b="1" dirty="0">
                <a:solidFill>
                  <a:srgbClr val="C00000"/>
                </a:solidFill>
              </a:rPr>
              <a:t>可以</a:t>
            </a:r>
            <a:r>
              <a:rPr lang="zh-CN" altLang="en-US" sz="2800" dirty="0"/>
              <a:t>与</a:t>
            </a:r>
            <a:r>
              <a:rPr lang="zh-CN" altLang="en-US" sz="2800" dirty="0">
                <a:solidFill>
                  <a:srgbClr val="000080"/>
                </a:solidFill>
              </a:rPr>
              <a:t>表中的顺序</a:t>
            </a:r>
            <a:r>
              <a:rPr lang="zh-CN" altLang="en-US" sz="2800" b="1" dirty="0">
                <a:solidFill>
                  <a:srgbClr val="C00000"/>
                </a:solidFill>
              </a:rPr>
              <a:t>不一致</a:t>
            </a:r>
            <a:r>
              <a:rPr lang="zh-CN" altLang="en-US" sz="2800" dirty="0">
                <a:solidFill>
                  <a:srgbClr val="000080"/>
                </a:solidFill>
              </a:rPr>
              <a:t>。</a:t>
            </a:r>
            <a:r>
              <a:rPr lang="zh-CN" altLang="en-US" sz="2800" dirty="0"/>
              <a:t>也就是说，用户在查询时可以</a:t>
            </a:r>
            <a:r>
              <a:rPr lang="zh-CN" altLang="en-US" sz="2800" u="sng" dirty="0">
                <a:solidFill>
                  <a:srgbClr val="000080"/>
                </a:solidFill>
              </a:rPr>
              <a:t>根据应用的需要</a:t>
            </a:r>
            <a:r>
              <a:rPr lang="zh-CN" altLang="en-US" sz="2800" b="1" u="sng" dirty="0">
                <a:solidFill>
                  <a:srgbClr val="0000FF"/>
                </a:solidFill>
              </a:rPr>
              <a:t>改变</a:t>
            </a:r>
            <a:r>
              <a:rPr lang="zh-CN" altLang="en-US" sz="2800" u="sng" dirty="0">
                <a:solidFill>
                  <a:srgbClr val="000080"/>
                </a:solidFill>
              </a:rPr>
              <a:t>列的显示顺序</a:t>
            </a:r>
            <a:r>
              <a:rPr lang="zh-CN" altLang="en-US" sz="2800" dirty="0">
                <a:solidFill>
                  <a:srgbClr val="000080"/>
                </a:solidFill>
              </a:rPr>
              <a:t>。</a:t>
            </a:r>
            <a:endParaRPr lang="zh-CN" altLang="en-US" sz="28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D537594-B4EB-CC67-311C-D6DB218CE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52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2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2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22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2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22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22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22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22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D8267EC-11B6-47FF-BD4C-0F87A4A30242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5325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532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3.4.1 </a:t>
            </a:r>
            <a:r>
              <a:rPr lang="zh-CN" altLang="en-US"/>
              <a:t>单表查询</a:t>
            </a:r>
          </a:p>
        </p:txBody>
      </p:sp>
      <p:sp>
        <p:nvSpPr>
          <p:cNvPr id="532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2. </a:t>
            </a:r>
            <a:r>
              <a:rPr lang="zh-CN" altLang="en-US" dirty="0"/>
              <a:t>查询</a:t>
            </a:r>
            <a:r>
              <a:rPr lang="zh-CN" altLang="en-US" u="sng" dirty="0">
                <a:solidFill>
                  <a:srgbClr val="C00000"/>
                </a:solidFill>
              </a:rPr>
              <a:t>全部</a:t>
            </a:r>
            <a:r>
              <a:rPr lang="zh-CN" altLang="en-US" u="sng" dirty="0"/>
              <a:t>列：</a:t>
            </a:r>
            <a:r>
              <a:rPr lang="en-US" altLang="zh-CN" u="sng" dirty="0"/>
              <a:t>*</a:t>
            </a:r>
            <a:r>
              <a:rPr lang="zh-CN" altLang="en-US" u="sng" dirty="0"/>
              <a:t>表示所有属性</a:t>
            </a:r>
            <a:r>
              <a:rPr lang="en-US" altLang="zh-CN" u="sng" dirty="0"/>
              <a:t>(</a:t>
            </a:r>
            <a:r>
              <a:rPr lang="zh-CN" altLang="en-US" u="sng" dirty="0"/>
              <a:t>教材</a:t>
            </a:r>
            <a:r>
              <a:rPr lang="en-US" altLang="zh-CN" u="sng" dirty="0"/>
              <a:t>3.4.3)</a:t>
            </a:r>
            <a:endParaRPr lang="zh-CN" altLang="en-US" u="sng" dirty="0"/>
          </a:p>
          <a:p>
            <a:pPr eaLnBrk="1" hangingPunct="1">
              <a:buFont typeface="Wingdings" pitchFamily="2" charset="2"/>
              <a:buNone/>
            </a:pPr>
            <a:endParaRPr lang="zh-CN" altLang="en-US" sz="900" dirty="0"/>
          </a:p>
          <a:p>
            <a:pPr eaLnBrk="1" hangingPunct="1"/>
            <a:r>
              <a:rPr lang="zh-CN" altLang="en-US" sz="2800" dirty="0"/>
              <a:t>例</a:t>
            </a:r>
            <a:r>
              <a:rPr lang="en-US" altLang="zh-CN" sz="2800" dirty="0"/>
              <a:t>3 </a:t>
            </a:r>
            <a:r>
              <a:rPr lang="zh-CN" altLang="en-US" sz="2800" dirty="0"/>
              <a:t>查询全体学生的详细记录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  </a:t>
            </a:r>
            <a:r>
              <a:rPr lang="en-US" altLang="zh-CN" sz="2800" dirty="0">
                <a:solidFill>
                  <a:srgbClr val="0000FF"/>
                </a:solidFill>
              </a:rPr>
              <a:t>SELECT </a:t>
            </a:r>
            <a:r>
              <a:rPr lang="en-US" altLang="zh-CN" sz="2800" dirty="0">
                <a:solidFill>
                  <a:srgbClr val="C00000"/>
                </a:solidFill>
              </a:rPr>
              <a:t>*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rgbClr val="0000FF"/>
                </a:solidFill>
              </a:rPr>
              <a:t>FROM Student;</a:t>
            </a:r>
          </a:p>
          <a:p>
            <a:pPr lvl="1" eaLnBrk="1" hangingPunct="1">
              <a:buFont typeface="Wingdings" pitchFamily="2" charset="2"/>
              <a:buNone/>
            </a:pPr>
            <a:endParaRPr lang="zh-CN" altLang="en-US" dirty="0">
              <a:solidFill>
                <a:srgbClr val="000080"/>
              </a:solidFill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lang="zh-CN" altLang="en-US" dirty="0"/>
              <a:t>该</a:t>
            </a:r>
            <a:r>
              <a:rPr lang="en-US" altLang="zh-CN" dirty="0"/>
              <a:t>SELECT</a:t>
            </a:r>
            <a:r>
              <a:rPr lang="zh-CN" altLang="en-US" dirty="0"/>
              <a:t>语句实际上是</a:t>
            </a:r>
            <a:r>
              <a:rPr lang="zh-CN" altLang="en-US" b="1" dirty="0">
                <a:solidFill>
                  <a:srgbClr val="000080"/>
                </a:solidFill>
              </a:rPr>
              <a:t>无条件</a:t>
            </a:r>
            <a:r>
              <a:rPr lang="zh-CN" altLang="en-US" dirty="0"/>
              <a:t>地把</a:t>
            </a:r>
            <a:r>
              <a:rPr lang="en-US" altLang="zh-CN" dirty="0"/>
              <a:t>Student</a:t>
            </a:r>
            <a:r>
              <a:rPr lang="zh-CN" altLang="en-US" dirty="0"/>
              <a:t>表的</a:t>
            </a:r>
            <a:r>
              <a:rPr lang="zh-CN" altLang="en-US" b="1" dirty="0">
                <a:solidFill>
                  <a:srgbClr val="000080"/>
                </a:solidFill>
              </a:rPr>
              <a:t>全部信息</a:t>
            </a:r>
            <a:r>
              <a:rPr lang="zh-CN" altLang="en-US" dirty="0"/>
              <a:t>都查询出来</a:t>
            </a:r>
            <a:r>
              <a:rPr lang="zh-CN" altLang="en-US" dirty="0">
                <a:solidFill>
                  <a:srgbClr val="000080"/>
                </a:solidFill>
              </a:rPr>
              <a:t>，</a:t>
            </a:r>
            <a:r>
              <a:rPr lang="zh-CN" altLang="en-US" dirty="0"/>
              <a:t>所以也称为</a:t>
            </a:r>
            <a:r>
              <a:rPr lang="zh-CN" altLang="en-US" dirty="0">
                <a:solidFill>
                  <a:srgbClr val="000080"/>
                </a:solidFill>
              </a:rPr>
              <a:t>全表查询，</a:t>
            </a:r>
            <a:r>
              <a:rPr lang="zh-CN" altLang="en-US" dirty="0"/>
              <a:t>这是最简单的一种查询。</a:t>
            </a:r>
          </a:p>
          <a:p>
            <a:pPr eaLnBrk="1" hangingPunct="1"/>
            <a:endParaRPr lang="zh-CN" altLang="en-US" sz="28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0BA6396-BD02-5011-33E0-C37D3A5F0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53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32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32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32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32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47F8E0C8-52E9-441A-8A5A-A54E666D89F9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5427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542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3.4.1 </a:t>
            </a:r>
            <a:r>
              <a:rPr lang="zh-CN" altLang="en-US"/>
              <a:t>单表查询</a:t>
            </a:r>
          </a:p>
        </p:txBody>
      </p:sp>
      <p:sp>
        <p:nvSpPr>
          <p:cNvPr id="542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153400" cy="468471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3. </a:t>
            </a:r>
            <a:r>
              <a:rPr lang="zh-CN" altLang="en-US" dirty="0"/>
              <a:t>查询</a:t>
            </a:r>
            <a:r>
              <a:rPr lang="zh-CN" altLang="en-US" u="sng" dirty="0"/>
              <a:t>经过计算的值</a:t>
            </a:r>
          </a:p>
          <a:p>
            <a:pPr lvl="1" eaLnBrk="1" hangingPunct="1"/>
            <a:r>
              <a:rPr lang="en-US" altLang="zh-CN" dirty="0"/>
              <a:t>&lt;</a:t>
            </a:r>
            <a:r>
              <a:rPr lang="zh-CN" altLang="en-US" dirty="0">
                <a:solidFill>
                  <a:srgbClr val="C00000"/>
                </a:solidFill>
              </a:rPr>
              <a:t>目标列表达式</a:t>
            </a:r>
            <a:r>
              <a:rPr lang="en-US" altLang="zh-CN" dirty="0"/>
              <a:t>&gt;</a:t>
            </a:r>
            <a:r>
              <a:rPr lang="zh-CN" altLang="en-US" dirty="0"/>
              <a:t>不仅可以使用</a:t>
            </a:r>
            <a:r>
              <a:rPr lang="zh-CN" altLang="en-US" dirty="0">
                <a:solidFill>
                  <a:srgbClr val="0000FF"/>
                </a:solidFill>
              </a:rPr>
              <a:t>列名</a:t>
            </a:r>
            <a:r>
              <a:rPr lang="zh-CN" altLang="en-US" dirty="0"/>
              <a:t>，还可以使用</a:t>
            </a:r>
            <a:r>
              <a:rPr lang="zh-CN" altLang="en-US" b="1" u="sng" dirty="0">
                <a:solidFill>
                  <a:srgbClr val="C00000"/>
                </a:solidFill>
              </a:rPr>
              <a:t>算术表达式 </a:t>
            </a:r>
            <a:r>
              <a:rPr lang="en-US" altLang="zh-CN" u="sng" dirty="0">
                <a:solidFill>
                  <a:srgbClr val="C00000"/>
                </a:solidFill>
              </a:rPr>
              <a:t>(</a:t>
            </a:r>
            <a:r>
              <a:rPr lang="zh-CN" altLang="en-US" u="sng" dirty="0">
                <a:solidFill>
                  <a:srgbClr val="C00000"/>
                </a:solidFill>
              </a:rPr>
              <a:t>含有</a:t>
            </a:r>
            <a:r>
              <a:rPr lang="en-US" altLang="zh-CN" u="sng" dirty="0">
                <a:solidFill>
                  <a:srgbClr val="C00000"/>
                </a:solidFill>
              </a:rPr>
              <a:t>+,-,*,/</a:t>
            </a:r>
            <a:r>
              <a:rPr lang="zh-CN" altLang="en-US" u="sng" dirty="0">
                <a:solidFill>
                  <a:srgbClr val="C00000"/>
                </a:solidFill>
              </a:rPr>
              <a:t>运算符的算术表达式</a:t>
            </a:r>
            <a:r>
              <a:rPr lang="en-US" altLang="zh-CN" u="sng" dirty="0">
                <a:solidFill>
                  <a:srgbClr val="C00000"/>
                </a:solidFill>
              </a:rPr>
              <a:t>)</a:t>
            </a:r>
            <a:r>
              <a:rPr lang="zh-CN" altLang="en-US" b="1" u="sng" dirty="0"/>
              <a:t>、</a:t>
            </a:r>
            <a:r>
              <a:rPr lang="zh-CN" altLang="en-US" b="1" u="sng" dirty="0">
                <a:solidFill>
                  <a:srgbClr val="006600"/>
                </a:solidFill>
              </a:rPr>
              <a:t>字符串常量</a:t>
            </a:r>
            <a:r>
              <a:rPr lang="zh-CN" altLang="en-US" b="1" u="sng" dirty="0"/>
              <a:t>和</a:t>
            </a:r>
            <a:r>
              <a:rPr lang="zh-CN" altLang="en-US" b="1" u="sng" dirty="0">
                <a:solidFill>
                  <a:schemeClr val="tx2"/>
                </a:solidFill>
              </a:rPr>
              <a:t>函数</a:t>
            </a:r>
            <a:r>
              <a:rPr lang="zh-CN" altLang="en-US" dirty="0"/>
              <a:t>等。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dirty="0"/>
          </a:p>
          <a:p>
            <a:pPr eaLnBrk="1" hangingPunct="1"/>
            <a:r>
              <a:rPr lang="zh-CN" altLang="en-US" sz="2800" dirty="0"/>
              <a:t>例</a:t>
            </a:r>
            <a:r>
              <a:rPr lang="en-US" altLang="zh-CN" sz="2800" dirty="0"/>
              <a:t>5 </a:t>
            </a:r>
            <a:r>
              <a:rPr lang="zh-CN" altLang="en-US" sz="2800" dirty="0"/>
              <a:t>查全体学生的</a:t>
            </a:r>
            <a:r>
              <a:rPr lang="zh-CN" altLang="en-US" sz="2800" u="sng" dirty="0">
                <a:solidFill>
                  <a:srgbClr val="0000FF"/>
                </a:solidFill>
              </a:rPr>
              <a:t>姓名</a:t>
            </a:r>
            <a:r>
              <a:rPr lang="zh-CN" altLang="en-US" sz="2800" u="sng" dirty="0"/>
              <a:t>、</a:t>
            </a:r>
            <a:r>
              <a:rPr lang="zh-CN" altLang="en-US" sz="2800" b="1" u="sng" dirty="0">
                <a:solidFill>
                  <a:srgbClr val="0000FF"/>
                </a:solidFill>
              </a:rPr>
              <a:t>出生年份</a:t>
            </a:r>
            <a:r>
              <a:rPr lang="zh-CN" altLang="en-US" sz="2800" u="sng" dirty="0"/>
              <a:t>和</a:t>
            </a:r>
            <a:r>
              <a:rPr lang="zh-CN" altLang="en-US" sz="2800" u="sng" dirty="0">
                <a:solidFill>
                  <a:srgbClr val="0000FF"/>
                </a:solidFill>
              </a:rPr>
              <a:t>所有系</a:t>
            </a:r>
            <a:r>
              <a:rPr lang="zh-CN" altLang="en-US" sz="2800" dirty="0"/>
              <a:t>，要求用</a:t>
            </a:r>
            <a:r>
              <a:rPr lang="zh-CN" altLang="en-US" sz="2800" dirty="0">
                <a:solidFill>
                  <a:srgbClr val="C00000"/>
                </a:solidFill>
              </a:rPr>
              <a:t>小写字母</a:t>
            </a:r>
            <a:r>
              <a:rPr lang="zh-CN" altLang="en-US" sz="2800" dirty="0"/>
              <a:t>表示</a:t>
            </a:r>
            <a:r>
              <a:rPr lang="zh-CN" altLang="en-US" sz="2800" dirty="0">
                <a:solidFill>
                  <a:srgbClr val="C00000"/>
                </a:solidFill>
              </a:rPr>
              <a:t>所有系名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solidFill>
                  <a:schemeClr val="bg2"/>
                </a:solidFill>
              </a:rPr>
              <a:t>SELECT </a:t>
            </a:r>
            <a:r>
              <a:rPr lang="en-US" altLang="zh-CN" sz="2400" dirty="0" err="1">
                <a:solidFill>
                  <a:schemeClr val="bg2"/>
                </a:solidFill>
              </a:rPr>
              <a:t>Sname</a:t>
            </a:r>
            <a:r>
              <a:rPr lang="en-US" altLang="zh-CN" sz="2400" dirty="0">
                <a:solidFill>
                  <a:srgbClr val="000080"/>
                </a:solidFill>
              </a:rPr>
              <a:t>, </a:t>
            </a:r>
            <a:r>
              <a:rPr lang="en-US" altLang="zh-CN" sz="2400" dirty="0">
                <a:solidFill>
                  <a:srgbClr val="006600"/>
                </a:solidFill>
              </a:rPr>
              <a:t>'Year of Birth:'</a:t>
            </a:r>
            <a:r>
              <a:rPr lang="en-US" altLang="zh-CN" sz="2400" dirty="0"/>
              <a:t>,</a:t>
            </a:r>
            <a:r>
              <a:rPr lang="en-US" altLang="zh-CN" sz="2400" dirty="0">
                <a:solidFill>
                  <a:srgbClr val="006600"/>
                </a:solidFill>
              </a:rPr>
              <a:t> </a:t>
            </a:r>
            <a:r>
              <a:rPr lang="en-US" altLang="zh-CN" sz="2400" dirty="0">
                <a:solidFill>
                  <a:srgbClr val="C00000"/>
                </a:solidFill>
              </a:rPr>
              <a:t>2025-Sage</a:t>
            </a:r>
            <a:r>
              <a:rPr lang="en-US" altLang="zh-CN" sz="2400" dirty="0"/>
              <a:t>, </a:t>
            </a:r>
            <a:r>
              <a:rPr lang="en-US" altLang="zh-CN" sz="2400" dirty="0">
                <a:solidFill>
                  <a:srgbClr val="000080"/>
                </a:solidFill>
              </a:rPr>
              <a:t>LOWER(</a:t>
            </a:r>
            <a:r>
              <a:rPr lang="en-US" altLang="zh-CN" sz="2400" dirty="0" err="1">
                <a:solidFill>
                  <a:srgbClr val="000080"/>
                </a:solidFill>
              </a:rPr>
              <a:t>Sdept</a:t>
            </a:r>
            <a:r>
              <a:rPr lang="en-US" altLang="zh-CN" sz="2400" dirty="0">
                <a:solidFill>
                  <a:srgbClr val="000080"/>
                </a:solidFill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solidFill>
                  <a:schemeClr val="bg2"/>
                </a:solidFill>
              </a:rPr>
              <a:t>FROM Student;</a:t>
            </a:r>
            <a:endParaRPr lang="zh-CN" altLang="en-US" sz="2400" dirty="0">
              <a:solidFill>
                <a:schemeClr val="bg2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74D4F65-4ED5-9542-7C66-A415936A6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54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2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42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2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2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42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42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58F0AEF-9BF0-45F3-BFAF-1CCD164ED7CE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5427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542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3.4.1 </a:t>
            </a:r>
            <a:r>
              <a:rPr lang="zh-CN" altLang="en-US"/>
              <a:t>单表查询</a:t>
            </a:r>
          </a:p>
        </p:txBody>
      </p:sp>
      <p:sp>
        <p:nvSpPr>
          <p:cNvPr id="542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/>
              <a:t>例</a:t>
            </a:r>
            <a:r>
              <a:rPr lang="en-US" altLang="zh-CN" sz="2400" dirty="0"/>
              <a:t>5 </a:t>
            </a:r>
            <a:r>
              <a:rPr lang="zh-CN" altLang="en-US" sz="2400" dirty="0"/>
              <a:t>查全体学生的姓名、出生年份和所有系，要求用小写字母表示所有系名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SELECT </a:t>
            </a:r>
            <a:r>
              <a:rPr lang="en-US" altLang="zh-CN" sz="2400" dirty="0" err="1">
                <a:solidFill>
                  <a:srgbClr val="7030A0"/>
                </a:solidFill>
              </a:rPr>
              <a:t>Sname</a:t>
            </a:r>
            <a:r>
              <a:rPr lang="en-US" altLang="zh-CN" sz="2400" dirty="0"/>
              <a:t>, </a:t>
            </a:r>
            <a:r>
              <a:rPr lang="en-US" altLang="zh-CN" sz="2400" dirty="0">
                <a:solidFill>
                  <a:srgbClr val="006600"/>
                </a:solidFill>
              </a:rPr>
              <a:t>'Year of Birth:'</a:t>
            </a:r>
            <a:r>
              <a:rPr lang="en-US" altLang="zh-CN" sz="2400" dirty="0"/>
              <a:t>, </a:t>
            </a:r>
            <a:r>
              <a:rPr lang="en-US" altLang="zh-CN" sz="2400" dirty="0">
                <a:solidFill>
                  <a:srgbClr val="0000FF"/>
                </a:solidFill>
              </a:rPr>
              <a:t>2025-Sage</a:t>
            </a:r>
            <a:r>
              <a:rPr lang="en-US" altLang="zh-CN" sz="2400" dirty="0"/>
              <a:t>, </a:t>
            </a:r>
            <a:r>
              <a:rPr lang="en-US" altLang="zh-CN" sz="2400" dirty="0">
                <a:solidFill>
                  <a:srgbClr val="C00000"/>
                </a:solidFill>
              </a:rPr>
              <a:t>LOWER(</a:t>
            </a:r>
            <a:r>
              <a:rPr lang="en-US" altLang="zh-CN" sz="2400" dirty="0" err="1">
                <a:solidFill>
                  <a:srgbClr val="C00000"/>
                </a:solidFill>
              </a:rPr>
              <a:t>Sdept</a:t>
            </a:r>
            <a:r>
              <a:rPr lang="en-US" altLang="zh-CN" sz="2400" dirty="0">
                <a:solidFill>
                  <a:srgbClr val="C00000"/>
                </a:solidFill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FROM Student;</a:t>
            </a:r>
          </a:p>
          <a:p>
            <a:pPr lvl="1">
              <a:lnSpc>
                <a:spcPct val="80000"/>
              </a:lnSpc>
              <a:buNone/>
            </a:pPr>
            <a:endParaRPr lang="en-US" altLang="zh-CN" b="1" dirty="0">
              <a:ea typeface="宋体" pitchFamily="2" charset="-122"/>
            </a:endParaRPr>
          </a:p>
          <a:p>
            <a:pPr lvl="1">
              <a:lnSpc>
                <a:spcPct val="80000"/>
              </a:lnSpc>
              <a:buNone/>
            </a:pPr>
            <a:r>
              <a:rPr lang="zh-CN" altLang="en-US" b="1" dirty="0">
                <a:ea typeface="宋体" pitchFamily="2" charset="-122"/>
              </a:rPr>
              <a:t>输出结果：</a:t>
            </a:r>
          </a:p>
          <a:p>
            <a:pPr lvl="1" algn="just">
              <a:lnSpc>
                <a:spcPct val="80000"/>
              </a:lnSpc>
              <a:buNone/>
            </a:pPr>
            <a:r>
              <a:rPr lang="zh-CN" altLang="en-US" sz="2400" dirty="0">
                <a:ea typeface="宋体" pitchFamily="2" charset="-122"/>
              </a:rPr>
              <a:t>   </a:t>
            </a:r>
            <a:r>
              <a:rPr lang="en-US" altLang="zh-CN" sz="2400" dirty="0" err="1">
                <a:ea typeface="宋体" pitchFamily="2" charset="-122"/>
              </a:rPr>
              <a:t>Sname</a:t>
            </a:r>
            <a:r>
              <a:rPr lang="en-US" altLang="zh-CN" sz="2400" dirty="0">
                <a:ea typeface="宋体" pitchFamily="2" charset="-122"/>
              </a:rPr>
              <a:t>   'Year of Birth:'  2025-Sage   LOWER(</a:t>
            </a:r>
            <a:r>
              <a:rPr lang="en-US" altLang="zh-CN" sz="2400" dirty="0" err="1">
                <a:ea typeface="宋体" pitchFamily="2" charset="-122"/>
              </a:rPr>
              <a:t>Sdept</a:t>
            </a:r>
            <a:r>
              <a:rPr lang="en-US" altLang="zh-CN" sz="2400" dirty="0">
                <a:ea typeface="宋体" pitchFamily="2" charset="-122"/>
              </a:rPr>
              <a:t>)</a:t>
            </a:r>
          </a:p>
          <a:p>
            <a:pPr lvl="1" algn="just">
              <a:lnSpc>
                <a:spcPct val="80000"/>
              </a:lnSpc>
              <a:buNone/>
            </a:pPr>
            <a:r>
              <a:rPr lang="en-US" altLang="zh-CN" sz="2400" dirty="0">
                <a:ea typeface="宋体" pitchFamily="2" charset="-122"/>
              </a:rPr>
              <a:t>      </a:t>
            </a:r>
            <a:r>
              <a:rPr lang="zh-CN" altLang="en-US" sz="2400" dirty="0">
                <a:ea typeface="宋体" pitchFamily="2" charset="-122"/>
              </a:rPr>
              <a:t>李勇    </a:t>
            </a:r>
            <a:r>
              <a:rPr lang="en-US" altLang="zh-CN" sz="2400" dirty="0">
                <a:ea typeface="宋体" pitchFamily="2" charset="-122"/>
              </a:rPr>
              <a:t>Year of Birth:    2004       	cs</a:t>
            </a:r>
          </a:p>
          <a:p>
            <a:pPr lvl="1" algn="just">
              <a:lnSpc>
                <a:spcPct val="80000"/>
              </a:lnSpc>
              <a:buNone/>
            </a:pPr>
            <a:r>
              <a:rPr lang="en-US" altLang="zh-CN" sz="2400" dirty="0">
                <a:ea typeface="宋体" pitchFamily="2" charset="-122"/>
              </a:rPr>
              <a:t>      </a:t>
            </a:r>
            <a:r>
              <a:rPr lang="zh-CN" altLang="en-US" sz="2400" dirty="0">
                <a:ea typeface="宋体" pitchFamily="2" charset="-122"/>
              </a:rPr>
              <a:t>刘晨    </a:t>
            </a:r>
            <a:r>
              <a:rPr lang="en-US" altLang="zh-CN" sz="2400" dirty="0">
                <a:ea typeface="宋体" pitchFamily="2" charset="-122"/>
              </a:rPr>
              <a:t>Year of Birth:    2003       	is</a:t>
            </a:r>
          </a:p>
          <a:p>
            <a:pPr lvl="1" algn="just">
              <a:lnSpc>
                <a:spcPct val="80000"/>
              </a:lnSpc>
              <a:buNone/>
            </a:pPr>
            <a:r>
              <a:rPr lang="en-US" altLang="zh-CN" sz="2400" dirty="0">
                <a:ea typeface="宋体" pitchFamily="2" charset="-122"/>
              </a:rPr>
              <a:t>      </a:t>
            </a:r>
            <a:r>
              <a:rPr lang="zh-CN" altLang="en-US" sz="2400" dirty="0">
                <a:ea typeface="宋体" pitchFamily="2" charset="-122"/>
              </a:rPr>
              <a:t>王敏    </a:t>
            </a:r>
            <a:r>
              <a:rPr lang="en-US" altLang="zh-CN" sz="2400" dirty="0">
                <a:ea typeface="宋体" pitchFamily="2" charset="-122"/>
              </a:rPr>
              <a:t>Year of Birth:    2005       	ma</a:t>
            </a:r>
          </a:p>
          <a:p>
            <a:pPr lvl="1" algn="just">
              <a:lnSpc>
                <a:spcPct val="80000"/>
              </a:lnSpc>
              <a:buNone/>
            </a:pPr>
            <a:r>
              <a:rPr lang="en-US" altLang="zh-CN" sz="2400" dirty="0">
                <a:ea typeface="宋体" pitchFamily="2" charset="-122"/>
              </a:rPr>
              <a:t>      </a:t>
            </a:r>
            <a:r>
              <a:rPr lang="zh-CN" altLang="en-US" sz="2400" dirty="0">
                <a:ea typeface="宋体" pitchFamily="2" charset="-122"/>
              </a:rPr>
              <a:t>张立    </a:t>
            </a:r>
            <a:r>
              <a:rPr lang="en-US" altLang="zh-CN" sz="2400" dirty="0">
                <a:ea typeface="宋体" pitchFamily="2" charset="-122"/>
              </a:rPr>
              <a:t>Year of Birth:    2005         	is 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/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1447800" y="4343400"/>
            <a:ext cx="701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6932884-0327-2552-F630-1EFEABBC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55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16540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42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42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42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42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42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42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42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42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42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42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42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42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42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42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E8C8833-C9BF-44AD-9895-00707D845055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5632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563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3.4.1 </a:t>
            </a:r>
            <a:r>
              <a:rPr lang="zh-CN" altLang="en-US"/>
              <a:t>单表查询</a:t>
            </a:r>
          </a:p>
        </p:txBody>
      </p:sp>
      <p:sp>
        <p:nvSpPr>
          <p:cNvPr id="563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0000FF"/>
                </a:solidFill>
              </a:rPr>
              <a:t>二、选择表中的</a:t>
            </a:r>
            <a:r>
              <a:rPr lang="zh-CN" altLang="en-US" dirty="0">
                <a:solidFill>
                  <a:srgbClr val="C00000"/>
                </a:solidFill>
              </a:rPr>
              <a:t>若干元组 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latin typeface="Arial" charset="0"/>
              </a:rPr>
              <a:t> </a:t>
            </a:r>
            <a:r>
              <a:rPr lang="en-US" altLang="zh-CN" dirty="0"/>
              <a:t>1.</a:t>
            </a:r>
            <a:r>
              <a:rPr lang="zh-CN" altLang="en-US" u="sng" dirty="0"/>
              <a:t>消除取值重复</a:t>
            </a:r>
            <a:r>
              <a:rPr lang="zh-CN" altLang="en-US" dirty="0"/>
              <a:t>的行</a:t>
            </a:r>
            <a:r>
              <a:rPr lang="en-US" altLang="zh-CN" dirty="0"/>
              <a:t>(</a:t>
            </a:r>
            <a:r>
              <a:rPr lang="zh-CN" altLang="en-US" dirty="0"/>
              <a:t>使用</a:t>
            </a:r>
            <a:r>
              <a:rPr lang="en-US" altLang="zh-CN" dirty="0">
                <a:solidFill>
                  <a:srgbClr val="FF0000"/>
                </a:solidFill>
              </a:rPr>
              <a:t>DISTINCT</a:t>
            </a:r>
            <a:r>
              <a:rPr lang="en-US" altLang="zh-CN" dirty="0"/>
              <a:t>)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1000" dirty="0"/>
          </a:p>
          <a:p>
            <a:pPr eaLnBrk="1" hangingPunct="1"/>
            <a:r>
              <a:rPr lang="zh-CN" altLang="en-US" sz="2800" dirty="0"/>
              <a:t>例</a:t>
            </a:r>
            <a:r>
              <a:rPr lang="en-US" altLang="zh-CN" sz="2800" dirty="0"/>
              <a:t>6 </a:t>
            </a:r>
            <a:r>
              <a:rPr lang="zh-CN" altLang="en-US" sz="2800" dirty="0"/>
              <a:t>查所有</a:t>
            </a:r>
            <a:r>
              <a:rPr lang="zh-CN" altLang="en-US" sz="2800" u="sng" dirty="0"/>
              <a:t>选修过课</a:t>
            </a:r>
            <a:r>
              <a:rPr lang="zh-CN" altLang="en-US" sz="2800" dirty="0"/>
              <a:t>的学生的学号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80"/>
                </a:solidFill>
              </a:rPr>
              <a:t>   SELECT </a:t>
            </a:r>
            <a:r>
              <a:rPr lang="en-US" altLang="zh-CN" sz="2800" dirty="0" err="1">
                <a:solidFill>
                  <a:srgbClr val="000080"/>
                </a:solidFill>
              </a:rPr>
              <a:t>Sno</a:t>
            </a:r>
            <a:endParaRPr lang="en-US" altLang="zh-CN" sz="2800" dirty="0">
              <a:solidFill>
                <a:srgbClr val="000080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80"/>
                </a:solidFill>
              </a:rPr>
              <a:t>	FROM SC;</a:t>
            </a:r>
          </a:p>
          <a:p>
            <a:pPr eaLnBrk="1" hangingPunct="1"/>
            <a:endParaRPr lang="zh-CN" altLang="en-US" sz="2800" dirty="0">
              <a:solidFill>
                <a:srgbClr val="000080"/>
              </a:solidFill>
            </a:endParaRPr>
          </a:p>
          <a:p>
            <a:pPr eaLnBrk="1" hangingPunct="1"/>
            <a:r>
              <a:rPr lang="zh-CN" altLang="en-US" sz="2800" dirty="0"/>
              <a:t>结果中有重复的行。（</a:t>
            </a:r>
            <a:r>
              <a:rPr lang="en-US" altLang="zh-CN" sz="2800" dirty="0"/>
              <a:t>SFW </a:t>
            </a:r>
            <a:r>
              <a:rPr lang="zh-CN" altLang="en-US" sz="2800" dirty="0"/>
              <a:t>默认允许重复）</a:t>
            </a:r>
          </a:p>
          <a:p>
            <a:pPr lvl="1" eaLnBrk="1" hangingPunct="1"/>
            <a:r>
              <a:rPr lang="zh-CN" altLang="en-US" dirty="0"/>
              <a:t>一个学生选多少门课，其学号就出现多少次。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66C54A9-2DA4-BF41-EE7A-C1EE0EBC7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56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63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63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3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63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3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63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63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63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63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63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63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7A72D80-3866-441F-9F42-74944E90AA68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5734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573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3.4.1 </a:t>
            </a:r>
            <a:r>
              <a:rPr lang="zh-CN" altLang="en-US"/>
              <a:t>单表查询</a:t>
            </a:r>
          </a:p>
        </p:txBody>
      </p:sp>
      <p:sp>
        <p:nvSpPr>
          <p:cNvPr id="573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solidFill>
                  <a:srgbClr val="C00000"/>
                </a:solidFill>
              </a:rPr>
              <a:t>DISTINCT</a:t>
            </a:r>
            <a:r>
              <a:rPr lang="zh-CN" altLang="en-US" dirty="0"/>
              <a:t>用于消除重复</a:t>
            </a:r>
          </a:p>
          <a:p>
            <a:pPr eaLnBrk="1" hangingPunct="1"/>
            <a:endParaRPr lang="zh-CN" altLang="en-US" dirty="0"/>
          </a:p>
          <a:p>
            <a:pPr lvl="2" eaLnBrk="1" hangingPunct="1">
              <a:buFont typeface="Wingdings" pitchFamily="2" charset="2"/>
              <a:buNone/>
            </a:pPr>
            <a:r>
              <a:rPr lang="en-US" altLang="zh-CN" sz="3200" dirty="0">
                <a:solidFill>
                  <a:srgbClr val="000080"/>
                </a:solidFill>
              </a:rPr>
              <a:t>  SELECT </a:t>
            </a:r>
            <a:r>
              <a:rPr lang="en-US" altLang="zh-CN" sz="3200" dirty="0">
                <a:solidFill>
                  <a:srgbClr val="C00000"/>
                </a:solidFill>
              </a:rPr>
              <a:t>DISTINCT</a:t>
            </a:r>
            <a:r>
              <a:rPr lang="en-US" altLang="zh-CN" sz="3200" dirty="0">
                <a:solidFill>
                  <a:srgbClr val="000080"/>
                </a:solidFill>
              </a:rPr>
              <a:t> </a:t>
            </a:r>
            <a:r>
              <a:rPr lang="en-US" altLang="zh-CN" sz="3200" dirty="0" err="1">
                <a:solidFill>
                  <a:srgbClr val="000080"/>
                </a:solidFill>
              </a:rPr>
              <a:t>Sno</a:t>
            </a:r>
            <a:endParaRPr lang="en-US" altLang="zh-CN" sz="3200" dirty="0">
              <a:solidFill>
                <a:srgbClr val="000080"/>
              </a:solidFill>
            </a:endParaRPr>
          </a:p>
          <a:p>
            <a:pPr lvl="2" eaLnBrk="1" hangingPunct="1">
              <a:buFont typeface="Wingdings" pitchFamily="2" charset="2"/>
              <a:buNone/>
            </a:pPr>
            <a:r>
              <a:rPr lang="en-US" altLang="zh-CN" sz="3200" dirty="0">
                <a:solidFill>
                  <a:srgbClr val="000080"/>
                </a:solidFill>
              </a:rPr>
              <a:t>	</a:t>
            </a:r>
            <a:r>
              <a:rPr lang="en-US" altLang="zh-CN" sz="3200" dirty="0"/>
              <a:t>FROM SC;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zh-CN" altLang="en-US" sz="3200" dirty="0">
                <a:solidFill>
                  <a:srgbClr val="000080"/>
                </a:solidFill>
              </a:rPr>
              <a:t>即可消除重复。</a:t>
            </a:r>
          </a:p>
          <a:p>
            <a:pPr eaLnBrk="1" hangingPunct="1"/>
            <a:endParaRPr lang="zh-CN" altLang="en-US" sz="28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7412A37-9E02-46E8-ED20-D51EBBC47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57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5E3B79F-5118-4BED-898F-F9D943036D88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5529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553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3.4.1 </a:t>
            </a:r>
            <a:r>
              <a:rPr lang="zh-CN" altLang="en-US"/>
              <a:t>单表查询</a:t>
            </a:r>
          </a:p>
        </p:txBody>
      </p:sp>
      <p:sp>
        <p:nvSpPr>
          <p:cNvPr id="553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u="sng" dirty="0"/>
              <a:t>改变列标题</a:t>
            </a:r>
            <a:r>
              <a:rPr lang="zh-CN" altLang="en-US" dirty="0"/>
              <a:t>（</a:t>
            </a:r>
            <a:r>
              <a:rPr lang="en-US" altLang="zh-CN" dirty="0"/>
              <a:t>SQL</a:t>
            </a:r>
            <a:r>
              <a:rPr lang="zh-CN" altLang="en-US" dirty="0"/>
              <a:t>标准用</a:t>
            </a:r>
            <a:r>
              <a:rPr lang="en-US" altLang="zh-CN" dirty="0">
                <a:solidFill>
                  <a:srgbClr val="C00000"/>
                </a:solidFill>
              </a:rPr>
              <a:t>AS</a:t>
            </a:r>
            <a:r>
              <a:rPr lang="zh-CN" altLang="en-US" dirty="0"/>
              <a:t>关键字），对应教材</a:t>
            </a:r>
            <a:r>
              <a:rPr lang="en-US" altLang="zh-CN" dirty="0"/>
              <a:t>3.4.1</a:t>
            </a:r>
            <a:endParaRPr lang="zh-CN" altLang="en-US" dirty="0"/>
          </a:p>
          <a:p>
            <a:pPr eaLnBrk="1" hangingPunct="1">
              <a:buFont typeface="Wingdings" pitchFamily="2" charset="2"/>
              <a:buNone/>
            </a:pPr>
            <a:endParaRPr lang="zh-CN" altLang="en-US" dirty="0">
              <a:solidFill>
                <a:srgbClr val="000080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80"/>
                </a:solidFill>
              </a:rPr>
              <a:t>SELECT </a:t>
            </a:r>
            <a:r>
              <a:rPr lang="en-US" altLang="zh-CN" sz="2800" dirty="0" err="1"/>
              <a:t>Sname</a:t>
            </a:r>
            <a:r>
              <a:rPr lang="en-US" altLang="zh-CN" sz="2800" dirty="0"/>
              <a:t> </a:t>
            </a:r>
            <a:r>
              <a:rPr lang="en-US" altLang="zh-CN" sz="2800" dirty="0">
                <a:solidFill>
                  <a:srgbClr val="C00000"/>
                </a:solidFill>
              </a:rPr>
              <a:t>AS</a:t>
            </a:r>
            <a:r>
              <a:rPr lang="en-US" altLang="zh-CN" sz="2800" dirty="0">
                <a:solidFill>
                  <a:srgbClr val="000080"/>
                </a:solidFill>
              </a:rPr>
              <a:t> Name, </a:t>
            </a:r>
            <a:r>
              <a:rPr lang="en-US" altLang="zh-CN" sz="2800" dirty="0">
                <a:solidFill>
                  <a:srgbClr val="006600"/>
                </a:solidFill>
              </a:rPr>
              <a:t>'Year of Birth:' </a:t>
            </a:r>
            <a:r>
              <a:rPr lang="en-US" altLang="zh-CN" sz="2800" dirty="0">
                <a:solidFill>
                  <a:srgbClr val="C00000"/>
                </a:solidFill>
              </a:rPr>
              <a:t>AS</a:t>
            </a:r>
            <a:r>
              <a:rPr lang="en-US" altLang="zh-CN" sz="2800" dirty="0">
                <a:solidFill>
                  <a:srgbClr val="000080"/>
                </a:solidFill>
              </a:rPr>
              <a:t> Birth, </a:t>
            </a:r>
            <a:r>
              <a:rPr lang="en-US" altLang="zh-CN" sz="2800" dirty="0">
                <a:solidFill>
                  <a:srgbClr val="0000FF"/>
                </a:solidFill>
              </a:rPr>
              <a:t>2025-Sage</a:t>
            </a:r>
            <a:r>
              <a:rPr lang="en-US" altLang="zh-CN" sz="2800" dirty="0">
                <a:solidFill>
                  <a:srgbClr val="000080"/>
                </a:solidFill>
              </a:rPr>
              <a:t> </a:t>
            </a:r>
            <a:r>
              <a:rPr lang="en-US" altLang="zh-CN" sz="2800" dirty="0">
                <a:solidFill>
                  <a:srgbClr val="C00000"/>
                </a:solidFill>
              </a:rPr>
              <a:t>AS</a:t>
            </a:r>
            <a:r>
              <a:rPr lang="en-US" altLang="zh-CN" sz="2800" dirty="0">
                <a:solidFill>
                  <a:srgbClr val="000080"/>
                </a:solidFill>
              </a:rPr>
              <a:t> </a:t>
            </a:r>
            <a:r>
              <a:rPr lang="en-US" altLang="zh-CN" sz="2800" dirty="0" err="1">
                <a:solidFill>
                  <a:srgbClr val="000080"/>
                </a:solidFill>
              </a:rPr>
              <a:t>BirthYear</a:t>
            </a:r>
            <a:r>
              <a:rPr lang="en-US" altLang="zh-CN" sz="2800" dirty="0">
                <a:solidFill>
                  <a:srgbClr val="000080"/>
                </a:solidFill>
              </a:rPr>
              <a:t>, </a:t>
            </a:r>
            <a:r>
              <a:rPr lang="en-US" altLang="zh-CN" sz="2800" dirty="0">
                <a:solidFill>
                  <a:srgbClr val="FF0000"/>
                </a:solidFill>
              </a:rPr>
              <a:t>LOWER(</a:t>
            </a:r>
            <a:r>
              <a:rPr lang="en-US" altLang="zh-CN" sz="2800" dirty="0" err="1">
                <a:solidFill>
                  <a:srgbClr val="FF0000"/>
                </a:solidFill>
              </a:rPr>
              <a:t>Sdept</a:t>
            </a:r>
            <a:r>
              <a:rPr lang="en-US" altLang="zh-CN" sz="2800" dirty="0">
                <a:solidFill>
                  <a:srgbClr val="FF0000"/>
                </a:solidFill>
              </a:rPr>
              <a:t>)</a:t>
            </a:r>
            <a:r>
              <a:rPr lang="en-US" altLang="zh-CN" sz="2800" dirty="0">
                <a:solidFill>
                  <a:srgbClr val="000080"/>
                </a:solidFill>
              </a:rPr>
              <a:t> </a:t>
            </a:r>
            <a:r>
              <a:rPr lang="en-US" altLang="zh-CN" sz="2800" dirty="0">
                <a:solidFill>
                  <a:srgbClr val="C00000"/>
                </a:solidFill>
              </a:rPr>
              <a:t>AS</a:t>
            </a:r>
            <a:r>
              <a:rPr lang="en-US" altLang="zh-CN" sz="2800" dirty="0">
                <a:solidFill>
                  <a:srgbClr val="000080"/>
                </a:solidFill>
              </a:rPr>
              <a:t> Department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80"/>
                </a:solidFill>
              </a:rPr>
              <a:t>FROM </a:t>
            </a:r>
            <a:r>
              <a:rPr lang="en-US" altLang="zh-CN" sz="2800" dirty="0"/>
              <a:t>Student;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9863486-51D3-1715-3296-D0D4491A3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58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742654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3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3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53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53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931538A-98D3-4727-99D9-497E9AE19E48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5529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553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3.4.1 </a:t>
            </a:r>
            <a:r>
              <a:rPr lang="zh-CN" altLang="en-US"/>
              <a:t>单表查询</a:t>
            </a:r>
          </a:p>
        </p:txBody>
      </p:sp>
      <p:sp>
        <p:nvSpPr>
          <p:cNvPr id="553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SELECT </a:t>
            </a:r>
            <a:r>
              <a:rPr lang="en-US" altLang="zh-CN" sz="2400" dirty="0" err="1"/>
              <a:t>Sname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0000FF"/>
                </a:solidFill>
              </a:rPr>
              <a:t>AS</a:t>
            </a:r>
            <a:r>
              <a:rPr lang="en-US" altLang="zh-CN" sz="2400" dirty="0"/>
              <a:t> Name, 'Year of Birth:' </a:t>
            </a:r>
            <a:r>
              <a:rPr lang="en-US" altLang="zh-CN" sz="2400" dirty="0">
                <a:solidFill>
                  <a:srgbClr val="0000FF"/>
                </a:solidFill>
              </a:rPr>
              <a:t>AS</a:t>
            </a:r>
            <a:r>
              <a:rPr lang="en-US" altLang="zh-CN" sz="2400" dirty="0"/>
              <a:t> Birth, 2025-Sage </a:t>
            </a:r>
            <a:r>
              <a:rPr lang="en-US" altLang="zh-CN" sz="2400" dirty="0">
                <a:solidFill>
                  <a:srgbClr val="0000FF"/>
                </a:solidFill>
              </a:rPr>
              <a:t>AS</a:t>
            </a:r>
            <a:r>
              <a:rPr lang="en-US" altLang="zh-CN" sz="2400" dirty="0"/>
              <a:t> </a:t>
            </a:r>
            <a:r>
              <a:rPr lang="en-US" altLang="zh-CN" sz="2400" dirty="0" err="1"/>
              <a:t>BirthYear</a:t>
            </a:r>
            <a:r>
              <a:rPr lang="en-US" altLang="zh-CN" sz="2400" dirty="0"/>
              <a:t>, LOWER(</a:t>
            </a:r>
            <a:r>
              <a:rPr lang="en-US" altLang="zh-CN" sz="2400" dirty="0" err="1"/>
              <a:t>Sdept</a:t>
            </a:r>
            <a:r>
              <a:rPr lang="en-US" altLang="zh-CN" sz="2400" dirty="0"/>
              <a:t>) </a:t>
            </a:r>
            <a:r>
              <a:rPr lang="en-US" altLang="zh-CN" sz="2400" dirty="0">
                <a:solidFill>
                  <a:srgbClr val="0000FF"/>
                </a:solidFill>
              </a:rPr>
              <a:t>AS</a:t>
            </a:r>
            <a:r>
              <a:rPr lang="en-US" altLang="zh-CN" sz="2400" dirty="0"/>
              <a:t> Department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FROM Student;</a:t>
            </a:r>
          </a:p>
          <a:p>
            <a:pPr lvl="1">
              <a:lnSpc>
                <a:spcPct val="90000"/>
              </a:lnSpc>
              <a:buNone/>
            </a:pPr>
            <a:endParaRPr lang="en-US" altLang="zh-CN" sz="2000" b="1" dirty="0">
              <a:ea typeface="宋体" pitchFamily="2" charset="-122"/>
            </a:endParaRPr>
          </a:p>
          <a:p>
            <a:pPr lvl="1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rgbClr val="0000FF"/>
                </a:solidFill>
                <a:ea typeface="宋体" pitchFamily="2" charset="-122"/>
              </a:rPr>
              <a:t>输出结果</a:t>
            </a:r>
            <a:r>
              <a:rPr lang="zh-CN" altLang="en-US" sz="2400" dirty="0">
                <a:solidFill>
                  <a:srgbClr val="0000FF"/>
                </a:solidFill>
                <a:ea typeface="宋体" pitchFamily="2" charset="-122"/>
              </a:rPr>
              <a:t>：</a:t>
            </a:r>
          </a:p>
          <a:p>
            <a:pPr lvl="1" algn="just">
              <a:lnSpc>
                <a:spcPct val="50000"/>
              </a:lnSpc>
              <a:buNone/>
            </a:pPr>
            <a:r>
              <a:rPr lang="zh-CN" altLang="en-US" sz="2400" dirty="0">
                <a:ea typeface="宋体" pitchFamily="2" charset="-122"/>
              </a:rPr>
              <a:t>    </a:t>
            </a:r>
            <a:r>
              <a:rPr lang="en-US" altLang="zh-CN" sz="2000" dirty="0">
                <a:solidFill>
                  <a:srgbClr val="C00000"/>
                </a:solidFill>
                <a:ea typeface="宋体" pitchFamily="2" charset="-122"/>
              </a:rPr>
              <a:t>Name          Birth               </a:t>
            </a:r>
            <a:r>
              <a:rPr lang="en-US" altLang="zh-CN" sz="2000" dirty="0" err="1">
                <a:solidFill>
                  <a:srgbClr val="C00000"/>
                </a:solidFill>
                <a:ea typeface="宋体" pitchFamily="2" charset="-122"/>
              </a:rPr>
              <a:t>BirthYear</a:t>
            </a:r>
            <a:r>
              <a:rPr lang="en-US" altLang="zh-CN" sz="2000" dirty="0">
                <a:solidFill>
                  <a:srgbClr val="C00000"/>
                </a:solidFill>
                <a:ea typeface="宋体" pitchFamily="2" charset="-122"/>
              </a:rPr>
              <a:t>       Department</a:t>
            </a:r>
          </a:p>
          <a:p>
            <a:pPr lvl="1" algn="just">
              <a:lnSpc>
                <a:spcPct val="50000"/>
              </a:lnSpc>
              <a:buNone/>
            </a:pPr>
            <a:r>
              <a:rPr lang="en-US" altLang="zh-CN" sz="2400" dirty="0">
                <a:ea typeface="宋体" pitchFamily="2" charset="-122"/>
              </a:rPr>
              <a:t>   -------   ----------------    -------------  ------------------</a:t>
            </a:r>
          </a:p>
          <a:p>
            <a:pPr lvl="1" algn="just">
              <a:lnSpc>
                <a:spcPct val="90000"/>
              </a:lnSpc>
              <a:buNone/>
            </a:pPr>
            <a:r>
              <a:rPr lang="en-US" altLang="zh-CN" sz="2400" dirty="0">
                <a:ea typeface="宋体" pitchFamily="2" charset="-122"/>
              </a:rPr>
              <a:t>     </a:t>
            </a:r>
            <a:r>
              <a:rPr lang="zh-CN" altLang="en-US" sz="2400" dirty="0">
                <a:ea typeface="宋体" pitchFamily="2" charset="-122"/>
              </a:rPr>
              <a:t>李勇    </a:t>
            </a:r>
            <a:r>
              <a:rPr lang="en-US" altLang="zh-CN" sz="2400" dirty="0">
                <a:ea typeface="宋体" pitchFamily="2" charset="-122"/>
              </a:rPr>
              <a:t>Year of Birth:     2004             cs</a:t>
            </a:r>
          </a:p>
          <a:p>
            <a:pPr lvl="1" algn="just">
              <a:lnSpc>
                <a:spcPct val="90000"/>
              </a:lnSpc>
              <a:buNone/>
            </a:pPr>
            <a:r>
              <a:rPr lang="en-US" altLang="zh-CN" sz="2400" dirty="0">
                <a:ea typeface="宋体" pitchFamily="2" charset="-122"/>
              </a:rPr>
              <a:t>     </a:t>
            </a:r>
            <a:r>
              <a:rPr lang="zh-CN" altLang="en-US" sz="2400" dirty="0">
                <a:ea typeface="宋体" pitchFamily="2" charset="-122"/>
              </a:rPr>
              <a:t>刘晨    </a:t>
            </a:r>
            <a:r>
              <a:rPr lang="en-US" altLang="zh-CN" sz="2400" dirty="0">
                <a:ea typeface="宋体" pitchFamily="2" charset="-122"/>
              </a:rPr>
              <a:t>Year of Birth:     2003             is</a:t>
            </a:r>
          </a:p>
          <a:p>
            <a:pPr lvl="1" algn="just">
              <a:lnSpc>
                <a:spcPct val="90000"/>
              </a:lnSpc>
              <a:buNone/>
            </a:pPr>
            <a:r>
              <a:rPr lang="en-US" altLang="zh-CN" sz="2400" dirty="0">
                <a:ea typeface="宋体" pitchFamily="2" charset="-122"/>
              </a:rPr>
              <a:t>     </a:t>
            </a:r>
            <a:r>
              <a:rPr lang="zh-CN" altLang="en-US" sz="2400" dirty="0">
                <a:ea typeface="宋体" pitchFamily="2" charset="-122"/>
              </a:rPr>
              <a:t>王敏    </a:t>
            </a:r>
            <a:r>
              <a:rPr lang="en-US" altLang="zh-CN" sz="2400" dirty="0">
                <a:ea typeface="宋体" pitchFamily="2" charset="-122"/>
              </a:rPr>
              <a:t>Year of Birth:     2005             ma</a:t>
            </a:r>
          </a:p>
          <a:p>
            <a:pPr lvl="1" algn="just">
              <a:lnSpc>
                <a:spcPct val="90000"/>
              </a:lnSpc>
              <a:buNone/>
            </a:pPr>
            <a:r>
              <a:rPr lang="en-US" altLang="zh-CN" sz="2400" dirty="0">
                <a:ea typeface="宋体" pitchFamily="2" charset="-122"/>
              </a:rPr>
              <a:t>     </a:t>
            </a:r>
            <a:r>
              <a:rPr lang="zh-CN" altLang="en-US" sz="2400" dirty="0">
                <a:ea typeface="宋体" pitchFamily="2" charset="-122"/>
              </a:rPr>
              <a:t>张立    </a:t>
            </a:r>
            <a:r>
              <a:rPr lang="en-US" altLang="zh-CN" sz="2400" dirty="0">
                <a:ea typeface="宋体" pitchFamily="2" charset="-122"/>
              </a:rPr>
              <a:t>Year of Birth:     2005             is</a:t>
            </a:r>
          </a:p>
          <a:p>
            <a:pPr eaLnBrk="1" hangingPunct="1"/>
            <a:endParaRPr lang="zh-CN" altLang="en-US" sz="36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FFD30D2-384C-FA9C-118B-F76A9B14A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59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113748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53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53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53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3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53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53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53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53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53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53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53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53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53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53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0E4E795-4B84-4707-9FFC-4F2B3B619CDE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5529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553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3.4.1 </a:t>
            </a:r>
            <a:r>
              <a:rPr lang="zh-CN" altLang="en-US"/>
              <a:t>单表查询</a:t>
            </a:r>
          </a:p>
        </p:txBody>
      </p:sp>
      <p:sp>
        <p:nvSpPr>
          <p:cNvPr id="553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AS</a:t>
            </a:r>
            <a:r>
              <a:rPr lang="zh-CN" altLang="en-US" dirty="0"/>
              <a:t>子句也可以出现在</a:t>
            </a:r>
            <a:r>
              <a:rPr lang="en-US" altLang="zh-CN" dirty="0">
                <a:solidFill>
                  <a:srgbClr val="0000FF"/>
                </a:solidFill>
              </a:rPr>
              <a:t>FROM</a:t>
            </a:r>
            <a:r>
              <a:rPr lang="zh-CN" altLang="en-US" dirty="0">
                <a:solidFill>
                  <a:srgbClr val="0000FF"/>
                </a:solidFill>
              </a:rPr>
              <a:t>子句</a:t>
            </a:r>
            <a:r>
              <a:rPr lang="zh-CN" altLang="en-US" dirty="0"/>
              <a:t>中，用于重命名关系，即把一个长的关系名替换成短的</a:t>
            </a:r>
            <a:endParaRPr lang="en-US" altLang="zh-CN" dirty="0"/>
          </a:p>
          <a:p>
            <a:pPr eaLnBrk="1" hangingPunct="1"/>
            <a:endParaRPr lang="zh-CN" altLang="en-US" dirty="0">
              <a:solidFill>
                <a:srgbClr val="000080"/>
              </a:solidFill>
            </a:endParaRPr>
          </a:p>
          <a:p>
            <a:pPr eaLnBrk="1" hangingPunct="1">
              <a:buNone/>
            </a:pPr>
            <a:r>
              <a:rPr lang="en-US" altLang="zh-CN" sz="2800" dirty="0">
                <a:solidFill>
                  <a:srgbClr val="000080"/>
                </a:solidFill>
              </a:rPr>
              <a:t>SELECT </a:t>
            </a:r>
            <a:r>
              <a:rPr lang="en-US" altLang="zh-CN" sz="2800" dirty="0" err="1">
                <a:solidFill>
                  <a:srgbClr val="FF0000"/>
                </a:solidFill>
              </a:rPr>
              <a:t>S.</a:t>
            </a:r>
            <a:r>
              <a:rPr lang="en-US" altLang="zh-CN" sz="2800" dirty="0" err="1"/>
              <a:t>Sname</a:t>
            </a:r>
            <a:r>
              <a:rPr lang="en-US" altLang="zh-CN" sz="2800" dirty="0"/>
              <a:t> </a:t>
            </a:r>
            <a:r>
              <a:rPr lang="en-US" altLang="zh-CN" sz="2800" dirty="0">
                <a:solidFill>
                  <a:srgbClr val="C00000"/>
                </a:solidFill>
              </a:rPr>
              <a:t>AS</a:t>
            </a:r>
            <a:r>
              <a:rPr lang="en-US" altLang="zh-CN" sz="2800" dirty="0">
                <a:solidFill>
                  <a:srgbClr val="000080"/>
                </a:solidFill>
              </a:rPr>
              <a:t> </a:t>
            </a:r>
            <a:r>
              <a:rPr lang="en-US" altLang="zh-CN" sz="2800" dirty="0"/>
              <a:t>Name</a:t>
            </a:r>
            <a:r>
              <a:rPr lang="en-US" altLang="zh-CN" sz="2800" dirty="0">
                <a:solidFill>
                  <a:srgbClr val="000080"/>
                </a:solidFill>
              </a:rPr>
              <a:t>, </a:t>
            </a:r>
            <a:r>
              <a:rPr lang="en-US" altLang="zh-CN" sz="2800" dirty="0"/>
              <a:t>'Year of Birth:' AS Birth, 2025-Sage AS </a:t>
            </a:r>
            <a:r>
              <a:rPr lang="en-US" altLang="zh-CN" sz="2800" dirty="0" err="1"/>
              <a:t>BirthYear</a:t>
            </a:r>
            <a:r>
              <a:rPr lang="en-US" altLang="zh-CN" sz="2800" dirty="0">
                <a:solidFill>
                  <a:srgbClr val="000080"/>
                </a:solidFill>
              </a:rPr>
              <a:t>, </a:t>
            </a:r>
            <a:r>
              <a:rPr lang="en-US" altLang="zh-CN" sz="2800" dirty="0">
                <a:solidFill>
                  <a:srgbClr val="FF0000"/>
                </a:solidFill>
              </a:rPr>
              <a:t>LOWER(</a:t>
            </a:r>
            <a:r>
              <a:rPr lang="en-US" altLang="zh-CN" sz="2800" dirty="0" err="1">
                <a:solidFill>
                  <a:srgbClr val="FF0000"/>
                </a:solidFill>
              </a:rPr>
              <a:t>S.</a:t>
            </a:r>
            <a:r>
              <a:rPr lang="en-US" altLang="zh-CN" sz="2800" dirty="0" err="1"/>
              <a:t>Sdept</a:t>
            </a:r>
            <a:r>
              <a:rPr lang="en-US" altLang="zh-CN" sz="2800" dirty="0">
                <a:solidFill>
                  <a:srgbClr val="FF0000"/>
                </a:solidFill>
              </a:rPr>
              <a:t>)</a:t>
            </a:r>
            <a:r>
              <a:rPr lang="en-US" altLang="zh-CN" sz="2800" dirty="0">
                <a:solidFill>
                  <a:srgbClr val="000080"/>
                </a:solidFill>
              </a:rPr>
              <a:t> </a:t>
            </a:r>
            <a:r>
              <a:rPr lang="en-US" altLang="zh-CN" sz="2800" dirty="0">
                <a:solidFill>
                  <a:srgbClr val="C00000"/>
                </a:solidFill>
              </a:rPr>
              <a:t>AS</a:t>
            </a:r>
            <a:r>
              <a:rPr lang="en-US" altLang="zh-CN" sz="2800" dirty="0">
                <a:solidFill>
                  <a:srgbClr val="000080"/>
                </a:solidFill>
              </a:rPr>
              <a:t> </a:t>
            </a:r>
            <a:r>
              <a:rPr lang="en-US" altLang="zh-CN" sz="2800" dirty="0"/>
              <a:t>Department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80"/>
                </a:solidFill>
              </a:rPr>
              <a:t>FROM </a:t>
            </a:r>
            <a:r>
              <a:rPr lang="en-US" altLang="zh-CN" sz="2800" dirty="0"/>
              <a:t>Student AS </a:t>
            </a:r>
            <a:r>
              <a:rPr lang="en-US" altLang="zh-CN" sz="2800" dirty="0">
                <a:solidFill>
                  <a:srgbClr val="FF0000"/>
                </a:solidFill>
              </a:rPr>
              <a:t>S</a:t>
            </a:r>
            <a:r>
              <a:rPr lang="en-US" altLang="zh-CN" sz="2800" dirty="0"/>
              <a:t>;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542782A-A07E-9313-7BB5-107D21092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60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59237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3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3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53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53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7336622-B1CA-4A90-A67A-8B3825FFFC0E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5837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583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3.4.1 </a:t>
            </a:r>
            <a:r>
              <a:rPr lang="zh-CN" altLang="en-US"/>
              <a:t>单表查询</a:t>
            </a:r>
          </a:p>
        </p:txBody>
      </p:sp>
      <p:sp>
        <p:nvSpPr>
          <p:cNvPr id="583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None/>
            </a:pPr>
            <a:r>
              <a:rPr lang="en-US" altLang="zh-CN" sz="2800" dirty="0"/>
              <a:t>2. </a:t>
            </a:r>
            <a:r>
              <a:rPr lang="zh-CN" altLang="en-US" sz="2800" dirty="0"/>
              <a:t>查询</a:t>
            </a:r>
            <a:r>
              <a:rPr lang="zh-CN" altLang="en-US" sz="2800" u="sng" dirty="0"/>
              <a:t>满足条件的元组</a:t>
            </a:r>
            <a:r>
              <a:rPr lang="en-US" altLang="zh-CN" sz="2800" u="sng" dirty="0"/>
              <a:t>(</a:t>
            </a:r>
            <a:r>
              <a:rPr lang="zh-CN" altLang="en-US" sz="2800" u="sng" dirty="0"/>
              <a:t>教材</a:t>
            </a:r>
            <a:r>
              <a:rPr lang="en-US" altLang="zh-CN" sz="2800" u="sng" dirty="0"/>
              <a:t>3.4.5)</a:t>
            </a:r>
            <a:endParaRPr lang="zh-CN" altLang="en-US" sz="2800" u="sng" dirty="0"/>
          </a:p>
          <a:p>
            <a:pPr eaLnBrk="1" hangingPunct="1"/>
            <a:r>
              <a:rPr lang="zh-CN" altLang="en-US" sz="2800" dirty="0"/>
              <a:t>查询满足</a:t>
            </a:r>
            <a:r>
              <a:rPr lang="zh-CN" altLang="en-US" sz="2800" dirty="0">
                <a:solidFill>
                  <a:srgbClr val="C00000"/>
                </a:solidFill>
              </a:rPr>
              <a:t>指定条件</a:t>
            </a:r>
            <a:r>
              <a:rPr lang="zh-CN" altLang="en-US" sz="2800" dirty="0"/>
              <a:t>的元组可以通过</a:t>
            </a:r>
            <a:r>
              <a:rPr lang="en-US" altLang="zh-CN" sz="2800" dirty="0">
                <a:solidFill>
                  <a:srgbClr val="C00000"/>
                </a:solidFill>
              </a:rPr>
              <a:t>where</a:t>
            </a:r>
            <a:r>
              <a:rPr lang="zh-CN" altLang="en-US" sz="2800" dirty="0"/>
              <a:t>子句实现</a:t>
            </a:r>
            <a:r>
              <a:rPr lang="en-US" altLang="zh-CN" sz="2800" dirty="0"/>
              <a:t>, SQL</a:t>
            </a:r>
            <a:r>
              <a:rPr lang="zh-CN" altLang="en-US" sz="2800" dirty="0"/>
              <a:t>允许在</a:t>
            </a:r>
            <a:r>
              <a:rPr lang="en-US" altLang="zh-CN" sz="2800" dirty="0"/>
              <a:t>where</a:t>
            </a:r>
            <a:r>
              <a:rPr lang="zh-CN" altLang="en-US" sz="2800" dirty="0"/>
              <a:t>子句中使用</a:t>
            </a:r>
            <a:r>
              <a:rPr lang="zh-CN" altLang="en-US" sz="2800" dirty="0">
                <a:solidFill>
                  <a:srgbClr val="FF0000"/>
                </a:solidFill>
              </a:rPr>
              <a:t>逻辑连词</a:t>
            </a:r>
            <a:r>
              <a:rPr lang="zh-CN" altLang="en-US" sz="2800" dirty="0"/>
              <a:t>。逻辑连词的运算对象可以是包含</a:t>
            </a:r>
            <a:r>
              <a:rPr lang="zh-CN" altLang="en-US" sz="2800" dirty="0">
                <a:solidFill>
                  <a:srgbClr val="0000FF"/>
                </a:solidFill>
              </a:rPr>
              <a:t>比较运算符</a:t>
            </a:r>
            <a:r>
              <a:rPr lang="zh-CN" altLang="en-US" sz="2800" dirty="0"/>
              <a:t>的表达式</a:t>
            </a:r>
          </a:p>
          <a:p>
            <a:pPr lvl="1" eaLnBrk="1" hangingPunct="1"/>
            <a:r>
              <a:rPr lang="zh-CN" altLang="en-US" sz="2400" dirty="0"/>
              <a:t>比较 常用</a:t>
            </a:r>
            <a:r>
              <a:rPr lang="en-US" altLang="zh-CN" sz="2400" dirty="0">
                <a:solidFill>
                  <a:srgbClr val="0000FF"/>
                </a:solidFill>
              </a:rPr>
              <a:t>=,&gt;,&lt;,&gt;=,&lt;=,!=</a:t>
            </a:r>
          </a:p>
          <a:p>
            <a:pPr lvl="1" eaLnBrk="1" hangingPunct="1"/>
            <a:r>
              <a:rPr lang="zh-CN" altLang="en-US" sz="2400" dirty="0"/>
              <a:t>确定</a:t>
            </a:r>
            <a:r>
              <a:rPr lang="zh-CN" altLang="en-US" sz="2400" dirty="0">
                <a:solidFill>
                  <a:srgbClr val="0000FF"/>
                </a:solidFill>
              </a:rPr>
              <a:t>范围</a:t>
            </a:r>
            <a:r>
              <a:rPr lang="zh-CN" altLang="en-US" sz="2400" dirty="0"/>
              <a:t> </a:t>
            </a:r>
            <a:r>
              <a:rPr lang="en-US" altLang="zh-CN" sz="2400" dirty="0"/>
              <a:t>BETWEEN AND, </a:t>
            </a:r>
            <a:r>
              <a:rPr lang="en-US" altLang="zh-CN" sz="2400" dirty="0">
                <a:solidFill>
                  <a:srgbClr val="660066"/>
                </a:solidFill>
              </a:rPr>
              <a:t>NOT</a:t>
            </a:r>
            <a:r>
              <a:rPr lang="en-US" altLang="zh-CN" sz="2400" dirty="0"/>
              <a:t> BETWEEN AND</a:t>
            </a:r>
          </a:p>
          <a:p>
            <a:pPr lvl="1" eaLnBrk="1" hangingPunct="1"/>
            <a:r>
              <a:rPr lang="zh-CN" altLang="en-US" sz="2400" dirty="0"/>
              <a:t>确定</a:t>
            </a:r>
            <a:r>
              <a:rPr lang="zh-CN" altLang="en-US" sz="2400" dirty="0">
                <a:solidFill>
                  <a:srgbClr val="0000FF"/>
                </a:solidFill>
              </a:rPr>
              <a:t>集合</a:t>
            </a:r>
            <a:r>
              <a:rPr lang="zh-CN" altLang="en-US" sz="2400" dirty="0"/>
              <a:t> </a:t>
            </a:r>
            <a:r>
              <a:rPr lang="en-US" altLang="zh-CN" sz="2400" dirty="0"/>
              <a:t>IN, </a:t>
            </a:r>
            <a:r>
              <a:rPr lang="en-US" altLang="zh-CN" sz="2400" dirty="0">
                <a:solidFill>
                  <a:srgbClr val="660066"/>
                </a:solidFill>
              </a:rPr>
              <a:t>NOT</a:t>
            </a:r>
            <a:r>
              <a:rPr lang="en-US" altLang="zh-CN" sz="2400" dirty="0"/>
              <a:t> IN</a:t>
            </a:r>
          </a:p>
          <a:p>
            <a:pPr lvl="1" eaLnBrk="1" hangingPunct="1"/>
            <a:r>
              <a:rPr lang="zh-CN" altLang="en-US" sz="2400" dirty="0"/>
              <a:t>空值 </a:t>
            </a:r>
            <a:r>
              <a:rPr lang="en-US" altLang="zh-CN" sz="2400" dirty="0"/>
              <a:t>IS NULL, IS </a:t>
            </a:r>
            <a:r>
              <a:rPr lang="en-US" altLang="zh-CN" sz="2400" dirty="0">
                <a:solidFill>
                  <a:srgbClr val="660066"/>
                </a:solidFill>
              </a:rPr>
              <a:t>NOT</a:t>
            </a:r>
            <a:r>
              <a:rPr lang="en-US" altLang="zh-CN" sz="2400" dirty="0"/>
              <a:t> NULL</a:t>
            </a:r>
          </a:p>
          <a:p>
            <a:pPr lvl="1" eaLnBrk="1" hangingPunct="1"/>
            <a:r>
              <a:rPr lang="zh-CN" altLang="en-US" sz="2400" dirty="0">
                <a:solidFill>
                  <a:srgbClr val="0000FF"/>
                </a:solidFill>
              </a:rPr>
              <a:t>多重条件</a:t>
            </a:r>
            <a:r>
              <a:rPr lang="en-US" altLang="zh-CN" sz="2400" dirty="0"/>
              <a:t>(</a:t>
            </a:r>
            <a:r>
              <a:rPr lang="zh-CN" altLang="en-US" sz="2400" dirty="0"/>
              <a:t>逻辑运算</a:t>
            </a:r>
            <a:r>
              <a:rPr lang="en-US" altLang="zh-CN" sz="2400" dirty="0"/>
              <a:t>)</a:t>
            </a:r>
            <a:r>
              <a:rPr lang="zh-CN" altLang="en-US" sz="2400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AND, OR, NOT</a:t>
            </a:r>
          </a:p>
          <a:p>
            <a:pPr eaLnBrk="1" hangingPunct="1"/>
            <a:endParaRPr lang="zh-CN" altLang="en-US" sz="28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77757B5-67FF-3F0D-2517-70DF3812F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61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8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8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3750" fill="hold"/>
                                        <p:tgtEl>
                                          <p:spTgt spid="58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3750" fill="hold"/>
                                        <p:tgtEl>
                                          <p:spTgt spid="58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25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3750" fill="hold"/>
                                        <p:tgtEl>
                                          <p:spTgt spid="58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3750" fill="hold"/>
                                        <p:tgtEl>
                                          <p:spTgt spid="58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00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3750" fill="hold"/>
                                        <p:tgtEl>
                                          <p:spTgt spid="58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3750" fill="hold"/>
                                        <p:tgtEl>
                                          <p:spTgt spid="58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1750"/>
                            </p:stCondLst>
                            <p:childTnLst>
                              <p:par>
                                <p:cTn id="3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3750" fill="hold"/>
                                        <p:tgtEl>
                                          <p:spTgt spid="583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3750" fill="hold"/>
                                        <p:tgtEl>
                                          <p:spTgt spid="583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C5DBF82-4A7A-457A-B63F-F45DCEDDB431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5939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593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3.4.1 </a:t>
            </a:r>
            <a:r>
              <a:rPr lang="zh-CN" altLang="en-US"/>
              <a:t>单表查询</a:t>
            </a:r>
          </a:p>
        </p:txBody>
      </p:sp>
      <p:sp>
        <p:nvSpPr>
          <p:cNvPr id="593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altLang="zh-CN" dirty="0"/>
              <a:t>(1) </a:t>
            </a:r>
            <a:r>
              <a:rPr lang="zh-CN" altLang="en-US" dirty="0"/>
              <a:t>比较大小</a:t>
            </a:r>
          </a:p>
          <a:p>
            <a:pPr marL="609600" indent="-609600" eaLnBrk="1" hangingPunct="1">
              <a:buFontTx/>
              <a:buNone/>
            </a:pPr>
            <a:endParaRPr lang="zh-CN" altLang="en-US" sz="2800" dirty="0"/>
          </a:p>
          <a:p>
            <a:pPr marL="609600" indent="-609600" eaLnBrk="1" hangingPunct="1"/>
            <a:r>
              <a:rPr lang="zh-CN" altLang="en-US" sz="2800" dirty="0"/>
              <a:t>例</a:t>
            </a:r>
            <a:r>
              <a:rPr lang="en-US" altLang="zh-CN" sz="2800" dirty="0"/>
              <a:t>7 </a:t>
            </a:r>
            <a:r>
              <a:rPr lang="zh-CN" altLang="en-US" sz="2800" dirty="0"/>
              <a:t>查询计算机系全体学生的名单。</a:t>
            </a:r>
          </a:p>
          <a:p>
            <a:pPr marL="609600" indent="-609600" eaLnBrk="1" hangingPunct="1">
              <a:buFontTx/>
              <a:buNone/>
            </a:pPr>
            <a:endParaRPr lang="zh-CN" altLang="en-US" sz="1000" dirty="0"/>
          </a:p>
          <a:p>
            <a:pPr marL="609600" indent="-609600" eaLnBrk="1" hangingPunct="1">
              <a:buFontTx/>
              <a:buNone/>
            </a:pPr>
            <a:r>
              <a:rPr lang="en-US" altLang="zh-CN" sz="2800" dirty="0"/>
              <a:t>  SELECT </a:t>
            </a:r>
            <a:r>
              <a:rPr lang="en-US" altLang="zh-CN" sz="2800" dirty="0" err="1"/>
              <a:t>Sname</a:t>
            </a:r>
            <a:endParaRPr lang="en-US" altLang="zh-CN" sz="2800" dirty="0"/>
          </a:p>
          <a:p>
            <a:pPr marL="609600" indent="-609600" eaLnBrk="1" hangingPunct="1">
              <a:buFontTx/>
              <a:buNone/>
            </a:pPr>
            <a:r>
              <a:rPr lang="en-US" altLang="zh-CN" sz="2800" dirty="0"/>
              <a:t>  FROM Student</a:t>
            </a:r>
          </a:p>
          <a:p>
            <a:pPr marL="609600" indent="-609600" eaLnBrk="1" hangingPunct="1">
              <a:buFontTx/>
              <a:buNone/>
            </a:pPr>
            <a:r>
              <a:rPr lang="en-US" altLang="zh-CN" sz="2800" dirty="0"/>
              <a:t>  </a:t>
            </a:r>
            <a:r>
              <a:rPr lang="en-US" altLang="zh-CN" sz="2800" dirty="0">
                <a:solidFill>
                  <a:srgbClr val="006600"/>
                </a:solidFill>
              </a:rPr>
              <a:t>WHERE </a:t>
            </a:r>
            <a:r>
              <a:rPr lang="en-US" altLang="zh-CN" sz="2800" dirty="0" err="1">
                <a:solidFill>
                  <a:srgbClr val="0000FF"/>
                </a:solidFill>
              </a:rPr>
              <a:t>Sdept</a:t>
            </a:r>
            <a:r>
              <a:rPr lang="en-US" altLang="zh-CN" sz="2800" dirty="0">
                <a:solidFill>
                  <a:srgbClr val="0000FF"/>
                </a:solidFill>
              </a:rPr>
              <a:t> </a:t>
            </a:r>
            <a:r>
              <a:rPr lang="en-US" altLang="zh-CN" sz="2800" dirty="0">
                <a:solidFill>
                  <a:srgbClr val="C00000"/>
                </a:solidFill>
              </a:rPr>
              <a:t>=</a:t>
            </a:r>
            <a:r>
              <a:rPr lang="en-US" altLang="zh-CN" sz="2800" dirty="0">
                <a:solidFill>
                  <a:srgbClr val="0000FF"/>
                </a:solidFill>
              </a:rPr>
              <a:t> </a:t>
            </a:r>
            <a:r>
              <a:rPr lang="en-US" altLang="zh-CN" sz="2800" dirty="0">
                <a:solidFill>
                  <a:srgbClr val="0000FF"/>
                </a:solidFill>
                <a:latin typeface="Arial" charset="0"/>
              </a:rPr>
              <a:t>‘</a:t>
            </a:r>
            <a:r>
              <a:rPr lang="en-US" altLang="zh-CN" sz="2800" dirty="0">
                <a:solidFill>
                  <a:srgbClr val="0000FF"/>
                </a:solidFill>
              </a:rPr>
              <a:t>CS</a:t>
            </a:r>
            <a:r>
              <a:rPr lang="en-US" altLang="zh-CN" sz="2800" dirty="0">
                <a:solidFill>
                  <a:srgbClr val="0000FF"/>
                </a:solidFill>
                <a:latin typeface="Arial" charset="0"/>
              </a:rPr>
              <a:t>’</a:t>
            </a:r>
            <a:r>
              <a:rPr lang="en-US" altLang="zh-CN" sz="2800" dirty="0">
                <a:solidFill>
                  <a:srgbClr val="0000FF"/>
                </a:solidFill>
              </a:rPr>
              <a:t>;</a:t>
            </a:r>
          </a:p>
          <a:p>
            <a:pPr marL="609600" indent="-609600" eaLnBrk="1" hangingPunct="1"/>
            <a:endParaRPr lang="zh-CN" altLang="en-US" sz="28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054C5A0-AB4D-7DA0-B359-8BAE8261B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62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3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3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93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93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93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93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2CB01D8-A201-4FE9-9843-2A37B6F98DED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6041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604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3.4.1 </a:t>
            </a:r>
            <a:r>
              <a:rPr lang="zh-CN" altLang="en-US"/>
              <a:t>单表查询</a:t>
            </a:r>
          </a:p>
        </p:txBody>
      </p:sp>
      <p:sp>
        <p:nvSpPr>
          <p:cNvPr id="604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补充例：查询选修</a:t>
            </a:r>
            <a:r>
              <a:rPr lang="en-US" altLang="zh-CN" dirty="0"/>
              <a:t>2</a:t>
            </a:r>
            <a:r>
              <a:rPr lang="zh-CN" altLang="en-US" dirty="0"/>
              <a:t>号课程成绩在</a:t>
            </a:r>
            <a:r>
              <a:rPr lang="en-US" altLang="zh-CN" dirty="0"/>
              <a:t>90</a:t>
            </a:r>
            <a:r>
              <a:rPr lang="zh-CN" altLang="en-US" dirty="0"/>
              <a:t>分以上</a:t>
            </a:r>
            <a:r>
              <a:rPr lang="en-US" altLang="zh-CN" dirty="0"/>
              <a:t>(</a:t>
            </a:r>
            <a:r>
              <a:rPr lang="zh-CN" altLang="en-US" dirty="0"/>
              <a:t>含</a:t>
            </a:r>
            <a:r>
              <a:rPr lang="en-US" altLang="zh-CN" dirty="0"/>
              <a:t>)</a:t>
            </a:r>
            <a:r>
              <a:rPr lang="zh-CN" altLang="en-US" dirty="0"/>
              <a:t>的学生的学号。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SELECT </a:t>
            </a:r>
            <a:r>
              <a:rPr lang="en-US" altLang="zh-CN" dirty="0" err="1"/>
              <a:t>Sno</a:t>
            </a:r>
            <a:endParaRPr lang="en-US" altLang="zh-CN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  FROM SC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 </a:t>
            </a:r>
            <a:r>
              <a:rPr lang="en-US" altLang="zh-CN" dirty="0">
                <a:solidFill>
                  <a:srgbClr val="006600"/>
                </a:solidFill>
              </a:rPr>
              <a:t>WHERE</a:t>
            </a:r>
            <a:r>
              <a:rPr lang="en-US" altLang="zh-CN" dirty="0"/>
              <a:t> </a:t>
            </a:r>
            <a:r>
              <a:rPr lang="en-US" altLang="zh-CN" dirty="0" err="1">
                <a:solidFill>
                  <a:srgbClr val="0000FF"/>
                </a:solidFill>
              </a:rPr>
              <a:t>Cno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=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Arial" charset="0"/>
              </a:rPr>
              <a:t>‘</a:t>
            </a:r>
            <a:r>
              <a:rPr lang="en-US" altLang="zh-CN" dirty="0">
                <a:solidFill>
                  <a:srgbClr val="0000FF"/>
                </a:solidFill>
              </a:rPr>
              <a:t>2</a:t>
            </a:r>
            <a:r>
              <a:rPr lang="en-US" altLang="zh-CN" dirty="0">
                <a:solidFill>
                  <a:srgbClr val="0000FF"/>
                </a:solidFill>
                <a:latin typeface="Arial" charset="0"/>
              </a:rPr>
              <a:t>’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AND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00FF"/>
                </a:solidFill>
              </a:rPr>
              <a:t>Grade</a:t>
            </a:r>
            <a:r>
              <a:rPr lang="en-US" altLang="zh-CN" dirty="0">
                <a:solidFill>
                  <a:srgbClr val="C00000"/>
                </a:solidFill>
              </a:rPr>
              <a:t>&gt;=</a:t>
            </a:r>
            <a:r>
              <a:rPr lang="en-US" altLang="zh-CN" dirty="0">
                <a:solidFill>
                  <a:srgbClr val="0000FF"/>
                </a:solidFill>
              </a:rPr>
              <a:t>90</a:t>
            </a:r>
            <a:r>
              <a:rPr lang="en-US" altLang="zh-CN" dirty="0"/>
              <a:t>;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4386A0D-96C3-C40D-BBE7-4AA36F707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63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04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04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04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04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8DC0642-F8E3-4274-8084-2B15D68068DD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6144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614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3.4.1 </a:t>
            </a:r>
            <a:r>
              <a:rPr lang="zh-CN" altLang="en-US"/>
              <a:t>单表查询</a:t>
            </a:r>
          </a:p>
        </p:txBody>
      </p:sp>
      <p:sp>
        <p:nvSpPr>
          <p:cNvPr id="614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(2) </a:t>
            </a:r>
            <a:r>
              <a:rPr lang="zh-CN" altLang="en-US" dirty="0"/>
              <a:t>确定范围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altLang="zh-CN" dirty="0">
                <a:solidFill>
                  <a:srgbClr val="C00000"/>
                </a:solidFill>
              </a:rPr>
              <a:t>BETWEEN AND </a:t>
            </a:r>
            <a:r>
              <a:rPr lang="zh-CN" altLang="en-US" dirty="0"/>
              <a:t>与 </a:t>
            </a:r>
            <a:r>
              <a:rPr lang="en-US" altLang="zh-CN" dirty="0">
                <a:solidFill>
                  <a:srgbClr val="C00000"/>
                </a:solidFill>
              </a:rPr>
              <a:t>NOT BETWEEN AND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dirty="0"/>
              <a:t>更</a:t>
            </a:r>
            <a:r>
              <a:rPr lang="zh-CN" altLang="en-US" dirty="0">
                <a:solidFill>
                  <a:srgbClr val="0000FF"/>
                </a:solidFill>
              </a:rPr>
              <a:t>接近自然语言</a:t>
            </a:r>
            <a:r>
              <a:rPr lang="zh-CN" altLang="en-US" dirty="0"/>
              <a:t>，语义更明确。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dirty="0"/>
              <a:t>通常可以表示为用</a:t>
            </a:r>
            <a:r>
              <a:rPr lang="zh-CN" altLang="en-US" b="1" dirty="0">
                <a:solidFill>
                  <a:srgbClr val="C00000"/>
                </a:solidFill>
              </a:rPr>
              <a:t>逻辑</a:t>
            </a:r>
            <a:r>
              <a:rPr lang="zh-CN" altLang="en-US" b="1" dirty="0">
                <a:solidFill>
                  <a:srgbClr val="FF0000"/>
                </a:solidFill>
              </a:rPr>
              <a:t>与</a:t>
            </a:r>
            <a:r>
              <a:rPr lang="zh-CN" altLang="en-US" dirty="0"/>
              <a:t>连接的</a:t>
            </a:r>
            <a:r>
              <a:rPr lang="zh-CN" altLang="en-US" dirty="0">
                <a:solidFill>
                  <a:srgbClr val="FF0000"/>
                </a:solidFill>
              </a:rPr>
              <a:t>两个</a:t>
            </a:r>
            <a:r>
              <a:rPr lang="zh-CN" altLang="en-US" dirty="0"/>
              <a:t>比较。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74EFCCB-85E5-EF93-C745-7C2E69230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64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614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614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614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250" fill="hold"/>
                                        <p:tgtEl>
                                          <p:spTgt spid="614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614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250" fill="hold"/>
                                        <p:tgtEl>
                                          <p:spTgt spid="614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0C165DC4-D8C6-4EC0-AE24-AF3AA675CE34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6246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624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3.4.1 </a:t>
            </a:r>
            <a:r>
              <a:rPr lang="zh-CN" altLang="en-US"/>
              <a:t>单表查询</a:t>
            </a:r>
          </a:p>
        </p:txBody>
      </p:sp>
      <p:sp>
        <p:nvSpPr>
          <p:cNvPr id="624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例</a:t>
            </a:r>
            <a:r>
              <a:rPr lang="en-US" altLang="zh-CN" sz="2800" dirty="0"/>
              <a:t>10 </a:t>
            </a:r>
            <a:r>
              <a:rPr lang="zh-CN" altLang="en-US" sz="2800" dirty="0"/>
              <a:t>查询年龄在</a:t>
            </a:r>
            <a:r>
              <a:rPr lang="en-US" altLang="zh-CN" sz="2800" dirty="0"/>
              <a:t>20</a:t>
            </a:r>
            <a:r>
              <a:rPr lang="zh-CN" altLang="en-US" sz="2800" dirty="0"/>
              <a:t>～</a:t>
            </a:r>
            <a:r>
              <a:rPr lang="en-US" altLang="zh-CN" sz="2800" dirty="0"/>
              <a:t>23</a:t>
            </a:r>
            <a:r>
              <a:rPr lang="zh-CN" altLang="en-US" sz="2800" dirty="0"/>
              <a:t>岁（</a:t>
            </a:r>
            <a:r>
              <a:rPr lang="zh-CN" altLang="en-US" sz="2800" b="1" dirty="0">
                <a:solidFill>
                  <a:srgbClr val="C00000"/>
                </a:solidFill>
              </a:rPr>
              <a:t>包括</a:t>
            </a:r>
            <a:r>
              <a:rPr lang="zh-CN" altLang="en-US" sz="2800" dirty="0"/>
              <a:t>）之间的学生的姓名、系别和年龄。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/>
              <a:t>SELECT </a:t>
            </a:r>
            <a:r>
              <a:rPr lang="en-US" altLang="zh-CN" sz="2800" dirty="0" err="1"/>
              <a:t>Sname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Sdept</a:t>
            </a:r>
            <a:r>
              <a:rPr lang="en-US" altLang="zh-CN" sz="2800" dirty="0"/>
              <a:t>, Sage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/>
              <a:t>  FROM Student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/>
              <a:t>  </a:t>
            </a:r>
            <a:r>
              <a:rPr lang="en-US" altLang="zh-CN" sz="2800" dirty="0">
                <a:solidFill>
                  <a:srgbClr val="006600"/>
                </a:solidFill>
              </a:rPr>
              <a:t>WHERE</a:t>
            </a:r>
            <a:r>
              <a:rPr lang="en-US" altLang="zh-CN" sz="2800" dirty="0"/>
              <a:t> </a:t>
            </a:r>
            <a:r>
              <a:rPr lang="en-US" altLang="zh-CN" sz="2800" dirty="0">
                <a:solidFill>
                  <a:schemeClr val="tx2"/>
                </a:solidFill>
              </a:rPr>
              <a:t>Sage </a:t>
            </a:r>
            <a:r>
              <a:rPr lang="en-US" altLang="zh-CN" sz="2800" dirty="0">
                <a:solidFill>
                  <a:srgbClr val="C00000"/>
                </a:solidFill>
              </a:rPr>
              <a:t>BETWEEN</a:t>
            </a:r>
            <a:r>
              <a:rPr lang="en-US" altLang="zh-CN" sz="2800" dirty="0">
                <a:solidFill>
                  <a:schemeClr val="tx2"/>
                </a:solidFill>
              </a:rPr>
              <a:t> 20 </a:t>
            </a:r>
            <a:r>
              <a:rPr lang="en-US" altLang="zh-CN" sz="2800" dirty="0">
                <a:solidFill>
                  <a:srgbClr val="C00000"/>
                </a:solidFill>
              </a:rPr>
              <a:t>AND</a:t>
            </a:r>
            <a:r>
              <a:rPr lang="en-US" altLang="zh-CN" sz="2800" dirty="0">
                <a:solidFill>
                  <a:schemeClr val="tx2"/>
                </a:solidFill>
              </a:rPr>
              <a:t> 23</a:t>
            </a:r>
            <a:r>
              <a:rPr lang="en-US" altLang="zh-CN" sz="2800" dirty="0"/>
              <a:t>;</a:t>
            </a:r>
          </a:p>
          <a:p>
            <a:pPr eaLnBrk="1" hangingPunct="1">
              <a:lnSpc>
                <a:spcPct val="90000"/>
              </a:lnSpc>
            </a:pPr>
            <a:endParaRPr lang="zh-CN" altLang="en-US" sz="10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当然也可表示为：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/>
              <a:t>SELECT </a:t>
            </a:r>
            <a:r>
              <a:rPr lang="en-US" altLang="zh-CN" sz="2800" dirty="0" err="1"/>
              <a:t>Sname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Sdept</a:t>
            </a:r>
            <a:r>
              <a:rPr lang="en-US" altLang="zh-CN" sz="2800" dirty="0"/>
              <a:t>, Sage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/>
              <a:t>  FROM Student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/>
              <a:t>  </a:t>
            </a:r>
            <a:r>
              <a:rPr lang="en-US" altLang="zh-CN" sz="2800" dirty="0">
                <a:solidFill>
                  <a:srgbClr val="006600"/>
                </a:solidFill>
              </a:rPr>
              <a:t>WHERE</a:t>
            </a:r>
            <a:r>
              <a:rPr lang="en-US" altLang="zh-CN" sz="2800" dirty="0"/>
              <a:t> </a:t>
            </a:r>
            <a:r>
              <a:rPr lang="en-US" altLang="zh-CN" sz="2800" dirty="0">
                <a:solidFill>
                  <a:schemeClr val="tx2"/>
                </a:solidFill>
              </a:rPr>
              <a:t>Sage</a:t>
            </a:r>
            <a:r>
              <a:rPr lang="en-US" altLang="zh-CN" sz="2800" dirty="0">
                <a:solidFill>
                  <a:srgbClr val="C00000"/>
                </a:solidFill>
              </a:rPr>
              <a:t>&gt;=</a:t>
            </a:r>
            <a:r>
              <a:rPr lang="en-US" altLang="zh-CN" sz="2800" dirty="0">
                <a:solidFill>
                  <a:schemeClr val="tx2"/>
                </a:solidFill>
              </a:rPr>
              <a:t>20 </a:t>
            </a:r>
            <a:r>
              <a:rPr lang="en-US" altLang="zh-CN" sz="2800" dirty="0">
                <a:solidFill>
                  <a:srgbClr val="C00000"/>
                </a:solidFill>
              </a:rPr>
              <a:t>AND</a:t>
            </a:r>
            <a:r>
              <a:rPr lang="en-US" altLang="zh-CN" sz="2800" dirty="0">
                <a:solidFill>
                  <a:schemeClr val="tx2"/>
                </a:solidFill>
              </a:rPr>
              <a:t> Sage </a:t>
            </a:r>
            <a:r>
              <a:rPr lang="en-US" altLang="zh-CN" sz="2800" dirty="0">
                <a:solidFill>
                  <a:srgbClr val="C00000"/>
                </a:solidFill>
              </a:rPr>
              <a:t>&lt;=</a:t>
            </a:r>
            <a:r>
              <a:rPr lang="en-US" altLang="zh-CN" sz="2800" dirty="0">
                <a:solidFill>
                  <a:schemeClr val="tx2"/>
                </a:solidFill>
              </a:rPr>
              <a:t>23</a:t>
            </a:r>
            <a:r>
              <a:rPr lang="en-US" altLang="zh-CN" sz="2800" dirty="0"/>
              <a:t>;</a:t>
            </a:r>
            <a:endParaRPr lang="zh-CN" altLang="en-US" sz="28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66B6BE2-8AFE-3115-35B0-B44AC50A8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65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4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4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24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24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24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24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24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24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24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24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24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24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24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24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4A3308B3-8A90-4869-97FD-BB2A3CD7CCF5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6349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634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3.4.1 </a:t>
            </a:r>
            <a:r>
              <a:rPr lang="zh-CN" altLang="en-US"/>
              <a:t>单表查询</a:t>
            </a:r>
          </a:p>
        </p:txBody>
      </p:sp>
      <p:sp>
        <p:nvSpPr>
          <p:cNvPr id="634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(3) </a:t>
            </a:r>
            <a:r>
              <a:rPr lang="zh-CN" altLang="en-US" dirty="0"/>
              <a:t>确定集合</a:t>
            </a:r>
          </a:p>
          <a:p>
            <a:pPr eaLnBrk="1" hangingPunct="1">
              <a:buFontTx/>
              <a:buNone/>
            </a:pPr>
            <a:r>
              <a:rPr lang="en-US" altLang="zh-CN" dirty="0">
                <a:solidFill>
                  <a:srgbClr val="C00000"/>
                </a:solidFill>
              </a:rPr>
              <a:t>       IN</a:t>
            </a:r>
            <a:r>
              <a:rPr lang="en-US" altLang="zh-CN" dirty="0"/>
              <a:t> </a:t>
            </a:r>
            <a:r>
              <a:rPr lang="zh-CN" altLang="en-US" dirty="0"/>
              <a:t>与 </a:t>
            </a:r>
            <a:r>
              <a:rPr lang="en-US" altLang="zh-CN" dirty="0">
                <a:solidFill>
                  <a:srgbClr val="C00000"/>
                </a:solidFill>
              </a:rPr>
              <a:t>NOT IN</a:t>
            </a:r>
          </a:p>
          <a:p>
            <a:pPr eaLnBrk="1" hangingPunct="1">
              <a:buFontTx/>
              <a:buNone/>
            </a:pPr>
            <a:endParaRPr lang="en-US" altLang="zh-CN" dirty="0"/>
          </a:p>
          <a:p>
            <a:pPr eaLnBrk="1" hangingPunct="1">
              <a:buFontTx/>
              <a:buNone/>
            </a:pPr>
            <a:r>
              <a:rPr lang="zh-CN" altLang="en-US" sz="2800" dirty="0"/>
              <a:t>前面的例子还可表示为：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SELECT </a:t>
            </a:r>
            <a:r>
              <a:rPr lang="en-US" altLang="zh-CN" sz="2800" dirty="0" err="1"/>
              <a:t>Sname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Sdept</a:t>
            </a:r>
            <a:r>
              <a:rPr lang="en-US" altLang="zh-CN" sz="2800" dirty="0"/>
              <a:t>, Sage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FROM Student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</a:t>
            </a:r>
            <a:r>
              <a:rPr lang="en-US" altLang="zh-CN" sz="2800" dirty="0">
                <a:solidFill>
                  <a:srgbClr val="006600"/>
                </a:solidFill>
              </a:rPr>
              <a:t>WHERE</a:t>
            </a:r>
            <a:r>
              <a:rPr lang="en-US" altLang="zh-CN" sz="2800" dirty="0"/>
              <a:t> </a:t>
            </a:r>
            <a:r>
              <a:rPr lang="en-US" altLang="zh-CN" sz="2800" dirty="0">
                <a:solidFill>
                  <a:schemeClr val="tx2"/>
                </a:solidFill>
              </a:rPr>
              <a:t>Sage </a:t>
            </a:r>
            <a:r>
              <a:rPr lang="en-US" altLang="zh-CN" sz="2800" dirty="0">
                <a:solidFill>
                  <a:srgbClr val="C00000"/>
                </a:solidFill>
              </a:rPr>
              <a:t>IN</a:t>
            </a:r>
            <a:r>
              <a:rPr lang="en-US" altLang="zh-CN" sz="2800" dirty="0">
                <a:solidFill>
                  <a:schemeClr val="tx2"/>
                </a:solidFill>
              </a:rPr>
              <a:t> (20,21,22,23);</a:t>
            </a:r>
          </a:p>
          <a:p>
            <a:pPr eaLnBrk="1" hangingPunct="1"/>
            <a:endParaRPr lang="zh-CN" altLang="en-US" sz="28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C9D3893-5E76-5FB2-5A05-FCFBFCE31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66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4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4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34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34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34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34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1CE2D52-9B3A-4E8C-A03F-F82B66D37562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6451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645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3.4.1 </a:t>
            </a:r>
            <a:r>
              <a:rPr lang="zh-CN" altLang="en-US"/>
              <a:t>单表查询</a:t>
            </a:r>
          </a:p>
        </p:txBody>
      </p:sp>
      <p:sp>
        <p:nvSpPr>
          <p:cNvPr id="645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例</a:t>
            </a:r>
            <a:r>
              <a:rPr lang="en-US" altLang="zh-CN" sz="2800" dirty="0"/>
              <a:t>13 </a:t>
            </a:r>
            <a:r>
              <a:rPr lang="zh-CN" altLang="en-US" sz="2800" dirty="0"/>
              <a:t>查询既不是计算机科学系、数学系，也不是信息系的学生的姓名和性别。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SELECT </a:t>
            </a:r>
            <a:r>
              <a:rPr lang="en-US" altLang="zh-CN" sz="2800" dirty="0" err="1"/>
              <a:t>Sname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Sgender</a:t>
            </a:r>
            <a:endParaRPr lang="en-US" altLang="zh-CN" sz="28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FROM Student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</a:t>
            </a:r>
            <a:r>
              <a:rPr lang="en-US" altLang="zh-CN" sz="2800" dirty="0">
                <a:solidFill>
                  <a:srgbClr val="006600"/>
                </a:solidFill>
              </a:rPr>
              <a:t>WHERE</a:t>
            </a:r>
            <a:r>
              <a:rPr lang="en-US" altLang="zh-CN" sz="2800" dirty="0"/>
              <a:t> </a:t>
            </a:r>
            <a:r>
              <a:rPr lang="en-US" altLang="zh-CN" sz="2800" dirty="0" err="1">
                <a:solidFill>
                  <a:schemeClr val="tx2"/>
                </a:solidFill>
              </a:rPr>
              <a:t>Sdept</a:t>
            </a:r>
            <a:r>
              <a:rPr lang="en-US" altLang="zh-CN" sz="2800" dirty="0">
                <a:solidFill>
                  <a:schemeClr val="tx2"/>
                </a:solidFill>
              </a:rPr>
              <a:t> </a:t>
            </a:r>
            <a:r>
              <a:rPr lang="en-US" altLang="zh-CN" sz="2800" dirty="0">
                <a:solidFill>
                  <a:srgbClr val="C00000"/>
                </a:solidFill>
              </a:rPr>
              <a:t>NOT IN </a:t>
            </a:r>
            <a:r>
              <a:rPr lang="en-US" altLang="zh-CN" sz="2800" dirty="0">
                <a:solidFill>
                  <a:schemeClr val="tx2"/>
                </a:solidFill>
              </a:rPr>
              <a:t>(</a:t>
            </a:r>
            <a:r>
              <a:rPr lang="en-US" altLang="zh-CN" sz="2800" dirty="0">
                <a:solidFill>
                  <a:schemeClr val="tx2"/>
                </a:solidFill>
                <a:latin typeface="Arial" charset="0"/>
              </a:rPr>
              <a:t>‘</a:t>
            </a:r>
            <a:r>
              <a:rPr lang="en-US" altLang="zh-CN" sz="2800" dirty="0">
                <a:solidFill>
                  <a:schemeClr val="tx2"/>
                </a:solidFill>
              </a:rPr>
              <a:t>CS</a:t>
            </a:r>
            <a:r>
              <a:rPr lang="en-US" altLang="zh-CN" sz="2800" dirty="0">
                <a:solidFill>
                  <a:schemeClr val="tx2"/>
                </a:solidFill>
                <a:latin typeface="Arial" charset="0"/>
              </a:rPr>
              <a:t>’</a:t>
            </a:r>
            <a:r>
              <a:rPr lang="en-US" altLang="zh-CN" sz="2800" dirty="0">
                <a:solidFill>
                  <a:schemeClr val="tx2"/>
                </a:solidFill>
              </a:rPr>
              <a:t>,</a:t>
            </a:r>
            <a:r>
              <a:rPr lang="en-US" altLang="zh-CN" sz="2800" dirty="0">
                <a:solidFill>
                  <a:schemeClr val="tx2"/>
                </a:solidFill>
                <a:latin typeface="Arial" charset="0"/>
              </a:rPr>
              <a:t>’</a:t>
            </a:r>
            <a:r>
              <a:rPr lang="en-US" altLang="zh-CN" sz="2800" dirty="0">
                <a:solidFill>
                  <a:schemeClr val="tx2"/>
                </a:solidFill>
              </a:rPr>
              <a:t>MA</a:t>
            </a:r>
            <a:r>
              <a:rPr lang="en-US" altLang="zh-CN" sz="2800" dirty="0">
                <a:solidFill>
                  <a:schemeClr val="tx2"/>
                </a:solidFill>
                <a:latin typeface="Arial" charset="0"/>
              </a:rPr>
              <a:t>’</a:t>
            </a:r>
            <a:r>
              <a:rPr lang="en-US" altLang="zh-CN" sz="2800" dirty="0">
                <a:solidFill>
                  <a:schemeClr val="tx2"/>
                </a:solidFill>
              </a:rPr>
              <a:t>,</a:t>
            </a:r>
            <a:r>
              <a:rPr lang="en-US" altLang="zh-CN" sz="2800" dirty="0">
                <a:solidFill>
                  <a:schemeClr val="tx2"/>
                </a:solidFill>
                <a:latin typeface="Arial" charset="0"/>
              </a:rPr>
              <a:t>’</a:t>
            </a:r>
            <a:r>
              <a:rPr lang="en-US" altLang="zh-CN" sz="2800" dirty="0">
                <a:solidFill>
                  <a:schemeClr val="tx2"/>
                </a:solidFill>
              </a:rPr>
              <a:t>IS</a:t>
            </a:r>
            <a:r>
              <a:rPr lang="en-US" altLang="zh-CN" sz="2800" dirty="0">
                <a:solidFill>
                  <a:schemeClr val="tx2"/>
                </a:solidFill>
                <a:latin typeface="Arial" charset="0"/>
              </a:rPr>
              <a:t>’</a:t>
            </a:r>
            <a:r>
              <a:rPr lang="en-US" altLang="zh-CN" sz="2800" dirty="0">
                <a:solidFill>
                  <a:schemeClr val="tx2"/>
                </a:solidFill>
              </a:rPr>
              <a:t>);</a:t>
            </a:r>
          </a:p>
          <a:p>
            <a:pPr eaLnBrk="1" hangingPunct="1"/>
            <a:endParaRPr lang="zh-CN" altLang="en-US" sz="28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F64AAF0-9E71-FA76-3223-DE108087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67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5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5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45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45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45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45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F99E272-5C98-4313-A510-476F63DABF5E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6553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655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3.4.1 </a:t>
            </a:r>
            <a:r>
              <a:rPr lang="zh-CN" altLang="en-US"/>
              <a:t>单表查询</a:t>
            </a:r>
          </a:p>
        </p:txBody>
      </p:sp>
      <p:sp>
        <p:nvSpPr>
          <p:cNvPr id="655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例</a:t>
            </a:r>
            <a:r>
              <a:rPr lang="en-US" altLang="zh-CN" sz="2800" dirty="0"/>
              <a:t>13 </a:t>
            </a:r>
            <a:r>
              <a:rPr lang="zh-CN" altLang="en-US" sz="2800" dirty="0"/>
              <a:t>查询既不是计算机科学系、数学系，也不是信息系的学生的姓名和性别。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SELECT </a:t>
            </a:r>
            <a:r>
              <a:rPr lang="en-US" altLang="zh-CN" sz="2800" dirty="0" err="1"/>
              <a:t>Sname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Sgender</a:t>
            </a:r>
            <a:endParaRPr lang="en-US" altLang="zh-CN" sz="28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FROM Student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WHERE </a:t>
            </a:r>
            <a:r>
              <a:rPr lang="en-US" altLang="zh-CN" sz="2800" dirty="0" err="1">
                <a:solidFill>
                  <a:schemeClr val="tx2"/>
                </a:solidFill>
              </a:rPr>
              <a:t>Sdept</a:t>
            </a:r>
            <a:r>
              <a:rPr lang="en-US" altLang="zh-CN" sz="2800" dirty="0">
                <a:solidFill>
                  <a:schemeClr val="tx2"/>
                </a:solidFill>
              </a:rPr>
              <a:t> </a:t>
            </a:r>
            <a:r>
              <a:rPr lang="en-US" altLang="zh-CN" sz="2800" dirty="0">
                <a:solidFill>
                  <a:srgbClr val="C00000"/>
                </a:solidFill>
              </a:rPr>
              <a:t>NOT IN </a:t>
            </a:r>
            <a:r>
              <a:rPr lang="en-US" altLang="zh-CN" sz="2800" dirty="0">
                <a:solidFill>
                  <a:schemeClr val="tx2"/>
                </a:solidFill>
              </a:rPr>
              <a:t>(</a:t>
            </a:r>
            <a:r>
              <a:rPr lang="en-US" altLang="zh-CN" sz="2800" dirty="0">
                <a:solidFill>
                  <a:schemeClr val="tx2"/>
                </a:solidFill>
                <a:latin typeface="Arial" charset="0"/>
              </a:rPr>
              <a:t>‘</a:t>
            </a:r>
            <a:r>
              <a:rPr lang="en-US" altLang="zh-CN" sz="2800" dirty="0">
                <a:solidFill>
                  <a:schemeClr val="tx2"/>
                </a:solidFill>
              </a:rPr>
              <a:t>CS</a:t>
            </a:r>
            <a:r>
              <a:rPr lang="en-US" altLang="zh-CN" sz="2800" dirty="0">
                <a:solidFill>
                  <a:schemeClr val="tx2"/>
                </a:solidFill>
                <a:latin typeface="Arial" charset="0"/>
              </a:rPr>
              <a:t>’</a:t>
            </a:r>
            <a:r>
              <a:rPr lang="en-US" altLang="zh-CN" sz="2800" dirty="0">
                <a:solidFill>
                  <a:schemeClr val="tx2"/>
                </a:solidFill>
              </a:rPr>
              <a:t>,</a:t>
            </a:r>
            <a:r>
              <a:rPr lang="en-US" altLang="zh-CN" sz="2800" dirty="0">
                <a:solidFill>
                  <a:schemeClr val="tx2"/>
                </a:solidFill>
                <a:latin typeface="Arial" charset="0"/>
              </a:rPr>
              <a:t>’</a:t>
            </a:r>
            <a:r>
              <a:rPr lang="en-US" altLang="zh-CN" sz="2800" dirty="0">
                <a:solidFill>
                  <a:schemeClr val="tx2"/>
                </a:solidFill>
              </a:rPr>
              <a:t>MA</a:t>
            </a:r>
            <a:r>
              <a:rPr lang="en-US" altLang="zh-CN" sz="2800" dirty="0">
                <a:solidFill>
                  <a:schemeClr val="tx2"/>
                </a:solidFill>
                <a:latin typeface="Arial" charset="0"/>
              </a:rPr>
              <a:t>’</a:t>
            </a:r>
            <a:r>
              <a:rPr lang="en-US" altLang="zh-CN" sz="2800" dirty="0">
                <a:solidFill>
                  <a:schemeClr val="tx2"/>
                </a:solidFill>
              </a:rPr>
              <a:t>,</a:t>
            </a:r>
            <a:r>
              <a:rPr lang="en-US" altLang="zh-CN" sz="2800" dirty="0">
                <a:solidFill>
                  <a:schemeClr val="tx2"/>
                </a:solidFill>
                <a:latin typeface="Arial" charset="0"/>
              </a:rPr>
              <a:t>’</a:t>
            </a:r>
            <a:r>
              <a:rPr lang="en-US" altLang="zh-CN" sz="2800" dirty="0">
                <a:solidFill>
                  <a:schemeClr val="tx2"/>
                </a:solidFill>
              </a:rPr>
              <a:t>IS</a:t>
            </a:r>
            <a:r>
              <a:rPr lang="en-US" altLang="zh-CN" sz="2800" dirty="0">
                <a:solidFill>
                  <a:schemeClr val="tx2"/>
                </a:solidFill>
                <a:latin typeface="Arial" charset="0"/>
              </a:rPr>
              <a:t>’</a:t>
            </a:r>
            <a:r>
              <a:rPr lang="en-US" altLang="zh-CN" sz="2800" dirty="0">
                <a:solidFill>
                  <a:schemeClr val="tx2"/>
                </a:solidFill>
              </a:rPr>
              <a:t>);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/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有没有问题</a:t>
            </a:r>
            <a:r>
              <a:rPr lang="zh-CN" altLang="en-US" dirty="0"/>
              <a:t>？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143587A-70D9-F060-1D42-FE15993D8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68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0DF529A2-AF90-4A91-8F2C-299F0EE69954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6656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665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C00000"/>
                </a:solidFill>
              </a:rPr>
              <a:t>空值（</a:t>
            </a:r>
            <a:r>
              <a:rPr lang="en-US" altLang="zh-CN" dirty="0">
                <a:solidFill>
                  <a:srgbClr val="C00000"/>
                </a:solidFill>
              </a:rPr>
              <a:t>NULL</a:t>
            </a:r>
            <a:r>
              <a:rPr lang="zh-CN" altLang="en-US" dirty="0">
                <a:solidFill>
                  <a:srgbClr val="C00000"/>
                </a:solidFill>
              </a:rPr>
              <a:t>）</a:t>
            </a:r>
            <a:r>
              <a:rPr lang="zh-CN" altLang="en-US" dirty="0"/>
              <a:t>的影响</a:t>
            </a:r>
            <a:r>
              <a:rPr lang="en-US" altLang="zh-CN" sz="3200" u="sng" dirty="0"/>
              <a:t>(</a:t>
            </a:r>
            <a:r>
              <a:rPr lang="zh-CN" altLang="en-US" sz="3200" u="sng" dirty="0"/>
              <a:t>教材</a:t>
            </a:r>
            <a:r>
              <a:rPr lang="en-US" altLang="zh-CN" sz="3200" u="sng" dirty="0"/>
              <a:t>3.6)</a:t>
            </a:r>
            <a:endParaRPr lang="zh-CN" altLang="en-US" dirty="0"/>
          </a:p>
        </p:txBody>
      </p:sp>
      <p:sp>
        <p:nvSpPr>
          <p:cNvPr id="665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实际上如果某些学生的</a:t>
            </a:r>
            <a:r>
              <a:rPr lang="en-US" altLang="zh-CN" dirty="0" err="1">
                <a:solidFill>
                  <a:schemeClr val="tx2"/>
                </a:solidFill>
              </a:rPr>
              <a:t>Sdept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0000FF"/>
                </a:solidFill>
              </a:rPr>
              <a:t>空</a:t>
            </a:r>
            <a:r>
              <a:rPr lang="en-US" altLang="zh-CN" dirty="0">
                <a:solidFill>
                  <a:schemeClr val="tx2"/>
                </a:solidFill>
              </a:rPr>
              <a:t>(</a:t>
            </a:r>
            <a:r>
              <a:rPr lang="en-US" altLang="zh-CN" dirty="0">
                <a:solidFill>
                  <a:srgbClr val="0000FF"/>
                </a:solidFill>
              </a:rPr>
              <a:t>NULL</a:t>
            </a:r>
            <a:r>
              <a:rPr lang="en-US" altLang="zh-CN" dirty="0">
                <a:solidFill>
                  <a:schemeClr val="tx2"/>
                </a:solidFill>
              </a:rPr>
              <a:t>)</a:t>
            </a:r>
            <a:r>
              <a:rPr lang="zh-CN" altLang="en-US" dirty="0"/>
              <a:t>，其学号姓名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不会</a:t>
            </a:r>
            <a:r>
              <a:rPr lang="zh-CN" altLang="en-US" dirty="0">
                <a:solidFill>
                  <a:srgbClr val="C00000"/>
                </a:solidFill>
              </a:rPr>
              <a:t>出现在结果中</a:t>
            </a:r>
            <a:r>
              <a:rPr lang="zh-CN" altLang="en-US" dirty="0"/>
              <a:t>，如果把 </a:t>
            </a:r>
            <a:r>
              <a:rPr lang="en-US" altLang="zh-CN" dirty="0"/>
              <a:t>NOT IN</a:t>
            </a:r>
            <a:r>
              <a:rPr lang="zh-CN" altLang="en-US" dirty="0"/>
              <a:t>改为</a:t>
            </a:r>
            <a:r>
              <a:rPr lang="en-US" altLang="zh-CN" dirty="0">
                <a:solidFill>
                  <a:srgbClr val="0000FF"/>
                </a:solidFill>
              </a:rPr>
              <a:t>IN</a:t>
            </a:r>
            <a:r>
              <a:rPr lang="zh-CN" altLang="en-US" dirty="0"/>
              <a:t>，这些学生的信息</a:t>
            </a:r>
            <a:r>
              <a:rPr lang="zh-CN" altLang="en-US" dirty="0">
                <a:solidFill>
                  <a:schemeClr val="tx2"/>
                </a:solidFill>
              </a:rPr>
              <a:t>也不会出现在结果中</a:t>
            </a:r>
            <a:r>
              <a:rPr lang="zh-CN" altLang="en-US" dirty="0"/>
              <a:t>！</a:t>
            </a:r>
          </a:p>
          <a:p>
            <a:pPr eaLnBrk="1" hangingPunct="1"/>
            <a:r>
              <a:rPr lang="zh-CN" altLang="en-US" dirty="0"/>
              <a:t>在</a:t>
            </a:r>
            <a:r>
              <a:rPr lang="zh-CN" altLang="en-US" u="sng" dirty="0"/>
              <a:t>有</a:t>
            </a:r>
            <a:r>
              <a:rPr lang="en-US" altLang="zh-CN" u="sng" dirty="0">
                <a:solidFill>
                  <a:srgbClr val="FF0000"/>
                </a:solidFill>
              </a:rPr>
              <a:t>NULL</a:t>
            </a:r>
            <a:r>
              <a:rPr lang="zh-CN" altLang="en-US" u="sng" dirty="0"/>
              <a:t>的情况下</a:t>
            </a:r>
            <a:r>
              <a:rPr lang="zh-CN" altLang="en-US" dirty="0"/>
              <a:t>，二值逻辑转化为</a:t>
            </a:r>
            <a:r>
              <a:rPr lang="zh-CN" altLang="en-US" dirty="0">
                <a:solidFill>
                  <a:srgbClr val="C00000"/>
                </a:solidFill>
              </a:rPr>
              <a:t>三值逻辑</a:t>
            </a:r>
            <a:r>
              <a:rPr lang="zh-CN" altLang="en-US" dirty="0"/>
              <a:t>，</a:t>
            </a:r>
            <a:r>
              <a:rPr lang="en-US" altLang="zh-CN" u="sng" dirty="0"/>
              <a:t>unknown</a:t>
            </a:r>
            <a:r>
              <a:rPr lang="en-US" altLang="zh-CN" dirty="0"/>
              <a:t> </a:t>
            </a:r>
            <a:r>
              <a:rPr lang="zh-CN" altLang="en-US" u="sng" dirty="0"/>
              <a:t>介于</a:t>
            </a:r>
            <a:r>
              <a:rPr lang="en-US" altLang="zh-CN" u="sng" dirty="0"/>
              <a:t>true</a:t>
            </a:r>
            <a:r>
              <a:rPr lang="zh-CN" altLang="en-US" u="sng" dirty="0"/>
              <a:t>和</a:t>
            </a:r>
            <a:r>
              <a:rPr lang="en-US" altLang="zh-CN" u="sng" dirty="0"/>
              <a:t>false</a:t>
            </a:r>
            <a:r>
              <a:rPr lang="zh-CN" altLang="en-US" u="sng" dirty="0"/>
              <a:t>之间</a:t>
            </a:r>
            <a:r>
              <a:rPr lang="zh-CN" altLang="en-US" dirty="0"/>
              <a:t>。</a:t>
            </a:r>
          </a:p>
          <a:p>
            <a:pPr eaLnBrk="1" hangingPunct="1"/>
            <a:r>
              <a:rPr lang="zh-CN" altLang="en-US" dirty="0"/>
              <a:t>只有使</a:t>
            </a:r>
            <a:r>
              <a:rPr lang="en-US" altLang="zh-CN" u="sng" dirty="0">
                <a:solidFill>
                  <a:srgbClr val="800080"/>
                </a:solidFill>
              </a:rPr>
              <a:t>WHERE</a:t>
            </a:r>
            <a:r>
              <a:rPr lang="zh-CN" altLang="en-US" u="sng" dirty="0">
                <a:solidFill>
                  <a:srgbClr val="800080"/>
                </a:solidFill>
              </a:rPr>
              <a:t>条件</a:t>
            </a:r>
            <a:r>
              <a:rPr lang="zh-CN" altLang="en-US" dirty="0">
                <a:solidFill>
                  <a:srgbClr val="0000FF"/>
                </a:solidFill>
              </a:rPr>
              <a:t>为</a:t>
            </a:r>
            <a:r>
              <a:rPr lang="en-US" altLang="zh-CN" u="sng" dirty="0">
                <a:solidFill>
                  <a:srgbClr val="0000FF"/>
                </a:solidFill>
              </a:rPr>
              <a:t>true</a:t>
            </a:r>
            <a:r>
              <a:rPr lang="zh-CN" altLang="en-US" dirty="0"/>
              <a:t>的元组才被选出。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E854A0F-3EF9-A594-ED4E-1E6579619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69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F65CA7E-124C-4EB5-B48B-7F46F45EC0D0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6758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675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C00000"/>
                </a:solidFill>
              </a:rPr>
              <a:t>空值（</a:t>
            </a:r>
            <a:r>
              <a:rPr lang="en-US" altLang="zh-CN" dirty="0">
                <a:solidFill>
                  <a:srgbClr val="C00000"/>
                </a:solidFill>
              </a:rPr>
              <a:t>NULL</a:t>
            </a:r>
            <a:r>
              <a:rPr lang="zh-CN" altLang="en-US" dirty="0">
                <a:solidFill>
                  <a:srgbClr val="C00000"/>
                </a:solidFill>
              </a:rPr>
              <a:t>）</a:t>
            </a:r>
            <a:r>
              <a:rPr lang="zh-CN" altLang="en-US" dirty="0"/>
              <a:t>的影响</a:t>
            </a:r>
            <a:r>
              <a:rPr lang="en-US" altLang="zh-CN" sz="3200" u="sng" dirty="0"/>
              <a:t>(</a:t>
            </a:r>
            <a:r>
              <a:rPr lang="zh-CN" altLang="en-US" sz="3200" u="sng" dirty="0"/>
              <a:t>教材</a:t>
            </a:r>
            <a:r>
              <a:rPr lang="en-US" altLang="zh-CN" sz="3200" u="sng" dirty="0"/>
              <a:t>3.6)</a:t>
            </a:r>
            <a:endParaRPr lang="zh-CN" altLang="en-US" dirty="0"/>
          </a:p>
        </p:txBody>
      </p:sp>
      <p:sp>
        <p:nvSpPr>
          <p:cNvPr id="675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153400" cy="4684713"/>
          </a:xfrm>
        </p:spPr>
        <p:txBody>
          <a:bodyPr/>
          <a:lstStyle/>
          <a:p>
            <a:pPr eaLnBrk="1" hangingPunct="1"/>
            <a:r>
              <a:rPr lang="zh-CN" altLang="en-US" dirty="0"/>
              <a:t>选用修饰</a:t>
            </a:r>
          </a:p>
          <a:p>
            <a:pPr lvl="1" eaLnBrk="1" hangingPunct="1"/>
            <a:r>
              <a:rPr lang="en-US" altLang="zh-CN" dirty="0"/>
              <a:t>IS TRUE</a:t>
            </a:r>
          </a:p>
          <a:p>
            <a:pPr lvl="1" eaLnBrk="1" hangingPunct="1"/>
            <a:r>
              <a:rPr lang="en-US" altLang="zh-CN" dirty="0"/>
              <a:t>IS NOT TRUE</a:t>
            </a:r>
          </a:p>
          <a:p>
            <a:pPr lvl="1" eaLnBrk="1" hangingPunct="1"/>
            <a:r>
              <a:rPr lang="en-US" altLang="zh-CN" dirty="0"/>
              <a:t>IS FALSE</a:t>
            </a:r>
          </a:p>
          <a:p>
            <a:pPr lvl="1" eaLnBrk="1" hangingPunct="1"/>
            <a:r>
              <a:rPr lang="en-US" altLang="zh-CN" dirty="0"/>
              <a:t>IS NOT FALSE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</a:t>
            </a:r>
            <a:r>
              <a:rPr lang="en-US" altLang="zh-CN" sz="2400" dirty="0"/>
              <a:t>SELECT </a:t>
            </a:r>
            <a:r>
              <a:rPr lang="en-US" altLang="zh-CN" sz="2400" dirty="0" err="1"/>
              <a:t>Sname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Sgender</a:t>
            </a:r>
            <a:endParaRPr lang="en-US" altLang="zh-CN" sz="24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  FROM Student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/>
              <a:t>  WHERE </a:t>
            </a:r>
            <a:r>
              <a:rPr lang="en-US" altLang="zh-CN" sz="2400" dirty="0" err="1"/>
              <a:t>Sdept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C00000"/>
                </a:solidFill>
              </a:rPr>
              <a:t>NOT IN </a:t>
            </a:r>
            <a:r>
              <a:rPr lang="en-US" altLang="zh-CN" sz="2400" dirty="0"/>
              <a:t>(</a:t>
            </a:r>
            <a:r>
              <a:rPr lang="en-US" altLang="zh-CN" sz="2400" dirty="0">
                <a:latin typeface="Arial" charset="0"/>
              </a:rPr>
              <a:t>‘</a:t>
            </a:r>
            <a:r>
              <a:rPr lang="en-US" altLang="zh-CN" sz="2400" dirty="0"/>
              <a:t>CS</a:t>
            </a:r>
            <a:r>
              <a:rPr lang="en-US" altLang="zh-CN" sz="2400" dirty="0">
                <a:latin typeface="Arial" charset="0"/>
              </a:rPr>
              <a:t>’</a:t>
            </a:r>
            <a:r>
              <a:rPr lang="en-US" altLang="zh-CN" sz="2400" dirty="0"/>
              <a:t>,</a:t>
            </a:r>
            <a:r>
              <a:rPr lang="en-US" altLang="zh-CN" sz="2400" dirty="0">
                <a:latin typeface="Arial" charset="0"/>
              </a:rPr>
              <a:t>’</a:t>
            </a:r>
            <a:r>
              <a:rPr lang="en-US" altLang="zh-CN" sz="2400" dirty="0"/>
              <a:t>MA</a:t>
            </a:r>
            <a:r>
              <a:rPr lang="en-US" altLang="zh-CN" sz="2400" dirty="0">
                <a:latin typeface="Arial" charset="0"/>
              </a:rPr>
              <a:t>’</a:t>
            </a:r>
            <a:r>
              <a:rPr lang="en-US" altLang="zh-CN" sz="2400" dirty="0"/>
              <a:t>,</a:t>
            </a:r>
            <a:r>
              <a:rPr lang="en-US" altLang="zh-CN" sz="2400" dirty="0">
                <a:latin typeface="Arial" charset="0"/>
              </a:rPr>
              <a:t>’</a:t>
            </a:r>
            <a:r>
              <a:rPr lang="en-US" altLang="zh-CN" sz="2400" dirty="0"/>
              <a:t>IS</a:t>
            </a:r>
            <a:r>
              <a:rPr lang="en-US" altLang="zh-CN" sz="2400" dirty="0">
                <a:latin typeface="Arial" charset="0"/>
              </a:rPr>
              <a:t>’</a:t>
            </a:r>
            <a:r>
              <a:rPr lang="en-US" altLang="zh-CN" sz="2400" dirty="0"/>
              <a:t>) </a:t>
            </a:r>
            <a:r>
              <a:rPr lang="en-US" altLang="zh-CN" sz="2400" dirty="0">
                <a:solidFill>
                  <a:srgbClr val="0000FF"/>
                </a:solidFill>
              </a:rPr>
              <a:t>IS NOT FALSE</a:t>
            </a:r>
            <a:r>
              <a:rPr lang="en-US" altLang="zh-CN" sz="2400" dirty="0"/>
              <a:t>;</a:t>
            </a:r>
            <a:endParaRPr lang="zh-CN" altLang="en-US" sz="24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7B0877A-102F-F10A-3E39-E4F5F7CDE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70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5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5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7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7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75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75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75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75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75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75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75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75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75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75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75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75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846EDAC-F3DC-4781-BB3D-518C1CDD3F21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686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686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字符串运算</a:t>
            </a:r>
            <a:r>
              <a:rPr lang="en-US" altLang="zh-CN" dirty="0"/>
              <a:t>(</a:t>
            </a:r>
            <a:r>
              <a:rPr lang="zh-CN" altLang="en-US" dirty="0"/>
              <a:t>教材</a:t>
            </a:r>
            <a:r>
              <a:rPr lang="en-US" altLang="zh-CN" dirty="0"/>
              <a:t>3.4.2)</a:t>
            </a:r>
            <a:endParaRPr lang="zh-CN" altLang="en-US" dirty="0"/>
          </a:p>
        </p:txBody>
      </p:sp>
      <p:sp>
        <p:nvSpPr>
          <p:cNvPr id="686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534400" cy="5410200"/>
          </a:xfrm>
        </p:spPr>
        <p:txBody>
          <a:bodyPr/>
          <a:lstStyle/>
          <a:p>
            <a:pPr eaLnBrk="1" hangingPunct="1">
              <a:buNone/>
            </a:pPr>
            <a:r>
              <a:rPr lang="en-US" altLang="zh-CN" dirty="0"/>
              <a:t>(4) </a:t>
            </a:r>
            <a:r>
              <a:rPr lang="zh-CN" altLang="en-US" dirty="0"/>
              <a:t>字符匹配 </a:t>
            </a:r>
            <a:r>
              <a:rPr lang="en-US" altLang="zh-CN" dirty="0">
                <a:solidFill>
                  <a:srgbClr val="C00000"/>
                </a:solidFill>
              </a:rPr>
              <a:t>LIKE</a:t>
            </a:r>
            <a:endParaRPr lang="zh-CN" altLang="en-US" u="sng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SQL</a:t>
            </a:r>
            <a:r>
              <a:rPr lang="zh-CN" altLang="en-US" dirty="0"/>
              <a:t>语句用一对</a:t>
            </a:r>
            <a:r>
              <a:rPr lang="zh-CN" altLang="en-US" dirty="0">
                <a:solidFill>
                  <a:srgbClr val="0000FF"/>
                </a:solidFill>
              </a:rPr>
              <a:t>单引号</a:t>
            </a:r>
            <a:r>
              <a:rPr lang="en-US" altLang="zh-CN" dirty="0">
                <a:solidFill>
                  <a:srgbClr val="0000FF"/>
                </a:solidFill>
              </a:rPr>
              <a:t>’ ’</a:t>
            </a:r>
            <a:r>
              <a:rPr lang="zh-CN" altLang="en-US" dirty="0"/>
              <a:t>来表示字符串</a:t>
            </a:r>
            <a:endParaRPr lang="en-US" altLang="zh-CN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rgbClr val="C00000"/>
                </a:solidFill>
              </a:rPr>
              <a:t>[</a:t>
            </a:r>
            <a:r>
              <a:rPr lang="en-US" altLang="zh-CN" dirty="0">
                <a:solidFill>
                  <a:srgbClr val="0000FF"/>
                </a:solidFill>
              </a:rPr>
              <a:t>NOT</a:t>
            </a:r>
            <a:r>
              <a:rPr lang="en-US" altLang="zh-CN" dirty="0">
                <a:solidFill>
                  <a:srgbClr val="C00000"/>
                </a:solidFill>
              </a:rPr>
              <a:t>] LIKE </a:t>
            </a:r>
            <a:r>
              <a:rPr lang="en-US" altLang="zh-CN" dirty="0"/>
              <a:t>‘&lt;</a:t>
            </a:r>
            <a:r>
              <a:rPr lang="zh-CN" altLang="en-US" b="1" dirty="0">
                <a:solidFill>
                  <a:srgbClr val="006600"/>
                </a:solidFill>
              </a:rPr>
              <a:t>匹配串</a:t>
            </a:r>
            <a:r>
              <a:rPr lang="en-US" altLang="zh-CN" dirty="0"/>
              <a:t>&gt;’ </a:t>
            </a:r>
          </a:p>
          <a:p>
            <a:r>
              <a:rPr lang="en-US" altLang="zh-CN" b="1" dirty="0"/>
              <a:t>&lt;</a:t>
            </a:r>
            <a:r>
              <a:rPr lang="zh-CN" altLang="en-US" dirty="0"/>
              <a:t>匹配串</a:t>
            </a:r>
            <a:r>
              <a:rPr lang="en-US" altLang="zh-CN" b="1" dirty="0"/>
              <a:t>&gt;</a:t>
            </a:r>
            <a:r>
              <a:rPr lang="zh-CN" altLang="en-US" dirty="0"/>
              <a:t>可以是一个</a:t>
            </a:r>
            <a:r>
              <a:rPr lang="zh-CN" altLang="en-US" u="sng" dirty="0">
                <a:solidFill>
                  <a:srgbClr val="0000FF"/>
                </a:solidFill>
              </a:rPr>
              <a:t>完整的</a:t>
            </a:r>
            <a:r>
              <a:rPr lang="zh-CN" altLang="en-US" u="sng" dirty="0"/>
              <a:t>字符串</a:t>
            </a:r>
            <a:r>
              <a:rPr lang="zh-CN" altLang="en-US" dirty="0"/>
              <a:t>，也可以含有</a:t>
            </a:r>
            <a:r>
              <a:rPr lang="zh-CN" altLang="en-US" dirty="0">
                <a:solidFill>
                  <a:srgbClr val="0000FF"/>
                </a:solidFill>
              </a:rPr>
              <a:t>通配符</a:t>
            </a:r>
            <a:r>
              <a:rPr lang="en-US" altLang="zh-CN" dirty="0">
                <a:solidFill>
                  <a:srgbClr val="FF0000"/>
                </a:solidFill>
              </a:rPr>
              <a:t>%</a:t>
            </a:r>
            <a:r>
              <a:rPr lang="zh-CN" altLang="en-US" dirty="0"/>
              <a:t>和</a:t>
            </a:r>
            <a:r>
              <a:rPr lang="en-US" altLang="zh-CN" dirty="0">
                <a:solidFill>
                  <a:srgbClr val="FF0000"/>
                </a:solidFill>
              </a:rPr>
              <a:t>_</a:t>
            </a:r>
            <a:r>
              <a:rPr lang="zh-CN" altLang="en-US" dirty="0"/>
              <a:t>的字符串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%(</a:t>
            </a:r>
            <a:r>
              <a:rPr lang="zh-CN" altLang="en-US" dirty="0"/>
              <a:t>百分号</a:t>
            </a:r>
            <a:r>
              <a:rPr lang="en-US" altLang="zh-CN" dirty="0"/>
              <a:t>)</a:t>
            </a:r>
            <a:r>
              <a:rPr lang="zh-CN" altLang="en-US" dirty="0"/>
              <a:t>代表</a:t>
            </a:r>
            <a:r>
              <a:rPr lang="zh-CN" altLang="en-US" dirty="0">
                <a:solidFill>
                  <a:srgbClr val="0000FF"/>
                </a:solidFill>
              </a:rPr>
              <a:t>任意长度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C00000"/>
                </a:solidFill>
              </a:rPr>
              <a:t>&gt;=</a:t>
            </a:r>
            <a:r>
              <a:rPr lang="en-US" altLang="zh-CN" b="1" dirty="0"/>
              <a:t>0</a:t>
            </a:r>
            <a:r>
              <a:rPr lang="en-US" altLang="zh-CN" dirty="0"/>
              <a:t>)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00FF"/>
                </a:solidFill>
              </a:rPr>
              <a:t>字符串</a:t>
            </a:r>
            <a:r>
              <a:rPr lang="zh-CN" altLang="en-US" dirty="0"/>
              <a:t> </a:t>
            </a:r>
          </a:p>
          <a:p>
            <a:pPr lvl="2"/>
            <a:r>
              <a:rPr lang="zh-CN" altLang="en-US" dirty="0"/>
              <a:t>例如</a:t>
            </a:r>
            <a:r>
              <a:rPr lang="en-US" altLang="zh-CN" b="1" dirty="0" err="1"/>
              <a:t>a</a:t>
            </a:r>
            <a:r>
              <a:rPr lang="en-US" altLang="zh-CN" dirty="0" err="1">
                <a:solidFill>
                  <a:srgbClr val="FF0000"/>
                </a:solidFill>
              </a:rPr>
              <a:t>%</a:t>
            </a:r>
            <a:r>
              <a:rPr lang="en-US" altLang="zh-CN" b="1" dirty="0" err="1"/>
              <a:t>b</a:t>
            </a:r>
            <a:r>
              <a:rPr lang="zh-CN" altLang="en-US" dirty="0"/>
              <a:t>表示以</a:t>
            </a:r>
            <a:r>
              <a:rPr lang="en-US" altLang="zh-CN" b="1" dirty="0"/>
              <a:t>a</a:t>
            </a:r>
            <a:r>
              <a:rPr lang="zh-CN" altLang="en-US" dirty="0"/>
              <a:t>开头，以</a:t>
            </a:r>
            <a:r>
              <a:rPr lang="en-US" altLang="zh-CN" b="1" dirty="0"/>
              <a:t>b</a:t>
            </a:r>
            <a:r>
              <a:rPr lang="zh-CN" altLang="en-US" dirty="0"/>
              <a:t>结尾的</a:t>
            </a:r>
            <a:r>
              <a:rPr lang="zh-CN" altLang="en-US" u="sng" dirty="0">
                <a:solidFill>
                  <a:srgbClr val="0000FF"/>
                </a:solidFill>
              </a:rPr>
              <a:t>任意长度</a:t>
            </a:r>
            <a:r>
              <a:rPr lang="zh-CN" altLang="en-US" u="sng" dirty="0"/>
              <a:t>的字符串 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 _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下横线</a:t>
            </a:r>
            <a:r>
              <a:rPr lang="en-US" altLang="zh-CN" dirty="0"/>
              <a:t>)</a:t>
            </a:r>
            <a:r>
              <a:rPr lang="zh-CN" altLang="en-US" dirty="0"/>
              <a:t>代表</a:t>
            </a:r>
            <a:r>
              <a:rPr lang="zh-CN" altLang="en-US" dirty="0">
                <a:solidFill>
                  <a:srgbClr val="0000FF"/>
                </a:solidFill>
              </a:rPr>
              <a:t>任意</a:t>
            </a:r>
            <a:r>
              <a:rPr lang="zh-CN" altLang="en-US" b="1" dirty="0">
                <a:solidFill>
                  <a:srgbClr val="C00000"/>
                </a:solidFill>
              </a:rPr>
              <a:t>单个</a:t>
            </a:r>
            <a:r>
              <a:rPr lang="zh-CN" altLang="en-US" dirty="0">
                <a:solidFill>
                  <a:srgbClr val="0000FF"/>
                </a:solidFill>
              </a:rPr>
              <a:t>字符</a:t>
            </a:r>
            <a:r>
              <a:rPr lang="zh-CN" altLang="en-US" dirty="0"/>
              <a:t>。 </a:t>
            </a:r>
          </a:p>
          <a:p>
            <a:pPr lvl="2"/>
            <a:r>
              <a:rPr lang="zh-CN" altLang="en-US" dirty="0"/>
              <a:t>例如</a:t>
            </a:r>
            <a:r>
              <a:rPr lang="en-US" altLang="zh-CN" b="1" dirty="0" err="1"/>
              <a:t>a</a:t>
            </a:r>
            <a:r>
              <a:rPr lang="en-US" altLang="zh-CN" dirty="0" err="1">
                <a:solidFill>
                  <a:srgbClr val="FF0000"/>
                </a:solidFill>
              </a:rPr>
              <a:t>_</a:t>
            </a:r>
            <a:r>
              <a:rPr lang="en-US" altLang="zh-CN" b="1" dirty="0" err="1"/>
              <a:t>b</a:t>
            </a:r>
            <a:r>
              <a:rPr lang="zh-CN" altLang="en-US" dirty="0"/>
              <a:t>表示以</a:t>
            </a:r>
            <a:r>
              <a:rPr lang="en-US" altLang="zh-CN" b="1" dirty="0"/>
              <a:t>a</a:t>
            </a:r>
            <a:r>
              <a:rPr lang="zh-CN" altLang="en-US" dirty="0"/>
              <a:t>开头，以</a:t>
            </a:r>
            <a:r>
              <a:rPr lang="en-US" altLang="zh-CN" b="1" dirty="0"/>
              <a:t>b</a:t>
            </a:r>
            <a:r>
              <a:rPr lang="zh-CN" altLang="en-US" dirty="0"/>
              <a:t>结尾的</a:t>
            </a:r>
            <a:r>
              <a:rPr lang="zh-CN" altLang="en-US" dirty="0">
                <a:solidFill>
                  <a:srgbClr val="0000FF"/>
                </a:solidFill>
              </a:rPr>
              <a:t>长度为</a:t>
            </a:r>
            <a:r>
              <a:rPr lang="en-US" altLang="zh-CN" b="1" dirty="0">
                <a:solidFill>
                  <a:srgbClr val="0000FF"/>
                </a:solidFill>
              </a:rPr>
              <a:t>3</a:t>
            </a:r>
            <a:r>
              <a:rPr lang="zh-CN" altLang="en-US" dirty="0"/>
              <a:t>的任意字符串 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4572000" y="1143000"/>
            <a:ext cx="4572000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用法：相当于</a:t>
            </a:r>
            <a:r>
              <a:rPr lang="en-US" altLang="zh-CN" dirty="0"/>
              <a:t>Windows</a:t>
            </a:r>
            <a:r>
              <a:rPr lang="zh-CN" altLang="en-US" dirty="0"/>
              <a:t>、</a:t>
            </a:r>
            <a:r>
              <a:rPr lang="en-US" altLang="zh-CN" dirty="0"/>
              <a:t>dos</a:t>
            </a:r>
            <a:r>
              <a:rPr lang="zh-CN" altLang="en-US" dirty="0"/>
              <a:t>等中查文件名的</a:t>
            </a:r>
            <a:r>
              <a:rPr lang="zh-CN" altLang="en-US" dirty="0">
                <a:solidFill>
                  <a:srgbClr val="0000FF"/>
                </a:solidFill>
              </a:rPr>
              <a:t>*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00FF"/>
                </a:solidFill>
              </a:rPr>
              <a:t>？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CD61820-FC9C-332F-4783-FBECB404F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71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86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86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86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86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86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86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86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86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1BBCB77-AE47-43E7-96F9-ED10D0218970}" type="datetime1">
              <a:rPr kumimoji="0" lang="zh-CN" altLang="en-US" sz="1400" smtClean="0"/>
              <a:t>2025/9/24</a:t>
            </a:fld>
            <a:endParaRPr kumimoji="0" lang="en-US" altLang="zh-CN" sz="1400" dirty="0"/>
          </a:p>
        </p:txBody>
      </p:sp>
      <p:sp>
        <p:nvSpPr>
          <p:cNvPr id="686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686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字符串运算</a:t>
            </a:r>
            <a:r>
              <a:rPr lang="en-US" altLang="zh-CN" dirty="0"/>
              <a:t>(</a:t>
            </a:r>
            <a:r>
              <a:rPr lang="zh-CN" altLang="en-US" dirty="0"/>
              <a:t>教材</a:t>
            </a:r>
            <a:r>
              <a:rPr lang="en-US" altLang="zh-CN" dirty="0"/>
              <a:t>3.4.2)</a:t>
            </a:r>
            <a:endParaRPr lang="zh-CN" altLang="en-US" dirty="0"/>
          </a:p>
        </p:txBody>
      </p:sp>
      <p:sp>
        <p:nvSpPr>
          <p:cNvPr id="686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(4) </a:t>
            </a:r>
            <a:r>
              <a:rPr lang="zh-CN" altLang="en-US" dirty="0"/>
              <a:t>字符匹配 </a:t>
            </a:r>
            <a:r>
              <a:rPr lang="en-US" altLang="zh-CN" dirty="0">
                <a:solidFill>
                  <a:srgbClr val="C00000"/>
                </a:solidFill>
              </a:rPr>
              <a:t>LIKE</a:t>
            </a:r>
          </a:p>
          <a:p>
            <a:r>
              <a:rPr lang="zh-CN" altLang="en-US" dirty="0"/>
              <a:t>匹配串为</a:t>
            </a:r>
            <a:r>
              <a:rPr lang="zh-CN" altLang="en-US" dirty="0">
                <a:solidFill>
                  <a:srgbClr val="0000FF"/>
                </a:solidFill>
              </a:rPr>
              <a:t>固定字符串 </a:t>
            </a:r>
          </a:p>
          <a:p>
            <a:pPr eaLnBrk="1" hangingPunct="1">
              <a:buNone/>
            </a:pPr>
            <a:r>
              <a:rPr lang="en-US" altLang="zh-CN" sz="2800" dirty="0"/>
              <a:t>[</a:t>
            </a:r>
            <a:r>
              <a:rPr lang="zh-CN" altLang="en-US" sz="2800" dirty="0"/>
              <a:t>例</a:t>
            </a:r>
            <a:r>
              <a:rPr lang="en-US" altLang="zh-CN" sz="2800" dirty="0"/>
              <a:t>3.29] </a:t>
            </a:r>
            <a:r>
              <a:rPr lang="zh-CN" altLang="en-US" sz="2800" dirty="0"/>
              <a:t>查询学号为</a:t>
            </a:r>
            <a:r>
              <a:rPr lang="en-US" altLang="zh-CN" sz="2800" dirty="0"/>
              <a:t>201215121</a:t>
            </a:r>
            <a:r>
              <a:rPr lang="zh-CN" altLang="en-US" sz="2800" dirty="0"/>
              <a:t>的学生的详细情况。</a:t>
            </a:r>
          </a:p>
          <a:p>
            <a:pPr lvl="2" eaLnBrk="1" hangingPunct="1">
              <a:buNone/>
            </a:pPr>
            <a:r>
              <a:rPr lang="en-US" altLang="zh-CN" dirty="0"/>
              <a:t>SELECT *</a:t>
            </a:r>
          </a:p>
          <a:p>
            <a:pPr lvl="2" eaLnBrk="1" hangingPunct="1">
              <a:buNone/>
            </a:pPr>
            <a:r>
              <a:rPr lang="en-US" altLang="zh-CN" dirty="0"/>
              <a:t>FROM Student</a:t>
            </a:r>
          </a:p>
          <a:p>
            <a:pPr lvl="2" eaLnBrk="1" hangingPunct="1">
              <a:buNone/>
            </a:pPr>
            <a:r>
              <a:rPr lang="en-US" altLang="zh-CN" dirty="0"/>
              <a:t>WHERE </a:t>
            </a:r>
            <a:r>
              <a:rPr lang="en-US" altLang="zh-CN" dirty="0" err="1"/>
              <a:t>Sno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C00000"/>
                </a:solidFill>
              </a:rPr>
              <a:t>LIKE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00FF"/>
                </a:solidFill>
              </a:rPr>
              <a:t>‘201215121'</a:t>
            </a:r>
            <a:r>
              <a:rPr lang="en-US" altLang="zh-CN" dirty="0"/>
              <a:t>;</a:t>
            </a:r>
            <a:endParaRPr lang="en-US" altLang="zh-CN" sz="1600" dirty="0"/>
          </a:p>
          <a:p>
            <a:pPr eaLnBrk="1" hangingPunct="1">
              <a:buNone/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等价于</a:t>
            </a:r>
            <a:r>
              <a:rPr lang="zh-CN" altLang="en-US" sz="2800" dirty="0"/>
              <a:t>：</a:t>
            </a:r>
          </a:p>
          <a:p>
            <a:pPr eaLnBrk="1" hangingPunct="1">
              <a:buNone/>
            </a:pPr>
            <a:r>
              <a:rPr lang="en-US" altLang="zh-CN" sz="2400" dirty="0"/>
              <a:t>            SELECT *</a:t>
            </a:r>
          </a:p>
          <a:p>
            <a:pPr eaLnBrk="1" hangingPunct="1">
              <a:buNone/>
            </a:pPr>
            <a:r>
              <a:rPr lang="en-US" altLang="zh-CN" sz="2400" dirty="0"/>
              <a:t>            FROM Student</a:t>
            </a:r>
          </a:p>
          <a:p>
            <a:pPr eaLnBrk="1" hangingPunct="1">
              <a:buNone/>
            </a:pPr>
            <a:r>
              <a:rPr lang="en-US" altLang="zh-CN" sz="2400" dirty="0"/>
              <a:t>            WHERE </a:t>
            </a:r>
            <a:r>
              <a:rPr lang="en-US" altLang="zh-CN" sz="2400" dirty="0" err="1"/>
              <a:t>Sno</a:t>
            </a:r>
            <a:r>
              <a:rPr lang="en-US" altLang="zh-CN" sz="2400" dirty="0"/>
              <a:t> = </a:t>
            </a:r>
            <a:r>
              <a:rPr lang="en-US" altLang="zh-CN" sz="2400" dirty="0">
                <a:solidFill>
                  <a:srgbClr val="0000FF"/>
                </a:solidFill>
              </a:rPr>
              <a:t>'201215121'</a:t>
            </a:r>
            <a:r>
              <a:rPr lang="en-US" altLang="zh-CN" sz="2400" dirty="0"/>
              <a:t>;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BBEDF76-57EE-3D49-FA34-E98E49B8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72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4939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6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6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86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86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86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86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86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86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86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86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86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86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86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86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280D80D-33B0-4305-87AC-4DF4E912F78A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686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686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字符串运算</a:t>
            </a:r>
            <a:r>
              <a:rPr lang="en-US" altLang="zh-CN" dirty="0"/>
              <a:t>(</a:t>
            </a:r>
            <a:r>
              <a:rPr lang="zh-CN" altLang="en-US" dirty="0"/>
              <a:t>教材</a:t>
            </a:r>
            <a:r>
              <a:rPr lang="en-US" altLang="zh-CN" dirty="0"/>
              <a:t>3.4.2)</a:t>
            </a:r>
            <a:endParaRPr lang="zh-CN" altLang="en-US" dirty="0"/>
          </a:p>
        </p:txBody>
      </p:sp>
      <p:sp>
        <p:nvSpPr>
          <p:cNvPr id="686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(4) </a:t>
            </a:r>
            <a:r>
              <a:rPr lang="zh-CN" altLang="en-US" dirty="0"/>
              <a:t>字符匹配 </a:t>
            </a:r>
            <a:r>
              <a:rPr lang="en-US" altLang="zh-CN" dirty="0">
                <a:solidFill>
                  <a:srgbClr val="C00000"/>
                </a:solidFill>
              </a:rPr>
              <a:t>LIKE</a:t>
            </a:r>
          </a:p>
          <a:p>
            <a:r>
              <a:rPr lang="zh-CN" altLang="en-US" dirty="0"/>
              <a:t>匹配串为</a:t>
            </a:r>
            <a:r>
              <a:rPr lang="zh-CN" altLang="en-US" dirty="0">
                <a:solidFill>
                  <a:srgbClr val="0000FF"/>
                </a:solidFill>
              </a:rPr>
              <a:t>含通配符</a:t>
            </a:r>
            <a:r>
              <a:rPr lang="zh-CN" altLang="en-US" dirty="0"/>
              <a:t>的字符串 </a:t>
            </a:r>
          </a:p>
          <a:p>
            <a:pPr marL="0" indent="0" eaLnBrk="1" hangingPunct="1"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3.30] </a:t>
            </a:r>
            <a:r>
              <a:rPr lang="zh-CN" altLang="en-US" sz="2400" dirty="0"/>
              <a:t>查询所有</a:t>
            </a:r>
            <a:r>
              <a:rPr lang="zh-CN" altLang="en-US" sz="2400" b="1" dirty="0">
                <a:solidFill>
                  <a:srgbClr val="006600"/>
                </a:solidFill>
              </a:rPr>
              <a:t>姓刘</a:t>
            </a:r>
            <a:r>
              <a:rPr lang="zh-CN" altLang="en-US" sz="2400" dirty="0"/>
              <a:t>学生的姓名、学号和性别。</a:t>
            </a:r>
          </a:p>
          <a:p>
            <a:pPr marL="800100" lvl="2" indent="0" eaLnBrk="1" hangingPunct="1">
              <a:buNone/>
            </a:pPr>
            <a:r>
              <a:rPr lang="en-US" altLang="zh-CN" dirty="0"/>
              <a:t>SELECT </a:t>
            </a:r>
            <a:r>
              <a:rPr lang="en-US" altLang="zh-CN" dirty="0" err="1"/>
              <a:t>Sname</a:t>
            </a:r>
            <a:r>
              <a:rPr lang="en-US" altLang="zh-CN" dirty="0"/>
              <a:t>, </a:t>
            </a:r>
            <a:r>
              <a:rPr lang="en-US" altLang="zh-CN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/>
              <a:t>Ssex</a:t>
            </a:r>
            <a:endParaRPr lang="en-US" altLang="zh-CN" dirty="0"/>
          </a:p>
          <a:p>
            <a:pPr marL="800100" lvl="2" indent="0" eaLnBrk="1" hangingPunct="1">
              <a:buNone/>
            </a:pPr>
            <a:r>
              <a:rPr lang="en-US" altLang="zh-CN" dirty="0"/>
              <a:t>FROM Student</a:t>
            </a:r>
          </a:p>
          <a:p>
            <a:pPr marL="800100" lvl="2" indent="0" eaLnBrk="1" hangingPunct="1">
              <a:buNone/>
            </a:pPr>
            <a:r>
              <a:rPr lang="en-US" altLang="zh-CN" dirty="0"/>
              <a:t>WHERE </a:t>
            </a:r>
            <a:r>
              <a:rPr lang="en-US" altLang="zh-CN" dirty="0" err="1"/>
              <a:t>Sname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C00000"/>
                </a:solidFill>
              </a:rPr>
              <a:t>LIKE</a:t>
            </a:r>
            <a:r>
              <a:rPr lang="en-US" altLang="zh-CN" dirty="0"/>
              <a:t> '</a:t>
            </a:r>
            <a:r>
              <a:rPr lang="zh-CN" altLang="en-US" dirty="0"/>
              <a:t>刘</a:t>
            </a:r>
            <a:r>
              <a:rPr lang="en-US" altLang="zh-CN" dirty="0">
                <a:solidFill>
                  <a:srgbClr val="C00000"/>
                </a:solidFill>
              </a:rPr>
              <a:t>%</a:t>
            </a:r>
            <a:r>
              <a:rPr lang="en-US" altLang="zh-CN" dirty="0"/>
              <a:t>';</a:t>
            </a:r>
          </a:p>
          <a:p>
            <a:pPr marL="0" indent="0" eaLnBrk="1" hangingPunct="1"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3.31] </a:t>
            </a:r>
            <a:r>
              <a:rPr lang="zh-CN" altLang="en-US" sz="2400" dirty="0"/>
              <a:t>查询姓</a:t>
            </a:r>
            <a:r>
              <a:rPr lang="en-US" altLang="zh-CN" sz="2400" dirty="0"/>
              <a:t>"</a:t>
            </a:r>
            <a:r>
              <a:rPr lang="zh-CN" altLang="en-US" sz="2400" dirty="0"/>
              <a:t>欧阳</a:t>
            </a:r>
            <a:r>
              <a:rPr lang="en-US" altLang="zh-CN" sz="2400" dirty="0"/>
              <a:t>"</a:t>
            </a:r>
            <a:r>
              <a:rPr lang="zh-CN" altLang="en-US" sz="2400" dirty="0"/>
              <a:t>且全名为</a:t>
            </a:r>
            <a:r>
              <a:rPr lang="en-US" altLang="zh-CN" sz="2400" dirty="0">
                <a:solidFill>
                  <a:srgbClr val="0000FF"/>
                </a:solidFill>
              </a:rPr>
              <a:t>3</a:t>
            </a:r>
            <a:r>
              <a:rPr lang="zh-CN" altLang="en-US" sz="2400" dirty="0">
                <a:solidFill>
                  <a:srgbClr val="0000FF"/>
                </a:solidFill>
              </a:rPr>
              <a:t>个汉字</a:t>
            </a:r>
            <a:r>
              <a:rPr lang="zh-CN" altLang="en-US" sz="2400" dirty="0"/>
              <a:t>的学生的姓名。</a:t>
            </a:r>
          </a:p>
          <a:p>
            <a:pPr marL="800100" lvl="2" indent="0" eaLnBrk="1" hangingPunct="1">
              <a:buNone/>
            </a:pPr>
            <a:r>
              <a:rPr lang="en-US" altLang="zh-CN" dirty="0"/>
              <a:t>SELECT </a:t>
            </a:r>
            <a:r>
              <a:rPr lang="en-US" altLang="zh-CN" dirty="0" err="1"/>
              <a:t>Sname</a:t>
            </a:r>
            <a:endParaRPr lang="en-US" altLang="zh-CN" dirty="0"/>
          </a:p>
          <a:p>
            <a:pPr marL="800100" lvl="2" indent="0" eaLnBrk="1" hangingPunct="1">
              <a:buNone/>
            </a:pPr>
            <a:r>
              <a:rPr lang="en-US" altLang="zh-CN" dirty="0"/>
              <a:t>FROM Student</a:t>
            </a:r>
          </a:p>
          <a:p>
            <a:pPr marL="800100" lvl="2" indent="0" eaLnBrk="1" hangingPunct="1">
              <a:buNone/>
            </a:pPr>
            <a:r>
              <a:rPr lang="en-US" altLang="zh-CN" dirty="0"/>
              <a:t>WHERE </a:t>
            </a:r>
            <a:r>
              <a:rPr lang="en-US" altLang="zh-CN" dirty="0" err="1"/>
              <a:t>Sname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C00000"/>
                </a:solidFill>
              </a:rPr>
              <a:t>LIKE</a:t>
            </a:r>
            <a:r>
              <a:rPr lang="en-US" altLang="zh-CN" dirty="0"/>
              <a:t> '</a:t>
            </a:r>
            <a:r>
              <a:rPr lang="zh-CN" altLang="en-US" dirty="0"/>
              <a:t>欧阳</a:t>
            </a:r>
            <a:r>
              <a:rPr lang="en-US" altLang="zh-CN" dirty="0">
                <a:solidFill>
                  <a:srgbClr val="C00000"/>
                </a:solidFill>
              </a:rPr>
              <a:t>__</a:t>
            </a:r>
            <a:r>
              <a:rPr lang="en-US" altLang="zh-CN" dirty="0"/>
              <a:t>';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83F6615-FB82-3618-A357-ED625E081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73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40238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6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6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86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86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86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86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86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86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86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86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86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86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86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86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DCC2ABB-8067-4586-9755-4237D055558F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686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686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字符串运算</a:t>
            </a:r>
            <a:r>
              <a:rPr lang="en-US" altLang="zh-CN" dirty="0"/>
              <a:t>(</a:t>
            </a:r>
            <a:r>
              <a:rPr lang="zh-CN" altLang="en-US" dirty="0"/>
              <a:t>教材</a:t>
            </a:r>
            <a:r>
              <a:rPr lang="en-US" altLang="zh-CN" dirty="0"/>
              <a:t>3.4.2)</a:t>
            </a:r>
            <a:endParaRPr lang="zh-CN" altLang="en-US" dirty="0"/>
          </a:p>
        </p:txBody>
      </p:sp>
      <p:sp>
        <p:nvSpPr>
          <p:cNvPr id="686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(4) </a:t>
            </a:r>
            <a:r>
              <a:rPr lang="zh-CN" altLang="en-US" dirty="0"/>
              <a:t>字符匹配 </a:t>
            </a:r>
            <a:r>
              <a:rPr lang="en-US" altLang="zh-CN" dirty="0">
                <a:solidFill>
                  <a:srgbClr val="C00000"/>
                </a:solidFill>
              </a:rPr>
              <a:t>LIKE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rgbClr val="C00000"/>
                </a:solidFill>
              </a:rPr>
              <a:t>[</a:t>
            </a:r>
            <a:r>
              <a:rPr lang="en-US" altLang="zh-CN" dirty="0">
                <a:solidFill>
                  <a:srgbClr val="0000FF"/>
                </a:solidFill>
              </a:rPr>
              <a:t>NOT</a:t>
            </a:r>
            <a:r>
              <a:rPr lang="en-US" altLang="zh-CN" dirty="0">
                <a:solidFill>
                  <a:srgbClr val="C00000"/>
                </a:solidFill>
              </a:rPr>
              <a:t>] LIKE </a:t>
            </a:r>
            <a:r>
              <a:rPr lang="en-US" altLang="zh-CN" dirty="0"/>
              <a:t>‘&lt;</a:t>
            </a:r>
            <a:r>
              <a:rPr lang="zh-CN" altLang="en-US" b="1" dirty="0">
                <a:solidFill>
                  <a:srgbClr val="006600"/>
                </a:solidFill>
              </a:rPr>
              <a:t>匹配串</a:t>
            </a:r>
            <a:r>
              <a:rPr lang="en-US" altLang="zh-CN" dirty="0"/>
              <a:t>&gt;’ </a:t>
            </a:r>
          </a:p>
          <a:p>
            <a:r>
              <a:rPr lang="en-US" altLang="zh-CN" b="1" dirty="0"/>
              <a:t>&lt;</a:t>
            </a:r>
            <a:r>
              <a:rPr lang="zh-CN" altLang="en-US" dirty="0"/>
              <a:t>匹配串</a:t>
            </a:r>
            <a:r>
              <a:rPr lang="en-US" altLang="zh-CN" b="1" dirty="0"/>
              <a:t>&gt;</a:t>
            </a:r>
            <a:r>
              <a:rPr lang="zh-CN" altLang="en-US" dirty="0"/>
              <a:t>可以是一个完整的字符串，也可以含有通配符</a:t>
            </a:r>
            <a:r>
              <a:rPr lang="en-US" altLang="zh-CN" dirty="0">
                <a:solidFill>
                  <a:srgbClr val="FF0000"/>
                </a:solidFill>
              </a:rPr>
              <a:t>%</a:t>
            </a:r>
            <a:r>
              <a:rPr lang="zh-CN" altLang="en-US" dirty="0"/>
              <a:t>和</a:t>
            </a:r>
            <a:r>
              <a:rPr lang="en-US" altLang="zh-CN" dirty="0">
                <a:solidFill>
                  <a:srgbClr val="FF0000"/>
                </a:solidFill>
              </a:rPr>
              <a:t>_</a:t>
            </a:r>
            <a:endParaRPr lang="en-US" altLang="zh-CN" dirty="0"/>
          </a:p>
          <a:p>
            <a:pPr eaLnBrk="1" hangingPunct="1">
              <a:buFont typeface="Wingdings" pitchFamily="2" charset="2"/>
              <a:buNone/>
            </a:pPr>
            <a:endParaRPr lang="en-US" altLang="zh-CN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800080"/>
                </a:solidFill>
              </a:rPr>
              <a:t>   </a:t>
            </a:r>
            <a:r>
              <a:rPr lang="zh-CN" altLang="en-US" dirty="0">
                <a:solidFill>
                  <a:srgbClr val="FF0000"/>
                </a:solidFill>
              </a:rPr>
              <a:t>新的问题</a:t>
            </a:r>
            <a:r>
              <a:rPr lang="zh-CN" altLang="en-US" dirty="0">
                <a:solidFill>
                  <a:srgbClr val="800080"/>
                </a:solidFill>
              </a:rPr>
              <a:t>：</a:t>
            </a:r>
            <a:r>
              <a:rPr lang="zh-CN" altLang="en-US" dirty="0"/>
              <a:t>如何表示</a:t>
            </a:r>
            <a:r>
              <a:rPr lang="en-US" altLang="zh-CN" dirty="0">
                <a:solidFill>
                  <a:srgbClr val="0000FF"/>
                </a:solidFill>
              </a:rPr>
              <a:t>%</a:t>
            </a:r>
            <a:r>
              <a:rPr lang="zh-CN" altLang="en-US" dirty="0"/>
              <a:t>和</a:t>
            </a:r>
            <a:r>
              <a:rPr lang="en-US" altLang="zh-CN" dirty="0">
                <a:solidFill>
                  <a:srgbClr val="0000FF"/>
                </a:solidFill>
              </a:rPr>
              <a:t>_</a:t>
            </a:r>
            <a:r>
              <a:rPr lang="zh-CN" altLang="en-US" dirty="0"/>
              <a:t>本身</a:t>
            </a:r>
            <a:r>
              <a:rPr lang="zh-CN" altLang="en-US" dirty="0">
                <a:solidFill>
                  <a:srgbClr val="FF0000"/>
                </a:solidFill>
              </a:rPr>
              <a:t>？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2C23DCE-D811-3E72-1902-3C8AF8A4F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74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610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6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6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86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86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86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86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B0CDBBF1-0251-4386-844C-38262CC75C75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686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686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字符串运算</a:t>
            </a:r>
            <a:r>
              <a:rPr lang="en-US" altLang="zh-CN" dirty="0"/>
              <a:t>(</a:t>
            </a:r>
            <a:r>
              <a:rPr lang="zh-CN" altLang="en-US" dirty="0"/>
              <a:t>教材</a:t>
            </a:r>
            <a:r>
              <a:rPr lang="en-US" altLang="zh-CN" dirty="0"/>
              <a:t>3.4.2)</a:t>
            </a:r>
            <a:endParaRPr lang="zh-CN" altLang="en-US" dirty="0"/>
          </a:p>
        </p:txBody>
      </p:sp>
      <p:sp>
        <p:nvSpPr>
          <p:cNvPr id="686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(4) </a:t>
            </a:r>
            <a:r>
              <a:rPr lang="zh-CN" altLang="en-US" dirty="0"/>
              <a:t>字符匹配 </a:t>
            </a:r>
            <a:r>
              <a:rPr lang="en-US" altLang="zh-CN" dirty="0">
                <a:solidFill>
                  <a:srgbClr val="C00000"/>
                </a:solidFill>
              </a:rPr>
              <a:t>LIKE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rgbClr val="C00000"/>
                </a:solidFill>
              </a:rPr>
              <a:t>[</a:t>
            </a:r>
            <a:r>
              <a:rPr lang="en-US" altLang="zh-CN" dirty="0">
                <a:solidFill>
                  <a:srgbClr val="0000FF"/>
                </a:solidFill>
              </a:rPr>
              <a:t>NOT</a:t>
            </a:r>
            <a:r>
              <a:rPr lang="en-US" altLang="zh-CN" dirty="0">
                <a:solidFill>
                  <a:srgbClr val="C00000"/>
                </a:solidFill>
              </a:rPr>
              <a:t>] LIKE </a:t>
            </a:r>
            <a:r>
              <a:rPr lang="en-US" altLang="zh-CN" dirty="0"/>
              <a:t>‘&lt;</a:t>
            </a:r>
            <a:r>
              <a:rPr lang="zh-CN" altLang="en-US" b="1" dirty="0">
                <a:solidFill>
                  <a:srgbClr val="006600"/>
                </a:solidFill>
              </a:rPr>
              <a:t>匹配串</a:t>
            </a:r>
            <a:r>
              <a:rPr lang="en-US" altLang="zh-CN" dirty="0"/>
              <a:t>&gt;’ </a:t>
            </a:r>
          </a:p>
          <a:p>
            <a:r>
              <a:rPr lang="en-US" altLang="zh-CN" b="1" dirty="0"/>
              <a:t>&lt;</a:t>
            </a:r>
            <a:r>
              <a:rPr lang="zh-CN" altLang="en-US" dirty="0"/>
              <a:t>匹配串</a:t>
            </a:r>
            <a:r>
              <a:rPr lang="en-US" altLang="zh-CN" b="1" dirty="0"/>
              <a:t>&gt;</a:t>
            </a:r>
            <a:r>
              <a:rPr lang="zh-CN" altLang="en-US" dirty="0"/>
              <a:t>可以是一个完整的字符串，也可以含有通配符</a:t>
            </a:r>
            <a:r>
              <a:rPr lang="en-US" altLang="zh-CN" dirty="0">
                <a:solidFill>
                  <a:srgbClr val="FF0000"/>
                </a:solidFill>
              </a:rPr>
              <a:t>%</a:t>
            </a:r>
            <a:r>
              <a:rPr lang="zh-CN" altLang="en-US" dirty="0"/>
              <a:t>和</a:t>
            </a:r>
            <a:r>
              <a:rPr lang="en-US" altLang="zh-CN" dirty="0">
                <a:solidFill>
                  <a:srgbClr val="FF0000"/>
                </a:solidFill>
              </a:rPr>
              <a:t>_</a:t>
            </a:r>
            <a:endParaRPr lang="en-US" altLang="zh-CN" dirty="0"/>
          </a:p>
          <a:p>
            <a:pPr eaLnBrk="1" hangingPunct="1">
              <a:buFont typeface="Wingdings" pitchFamily="2" charset="2"/>
              <a:buNone/>
            </a:pPr>
            <a:endParaRPr lang="en-US" altLang="zh-CN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800080"/>
                </a:solidFill>
              </a:rPr>
              <a:t>   </a:t>
            </a:r>
            <a:r>
              <a:rPr lang="zh-CN" altLang="en-US" dirty="0">
                <a:solidFill>
                  <a:srgbClr val="FF0000"/>
                </a:solidFill>
              </a:rPr>
              <a:t>新的问题</a:t>
            </a:r>
            <a:r>
              <a:rPr lang="zh-CN" altLang="en-US" dirty="0">
                <a:solidFill>
                  <a:srgbClr val="800080"/>
                </a:solidFill>
              </a:rPr>
              <a:t>：</a:t>
            </a:r>
            <a:r>
              <a:rPr lang="zh-CN" altLang="en-US" dirty="0"/>
              <a:t>如何表示</a:t>
            </a:r>
            <a:r>
              <a:rPr lang="en-US" altLang="zh-CN" dirty="0">
                <a:solidFill>
                  <a:srgbClr val="0000FF"/>
                </a:solidFill>
              </a:rPr>
              <a:t>%</a:t>
            </a:r>
            <a:r>
              <a:rPr lang="zh-CN" altLang="en-US" dirty="0"/>
              <a:t>和</a:t>
            </a:r>
            <a:r>
              <a:rPr lang="en-US" altLang="zh-CN" dirty="0">
                <a:solidFill>
                  <a:srgbClr val="0000FF"/>
                </a:solidFill>
              </a:rPr>
              <a:t>_</a:t>
            </a:r>
            <a:r>
              <a:rPr lang="zh-CN" altLang="en-US" dirty="0"/>
              <a:t>本身</a:t>
            </a:r>
            <a:r>
              <a:rPr lang="zh-CN" altLang="en-US" dirty="0">
                <a:solidFill>
                  <a:srgbClr val="FF0000"/>
                </a:solidFill>
              </a:rPr>
              <a:t>？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rgbClr val="FF0000"/>
                </a:solidFill>
              </a:rPr>
              <a:t>		</a:t>
            </a:r>
            <a:r>
              <a:rPr lang="zh-CN" altLang="en-US" sz="2800" dirty="0">
                <a:solidFill>
                  <a:srgbClr val="0000FF"/>
                </a:solidFill>
              </a:rPr>
              <a:t>用</a:t>
            </a:r>
            <a:r>
              <a:rPr lang="en-US" altLang="zh-CN" sz="2800" dirty="0">
                <a:solidFill>
                  <a:srgbClr val="0000FF"/>
                </a:solidFill>
              </a:rPr>
              <a:t>ESCAPE</a:t>
            </a:r>
            <a:r>
              <a:rPr lang="zh-CN" altLang="en-US" sz="2800" dirty="0">
                <a:solidFill>
                  <a:srgbClr val="0000FF"/>
                </a:solidFill>
              </a:rPr>
              <a:t>换码转义</a:t>
            </a:r>
            <a:endParaRPr lang="zh-CN" altLang="en-US" dirty="0">
              <a:solidFill>
                <a:srgbClr val="0000FF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dirty="0">
              <a:solidFill>
                <a:srgbClr val="FF0000"/>
              </a:solidFill>
            </a:endParaRPr>
          </a:p>
          <a:p>
            <a:pPr eaLnBrk="1" hangingPunct="1"/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9436140-28DB-1233-7427-DF248268C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75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9133443"/>
      </p:ext>
    </p:extLst>
  </p:cSld>
  <p:clrMapOvr>
    <a:masterClrMapping/>
  </p:clrMapOvr>
  <p:transition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F6686B3-DDE8-4870-B87C-E601EF75D040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7065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706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字符串运算</a:t>
            </a:r>
            <a:r>
              <a:rPr lang="en-US" altLang="zh-CN" dirty="0"/>
              <a:t>(</a:t>
            </a:r>
            <a:r>
              <a:rPr lang="zh-CN" altLang="en-US" dirty="0"/>
              <a:t>教材</a:t>
            </a:r>
            <a:r>
              <a:rPr lang="en-US" altLang="zh-CN" dirty="0"/>
              <a:t>3.4.2)</a:t>
            </a:r>
            <a:endParaRPr lang="zh-CN" altLang="en-US" dirty="0"/>
          </a:p>
        </p:txBody>
      </p:sp>
      <p:sp>
        <p:nvSpPr>
          <p:cNvPr id="706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表示</a:t>
            </a:r>
            <a:r>
              <a:rPr lang="en-US" altLang="zh-CN" dirty="0">
                <a:solidFill>
                  <a:srgbClr val="0000FF"/>
                </a:solidFill>
              </a:rPr>
              <a:t>%</a:t>
            </a:r>
            <a:r>
              <a:rPr lang="zh-CN" altLang="en-US" dirty="0"/>
              <a:t>和</a:t>
            </a:r>
            <a:r>
              <a:rPr lang="en-US" altLang="zh-CN" dirty="0">
                <a:solidFill>
                  <a:srgbClr val="0000FF"/>
                </a:solidFill>
              </a:rPr>
              <a:t>_</a:t>
            </a:r>
            <a:r>
              <a:rPr lang="zh-CN" altLang="en-US" dirty="0"/>
              <a:t>本身的方法</a:t>
            </a:r>
          </a:p>
          <a:p>
            <a:pPr eaLnBrk="1" hangingPunct="1"/>
            <a:endParaRPr lang="zh-CN" altLang="en-US" sz="1000" dirty="0"/>
          </a:p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19 </a:t>
            </a:r>
            <a:r>
              <a:rPr lang="zh-CN" altLang="en-US" dirty="0"/>
              <a:t>查询</a:t>
            </a:r>
            <a:r>
              <a:rPr lang="en-US" altLang="zh-CN" dirty="0" err="1"/>
              <a:t>DB_Design</a:t>
            </a:r>
            <a:r>
              <a:rPr lang="zh-CN" altLang="en-US" dirty="0"/>
              <a:t>课程的课程号和学分。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SELECT </a:t>
            </a:r>
            <a:r>
              <a:rPr lang="en-US" altLang="zh-CN" sz="2800" dirty="0" err="1"/>
              <a:t>Cno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Ccredit</a:t>
            </a:r>
            <a:endParaRPr lang="en-US" altLang="zh-CN" sz="28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FROM Course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WHERE </a:t>
            </a:r>
            <a:r>
              <a:rPr lang="en-US" altLang="zh-CN" sz="2800" dirty="0" err="1"/>
              <a:t>Cname</a:t>
            </a:r>
            <a:r>
              <a:rPr lang="en-US" altLang="zh-CN" sz="2800" dirty="0"/>
              <a:t> </a:t>
            </a:r>
            <a:r>
              <a:rPr lang="en-US" altLang="zh-CN" sz="2800" dirty="0">
                <a:solidFill>
                  <a:srgbClr val="C00000"/>
                </a:solidFill>
              </a:rPr>
              <a:t>LIKE</a:t>
            </a:r>
            <a:r>
              <a:rPr lang="en-US" altLang="zh-CN" sz="2800" dirty="0"/>
              <a:t> </a:t>
            </a:r>
            <a:r>
              <a:rPr lang="en-US" altLang="zh-CN" sz="2800" dirty="0">
                <a:latin typeface="Arial" charset="0"/>
              </a:rPr>
              <a:t>‘</a:t>
            </a:r>
            <a:r>
              <a:rPr lang="en-US" altLang="zh-CN" sz="2800" dirty="0"/>
              <a:t>DB</a:t>
            </a:r>
            <a:r>
              <a:rPr lang="en-US" altLang="zh-CN" sz="2800" dirty="0">
                <a:solidFill>
                  <a:srgbClr val="C00000"/>
                </a:solidFill>
              </a:rPr>
              <a:t>\</a:t>
            </a:r>
            <a:r>
              <a:rPr lang="en-US" altLang="zh-CN" sz="2800" dirty="0">
                <a:solidFill>
                  <a:srgbClr val="0000FF"/>
                </a:solidFill>
              </a:rPr>
              <a:t>_</a:t>
            </a:r>
            <a:r>
              <a:rPr lang="en-US" altLang="zh-CN" sz="2800" dirty="0"/>
              <a:t>Design</a:t>
            </a:r>
            <a:r>
              <a:rPr lang="en-US" altLang="zh-CN" sz="2800" dirty="0">
                <a:latin typeface="Arial" charset="0"/>
              </a:rPr>
              <a:t>’</a:t>
            </a:r>
            <a:r>
              <a:rPr lang="en-US" altLang="zh-CN" sz="2800" dirty="0"/>
              <a:t> </a:t>
            </a:r>
            <a:r>
              <a:rPr lang="en-US" altLang="zh-CN" sz="2800" dirty="0">
                <a:solidFill>
                  <a:srgbClr val="C00000"/>
                </a:solidFill>
              </a:rPr>
              <a:t>ESCAPE </a:t>
            </a:r>
            <a:r>
              <a:rPr lang="en-US" altLang="zh-CN" sz="2800" dirty="0">
                <a:solidFill>
                  <a:srgbClr val="C00000"/>
                </a:solidFill>
                <a:latin typeface="Arial" charset="0"/>
              </a:rPr>
              <a:t>‘</a:t>
            </a:r>
            <a:r>
              <a:rPr lang="en-US" altLang="zh-CN" sz="2800" dirty="0">
                <a:solidFill>
                  <a:srgbClr val="C00000"/>
                </a:solidFill>
              </a:rPr>
              <a:t>\</a:t>
            </a:r>
            <a:r>
              <a:rPr lang="en-US" altLang="zh-CN" sz="2800" dirty="0">
                <a:solidFill>
                  <a:srgbClr val="C00000"/>
                </a:solidFill>
                <a:latin typeface="Arial" charset="0"/>
              </a:rPr>
              <a:t>’</a:t>
            </a:r>
            <a:r>
              <a:rPr lang="en-US" altLang="zh-CN" sz="2800" dirty="0"/>
              <a:t>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/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/>
          </a:p>
          <a:p>
            <a:pPr eaLnBrk="1" hangingPunct="1"/>
            <a:endParaRPr lang="zh-CN" altLang="en-US" sz="28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1F0D95D-2B6E-A244-9B60-E18E1477A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76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6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6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06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06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750" fill="hold"/>
                                        <p:tgtEl>
                                          <p:spTgt spid="706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750" fill="hold"/>
                                        <p:tgtEl>
                                          <p:spTgt spid="706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5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0" fill="hold"/>
                                        <p:tgtEl>
                                          <p:spTgt spid="706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706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6E13734-EC1F-4896-AD96-6B04DC157178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7168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716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字符串运算</a:t>
            </a:r>
            <a:r>
              <a:rPr lang="en-US" altLang="zh-CN" dirty="0"/>
              <a:t>(</a:t>
            </a:r>
            <a:r>
              <a:rPr lang="zh-CN" altLang="en-US" dirty="0"/>
              <a:t>教材</a:t>
            </a:r>
            <a:r>
              <a:rPr lang="en-US" altLang="zh-CN" dirty="0"/>
              <a:t>3.4.2)</a:t>
            </a:r>
            <a:endParaRPr lang="zh-CN" altLang="en-US" dirty="0"/>
          </a:p>
        </p:txBody>
      </p:sp>
      <p:sp>
        <p:nvSpPr>
          <p:cNvPr id="716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书上用</a:t>
            </a:r>
            <a:r>
              <a:rPr lang="en-US" altLang="zh-CN" dirty="0">
                <a:solidFill>
                  <a:srgbClr val="C00000"/>
                </a:solidFill>
              </a:rPr>
              <a:t>\</a:t>
            </a:r>
            <a:r>
              <a:rPr lang="zh-CN" altLang="en-US" dirty="0"/>
              <a:t>换码转义</a:t>
            </a:r>
          </a:p>
          <a:p>
            <a:pPr lvl="1" eaLnBrk="1" hangingPunct="1"/>
            <a:r>
              <a:rPr lang="zh-CN" altLang="en-US" dirty="0"/>
              <a:t>不幸，</a:t>
            </a:r>
            <a:r>
              <a:rPr lang="en-US" altLang="zh-CN" dirty="0" err="1"/>
              <a:t>postgres</a:t>
            </a:r>
            <a:r>
              <a:rPr lang="zh-CN" altLang="en-US" dirty="0"/>
              <a:t>恰好不能用</a:t>
            </a:r>
            <a:r>
              <a:rPr lang="en-US" altLang="zh-CN" dirty="0"/>
              <a:t>\</a:t>
            </a:r>
            <a:endParaRPr lang="zh-CN" altLang="en-US" dirty="0"/>
          </a:p>
          <a:p>
            <a:pPr eaLnBrk="1" hangingPunct="1"/>
            <a:r>
              <a:rPr lang="zh-CN" altLang="en-US" dirty="0"/>
              <a:t>实际上可以更灵活（常用</a:t>
            </a:r>
            <a:r>
              <a:rPr lang="en-US" altLang="zh-CN" dirty="0">
                <a:solidFill>
                  <a:srgbClr val="C00000"/>
                </a:solidFill>
              </a:rPr>
              <a:t>#,&amp;,!</a:t>
            </a:r>
            <a:r>
              <a:rPr lang="zh-CN" altLang="en-US" dirty="0"/>
              <a:t>等，甚至用字母都可以）。如下面的</a:t>
            </a:r>
            <a:r>
              <a:rPr lang="zh-CN" altLang="en-US" dirty="0">
                <a:solidFill>
                  <a:srgbClr val="FF0000"/>
                </a:solidFill>
              </a:rPr>
              <a:t>！</a:t>
            </a:r>
            <a:r>
              <a:rPr lang="zh-CN" altLang="en-US" dirty="0"/>
              <a:t>转义：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SELECT c1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FROM </a:t>
            </a:r>
            <a:r>
              <a:rPr lang="en-US" altLang="zh-CN" sz="2800" dirty="0" err="1"/>
              <a:t>tb</a:t>
            </a:r>
            <a:r>
              <a:rPr lang="en-US" altLang="zh-CN" sz="2800" dirty="0"/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WHERE c1 LIKE '</a:t>
            </a:r>
            <a:r>
              <a:rPr lang="en-US" altLang="zh-CN" sz="2800" dirty="0">
                <a:solidFill>
                  <a:schemeClr val="accent1">
                    <a:lumMod val="75000"/>
                  </a:schemeClr>
                </a:solidFill>
              </a:rPr>
              <a:t>%</a:t>
            </a:r>
            <a:r>
              <a:rPr lang="en-US" altLang="zh-CN" sz="2800" dirty="0"/>
              <a:t>10-15</a:t>
            </a:r>
            <a:r>
              <a:rPr lang="en-US" altLang="zh-CN" sz="2800" dirty="0">
                <a:solidFill>
                  <a:srgbClr val="FF0000"/>
                </a:solidFill>
              </a:rPr>
              <a:t>!</a:t>
            </a:r>
            <a:r>
              <a:rPr lang="en-US" altLang="zh-CN" sz="2800" dirty="0">
                <a:solidFill>
                  <a:srgbClr val="0000FF"/>
                </a:solidFill>
              </a:rPr>
              <a:t>%</a:t>
            </a:r>
            <a:r>
              <a:rPr lang="en-US" altLang="zh-CN" sz="2800" dirty="0"/>
              <a:t> off</a:t>
            </a:r>
            <a:r>
              <a:rPr lang="en-US" altLang="zh-CN" sz="2800" dirty="0">
                <a:solidFill>
                  <a:schemeClr val="accent1">
                    <a:lumMod val="75000"/>
                  </a:schemeClr>
                </a:solidFill>
              </a:rPr>
              <a:t>%</a:t>
            </a:r>
            <a:r>
              <a:rPr lang="en-US" altLang="zh-CN" sz="2800" dirty="0"/>
              <a:t>' ESCAPE '</a:t>
            </a:r>
            <a:r>
              <a:rPr lang="en-US" altLang="zh-CN" sz="2800" dirty="0">
                <a:solidFill>
                  <a:srgbClr val="FF0000"/>
                </a:solidFill>
              </a:rPr>
              <a:t>!</a:t>
            </a:r>
            <a:r>
              <a:rPr lang="en-US" altLang="zh-CN" sz="2800" dirty="0"/>
              <a:t>' ;</a:t>
            </a:r>
            <a:endParaRPr lang="zh-CN" altLang="en-US" sz="2800" dirty="0"/>
          </a:p>
        </p:txBody>
      </p:sp>
      <p:sp>
        <p:nvSpPr>
          <p:cNvPr id="2" name="矩形 1"/>
          <p:cNvSpPr/>
          <p:nvPr/>
        </p:nvSpPr>
        <p:spPr>
          <a:xfrm>
            <a:off x="3962400" y="3711889"/>
            <a:ext cx="2896619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800" dirty="0"/>
              <a:t>….10-15% off….</a:t>
            </a:r>
            <a:endParaRPr lang="zh-CN" altLang="en-US" sz="28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9F3783E-676F-D91A-6F44-647690A5B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77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1F4B663-F243-4B21-BBB5-84DCC8F8E7F2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7270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727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3.4.1 </a:t>
            </a:r>
            <a:r>
              <a:rPr lang="zh-CN" altLang="en-US" dirty="0"/>
              <a:t>单表查询</a:t>
            </a:r>
          </a:p>
        </p:txBody>
      </p:sp>
      <p:sp>
        <p:nvSpPr>
          <p:cNvPr id="727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None/>
            </a:pPr>
            <a:r>
              <a:rPr lang="en-US" altLang="zh-CN" dirty="0"/>
              <a:t>(5) </a:t>
            </a:r>
            <a:r>
              <a:rPr lang="zh-CN" altLang="en-US" dirty="0"/>
              <a:t>涉及空值的查询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rgbClr val="C00000"/>
                </a:solidFill>
              </a:rPr>
              <a:t>教材</a:t>
            </a:r>
            <a:r>
              <a:rPr lang="en-US" altLang="zh-CN" dirty="0">
                <a:solidFill>
                  <a:srgbClr val="C00000"/>
                </a:solidFill>
              </a:rPr>
              <a:t>3.6</a:t>
            </a:r>
            <a:r>
              <a:rPr lang="en-US" altLang="zh-CN" dirty="0"/>
              <a:t>)</a:t>
            </a:r>
            <a:endParaRPr lang="zh-CN" altLang="en-US" dirty="0"/>
          </a:p>
          <a:p>
            <a:pPr eaLnBrk="1" hangingPunct="1">
              <a:buFont typeface="Wingdings" pitchFamily="2" charset="2"/>
              <a:buNone/>
            </a:pPr>
            <a:endParaRPr lang="zh-CN" altLang="en-US" sz="12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rgbClr val="C00000"/>
                </a:solidFill>
              </a:rPr>
              <a:t>IS</a:t>
            </a:r>
            <a:r>
              <a:rPr lang="en-US" altLang="zh-CN" dirty="0"/>
              <a:t> NULL</a:t>
            </a:r>
            <a:r>
              <a:rPr lang="zh-CN" altLang="en-US" dirty="0"/>
              <a:t>和</a:t>
            </a:r>
            <a:r>
              <a:rPr lang="en-US" altLang="zh-CN" dirty="0">
                <a:solidFill>
                  <a:srgbClr val="C00000"/>
                </a:solidFill>
              </a:rPr>
              <a:t>IS NOT </a:t>
            </a:r>
            <a:r>
              <a:rPr lang="en-US" altLang="zh-CN" dirty="0"/>
              <a:t>NULL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(</a:t>
            </a:r>
            <a:r>
              <a:rPr lang="zh-CN" altLang="en-US" dirty="0"/>
              <a:t>注意：有的系统允许</a:t>
            </a:r>
            <a:r>
              <a:rPr lang="en-US" altLang="zh-CN" dirty="0"/>
              <a:t>NULL</a:t>
            </a:r>
            <a:r>
              <a:rPr lang="zh-CN" altLang="en-US" dirty="0"/>
              <a:t>比较，可以使用</a:t>
            </a:r>
            <a:r>
              <a:rPr lang="zh-CN" altLang="en-US" dirty="0">
                <a:solidFill>
                  <a:srgbClr val="0000FF"/>
                </a:solidFill>
              </a:rPr>
              <a:t>＝</a:t>
            </a:r>
            <a:r>
              <a:rPr lang="zh-CN" altLang="en-US" dirty="0"/>
              <a:t>和</a:t>
            </a:r>
            <a:r>
              <a:rPr lang="en-US" altLang="zh-CN" dirty="0">
                <a:solidFill>
                  <a:srgbClr val="0000FF"/>
                </a:solidFill>
              </a:rPr>
              <a:t>&lt;&gt;</a:t>
            </a:r>
            <a:r>
              <a:rPr lang="zh-CN" altLang="en-US" dirty="0"/>
              <a:t>，如</a:t>
            </a:r>
            <a:r>
              <a:rPr lang="en-US" altLang="zh-CN" dirty="0"/>
              <a:t>MS SQL Server</a:t>
            </a:r>
            <a:r>
              <a:rPr lang="zh-CN" altLang="en-US" dirty="0"/>
              <a:t>。有的不允许，如</a:t>
            </a:r>
            <a:r>
              <a:rPr lang="en-US" altLang="zh-CN" dirty="0"/>
              <a:t>Oracle</a:t>
            </a:r>
            <a:r>
              <a:rPr lang="zh-CN" altLang="en-US" dirty="0"/>
              <a:t>。</a:t>
            </a:r>
            <a:r>
              <a:rPr lang="en-US" altLang="zh-CN" dirty="0">
                <a:solidFill>
                  <a:schemeClr val="tx2"/>
                </a:solidFill>
              </a:rPr>
              <a:t>SQL</a:t>
            </a:r>
            <a:r>
              <a:rPr lang="zh-CN" altLang="en-US" dirty="0">
                <a:solidFill>
                  <a:schemeClr val="tx2"/>
                </a:solidFill>
              </a:rPr>
              <a:t>标准不允许。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B87F388-C59A-9292-ACE8-4FEE2DA38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78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7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7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27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7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C6AFE4F-8D76-418C-BE89-5129FEA804E5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7373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737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3.4.1 </a:t>
            </a:r>
            <a:r>
              <a:rPr lang="zh-CN" altLang="en-US"/>
              <a:t>单表查询</a:t>
            </a:r>
          </a:p>
        </p:txBody>
      </p:sp>
      <p:sp>
        <p:nvSpPr>
          <p:cNvPr id="737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21 </a:t>
            </a:r>
            <a:r>
              <a:rPr lang="zh-CN" altLang="en-US" dirty="0"/>
              <a:t>查询</a:t>
            </a:r>
            <a:r>
              <a:rPr lang="zh-CN" altLang="en-US" u="sng" dirty="0"/>
              <a:t>缺少成绩</a:t>
            </a:r>
            <a:r>
              <a:rPr lang="zh-CN" altLang="en-US" dirty="0"/>
              <a:t>的学生的学号及相应课程号。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 SELECT </a:t>
            </a:r>
            <a:r>
              <a:rPr lang="en-US" altLang="zh-CN" sz="2800" dirty="0" err="1"/>
              <a:t>Sno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Cno</a:t>
            </a:r>
            <a:endParaRPr lang="en-US" altLang="zh-CN" sz="28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 FROM SC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 WHERE Grade </a:t>
            </a:r>
            <a:r>
              <a:rPr lang="en-US" altLang="zh-CN" sz="2800" dirty="0">
                <a:solidFill>
                  <a:srgbClr val="C00000"/>
                </a:solidFill>
              </a:rPr>
              <a:t>IS </a:t>
            </a:r>
            <a:r>
              <a:rPr lang="en-US" altLang="zh-CN" sz="2800" dirty="0">
                <a:solidFill>
                  <a:srgbClr val="0000FF"/>
                </a:solidFill>
              </a:rPr>
              <a:t>NULL</a:t>
            </a:r>
            <a:r>
              <a:rPr lang="en-US" altLang="zh-CN" sz="2800" dirty="0"/>
              <a:t>;</a:t>
            </a:r>
            <a:endParaRPr lang="zh-CN" altLang="en-US" sz="28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395C54D-9CC2-1183-4DA8-31C69F0E0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79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7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7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37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37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37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37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5F6BF49-B3E5-48EF-9028-A426A9B36B2E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7475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747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3.4.1 </a:t>
            </a:r>
            <a:r>
              <a:rPr lang="zh-CN" altLang="en-US"/>
              <a:t>单表查询</a:t>
            </a:r>
          </a:p>
        </p:txBody>
      </p:sp>
      <p:sp>
        <p:nvSpPr>
          <p:cNvPr id="747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45488" cy="4953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(6) </a:t>
            </a:r>
            <a:r>
              <a:rPr lang="zh-CN" altLang="en-US" dirty="0"/>
              <a:t>多重条件（逻辑连接）查询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WHERE</a:t>
            </a:r>
            <a:r>
              <a:rPr lang="zh-CN" altLang="en-US" dirty="0"/>
              <a:t>中用</a:t>
            </a:r>
            <a:r>
              <a:rPr lang="en-US" altLang="zh-CN" dirty="0">
                <a:solidFill>
                  <a:srgbClr val="C00000"/>
                </a:solidFill>
              </a:rPr>
              <a:t>AND</a:t>
            </a:r>
            <a:r>
              <a:rPr lang="zh-CN" altLang="en-US" dirty="0"/>
              <a:t>和</a:t>
            </a:r>
            <a:r>
              <a:rPr lang="en-US" altLang="zh-CN" dirty="0">
                <a:solidFill>
                  <a:srgbClr val="C00000"/>
                </a:solidFill>
              </a:rPr>
              <a:t>OR</a:t>
            </a:r>
            <a:r>
              <a:rPr lang="zh-CN" altLang="en-US" dirty="0"/>
              <a:t>连接多个条件。     </a:t>
            </a:r>
            <a:r>
              <a:rPr lang="en-US" altLang="zh-CN" dirty="0">
                <a:solidFill>
                  <a:schemeClr val="tx2"/>
                </a:solidFill>
              </a:rPr>
              <a:t>(</a:t>
            </a:r>
            <a:r>
              <a:rPr lang="en-US" altLang="zh-CN" u="sng" dirty="0">
                <a:solidFill>
                  <a:schemeClr val="tx2"/>
                </a:solidFill>
              </a:rPr>
              <a:t>AND</a:t>
            </a:r>
            <a:r>
              <a:rPr lang="zh-CN" altLang="en-US" u="sng" dirty="0">
                <a:solidFill>
                  <a:srgbClr val="FF0000"/>
                </a:solidFill>
              </a:rPr>
              <a:t>优先级高于</a:t>
            </a:r>
            <a:r>
              <a:rPr lang="en-US" altLang="zh-CN" u="sng" dirty="0">
                <a:solidFill>
                  <a:schemeClr val="tx2"/>
                </a:solidFill>
              </a:rPr>
              <a:t>OR</a:t>
            </a:r>
            <a:r>
              <a:rPr lang="en-US" altLang="zh-CN" dirty="0">
                <a:solidFill>
                  <a:schemeClr val="tx2"/>
                </a:solidFill>
              </a:rPr>
              <a:t>)</a:t>
            </a:r>
            <a:endParaRPr lang="zh-CN" altLang="en-US" dirty="0">
              <a:solidFill>
                <a:schemeClr val="tx2"/>
              </a:solidFill>
            </a:endParaRPr>
          </a:p>
          <a:p>
            <a:pPr eaLnBrk="1" hangingPunct="1"/>
            <a:endParaRPr lang="zh-CN" altLang="en-US" sz="1000" dirty="0"/>
          </a:p>
          <a:p>
            <a:pPr eaLnBrk="1" hangingPunct="1"/>
            <a:r>
              <a:rPr lang="zh-CN" altLang="en-US" sz="2800" dirty="0"/>
              <a:t>例：查询计算机科学系</a:t>
            </a:r>
            <a:r>
              <a:rPr lang="zh-CN" altLang="en-US" sz="2800" dirty="0">
                <a:solidFill>
                  <a:srgbClr val="0000FF"/>
                </a:solidFill>
              </a:rPr>
              <a:t>或</a:t>
            </a:r>
            <a:r>
              <a:rPr lang="zh-CN" altLang="en-US" sz="2800" dirty="0"/>
              <a:t>数学系</a:t>
            </a:r>
            <a:r>
              <a:rPr lang="zh-CN" altLang="en-US" sz="2800" dirty="0">
                <a:solidFill>
                  <a:srgbClr val="C00000"/>
                </a:solidFill>
              </a:rPr>
              <a:t>年龄</a:t>
            </a:r>
            <a:r>
              <a:rPr lang="zh-CN" altLang="en-US" sz="2800" dirty="0"/>
              <a:t>在</a:t>
            </a:r>
            <a:r>
              <a:rPr lang="en-US" altLang="zh-CN" sz="2800" dirty="0">
                <a:solidFill>
                  <a:srgbClr val="C00000"/>
                </a:solidFill>
              </a:rPr>
              <a:t>18</a:t>
            </a:r>
            <a:r>
              <a:rPr lang="zh-CN" altLang="en-US" sz="2800" dirty="0">
                <a:solidFill>
                  <a:srgbClr val="C00000"/>
                </a:solidFill>
              </a:rPr>
              <a:t>到</a:t>
            </a:r>
            <a:r>
              <a:rPr lang="en-US" altLang="zh-CN" sz="2800" dirty="0">
                <a:solidFill>
                  <a:srgbClr val="C00000"/>
                </a:solidFill>
              </a:rPr>
              <a:t>23</a:t>
            </a:r>
            <a:r>
              <a:rPr lang="zh-CN" altLang="en-US" sz="2800" dirty="0"/>
              <a:t>岁的学生的姓名。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SELECT </a:t>
            </a:r>
            <a:r>
              <a:rPr lang="en-US" altLang="zh-CN" sz="2800" dirty="0" err="1"/>
              <a:t>Sname</a:t>
            </a:r>
            <a:endParaRPr lang="en-US" altLang="zh-CN" sz="28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	FROM Student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	WHERE </a:t>
            </a:r>
            <a:r>
              <a:rPr lang="en-US" altLang="zh-CN" sz="2800" dirty="0">
                <a:solidFill>
                  <a:srgbClr val="0000FF"/>
                </a:solidFill>
              </a:rPr>
              <a:t>(</a:t>
            </a:r>
            <a:r>
              <a:rPr lang="en-US" altLang="zh-CN" sz="2800" dirty="0" err="1"/>
              <a:t>Sdept</a:t>
            </a:r>
            <a:r>
              <a:rPr lang="en-US" altLang="zh-CN" sz="2800" dirty="0"/>
              <a:t>=</a:t>
            </a:r>
            <a:r>
              <a:rPr lang="en-US" altLang="zh-CN" sz="2800" dirty="0">
                <a:latin typeface="Arial" charset="0"/>
              </a:rPr>
              <a:t>‘</a:t>
            </a:r>
            <a:r>
              <a:rPr lang="en-US" altLang="zh-CN" sz="2800" dirty="0"/>
              <a:t>CS</a:t>
            </a:r>
            <a:r>
              <a:rPr lang="en-US" altLang="zh-CN" sz="2800" dirty="0">
                <a:latin typeface="Arial" charset="0"/>
              </a:rPr>
              <a:t>’</a:t>
            </a:r>
            <a:r>
              <a:rPr lang="en-US" altLang="zh-CN" sz="2800" dirty="0"/>
              <a:t> </a:t>
            </a:r>
            <a:r>
              <a:rPr lang="en-US" altLang="zh-CN" sz="2800" dirty="0">
                <a:solidFill>
                  <a:srgbClr val="C00000"/>
                </a:solidFill>
              </a:rPr>
              <a:t>OR</a:t>
            </a:r>
            <a:r>
              <a:rPr lang="en-US" altLang="zh-CN" sz="2800" dirty="0"/>
              <a:t> </a:t>
            </a:r>
            <a:r>
              <a:rPr lang="en-US" altLang="zh-CN" sz="2800" dirty="0" err="1"/>
              <a:t>Sdept</a:t>
            </a:r>
            <a:r>
              <a:rPr lang="en-US" altLang="zh-CN" sz="2800" dirty="0"/>
              <a:t>=</a:t>
            </a:r>
            <a:r>
              <a:rPr lang="en-US" altLang="zh-CN" sz="2800" dirty="0">
                <a:latin typeface="Arial" charset="0"/>
              </a:rPr>
              <a:t>‘</a:t>
            </a:r>
            <a:r>
              <a:rPr lang="en-US" altLang="zh-CN" sz="2800" dirty="0"/>
              <a:t>MA</a:t>
            </a:r>
            <a:r>
              <a:rPr lang="en-US" altLang="zh-CN" sz="2800" dirty="0">
                <a:latin typeface="Arial" charset="0"/>
              </a:rPr>
              <a:t>’</a:t>
            </a:r>
            <a:r>
              <a:rPr lang="en-US" altLang="zh-CN" sz="2800" dirty="0">
                <a:solidFill>
                  <a:srgbClr val="0000FF"/>
                </a:solidFill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			 </a:t>
            </a:r>
            <a:r>
              <a:rPr lang="en-US" altLang="zh-CN" sz="2800" dirty="0">
                <a:solidFill>
                  <a:srgbClr val="C00000"/>
                </a:solidFill>
              </a:rPr>
              <a:t>AND</a:t>
            </a:r>
            <a:r>
              <a:rPr lang="en-US" altLang="zh-CN" sz="2800" dirty="0"/>
              <a:t>	Sage BETWEEN 18 AND 23;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F94B3E6-6EF6-E03C-1F9D-EEA602F98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80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7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7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7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7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7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7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47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47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47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47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47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47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71345C4-2300-4F25-AD2E-21952F3EA741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7577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757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集合操作</a:t>
            </a:r>
            <a:r>
              <a:rPr lang="en-US" altLang="zh-CN" dirty="0"/>
              <a:t>(</a:t>
            </a:r>
            <a:r>
              <a:rPr lang="zh-CN" altLang="en-US" dirty="0"/>
              <a:t>教材</a:t>
            </a:r>
            <a:r>
              <a:rPr lang="en-US" altLang="zh-CN" dirty="0"/>
              <a:t>3.5)</a:t>
            </a:r>
            <a:endParaRPr lang="zh-CN" altLang="en-US" dirty="0"/>
          </a:p>
        </p:txBody>
      </p:sp>
      <p:sp>
        <p:nvSpPr>
          <p:cNvPr id="757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关系代数中的</a:t>
            </a:r>
            <a:r>
              <a:rPr lang="zh-CN" altLang="en-US" sz="3500" b="1" dirty="0">
                <a:sym typeface="Symbol" pitchFamily="18" charset="2"/>
              </a:rPr>
              <a:t> 在</a:t>
            </a:r>
            <a:r>
              <a:rPr lang="en-US" altLang="zh-CN" dirty="0">
                <a:sym typeface="Symbol" pitchFamily="18" charset="2"/>
              </a:rPr>
              <a:t>SQL</a:t>
            </a:r>
            <a:r>
              <a:rPr lang="zh-CN" altLang="en-US" dirty="0">
                <a:sym typeface="Symbol" pitchFamily="18" charset="2"/>
              </a:rPr>
              <a:t>中的对应</a:t>
            </a:r>
            <a:endParaRPr lang="en-US" altLang="zh-CN" dirty="0">
              <a:sym typeface="Symbol" pitchFamily="18" charset="2"/>
            </a:endParaRPr>
          </a:p>
          <a:p>
            <a:pPr lvl="1" eaLnBrk="1" hangingPunct="1"/>
            <a:r>
              <a:rPr lang="zh-CN" altLang="en-US" dirty="0">
                <a:sym typeface="Symbol" pitchFamily="18" charset="2"/>
              </a:rPr>
              <a:t>并 </a:t>
            </a:r>
            <a:r>
              <a:rPr lang="en-US" altLang="zh-CN" dirty="0">
                <a:sym typeface="Symbol" pitchFamily="18" charset="2"/>
              </a:rPr>
              <a:t>UNION</a:t>
            </a:r>
          </a:p>
          <a:p>
            <a:pPr lvl="1" eaLnBrk="1" hangingPunct="1"/>
            <a:r>
              <a:rPr lang="zh-CN" altLang="en-US" dirty="0">
                <a:sym typeface="Symbol" pitchFamily="18" charset="2"/>
              </a:rPr>
              <a:t>交 </a:t>
            </a:r>
            <a:r>
              <a:rPr lang="en-US" altLang="zh-CN" dirty="0">
                <a:sym typeface="Symbol" pitchFamily="18" charset="2"/>
              </a:rPr>
              <a:t>INTERSECT</a:t>
            </a:r>
          </a:p>
          <a:p>
            <a:pPr lvl="1" eaLnBrk="1" hangingPunct="1"/>
            <a:r>
              <a:rPr lang="zh-CN" altLang="en-US" dirty="0">
                <a:sym typeface="Symbol" pitchFamily="18" charset="2"/>
              </a:rPr>
              <a:t>差 </a:t>
            </a:r>
            <a:r>
              <a:rPr lang="en-US" altLang="zh-CN" dirty="0">
                <a:sym typeface="Symbol" pitchFamily="18" charset="2"/>
              </a:rPr>
              <a:t>EXCEPT</a:t>
            </a:r>
          </a:p>
          <a:p>
            <a:pPr eaLnBrk="1" hangingPunct="1"/>
            <a:r>
              <a:rPr lang="zh-CN" altLang="en-US" dirty="0">
                <a:solidFill>
                  <a:srgbClr val="C00000"/>
                </a:solidFill>
                <a:sym typeface="Symbol" pitchFamily="18" charset="2"/>
              </a:rPr>
              <a:t>两条</a:t>
            </a:r>
            <a:r>
              <a:rPr lang="en-US" altLang="zh-CN" dirty="0">
                <a:solidFill>
                  <a:srgbClr val="C00000"/>
                </a:solidFill>
                <a:sym typeface="Symbol" pitchFamily="18" charset="2"/>
              </a:rPr>
              <a:t>SQL</a:t>
            </a:r>
            <a:r>
              <a:rPr lang="zh-CN" altLang="en-US" dirty="0">
                <a:solidFill>
                  <a:srgbClr val="C00000"/>
                </a:solidFill>
                <a:sym typeface="Symbol" pitchFamily="18" charset="2"/>
              </a:rPr>
              <a:t>语句间使用</a:t>
            </a:r>
          </a:p>
          <a:p>
            <a:pPr eaLnBrk="1" hangingPunct="1"/>
            <a:r>
              <a:rPr lang="zh-CN" altLang="en-US" dirty="0">
                <a:sym typeface="Symbol" pitchFamily="18" charset="2"/>
              </a:rPr>
              <a:t>自动去除重复，但也看具体</a:t>
            </a:r>
            <a:r>
              <a:rPr lang="en-US" altLang="zh-CN" dirty="0">
                <a:sym typeface="Symbol" pitchFamily="18" charset="2"/>
              </a:rPr>
              <a:t>DBMS</a:t>
            </a:r>
            <a:r>
              <a:rPr lang="zh-CN" altLang="en-US" dirty="0">
                <a:sym typeface="Symbol" pitchFamily="18" charset="2"/>
              </a:rPr>
              <a:t>的定义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E854D4D-E9D4-538A-4519-EFE856D11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81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70B32A2-3CBB-4517-84E5-6A87CA01C8A3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7680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768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集合操作</a:t>
            </a:r>
            <a:r>
              <a:rPr lang="en-US" altLang="zh-CN" dirty="0"/>
              <a:t>(</a:t>
            </a:r>
            <a:r>
              <a:rPr lang="zh-CN" altLang="en-US" dirty="0"/>
              <a:t>教材</a:t>
            </a:r>
            <a:r>
              <a:rPr lang="en-US" altLang="zh-CN" dirty="0"/>
              <a:t>3.5)</a:t>
            </a:r>
            <a:endParaRPr lang="zh-CN" altLang="en-US" dirty="0"/>
          </a:p>
        </p:txBody>
      </p:sp>
      <p:sp>
        <p:nvSpPr>
          <p:cNvPr id="768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例 查询</a:t>
            </a:r>
            <a:r>
              <a:rPr lang="zh-CN" altLang="en-US" u="sng" dirty="0"/>
              <a:t>数学系</a:t>
            </a:r>
            <a:r>
              <a:rPr lang="zh-CN" altLang="en-US" dirty="0"/>
              <a:t>选了</a:t>
            </a:r>
            <a:r>
              <a:rPr lang="en-US" altLang="zh-CN" u="sng" dirty="0"/>
              <a:t>’3’</a:t>
            </a:r>
            <a:r>
              <a:rPr lang="zh-CN" altLang="en-US" u="sng" dirty="0"/>
              <a:t>号课程</a:t>
            </a:r>
            <a:r>
              <a:rPr lang="zh-CN" altLang="en-US" dirty="0"/>
              <a:t>的学生的学号。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(SELECT </a:t>
            </a:r>
            <a:r>
              <a:rPr lang="en-US" altLang="zh-CN" sz="2800" dirty="0" err="1"/>
              <a:t>Sno</a:t>
            </a:r>
            <a:endParaRPr lang="en-US" altLang="zh-CN" sz="28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FROM Student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WHERE </a:t>
            </a:r>
            <a:r>
              <a:rPr lang="en-US" altLang="zh-CN" sz="2800" dirty="0" err="1">
                <a:solidFill>
                  <a:srgbClr val="0000FF"/>
                </a:solidFill>
              </a:rPr>
              <a:t>Sdept</a:t>
            </a:r>
            <a:r>
              <a:rPr lang="en-US" altLang="zh-CN" sz="2800" dirty="0">
                <a:solidFill>
                  <a:srgbClr val="0000FF"/>
                </a:solidFill>
              </a:rPr>
              <a:t>=</a:t>
            </a:r>
            <a:r>
              <a:rPr lang="en-US" altLang="zh-CN" sz="2800" dirty="0">
                <a:solidFill>
                  <a:srgbClr val="0000FF"/>
                </a:solidFill>
                <a:latin typeface="Arial" charset="0"/>
              </a:rPr>
              <a:t>‘</a:t>
            </a:r>
            <a:r>
              <a:rPr lang="en-US" altLang="zh-CN" sz="2800" dirty="0">
                <a:solidFill>
                  <a:srgbClr val="0000FF"/>
                </a:solidFill>
              </a:rPr>
              <a:t>MA</a:t>
            </a:r>
            <a:r>
              <a:rPr lang="en-US" altLang="zh-CN" sz="2800" dirty="0">
                <a:solidFill>
                  <a:srgbClr val="0000FF"/>
                </a:solidFill>
                <a:latin typeface="Arial" charset="0"/>
              </a:rPr>
              <a:t>’</a:t>
            </a:r>
            <a:r>
              <a:rPr lang="en-US" altLang="zh-CN" sz="2800" dirty="0"/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INTERSECT</a:t>
            </a:r>
            <a:r>
              <a:rPr lang="en-US" altLang="zh-CN" sz="2800" dirty="0"/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(SELECT </a:t>
            </a:r>
            <a:r>
              <a:rPr lang="en-US" altLang="zh-CN" sz="2800" dirty="0" err="1"/>
              <a:t>Sno</a:t>
            </a:r>
            <a:endParaRPr lang="en-US" altLang="zh-CN" sz="28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FROM SC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WHERE </a:t>
            </a:r>
            <a:r>
              <a:rPr lang="en-US" altLang="zh-CN" sz="2800" dirty="0" err="1">
                <a:solidFill>
                  <a:srgbClr val="0000FF"/>
                </a:solidFill>
              </a:rPr>
              <a:t>Cno</a:t>
            </a:r>
            <a:r>
              <a:rPr lang="en-US" altLang="zh-CN" sz="2800" dirty="0">
                <a:solidFill>
                  <a:srgbClr val="0000FF"/>
                </a:solidFill>
              </a:rPr>
              <a:t>=</a:t>
            </a:r>
            <a:r>
              <a:rPr lang="en-US" altLang="zh-CN" sz="2800" dirty="0">
                <a:solidFill>
                  <a:srgbClr val="0000FF"/>
                </a:solidFill>
                <a:latin typeface="Arial" charset="0"/>
              </a:rPr>
              <a:t>‘</a:t>
            </a:r>
            <a:r>
              <a:rPr lang="en-US" altLang="zh-CN" sz="2800" dirty="0">
                <a:solidFill>
                  <a:srgbClr val="0000FF"/>
                </a:solidFill>
              </a:rPr>
              <a:t>3</a:t>
            </a:r>
            <a:r>
              <a:rPr lang="en-US" altLang="zh-CN" sz="2800" dirty="0">
                <a:solidFill>
                  <a:srgbClr val="0000FF"/>
                </a:solidFill>
                <a:latin typeface="Arial" charset="0"/>
              </a:rPr>
              <a:t>’</a:t>
            </a:r>
            <a:r>
              <a:rPr lang="en-US" altLang="zh-CN" sz="2800" dirty="0"/>
              <a:t>);</a:t>
            </a:r>
            <a:endParaRPr lang="zh-CN" altLang="en-US" sz="28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4219312-AAD9-5370-859C-020E758C6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82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8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8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68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68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68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68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68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68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68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68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68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68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68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68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9EB9CFF-63D8-466B-A144-1ED074FCBF9E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7782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778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集合操作</a:t>
            </a:r>
            <a:r>
              <a:rPr lang="en-US" altLang="zh-CN" dirty="0"/>
              <a:t>(</a:t>
            </a:r>
            <a:r>
              <a:rPr lang="zh-CN" altLang="en-US" dirty="0"/>
              <a:t>教材</a:t>
            </a:r>
            <a:r>
              <a:rPr lang="en-US" altLang="zh-CN" dirty="0"/>
              <a:t>3.5)</a:t>
            </a:r>
            <a:endParaRPr lang="zh-CN" altLang="en-US" dirty="0"/>
          </a:p>
        </p:txBody>
      </p:sp>
      <p:sp>
        <p:nvSpPr>
          <p:cNvPr id="778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查询选了‘</a:t>
            </a:r>
            <a:r>
              <a:rPr lang="en-US" altLang="zh-CN" sz="2800" dirty="0"/>
              <a:t>1</a:t>
            </a:r>
            <a:r>
              <a:rPr lang="zh-CN" altLang="en-US" sz="2800" dirty="0"/>
              <a:t>’号课程但是没有选</a:t>
            </a:r>
            <a:r>
              <a:rPr lang="zh-CN" altLang="en-US" sz="2800" dirty="0">
                <a:latin typeface="Arial" charset="0"/>
              </a:rPr>
              <a:t>‘</a:t>
            </a:r>
            <a:r>
              <a:rPr lang="en-US" altLang="zh-CN" sz="2800" dirty="0">
                <a:latin typeface="Arial" charset="0"/>
              </a:rPr>
              <a:t>2</a:t>
            </a:r>
            <a:r>
              <a:rPr lang="zh-CN" altLang="en-US" sz="2800" dirty="0">
                <a:latin typeface="Arial" charset="0"/>
              </a:rPr>
              <a:t>’</a:t>
            </a:r>
            <a:r>
              <a:rPr lang="zh-CN" altLang="en-US" sz="2800" dirty="0"/>
              <a:t>号课程的学生的学号。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(SELECT </a:t>
            </a:r>
            <a:r>
              <a:rPr lang="en-US" altLang="zh-CN" sz="2800" dirty="0" err="1"/>
              <a:t>Sno</a:t>
            </a:r>
            <a:endParaRPr lang="en-US" altLang="zh-CN" sz="28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FROM SC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WHERE </a:t>
            </a:r>
            <a:r>
              <a:rPr lang="en-US" altLang="zh-CN" sz="2800" dirty="0" err="1"/>
              <a:t>Cno</a:t>
            </a:r>
            <a:r>
              <a:rPr lang="en-US" altLang="zh-CN" sz="2800" dirty="0"/>
              <a:t>=</a:t>
            </a:r>
            <a:r>
              <a:rPr lang="en-US" altLang="zh-CN" sz="2800" dirty="0">
                <a:latin typeface="Arial" charset="0"/>
              </a:rPr>
              <a:t>‘</a:t>
            </a:r>
            <a:r>
              <a:rPr lang="en-US" altLang="zh-CN" sz="2800" dirty="0"/>
              <a:t>1</a:t>
            </a:r>
            <a:r>
              <a:rPr lang="en-US" altLang="zh-CN" sz="2800" dirty="0">
                <a:latin typeface="Arial" charset="0"/>
              </a:rPr>
              <a:t>’</a:t>
            </a:r>
            <a:r>
              <a:rPr lang="en-US" altLang="zh-CN" sz="2800" dirty="0"/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EXCEPT</a:t>
            </a:r>
            <a:r>
              <a:rPr lang="en-US" altLang="zh-CN" sz="2800" dirty="0"/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(SELECT </a:t>
            </a:r>
            <a:r>
              <a:rPr lang="en-US" altLang="zh-CN" sz="2800" dirty="0" err="1"/>
              <a:t>Sno</a:t>
            </a:r>
            <a:endParaRPr lang="en-US" altLang="zh-CN" sz="28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FROM SC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WHERE </a:t>
            </a:r>
            <a:r>
              <a:rPr lang="en-US" altLang="zh-CN" sz="2800" dirty="0" err="1"/>
              <a:t>Cno</a:t>
            </a:r>
            <a:r>
              <a:rPr lang="en-US" altLang="zh-CN" sz="2800" dirty="0"/>
              <a:t>=</a:t>
            </a:r>
            <a:r>
              <a:rPr lang="en-US" altLang="zh-CN" sz="2800" dirty="0">
                <a:latin typeface="Arial" charset="0"/>
              </a:rPr>
              <a:t>‘</a:t>
            </a:r>
            <a:r>
              <a:rPr lang="en-US" altLang="zh-CN" sz="2800" dirty="0"/>
              <a:t>2</a:t>
            </a:r>
            <a:r>
              <a:rPr lang="en-US" altLang="zh-CN" sz="2800" dirty="0">
                <a:latin typeface="Arial" charset="0"/>
              </a:rPr>
              <a:t>’</a:t>
            </a:r>
            <a:r>
              <a:rPr lang="en-US" altLang="zh-CN" sz="2800" dirty="0"/>
              <a:t>);</a:t>
            </a:r>
            <a:endParaRPr lang="zh-CN" altLang="en-US" sz="28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A80D943-E5A4-3E69-7078-D4AA1CFF8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83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8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8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78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78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78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78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78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78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78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78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78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78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78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78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928470F-A3D5-424B-A05F-4CB6F46EE619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7885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788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3.4.1 </a:t>
            </a:r>
            <a:r>
              <a:rPr lang="zh-CN" altLang="en-US"/>
              <a:t>单表查询</a:t>
            </a:r>
          </a:p>
        </p:txBody>
      </p:sp>
      <p:sp>
        <p:nvSpPr>
          <p:cNvPr id="788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None/>
            </a:pPr>
            <a:r>
              <a:rPr lang="zh-CN" altLang="en-US" dirty="0"/>
              <a:t>三</a:t>
            </a:r>
            <a:r>
              <a:rPr lang="en-US" altLang="zh-CN" dirty="0"/>
              <a:t>. </a:t>
            </a:r>
            <a:r>
              <a:rPr lang="en-US" altLang="zh-CN" dirty="0">
                <a:solidFill>
                  <a:srgbClr val="0000FF"/>
                </a:solidFill>
              </a:rPr>
              <a:t>ORDER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00FF"/>
                </a:solidFill>
              </a:rPr>
              <a:t>BY</a:t>
            </a:r>
            <a:r>
              <a:rPr lang="zh-CN" altLang="en-US" dirty="0"/>
              <a:t>子句（查询结果</a:t>
            </a:r>
            <a:r>
              <a:rPr lang="zh-CN" altLang="en-US" dirty="0">
                <a:solidFill>
                  <a:srgbClr val="C00000"/>
                </a:solidFill>
              </a:rPr>
              <a:t>排序</a:t>
            </a:r>
            <a:r>
              <a:rPr lang="zh-CN" altLang="en-US" dirty="0"/>
              <a:t>）</a:t>
            </a:r>
            <a:r>
              <a:rPr lang="en-US" altLang="zh-CN" sz="2400" u="sng" dirty="0"/>
              <a:t>(</a:t>
            </a:r>
            <a:r>
              <a:rPr lang="zh-CN" altLang="en-US" sz="2400" u="sng" dirty="0"/>
              <a:t>教材</a:t>
            </a:r>
            <a:r>
              <a:rPr lang="en-US" altLang="zh-CN" sz="2400" u="sng" dirty="0"/>
              <a:t>3.4.4)</a:t>
            </a:r>
            <a:endParaRPr lang="zh-CN" altLang="en-US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如果</a:t>
            </a:r>
            <a:r>
              <a:rPr lang="zh-CN" altLang="en-US" u="sng" dirty="0"/>
              <a:t>没有指定查询结果的显示顺序</a:t>
            </a:r>
            <a:r>
              <a:rPr lang="zh-CN" altLang="en-US" dirty="0"/>
              <a:t>，</a:t>
            </a:r>
            <a:r>
              <a:rPr lang="en-US" altLang="zh-CN" dirty="0"/>
              <a:t>DBMS</a:t>
            </a:r>
            <a:r>
              <a:rPr lang="zh-CN" altLang="en-US" dirty="0"/>
              <a:t>将按其最方便的顺序（通常是</a:t>
            </a:r>
            <a:r>
              <a:rPr lang="zh-CN" altLang="en-US" dirty="0">
                <a:solidFill>
                  <a:schemeClr val="tx2"/>
                </a:solidFill>
              </a:rPr>
              <a:t>元组在表中的先后顺序</a:t>
            </a:r>
            <a:r>
              <a:rPr lang="zh-CN" altLang="en-US" dirty="0"/>
              <a:t>）输出查询结果。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ORDER BY </a:t>
            </a:r>
            <a:r>
              <a:rPr lang="zh-CN" altLang="en-US" dirty="0"/>
              <a:t>子句可</a:t>
            </a:r>
            <a:r>
              <a:rPr lang="zh-CN" altLang="en-US" b="1" u="sng" dirty="0"/>
              <a:t>明确</a:t>
            </a:r>
            <a:r>
              <a:rPr lang="zh-CN" altLang="en-US" b="1" u="sng" dirty="0">
                <a:solidFill>
                  <a:srgbClr val="0000FF"/>
                </a:solidFill>
              </a:rPr>
              <a:t>指定</a:t>
            </a:r>
            <a:r>
              <a:rPr lang="zh-CN" altLang="en-US" b="1" u="sng" dirty="0">
                <a:solidFill>
                  <a:schemeClr val="tx2"/>
                </a:solidFill>
              </a:rPr>
              <a:t>结果</a:t>
            </a:r>
            <a:r>
              <a:rPr lang="zh-CN" altLang="en-US" b="1" u="sng" dirty="0">
                <a:solidFill>
                  <a:srgbClr val="0000FF"/>
                </a:solidFill>
              </a:rPr>
              <a:t>顺序</a:t>
            </a:r>
            <a:r>
              <a:rPr lang="zh-CN" altLang="en-US" dirty="0"/>
              <a:t>。</a:t>
            </a:r>
          </a:p>
          <a:p>
            <a:pPr lvl="1" eaLnBrk="1" hangingPunct="1"/>
            <a:r>
              <a:rPr lang="zh-CN" altLang="en-US" dirty="0"/>
              <a:t>可以按</a:t>
            </a:r>
            <a:r>
              <a:rPr lang="zh-CN" altLang="en-US" u="sng" dirty="0">
                <a:solidFill>
                  <a:srgbClr val="006600"/>
                </a:solidFill>
              </a:rPr>
              <a:t>一个</a:t>
            </a:r>
            <a:r>
              <a:rPr lang="zh-CN" altLang="en-US" dirty="0"/>
              <a:t>或</a:t>
            </a:r>
            <a:r>
              <a:rPr lang="zh-CN" altLang="en-US" u="sng" dirty="0">
                <a:solidFill>
                  <a:srgbClr val="006600"/>
                </a:solidFill>
              </a:rPr>
              <a:t>多个</a:t>
            </a:r>
            <a:r>
              <a:rPr lang="zh-CN" altLang="en-US" u="sng" dirty="0"/>
              <a:t>属性列</a:t>
            </a:r>
            <a:r>
              <a:rPr lang="zh-CN" altLang="en-US" dirty="0"/>
              <a:t>排序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升序：</a:t>
            </a:r>
            <a:r>
              <a:rPr lang="en-US" altLang="zh-CN" dirty="0">
                <a:solidFill>
                  <a:srgbClr val="C00000"/>
                </a:solidFill>
              </a:rPr>
              <a:t>ASC</a:t>
            </a:r>
            <a:r>
              <a:rPr lang="en-US" altLang="zh-CN" dirty="0"/>
              <a:t>;   </a:t>
            </a:r>
            <a:r>
              <a:rPr lang="zh-CN" altLang="en-US" dirty="0"/>
              <a:t>降序：</a:t>
            </a:r>
            <a:r>
              <a:rPr lang="en-US" altLang="zh-CN" dirty="0">
                <a:solidFill>
                  <a:srgbClr val="C00000"/>
                </a:solidFill>
              </a:rPr>
              <a:t>DESC</a:t>
            </a:r>
            <a:r>
              <a:rPr lang="en-US" altLang="zh-CN" dirty="0"/>
              <a:t>;  </a:t>
            </a:r>
          </a:p>
          <a:p>
            <a:pPr lvl="1" eaLnBrk="1" hangingPunct="1"/>
            <a:r>
              <a:rPr lang="en-US" altLang="zh-CN" dirty="0"/>
              <a:t> </a:t>
            </a:r>
            <a:r>
              <a:rPr lang="zh-CN" altLang="en-US" dirty="0">
                <a:solidFill>
                  <a:srgbClr val="0000FF"/>
                </a:solidFill>
              </a:rPr>
              <a:t>缺省值</a:t>
            </a:r>
            <a:r>
              <a:rPr lang="en-US" altLang="zh-CN" dirty="0"/>
              <a:t>/</a:t>
            </a:r>
            <a:r>
              <a:rPr lang="zh-CN" altLang="en-US" dirty="0">
                <a:solidFill>
                  <a:srgbClr val="0000FF"/>
                </a:solidFill>
              </a:rPr>
              <a:t>默认</a:t>
            </a:r>
            <a:r>
              <a:rPr lang="zh-CN" altLang="en-US" dirty="0"/>
              <a:t>为升序</a:t>
            </a:r>
            <a:r>
              <a:rPr lang="en-US" altLang="zh-CN" dirty="0">
                <a:solidFill>
                  <a:srgbClr val="0000FF"/>
                </a:solidFill>
              </a:rPr>
              <a:t>ASC</a:t>
            </a:r>
            <a:r>
              <a:rPr lang="zh-CN" altLang="en-US" dirty="0"/>
              <a:t>，</a:t>
            </a:r>
            <a:r>
              <a:rPr lang="en-US" altLang="zh-CN" u="sng" dirty="0"/>
              <a:t>NULL</a:t>
            </a:r>
            <a:r>
              <a:rPr lang="zh-CN" altLang="en-US" u="sng" dirty="0"/>
              <a:t>值最大</a:t>
            </a:r>
            <a:r>
              <a:rPr lang="zh-CN" altLang="en-US" dirty="0"/>
              <a:t>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2F44E97-33B8-600F-DFE8-5FFA90C1D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84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8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8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88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88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88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88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88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88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5C8B898-B91F-4D3F-88E1-FDA500A6CB8F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7987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798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3.4.1 </a:t>
            </a:r>
            <a:r>
              <a:rPr lang="zh-CN" altLang="en-US"/>
              <a:t>单表查询</a:t>
            </a:r>
          </a:p>
        </p:txBody>
      </p:sp>
      <p:sp>
        <p:nvSpPr>
          <p:cNvPr id="798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例：查询计算机系</a:t>
            </a:r>
            <a:r>
              <a:rPr lang="en-US" altLang="zh-CN" sz="2800" dirty="0"/>
              <a:t>(CS)</a:t>
            </a:r>
            <a:r>
              <a:rPr lang="zh-CN" altLang="en-US" sz="2800" dirty="0"/>
              <a:t>学生的学号和姓名，</a:t>
            </a:r>
            <a:r>
              <a:rPr lang="zh-CN" altLang="en-US" sz="2800" u="sng" dirty="0"/>
              <a:t>按</a:t>
            </a:r>
            <a:r>
              <a:rPr lang="zh-CN" altLang="en-US" sz="2800" u="sng" dirty="0">
                <a:solidFill>
                  <a:schemeClr val="tx2"/>
                </a:solidFill>
              </a:rPr>
              <a:t>年龄从大到小排</a:t>
            </a:r>
            <a:r>
              <a:rPr lang="zh-CN" altLang="en-US" sz="2800" u="sng" dirty="0"/>
              <a:t>，相同年龄的</a:t>
            </a:r>
            <a:r>
              <a:rPr lang="zh-CN" altLang="en-US" sz="2800" u="sng" dirty="0">
                <a:solidFill>
                  <a:schemeClr val="tx2"/>
                </a:solidFill>
              </a:rPr>
              <a:t>按学号升序排</a:t>
            </a:r>
            <a:r>
              <a:rPr lang="zh-CN" altLang="en-US" sz="2800" u="sng" dirty="0"/>
              <a:t>。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chemeClr val="tx2"/>
                </a:solidFill>
              </a:rPr>
              <a:t>   SELECT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Sno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Sname</a:t>
            </a:r>
            <a:r>
              <a:rPr lang="en-US" altLang="zh-CN" sz="2800" dirty="0"/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	</a:t>
            </a:r>
            <a:r>
              <a:rPr lang="en-US" altLang="zh-CN" sz="2800" dirty="0">
                <a:solidFill>
                  <a:schemeClr val="tx2"/>
                </a:solidFill>
              </a:rPr>
              <a:t>FROM</a:t>
            </a:r>
            <a:r>
              <a:rPr lang="en-US" altLang="zh-CN" sz="2800" dirty="0"/>
              <a:t> Student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	</a:t>
            </a:r>
            <a:r>
              <a:rPr lang="en-US" altLang="zh-CN" sz="2800" dirty="0">
                <a:solidFill>
                  <a:schemeClr val="tx2"/>
                </a:solidFill>
              </a:rPr>
              <a:t>WHERE</a:t>
            </a:r>
            <a:r>
              <a:rPr lang="en-US" altLang="zh-CN" sz="2800" dirty="0"/>
              <a:t> </a:t>
            </a:r>
            <a:r>
              <a:rPr lang="en-US" altLang="zh-CN" sz="2800" dirty="0" err="1"/>
              <a:t>Sdept</a:t>
            </a:r>
            <a:r>
              <a:rPr lang="en-US" altLang="zh-CN" sz="2800" dirty="0"/>
              <a:t>=</a:t>
            </a:r>
            <a:r>
              <a:rPr lang="en-US" altLang="zh-CN" sz="2800" dirty="0">
                <a:latin typeface="Arial" charset="0"/>
              </a:rPr>
              <a:t>‘</a:t>
            </a:r>
            <a:r>
              <a:rPr lang="en-US" altLang="zh-CN" sz="2800" dirty="0"/>
              <a:t>CS</a:t>
            </a:r>
            <a:r>
              <a:rPr lang="en-US" altLang="zh-CN" sz="2800" dirty="0">
                <a:latin typeface="Arial" charset="0"/>
              </a:rPr>
              <a:t>’</a:t>
            </a:r>
            <a:endParaRPr lang="en-US" altLang="zh-CN" sz="28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	</a:t>
            </a:r>
            <a:r>
              <a:rPr lang="en-US" altLang="zh-CN" sz="2800" dirty="0">
                <a:solidFill>
                  <a:srgbClr val="C00000"/>
                </a:solidFill>
              </a:rPr>
              <a:t>ORDER BY </a:t>
            </a:r>
            <a:r>
              <a:rPr lang="en-US" altLang="zh-CN" sz="2800" dirty="0">
                <a:solidFill>
                  <a:srgbClr val="0000FF"/>
                </a:solidFill>
              </a:rPr>
              <a:t>Sage</a:t>
            </a:r>
            <a:r>
              <a:rPr lang="en-US" altLang="zh-CN" sz="2800" dirty="0"/>
              <a:t> </a:t>
            </a:r>
            <a:r>
              <a:rPr lang="en-US" altLang="zh-CN" sz="2800" dirty="0">
                <a:solidFill>
                  <a:srgbClr val="C00000"/>
                </a:solidFill>
              </a:rPr>
              <a:t>DESC</a:t>
            </a:r>
            <a:r>
              <a:rPr lang="en-US" altLang="zh-CN" sz="2800" dirty="0"/>
              <a:t>, </a:t>
            </a:r>
            <a:r>
              <a:rPr lang="en-US" altLang="zh-CN" sz="2800" dirty="0" err="1">
                <a:solidFill>
                  <a:srgbClr val="0000FF"/>
                </a:solidFill>
              </a:rPr>
              <a:t>Sno</a:t>
            </a:r>
            <a:r>
              <a:rPr lang="en-US" altLang="zh-CN" sz="2800" dirty="0"/>
              <a:t>;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26D80D0-80A5-F347-E125-26756AB1B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85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8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8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98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98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98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98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98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98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0297E60-B7D7-483A-A43E-66FB4F771AFB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8089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809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3.4.1 </a:t>
            </a:r>
            <a:r>
              <a:rPr lang="zh-CN" altLang="en-US" dirty="0"/>
              <a:t>单表查询</a:t>
            </a:r>
            <a:r>
              <a:rPr lang="en-US" altLang="zh-CN" dirty="0"/>
              <a:t>-</a:t>
            </a:r>
            <a:r>
              <a:rPr lang="zh-CN" altLang="en-US" dirty="0"/>
              <a:t>空值</a:t>
            </a:r>
            <a:r>
              <a:rPr lang="en-US" altLang="zh-CN" sz="3200" u="sng" dirty="0"/>
              <a:t>(</a:t>
            </a:r>
            <a:r>
              <a:rPr lang="zh-CN" altLang="en-US" sz="3200" u="sng" dirty="0"/>
              <a:t>教材</a:t>
            </a:r>
            <a:r>
              <a:rPr lang="en-US" altLang="zh-CN" sz="3200" u="sng" dirty="0"/>
              <a:t>3.6)</a:t>
            </a:r>
            <a:endParaRPr lang="zh-CN" altLang="en-US" dirty="0"/>
          </a:p>
        </p:txBody>
      </p:sp>
      <p:sp>
        <p:nvSpPr>
          <p:cNvPr id="809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注：这里说</a:t>
            </a:r>
            <a:r>
              <a:rPr lang="zh-CN" altLang="en-US" dirty="0">
                <a:solidFill>
                  <a:srgbClr val="FF0000"/>
                </a:solidFill>
              </a:rPr>
              <a:t>“</a:t>
            </a:r>
            <a:r>
              <a:rPr lang="en-US" altLang="zh-CN" dirty="0">
                <a:solidFill>
                  <a:srgbClr val="FF0000"/>
                </a:solidFill>
              </a:rPr>
              <a:t>NULL</a:t>
            </a:r>
            <a:r>
              <a:rPr lang="zh-CN" altLang="en-US" dirty="0">
                <a:solidFill>
                  <a:srgbClr val="FF0000"/>
                </a:solidFill>
              </a:rPr>
              <a:t>值最大”，</a:t>
            </a:r>
            <a:r>
              <a:rPr lang="zh-CN" altLang="en-US" b="1" u="sng" dirty="0">
                <a:solidFill>
                  <a:schemeClr val="tx2"/>
                </a:solidFill>
              </a:rPr>
              <a:t>仅仅针对</a:t>
            </a:r>
            <a:r>
              <a:rPr lang="en-US" altLang="zh-CN" u="sng" dirty="0">
                <a:solidFill>
                  <a:srgbClr val="FF0000"/>
                </a:solidFill>
              </a:rPr>
              <a:t>NULL</a:t>
            </a:r>
            <a:r>
              <a:rPr lang="zh-CN" altLang="en-US" u="sng" dirty="0">
                <a:solidFill>
                  <a:srgbClr val="FF0000"/>
                </a:solidFill>
              </a:rPr>
              <a:t>值排序</a:t>
            </a:r>
            <a:r>
              <a:rPr lang="zh-CN" altLang="en-US" dirty="0"/>
              <a:t>的情况。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如果取</a:t>
            </a:r>
            <a:r>
              <a:rPr lang="zh-CN" altLang="en-US" dirty="0">
                <a:solidFill>
                  <a:srgbClr val="FF0000"/>
                </a:solidFill>
              </a:rPr>
              <a:t>“</a:t>
            </a:r>
            <a:r>
              <a:rPr lang="en-US" altLang="zh-CN" dirty="0">
                <a:solidFill>
                  <a:srgbClr val="FF0000"/>
                </a:solidFill>
              </a:rPr>
              <a:t>NULL</a:t>
            </a:r>
            <a:r>
              <a:rPr lang="zh-CN" altLang="en-US" dirty="0">
                <a:solidFill>
                  <a:srgbClr val="FF0000"/>
                </a:solidFill>
              </a:rPr>
              <a:t>值”</a:t>
            </a:r>
            <a:r>
              <a:rPr lang="zh-CN" altLang="en-US" dirty="0"/>
              <a:t>的字段出现在</a:t>
            </a:r>
            <a:r>
              <a:rPr lang="zh-CN" altLang="en-US" dirty="0">
                <a:solidFill>
                  <a:srgbClr val="0000FF"/>
                </a:solidFill>
              </a:rPr>
              <a:t>条件表达式中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zh-CN" altLang="en-US" u="sng" dirty="0"/>
              <a:t>将</a:t>
            </a:r>
            <a:r>
              <a:rPr lang="zh-CN" altLang="en-US" u="sng" dirty="0">
                <a:solidFill>
                  <a:srgbClr val="0000FF"/>
                </a:solidFill>
              </a:rPr>
              <a:t>使条件计算</a:t>
            </a:r>
            <a:r>
              <a:rPr lang="zh-CN" altLang="en-US" u="sng" dirty="0"/>
              <a:t>为</a:t>
            </a:r>
            <a:r>
              <a:rPr lang="en-US" altLang="zh-CN" u="sng" dirty="0">
                <a:solidFill>
                  <a:srgbClr val="FF0000"/>
                </a:solidFill>
              </a:rPr>
              <a:t>NULL</a:t>
            </a:r>
            <a:r>
              <a:rPr lang="zh-CN" altLang="en-US" u="sng" dirty="0">
                <a:solidFill>
                  <a:srgbClr val="FF0000"/>
                </a:solidFill>
              </a:rPr>
              <a:t>，</a:t>
            </a:r>
            <a:r>
              <a:rPr lang="zh-CN" altLang="en-US" u="sng" dirty="0"/>
              <a:t>进而</a:t>
            </a:r>
            <a:r>
              <a:rPr lang="zh-CN" altLang="en-US" u="sng" dirty="0">
                <a:solidFill>
                  <a:srgbClr val="FF0000"/>
                </a:solidFill>
              </a:rPr>
              <a:t>被排除于结果外</a:t>
            </a:r>
            <a:r>
              <a:rPr lang="zh-CN" altLang="en-US" dirty="0"/>
              <a:t>。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zh-CN" altLang="en-US" dirty="0"/>
              <a:t>例如，查找成绩在</a:t>
            </a:r>
            <a:r>
              <a:rPr lang="en-US" altLang="zh-CN" dirty="0"/>
              <a:t>90</a:t>
            </a:r>
            <a:r>
              <a:rPr lang="zh-CN" altLang="en-US" dirty="0"/>
              <a:t>分以上</a:t>
            </a:r>
            <a:r>
              <a:rPr lang="en-US" altLang="zh-CN" dirty="0"/>
              <a:t>(</a:t>
            </a:r>
            <a:r>
              <a:rPr lang="zh-CN" altLang="en-US" dirty="0"/>
              <a:t>含</a:t>
            </a:r>
            <a:r>
              <a:rPr lang="en-US" altLang="zh-CN" dirty="0"/>
              <a:t>)</a:t>
            </a:r>
            <a:r>
              <a:rPr lang="zh-CN" altLang="en-US" dirty="0"/>
              <a:t>的学生的学号：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			SELECT </a:t>
            </a:r>
            <a:r>
              <a:rPr lang="en-US" altLang="zh-CN" sz="2400" dirty="0" err="1"/>
              <a:t>Sno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   			FROM SC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/>
              <a:t>  			WHERE Grade&gt;=90</a:t>
            </a:r>
            <a:r>
              <a:rPr lang="zh-CN" altLang="en-US" sz="2400" dirty="0"/>
              <a:t>；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/>
              <a:t>成绩为</a:t>
            </a:r>
            <a:r>
              <a:rPr lang="en-US" altLang="zh-CN" dirty="0">
                <a:solidFill>
                  <a:schemeClr val="tx2"/>
                </a:solidFill>
              </a:rPr>
              <a:t>NULL</a:t>
            </a:r>
            <a:r>
              <a:rPr lang="zh-CN" altLang="en-US" dirty="0"/>
              <a:t>的学生的学号</a:t>
            </a:r>
            <a:r>
              <a:rPr lang="zh-CN" altLang="en-US" dirty="0">
                <a:solidFill>
                  <a:srgbClr val="0000FF"/>
                </a:solidFill>
              </a:rPr>
              <a:t>并不出现</a:t>
            </a:r>
            <a:r>
              <a:rPr lang="zh-CN" altLang="en-US" dirty="0"/>
              <a:t>在结果中。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A240804-A83B-8873-1474-D39829974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86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9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9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09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09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09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09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09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09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09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09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09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09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14129F1-9593-4B24-B330-180F45073957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8192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819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3.4.1 </a:t>
            </a:r>
            <a:r>
              <a:rPr lang="zh-CN" altLang="en-US"/>
              <a:t>单表查询</a:t>
            </a:r>
          </a:p>
        </p:txBody>
      </p:sp>
      <p:sp>
        <p:nvSpPr>
          <p:cNvPr id="819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1"/>
            <a:ext cx="8345488" cy="1295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/>
              <a:t>四、使用</a:t>
            </a:r>
            <a:r>
              <a:rPr lang="zh-CN" altLang="en-US" sz="2800" dirty="0">
                <a:solidFill>
                  <a:srgbClr val="0000FF"/>
                </a:solidFill>
              </a:rPr>
              <a:t>聚</a:t>
            </a:r>
            <a:r>
              <a:rPr lang="zh-CN" altLang="en-US" sz="2800" b="1" dirty="0">
                <a:solidFill>
                  <a:srgbClr val="0000FF"/>
                </a:solidFill>
              </a:rPr>
              <a:t>集函数</a:t>
            </a:r>
            <a:r>
              <a:rPr lang="zh-CN" altLang="en-US" sz="2800" dirty="0">
                <a:solidFill>
                  <a:srgbClr val="0000FF"/>
                </a:solidFill>
              </a:rPr>
              <a:t> </a:t>
            </a:r>
            <a:r>
              <a:rPr lang="en-US" altLang="zh-CN" sz="2800" dirty="0">
                <a:solidFill>
                  <a:srgbClr val="0000FF"/>
                </a:solidFill>
              </a:rPr>
              <a:t>(</a:t>
            </a:r>
            <a:r>
              <a:rPr lang="zh-CN" altLang="en-US" sz="2800" dirty="0">
                <a:solidFill>
                  <a:srgbClr val="0000FF"/>
                </a:solidFill>
              </a:rPr>
              <a:t>教材</a:t>
            </a:r>
            <a:r>
              <a:rPr lang="en-US" altLang="zh-CN" sz="2800" dirty="0">
                <a:solidFill>
                  <a:srgbClr val="0000FF"/>
                </a:solidFill>
              </a:rPr>
              <a:t>3.7)</a:t>
            </a:r>
            <a:endParaRPr lang="zh-CN" altLang="en-US" sz="2800" dirty="0">
              <a:solidFill>
                <a:srgbClr val="0000FF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/>
              <a:t>	为了进一步方便用户，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增强检索功能</a:t>
            </a:r>
            <a:r>
              <a:rPr lang="zh-CN" altLang="en-US" sz="2800" dirty="0"/>
              <a:t>，</a:t>
            </a:r>
            <a:r>
              <a:rPr lang="en-US" altLang="zh-CN" sz="2800" dirty="0"/>
              <a:t>SQL</a:t>
            </a:r>
            <a:r>
              <a:rPr lang="zh-CN" altLang="en-US" sz="2800" dirty="0"/>
              <a:t>提供了许多集函数，主要包括： </a:t>
            </a:r>
            <a:endParaRPr lang="zh-CN" altLang="en-US" sz="800" dirty="0"/>
          </a:p>
        </p:txBody>
      </p:sp>
      <p:sp>
        <p:nvSpPr>
          <p:cNvPr id="2" name="矩形 1"/>
          <p:cNvSpPr/>
          <p:nvPr/>
        </p:nvSpPr>
        <p:spPr>
          <a:xfrm>
            <a:off x="685800" y="2819400"/>
            <a:ext cx="8205952" cy="358841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COUNT</a:t>
            </a:r>
            <a:r>
              <a:rPr lang="en-US" altLang="zh-CN" dirty="0"/>
              <a:t>([DISTINCT|ALL] </a:t>
            </a:r>
            <a:r>
              <a:rPr lang="en-US" altLang="zh-CN" b="1" dirty="0">
                <a:solidFill>
                  <a:srgbClr val="0000FF"/>
                </a:solidFill>
              </a:rPr>
              <a:t>*</a:t>
            </a:r>
            <a:r>
              <a:rPr lang="en-US" altLang="zh-CN" dirty="0">
                <a:solidFill>
                  <a:srgbClr val="800080"/>
                </a:solidFill>
              </a:rPr>
              <a:t>)</a:t>
            </a:r>
            <a:r>
              <a:rPr lang="en-US" altLang="zh-CN" dirty="0"/>
              <a:t> </a:t>
            </a:r>
            <a:r>
              <a:rPr lang="zh-CN" altLang="en-US" dirty="0"/>
              <a:t>统计</a:t>
            </a:r>
            <a:r>
              <a:rPr lang="zh-CN" altLang="en-US" u="sng" dirty="0">
                <a:solidFill>
                  <a:srgbClr val="0000FF"/>
                </a:solidFill>
              </a:rPr>
              <a:t>元组</a:t>
            </a:r>
            <a:r>
              <a:rPr lang="zh-CN" altLang="en-US" u="sng" dirty="0">
                <a:solidFill>
                  <a:srgbClr val="FF0000"/>
                </a:solidFill>
              </a:rPr>
              <a:t>个数</a:t>
            </a:r>
            <a:r>
              <a:rPr lang="zh-CN" altLang="en-US" u="sng" dirty="0"/>
              <a:t> </a:t>
            </a:r>
            <a:endParaRPr lang="en-US" altLang="zh-CN" u="sng" dirty="0"/>
          </a:p>
          <a:p>
            <a:pPr algn="l">
              <a:lnSpc>
                <a:spcPct val="12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COUNT</a:t>
            </a:r>
            <a:r>
              <a:rPr lang="en-US" altLang="zh-CN" dirty="0"/>
              <a:t>([DISTINCT|ALL] </a:t>
            </a:r>
            <a:r>
              <a:rPr lang="en-US" altLang="zh-CN" dirty="0">
                <a:solidFill>
                  <a:srgbClr val="0000FF"/>
                </a:solidFill>
              </a:rPr>
              <a:t>&lt;</a:t>
            </a:r>
            <a:r>
              <a:rPr lang="zh-CN" altLang="en-US" dirty="0">
                <a:solidFill>
                  <a:srgbClr val="0000FF"/>
                </a:solidFill>
              </a:rPr>
              <a:t>列名</a:t>
            </a:r>
            <a:r>
              <a:rPr lang="en-US" altLang="zh-CN" dirty="0">
                <a:solidFill>
                  <a:srgbClr val="0000FF"/>
                </a:solidFill>
              </a:rPr>
              <a:t>&gt;</a:t>
            </a:r>
            <a:r>
              <a:rPr lang="en-US" altLang="zh-CN" dirty="0">
                <a:solidFill>
                  <a:srgbClr val="800080"/>
                </a:solidFill>
              </a:rPr>
              <a:t>)</a:t>
            </a:r>
            <a:r>
              <a:rPr lang="en-US" altLang="zh-CN" dirty="0"/>
              <a:t> </a:t>
            </a:r>
            <a:r>
              <a:rPr lang="zh-CN" altLang="en-US" dirty="0"/>
              <a:t>统计</a:t>
            </a:r>
            <a:r>
              <a:rPr lang="zh-CN" altLang="en-US" u="sng" dirty="0">
                <a:solidFill>
                  <a:srgbClr val="0000FF"/>
                </a:solidFill>
              </a:rPr>
              <a:t>一列</a:t>
            </a:r>
            <a:r>
              <a:rPr lang="zh-CN" altLang="en-US" u="sng" dirty="0">
                <a:solidFill>
                  <a:schemeClr val="tx2"/>
                </a:solidFill>
              </a:rPr>
              <a:t>中值</a:t>
            </a:r>
            <a:r>
              <a:rPr lang="zh-CN" altLang="en-US" u="sng" dirty="0"/>
              <a:t>的</a:t>
            </a:r>
            <a:r>
              <a:rPr lang="zh-CN" altLang="en-US" u="sng" dirty="0">
                <a:solidFill>
                  <a:srgbClr val="FF0000"/>
                </a:solidFill>
              </a:rPr>
              <a:t>个数</a:t>
            </a:r>
            <a:r>
              <a:rPr lang="zh-CN" altLang="en-US" u="sng" dirty="0"/>
              <a:t> </a:t>
            </a:r>
            <a:endParaRPr lang="en-US" altLang="zh-CN" dirty="0"/>
          </a:p>
          <a:p>
            <a:pPr algn="l">
              <a:lnSpc>
                <a:spcPct val="12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SUM</a:t>
            </a:r>
            <a:r>
              <a:rPr lang="en-US" altLang="zh-CN" dirty="0"/>
              <a:t>([DISTINCT|ALL] </a:t>
            </a:r>
            <a:r>
              <a:rPr lang="en-US" altLang="zh-CN" dirty="0">
                <a:solidFill>
                  <a:srgbClr val="0000FF"/>
                </a:solidFill>
              </a:rPr>
              <a:t>&lt;</a:t>
            </a:r>
            <a:r>
              <a:rPr lang="zh-CN" altLang="en-US" dirty="0">
                <a:solidFill>
                  <a:srgbClr val="0000FF"/>
                </a:solidFill>
              </a:rPr>
              <a:t>列名</a:t>
            </a:r>
            <a:r>
              <a:rPr lang="en-US" altLang="zh-CN" dirty="0">
                <a:solidFill>
                  <a:srgbClr val="0000FF"/>
                </a:solidFill>
              </a:rPr>
              <a:t>&gt;</a:t>
            </a:r>
            <a:r>
              <a:rPr lang="en-US" altLang="zh-CN" dirty="0">
                <a:solidFill>
                  <a:srgbClr val="800080"/>
                </a:solidFill>
              </a:rPr>
              <a:t>)</a:t>
            </a:r>
            <a:r>
              <a:rPr lang="en-US" altLang="zh-CN" dirty="0"/>
              <a:t> </a:t>
            </a:r>
            <a:r>
              <a:rPr lang="zh-CN" altLang="en-US" dirty="0"/>
              <a:t>计算</a:t>
            </a:r>
            <a:r>
              <a:rPr lang="zh-CN" altLang="en-US" u="sng" dirty="0">
                <a:solidFill>
                  <a:srgbClr val="0000FF"/>
                </a:solidFill>
              </a:rPr>
              <a:t>一列</a:t>
            </a:r>
            <a:r>
              <a:rPr lang="zh-CN" altLang="en-US" u="sng" dirty="0"/>
              <a:t>值的</a:t>
            </a:r>
            <a:r>
              <a:rPr lang="zh-CN" altLang="en-US" u="sng" dirty="0">
                <a:solidFill>
                  <a:srgbClr val="FF0000"/>
                </a:solidFill>
              </a:rPr>
              <a:t>总和</a:t>
            </a:r>
            <a:r>
              <a:rPr lang="zh-CN" altLang="en-US" dirty="0"/>
              <a:t>（此列必须是</a:t>
            </a:r>
            <a:r>
              <a:rPr lang="zh-CN" altLang="en-US" b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数值型</a:t>
            </a:r>
            <a:r>
              <a:rPr lang="zh-CN" altLang="en-US" dirty="0"/>
              <a:t>） </a:t>
            </a:r>
            <a:endParaRPr lang="en-US" altLang="zh-CN" dirty="0"/>
          </a:p>
          <a:p>
            <a:pPr algn="l">
              <a:lnSpc>
                <a:spcPct val="12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AVG</a:t>
            </a:r>
            <a:r>
              <a:rPr lang="en-US" altLang="zh-CN" dirty="0"/>
              <a:t>([DISTINCT|ALL] </a:t>
            </a:r>
            <a:r>
              <a:rPr lang="en-US" altLang="zh-CN" dirty="0">
                <a:solidFill>
                  <a:srgbClr val="0000FF"/>
                </a:solidFill>
              </a:rPr>
              <a:t>&lt;</a:t>
            </a:r>
            <a:r>
              <a:rPr lang="zh-CN" altLang="en-US" dirty="0">
                <a:solidFill>
                  <a:srgbClr val="0000FF"/>
                </a:solidFill>
              </a:rPr>
              <a:t>列名</a:t>
            </a:r>
            <a:r>
              <a:rPr lang="en-US" altLang="zh-CN" dirty="0">
                <a:solidFill>
                  <a:srgbClr val="0000FF"/>
                </a:solidFill>
              </a:rPr>
              <a:t>&gt;</a:t>
            </a:r>
            <a:r>
              <a:rPr lang="en-US" altLang="zh-CN" dirty="0">
                <a:solidFill>
                  <a:srgbClr val="800080"/>
                </a:solidFill>
              </a:rPr>
              <a:t>)</a:t>
            </a:r>
            <a:r>
              <a:rPr lang="en-US" altLang="zh-CN" dirty="0"/>
              <a:t> </a:t>
            </a:r>
            <a:r>
              <a:rPr lang="zh-CN" altLang="en-US" dirty="0"/>
              <a:t>计算</a:t>
            </a:r>
            <a:r>
              <a:rPr lang="zh-CN" altLang="en-US" u="sng" dirty="0">
                <a:solidFill>
                  <a:srgbClr val="0000FF"/>
                </a:solidFill>
              </a:rPr>
              <a:t>一列</a:t>
            </a:r>
            <a:r>
              <a:rPr lang="zh-CN" altLang="en-US" u="sng" dirty="0"/>
              <a:t>值的</a:t>
            </a:r>
            <a:r>
              <a:rPr lang="zh-CN" altLang="en-US" u="sng" dirty="0">
                <a:solidFill>
                  <a:srgbClr val="FF0000"/>
                </a:solidFill>
              </a:rPr>
              <a:t>平均值</a:t>
            </a:r>
            <a:r>
              <a:rPr lang="zh-CN" altLang="en-US" dirty="0"/>
              <a:t>（此列必须是</a:t>
            </a:r>
            <a:r>
              <a:rPr lang="zh-CN" altLang="en-US" b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数值型</a:t>
            </a:r>
            <a:r>
              <a:rPr lang="zh-CN" altLang="en-US" dirty="0"/>
              <a:t>）</a:t>
            </a:r>
            <a:endParaRPr lang="en-US" altLang="zh-CN" dirty="0"/>
          </a:p>
          <a:p>
            <a:pPr algn="l">
              <a:lnSpc>
                <a:spcPct val="12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MAX</a:t>
            </a:r>
            <a:r>
              <a:rPr lang="en-US" altLang="zh-CN" dirty="0"/>
              <a:t>([DISTINCT|ALL] </a:t>
            </a:r>
            <a:r>
              <a:rPr lang="en-US" altLang="zh-CN" dirty="0">
                <a:solidFill>
                  <a:srgbClr val="0000FF"/>
                </a:solidFill>
              </a:rPr>
              <a:t>&lt;</a:t>
            </a:r>
            <a:r>
              <a:rPr lang="zh-CN" altLang="en-US" dirty="0">
                <a:solidFill>
                  <a:srgbClr val="0000FF"/>
                </a:solidFill>
              </a:rPr>
              <a:t>列名</a:t>
            </a:r>
            <a:r>
              <a:rPr lang="en-US" altLang="zh-CN" dirty="0">
                <a:solidFill>
                  <a:srgbClr val="0000FF"/>
                </a:solidFill>
              </a:rPr>
              <a:t>&gt;</a:t>
            </a:r>
            <a:r>
              <a:rPr lang="en-US" altLang="zh-CN" dirty="0">
                <a:solidFill>
                  <a:srgbClr val="800080"/>
                </a:solidFill>
              </a:rPr>
              <a:t>)</a:t>
            </a:r>
            <a:r>
              <a:rPr lang="en-US" altLang="zh-CN" dirty="0"/>
              <a:t> </a:t>
            </a:r>
            <a:r>
              <a:rPr lang="zh-CN" altLang="en-US" dirty="0"/>
              <a:t>求</a:t>
            </a:r>
            <a:r>
              <a:rPr lang="zh-CN" altLang="en-US" u="sng" dirty="0">
                <a:solidFill>
                  <a:srgbClr val="0000FF"/>
                </a:solidFill>
              </a:rPr>
              <a:t>一列</a:t>
            </a:r>
            <a:r>
              <a:rPr lang="zh-CN" altLang="en-US" u="sng" dirty="0"/>
              <a:t>值中的</a:t>
            </a:r>
            <a:r>
              <a:rPr lang="zh-CN" altLang="en-US" u="sng" dirty="0">
                <a:solidFill>
                  <a:srgbClr val="FF0000"/>
                </a:solidFill>
              </a:rPr>
              <a:t>最大值</a:t>
            </a:r>
            <a:r>
              <a:rPr lang="zh-CN" altLang="en-US" u="sng" dirty="0"/>
              <a:t> </a:t>
            </a:r>
            <a:endParaRPr lang="en-US" altLang="zh-CN" u="sng" dirty="0"/>
          </a:p>
          <a:p>
            <a:pPr algn="l">
              <a:lnSpc>
                <a:spcPct val="12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MIN</a:t>
            </a:r>
            <a:r>
              <a:rPr lang="en-US" altLang="zh-CN" dirty="0"/>
              <a:t>([DISTINCT|ALL] </a:t>
            </a:r>
            <a:r>
              <a:rPr lang="en-US" altLang="zh-CN" dirty="0">
                <a:solidFill>
                  <a:srgbClr val="0000FF"/>
                </a:solidFill>
              </a:rPr>
              <a:t>&lt;</a:t>
            </a:r>
            <a:r>
              <a:rPr lang="zh-CN" altLang="en-US" dirty="0">
                <a:solidFill>
                  <a:srgbClr val="0000FF"/>
                </a:solidFill>
              </a:rPr>
              <a:t>列名</a:t>
            </a:r>
            <a:r>
              <a:rPr lang="en-US" altLang="zh-CN" dirty="0">
                <a:solidFill>
                  <a:srgbClr val="0000FF"/>
                </a:solidFill>
              </a:rPr>
              <a:t>&gt;</a:t>
            </a:r>
            <a:r>
              <a:rPr lang="en-US" altLang="zh-CN" dirty="0">
                <a:solidFill>
                  <a:srgbClr val="800080"/>
                </a:solidFill>
              </a:rPr>
              <a:t>)</a:t>
            </a:r>
            <a:r>
              <a:rPr lang="en-US" altLang="zh-CN" dirty="0"/>
              <a:t> </a:t>
            </a:r>
            <a:r>
              <a:rPr lang="zh-CN" altLang="en-US" dirty="0"/>
              <a:t>求</a:t>
            </a:r>
            <a:r>
              <a:rPr lang="zh-CN" altLang="en-US" u="sng" dirty="0">
                <a:solidFill>
                  <a:srgbClr val="0000FF"/>
                </a:solidFill>
              </a:rPr>
              <a:t>一列</a:t>
            </a:r>
            <a:r>
              <a:rPr lang="zh-CN" altLang="en-US" u="sng" dirty="0"/>
              <a:t>值中的</a:t>
            </a:r>
            <a:r>
              <a:rPr lang="zh-CN" altLang="en-US" u="sng" dirty="0">
                <a:solidFill>
                  <a:srgbClr val="FF0000"/>
                </a:solidFill>
              </a:rPr>
              <a:t>最小值</a:t>
            </a:r>
            <a:r>
              <a:rPr lang="zh-CN" altLang="en-US" u="sng" dirty="0"/>
              <a:t> 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4F9A610-0305-FB04-E6A3-2F178B6DB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87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EF35CD7-8EB5-4817-9CCB-E1A66C991B0F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8294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829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3.4.1 </a:t>
            </a:r>
            <a:r>
              <a:rPr lang="zh-CN" altLang="en-US"/>
              <a:t>单表查询</a:t>
            </a:r>
          </a:p>
        </p:txBody>
      </p:sp>
      <p:sp>
        <p:nvSpPr>
          <p:cNvPr id="829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如果指定</a:t>
            </a:r>
            <a:r>
              <a:rPr lang="en-US" altLang="zh-CN" sz="2800" dirty="0">
                <a:solidFill>
                  <a:srgbClr val="C00000"/>
                </a:solidFill>
              </a:rPr>
              <a:t>DISTINCT</a:t>
            </a:r>
            <a:r>
              <a:rPr lang="zh-CN" altLang="en-US" sz="2800" dirty="0"/>
              <a:t>短语，则表示在计算时要</a:t>
            </a:r>
            <a:r>
              <a:rPr lang="zh-CN" altLang="en-US" sz="2800" dirty="0">
                <a:solidFill>
                  <a:srgbClr val="C00000"/>
                </a:solidFill>
              </a:rPr>
              <a:t>取消指定列中的重复值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eaLnBrk="1" hangingPunct="1"/>
            <a:r>
              <a:rPr lang="zh-CN" altLang="en-US" sz="2800" dirty="0"/>
              <a:t>如果</a:t>
            </a:r>
            <a:r>
              <a:rPr lang="zh-CN" altLang="en-US" sz="2800" dirty="0">
                <a:solidFill>
                  <a:srgbClr val="C00000"/>
                </a:solidFill>
              </a:rPr>
              <a:t>不指定</a:t>
            </a:r>
            <a:r>
              <a:rPr lang="en-US" altLang="zh-CN" sz="2800" dirty="0">
                <a:solidFill>
                  <a:srgbClr val="C00000"/>
                </a:solidFill>
              </a:rPr>
              <a:t>DISTINCT</a:t>
            </a:r>
            <a:r>
              <a:rPr lang="zh-CN" altLang="en-US" sz="2800" dirty="0">
                <a:solidFill>
                  <a:srgbClr val="C00000"/>
                </a:solidFill>
              </a:rPr>
              <a:t>短语</a:t>
            </a:r>
            <a:r>
              <a:rPr lang="zh-CN" altLang="en-US" sz="2800" dirty="0"/>
              <a:t>或指定</a:t>
            </a:r>
            <a:r>
              <a:rPr lang="en-US" altLang="zh-CN" sz="2800" dirty="0">
                <a:solidFill>
                  <a:srgbClr val="C00000"/>
                </a:solidFill>
              </a:rPr>
              <a:t>ALL</a:t>
            </a:r>
            <a:r>
              <a:rPr lang="zh-CN" altLang="en-US" sz="2800" dirty="0">
                <a:solidFill>
                  <a:srgbClr val="C00000"/>
                </a:solidFill>
              </a:rPr>
              <a:t>短语</a:t>
            </a:r>
            <a:r>
              <a:rPr lang="zh-CN" altLang="en-US" sz="2800" dirty="0"/>
              <a:t>（</a:t>
            </a:r>
            <a:r>
              <a:rPr lang="en-US" altLang="zh-CN" sz="2800" dirty="0">
                <a:solidFill>
                  <a:schemeClr val="tx2"/>
                </a:solidFill>
              </a:rPr>
              <a:t>ALL</a:t>
            </a:r>
            <a:r>
              <a:rPr lang="zh-CN" altLang="en-US" sz="2800" dirty="0">
                <a:solidFill>
                  <a:schemeClr val="tx2"/>
                </a:solidFill>
              </a:rPr>
              <a:t>为缺省值</a:t>
            </a:r>
            <a:r>
              <a:rPr lang="zh-CN" altLang="en-US" sz="2800" dirty="0"/>
              <a:t>），则表示</a:t>
            </a:r>
            <a:r>
              <a:rPr lang="zh-CN" altLang="en-US" sz="2800" dirty="0">
                <a:solidFill>
                  <a:srgbClr val="C00000"/>
                </a:solidFill>
              </a:rPr>
              <a:t>不取消重复值</a:t>
            </a:r>
            <a:r>
              <a:rPr lang="zh-CN" altLang="en-US" sz="2800" dirty="0"/>
              <a:t>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22723F5-A3C2-70D9-CEA6-2549DEF4F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88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9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9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29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29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4956DB9-A59D-4E9B-B9CD-67EC1C751E54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8294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829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3.4.1 </a:t>
            </a:r>
            <a:r>
              <a:rPr lang="zh-CN" altLang="en-US"/>
              <a:t>单表查询</a:t>
            </a:r>
          </a:p>
        </p:txBody>
      </p:sp>
      <p:sp>
        <p:nvSpPr>
          <p:cNvPr id="829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例：查询学生总人数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/>
              <a:t>   SELECT </a:t>
            </a:r>
            <a:r>
              <a:rPr lang="en-US" altLang="zh-CN" sz="2800" dirty="0">
                <a:solidFill>
                  <a:srgbClr val="0000FF"/>
                </a:solidFill>
              </a:rPr>
              <a:t>COUNT</a:t>
            </a:r>
            <a:r>
              <a:rPr lang="en-US" altLang="zh-CN" sz="2800" dirty="0"/>
              <a:t> (</a:t>
            </a:r>
            <a:r>
              <a:rPr lang="en-US" altLang="zh-CN" sz="2800" dirty="0">
                <a:solidFill>
                  <a:srgbClr val="0000FF"/>
                </a:solidFill>
              </a:rPr>
              <a:t>*</a:t>
            </a:r>
            <a:r>
              <a:rPr lang="en-US" altLang="zh-CN" sz="2800" dirty="0"/>
              <a:t>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/>
              <a:t>	FROM student;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/>
              <a:t>或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/>
              <a:t>   SELECT </a:t>
            </a:r>
            <a:r>
              <a:rPr lang="en-US" altLang="zh-CN" sz="2800" dirty="0">
                <a:solidFill>
                  <a:srgbClr val="0000FF"/>
                </a:solidFill>
              </a:rPr>
              <a:t>COUNT</a:t>
            </a:r>
            <a:r>
              <a:rPr lang="en-US" altLang="zh-CN" sz="2800" dirty="0"/>
              <a:t> (</a:t>
            </a:r>
            <a:r>
              <a:rPr lang="en-US" altLang="zh-CN" sz="2800" dirty="0" err="1">
                <a:solidFill>
                  <a:srgbClr val="0000FF"/>
                </a:solidFill>
              </a:rPr>
              <a:t>Sno</a:t>
            </a:r>
            <a:r>
              <a:rPr lang="en-US" altLang="zh-CN" sz="2800" dirty="0"/>
              <a:t>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/>
              <a:t>	FROM student;</a:t>
            </a:r>
            <a:endParaRPr lang="zh-CN" altLang="en-US" sz="28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5D87C11-C567-FD1F-E532-09A7038D3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89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79263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9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9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29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29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29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29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29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29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29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29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29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29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4D3721E-0846-483A-9C80-B43E9212E058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8397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839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3.4.1 </a:t>
            </a:r>
            <a:r>
              <a:rPr lang="zh-CN" altLang="en-US"/>
              <a:t>单表查询</a:t>
            </a:r>
          </a:p>
        </p:txBody>
      </p:sp>
      <p:sp>
        <p:nvSpPr>
          <p:cNvPr id="839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例</a:t>
            </a:r>
            <a:r>
              <a:rPr lang="en-US" altLang="zh-CN" sz="2800" dirty="0"/>
              <a:t>26 </a:t>
            </a:r>
            <a:r>
              <a:rPr lang="zh-CN" altLang="en-US" sz="2800" dirty="0"/>
              <a:t>查询</a:t>
            </a:r>
            <a:r>
              <a:rPr lang="zh-CN" altLang="en-US" sz="2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选修了课程</a:t>
            </a:r>
            <a:r>
              <a:rPr lang="zh-CN" altLang="en-US" sz="2800" dirty="0"/>
              <a:t>的学生人数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80"/>
                </a:solidFill>
              </a:rPr>
              <a:t>		</a:t>
            </a:r>
            <a:r>
              <a:rPr lang="en-US" altLang="zh-CN" sz="2800" dirty="0"/>
              <a:t>SELECT COUNT(</a:t>
            </a:r>
            <a:r>
              <a:rPr lang="en-US" altLang="zh-CN" sz="2800" dirty="0">
                <a:solidFill>
                  <a:srgbClr val="0000FF"/>
                </a:solidFill>
              </a:rPr>
              <a:t>DISTINCT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Sno</a:t>
            </a:r>
            <a:r>
              <a:rPr lang="en-US" altLang="zh-CN" sz="2800" dirty="0"/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		FROM SC;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/>
              <a:t>	学生每选修一门课，在</a:t>
            </a:r>
            <a:r>
              <a:rPr lang="en-US" altLang="zh-CN" sz="2800" dirty="0"/>
              <a:t>SC</a:t>
            </a:r>
            <a:r>
              <a:rPr lang="zh-CN" altLang="en-US" sz="2800" dirty="0"/>
              <a:t>中都有一条相应的记录，而一个学生一般都要选修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多门</a:t>
            </a:r>
            <a:r>
              <a:rPr lang="zh-CN" altLang="en-US" sz="2800" dirty="0"/>
              <a:t>课程，为避免重复计算学生人数，</a:t>
            </a:r>
            <a:r>
              <a:rPr lang="zh-CN" altLang="en-US" sz="2800" dirty="0">
                <a:solidFill>
                  <a:srgbClr val="0000FF"/>
                </a:solidFill>
              </a:rPr>
              <a:t>必须在</a:t>
            </a:r>
            <a:r>
              <a:rPr lang="en-US" altLang="zh-CN" sz="2800" dirty="0">
                <a:solidFill>
                  <a:srgbClr val="0000FF"/>
                </a:solidFill>
              </a:rPr>
              <a:t>COUNT</a:t>
            </a:r>
            <a:r>
              <a:rPr lang="zh-CN" altLang="en-US" sz="2800" dirty="0">
                <a:solidFill>
                  <a:srgbClr val="0000FF"/>
                </a:solidFill>
              </a:rPr>
              <a:t>函数中用</a:t>
            </a:r>
            <a:r>
              <a:rPr lang="en-US" altLang="zh-CN" sz="2800" dirty="0">
                <a:solidFill>
                  <a:srgbClr val="FF0000"/>
                </a:solidFill>
              </a:rPr>
              <a:t>DISTINCT</a:t>
            </a:r>
            <a:r>
              <a:rPr lang="zh-CN" altLang="en-US" sz="2800" dirty="0">
                <a:solidFill>
                  <a:srgbClr val="0000FF"/>
                </a:solidFill>
              </a:rPr>
              <a:t>短语</a:t>
            </a:r>
            <a:r>
              <a:rPr lang="zh-CN" altLang="en-US" sz="2800" dirty="0"/>
              <a:t>。</a:t>
            </a:r>
          </a:p>
          <a:p>
            <a:pPr eaLnBrk="1" hangingPunct="1"/>
            <a:r>
              <a:rPr lang="zh-CN" altLang="en-US" sz="2800" dirty="0"/>
              <a:t>注：</a:t>
            </a:r>
            <a:r>
              <a:rPr lang="en-US" altLang="zh-CN" sz="2800" dirty="0">
                <a:solidFill>
                  <a:srgbClr val="0000FF"/>
                </a:solidFill>
              </a:rPr>
              <a:t>NULL</a:t>
            </a:r>
            <a:r>
              <a:rPr lang="zh-CN" altLang="en-US" sz="2800" dirty="0">
                <a:solidFill>
                  <a:srgbClr val="0000FF"/>
                </a:solidFill>
              </a:rPr>
              <a:t>值的影响：</a:t>
            </a:r>
          </a:p>
          <a:p>
            <a:pPr lvl="1" eaLnBrk="1" hangingPunct="1"/>
            <a:r>
              <a:rPr lang="en-US" altLang="zh-CN" sz="2400" dirty="0"/>
              <a:t>COUNT</a:t>
            </a:r>
            <a:r>
              <a:rPr lang="en-US" altLang="zh-CN" sz="2400" dirty="0">
                <a:solidFill>
                  <a:srgbClr val="FF0000"/>
                </a:solidFill>
              </a:rPr>
              <a:t>(*)</a:t>
            </a:r>
            <a:r>
              <a:rPr lang="zh-CN" altLang="en-US" sz="2400" dirty="0"/>
              <a:t>总是返回</a:t>
            </a:r>
            <a:r>
              <a:rPr lang="zh-CN" altLang="en-US" sz="2400" b="1" dirty="0">
                <a:solidFill>
                  <a:srgbClr val="FF0000"/>
                </a:solidFill>
              </a:rPr>
              <a:t>记录</a:t>
            </a:r>
            <a:r>
              <a:rPr lang="zh-CN" altLang="en-US" sz="2400" b="1" dirty="0"/>
              <a:t>的</a:t>
            </a:r>
            <a:r>
              <a:rPr lang="zh-CN" altLang="en-US" sz="2400" b="1" dirty="0">
                <a:solidFill>
                  <a:srgbClr val="FF0000"/>
                </a:solidFill>
              </a:rPr>
              <a:t>个数</a:t>
            </a:r>
          </a:p>
          <a:p>
            <a:pPr lvl="1" eaLnBrk="1" hangingPunct="1"/>
            <a:r>
              <a:rPr lang="en-US" altLang="zh-CN" sz="2400" dirty="0"/>
              <a:t>COUNT</a:t>
            </a:r>
            <a:r>
              <a:rPr lang="en-US" altLang="zh-CN" sz="2400" dirty="0">
                <a:solidFill>
                  <a:srgbClr val="FF0000"/>
                </a:solidFill>
              </a:rPr>
              <a:t>(</a:t>
            </a:r>
            <a:r>
              <a:rPr lang="zh-CN" altLang="en-US" sz="2400" dirty="0">
                <a:solidFill>
                  <a:srgbClr val="FF0000"/>
                </a:solidFill>
              </a:rPr>
              <a:t>字段</a:t>
            </a:r>
            <a:r>
              <a:rPr lang="en-US" altLang="zh-CN" sz="2400" dirty="0">
                <a:solidFill>
                  <a:srgbClr val="FF0000"/>
                </a:solidFill>
              </a:rPr>
              <a:t>)</a:t>
            </a:r>
            <a:r>
              <a:rPr lang="zh-CN" altLang="en-US" sz="2400" dirty="0"/>
              <a:t>返回</a:t>
            </a:r>
            <a:r>
              <a:rPr lang="zh-CN" altLang="en-US" sz="2400" b="1" dirty="0">
                <a:solidFill>
                  <a:srgbClr val="0000FF"/>
                </a:solidFill>
              </a:rPr>
              <a:t>指定字段值</a:t>
            </a:r>
            <a:r>
              <a:rPr lang="zh-CN" altLang="en-US" sz="2400" b="1" i="1" u="sng" dirty="0">
                <a:solidFill>
                  <a:srgbClr val="FF0000"/>
                </a:solidFill>
              </a:rPr>
              <a:t>非空</a:t>
            </a:r>
            <a:r>
              <a:rPr lang="zh-CN" altLang="en-US" sz="2400" dirty="0"/>
              <a:t>的</a:t>
            </a:r>
            <a:r>
              <a:rPr lang="zh-CN" altLang="en-US" sz="2400" u="sng" dirty="0"/>
              <a:t>记录个数</a:t>
            </a:r>
            <a:r>
              <a:rPr lang="zh-CN" altLang="en-US" sz="2400" dirty="0"/>
              <a:t>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78CC4D4-E649-24B2-A10D-1CD4C1445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90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39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39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39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39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39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39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39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39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39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39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39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39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790F775-8EA3-4E35-B24F-99C3002B709A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8499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849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3.4.1 </a:t>
            </a:r>
            <a:r>
              <a:rPr lang="zh-CN" altLang="en-US"/>
              <a:t>单表查询</a:t>
            </a:r>
          </a:p>
        </p:txBody>
      </p:sp>
      <p:sp>
        <p:nvSpPr>
          <p:cNvPr id="849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11287"/>
            <a:ext cx="8345488" cy="5294313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例如，求</a:t>
            </a:r>
            <a:r>
              <a:rPr lang="en-US" altLang="zh-CN" sz="2800" dirty="0"/>
              <a:t>2</a:t>
            </a:r>
            <a:r>
              <a:rPr lang="zh-CN" altLang="en-US" sz="2800" dirty="0"/>
              <a:t>号课程总共有多少个得分：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 SELECT </a:t>
            </a:r>
            <a:r>
              <a:rPr lang="en-US" altLang="zh-CN" sz="2800" dirty="0">
                <a:solidFill>
                  <a:srgbClr val="0000FF"/>
                </a:solidFill>
              </a:rPr>
              <a:t>COUNT(</a:t>
            </a:r>
            <a:r>
              <a:rPr lang="en-US" altLang="zh-CN" sz="2800" dirty="0">
                <a:solidFill>
                  <a:srgbClr val="C00000"/>
                </a:solidFill>
              </a:rPr>
              <a:t>*</a:t>
            </a:r>
            <a:r>
              <a:rPr lang="en-US" altLang="zh-CN" sz="2800" dirty="0">
                <a:solidFill>
                  <a:srgbClr val="0000FF"/>
                </a:solidFill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 FROM SC</a:t>
            </a:r>
          </a:p>
          <a:p>
            <a:pPr eaLnBrk="1" hangingPunct="1">
              <a:buNone/>
            </a:pPr>
            <a:r>
              <a:rPr lang="en-US" altLang="zh-CN" sz="2800" dirty="0"/>
              <a:t>   WHERE </a:t>
            </a:r>
            <a:r>
              <a:rPr lang="en-US" altLang="zh-CN" sz="2800" dirty="0" err="1"/>
              <a:t>Cno</a:t>
            </a:r>
            <a:r>
              <a:rPr lang="zh-CN" altLang="en-US" sz="2800" dirty="0"/>
              <a:t>＝</a:t>
            </a:r>
            <a:r>
              <a:rPr lang="en-US" altLang="zh-CN" sz="2800" dirty="0"/>
              <a:t>’2’;</a:t>
            </a:r>
            <a:endParaRPr lang="zh-CN" altLang="en-US" sz="2800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/>
              <a:t>结果中</a:t>
            </a:r>
            <a:r>
              <a:rPr lang="zh-CN" altLang="en-US" sz="2800" dirty="0">
                <a:solidFill>
                  <a:srgbClr val="C00000"/>
                </a:solidFill>
              </a:rPr>
              <a:t>包含成绩为空</a:t>
            </a:r>
            <a:r>
              <a:rPr lang="zh-CN" altLang="en-US" sz="2800" dirty="0"/>
              <a:t>的记录，</a:t>
            </a:r>
            <a:r>
              <a:rPr lang="zh-CN" altLang="en-US" sz="2800" dirty="0">
                <a:solidFill>
                  <a:srgbClr val="0000FF"/>
                </a:solidFill>
              </a:rPr>
              <a:t>而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	SELECT </a:t>
            </a:r>
            <a:r>
              <a:rPr lang="en-US" altLang="zh-CN" sz="2800" dirty="0">
                <a:solidFill>
                  <a:srgbClr val="0000FF"/>
                </a:solidFill>
              </a:rPr>
              <a:t>COUNT(</a:t>
            </a:r>
            <a:r>
              <a:rPr lang="en-US" altLang="zh-CN" sz="2800" dirty="0">
                <a:solidFill>
                  <a:srgbClr val="C00000"/>
                </a:solidFill>
              </a:rPr>
              <a:t>Grade</a:t>
            </a:r>
            <a:r>
              <a:rPr lang="en-US" altLang="zh-CN" sz="2800" dirty="0">
                <a:solidFill>
                  <a:srgbClr val="0000FF"/>
                </a:solidFill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 FROM SC</a:t>
            </a:r>
          </a:p>
          <a:p>
            <a:pPr eaLnBrk="1" hangingPunct="1">
              <a:buNone/>
            </a:pPr>
            <a:r>
              <a:rPr lang="en-US" altLang="zh-CN" sz="2800" dirty="0"/>
              <a:t>   WHERE </a:t>
            </a:r>
            <a:r>
              <a:rPr lang="en-US" altLang="zh-CN" sz="2800" dirty="0" err="1"/>
              <a:t>Cno</a:t>
            </a:r>
            <a:r>
              <a:rPr lang="zh-CN" altLang="en-US" sz="2800" dirty="0"/>
              <a:t>＝</a:t>
            </a:r>
            <a:r>
              <a:rPr lang="en-US" altLang="zh-CN" sz="2800" dirty="0"/>
              <a:t>’2’;</a:t>
            </a:r>
            <a:endParaRPr lang="zh-CN" altLang="en-US" sz="2800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/>
              <a:t>结果中则</a:t>
            </a:r>
            <a:r>
              <a:rPr lang="zh-CN" altLang="en-US" sz="2800" dirty="0">
                <a:solidFill>
                  <a:srgbClr val="0000FF"/>
                </a:solidFill>
              </a:rPr>
              <a:t>不包含成绩为空</a:t>
            </a:r>
            <a:r>
              <a:rPr lang="zh-CN" altLang="en-US" sz="2800" dirty="0"/>
              <a:t>的记录。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975EA92-82AD-6A46-AA2D-FAA527B40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91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9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49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49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49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49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49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49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49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49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49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49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49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49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49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49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49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376EC85-6F0F-42CB-BF5D-AA7B1E609E75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8601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860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3.4.1 </a:t>
            </a:r>
            <a:r>
              <a:rPr lang="zh-CN" altLang="en-US"/>
              <a:t>单表查询</a:t>
            </a:r>
          </a:p>
        </p:txBody>
      </p:sp>
      <p:sp>
        <p:nvSpPr>
          <p:cNvPr id="860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实际上，除</a:t>
            </a:r>
            <a:r>
              <a:rPr lang="en-US" altLang="zh-CN" sz="2800" dirty="0"/>
              <a:t>count(</a:t>
            </a:r>
            <a:r>
              <a:rPr lang="en-US" altLang="zh-CN" sz="2800" dirty="0">
                <a:solidFill>
                  <a:srgbClr val="0000FF"/>
                </a:solidFill>
              </a:rPr>
              <a:t>*</a:t>
            </a:r>
            <a:r>
              <a:rPr lang="en-US" altLang="zh-CN" sz="2800" dirty="0"/>
              <a:t>)</a:t>
            </a:r>
            <a:r>
              <a:rPr lang="zh-CN" altLang="en-US" sz="2800" dirty="0"/>
              <a:t>外，</a:t>
            </a:r>
            <a:r>
              <a:rPr lang="en-US" altLang="zh-CN" sz="2800" dirty="0">
                <a:solidFill>
                  <a:srgbClr val="C00000"/>
                </a:solidFill>
              </a:rPr>
              <a:t>NULL</a:t>
            </a:r>
            <a:r>
              <a:rPr lang="zh-CN" altLang="en-US" sz="2800" dirty="0">
                <a:solidFill>
                  <a:srgbClr val="C00000"/>
                </a:solidFill>
              </a:rPr>
              <a:t>值</a:t>
            </a:r>
            <a:r>
              <a:rPr lang="zh-CN" altLang="en-US" sz="2800" dirty="0">
                <a:solidFill>
                  <a:srgbClr val="0000FF"/>
                </a:solidFill>
              </a:rPr>
              <a:t>均被</a:t>
            </a:r>
            <a:r>
              <a:rPr lang="zh-CN" altLang="en-US" sz="2800" dirty="0">
                <a:solidFill>
                  <a:srgbClr val="C00000"/>
                </a:solidFill>
              </a:rPr>
              <a:t>聚集函数所忽略。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 err="1"/>
              <a:t>postgres</a:t>
            </a:r>
            <a:r>
              <a:rPr lang="en-US" altLang="zh-CN" sz="2800" dirty="0"/>
              <a:t>=# select * from t1;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a | b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---+----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1 | 20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1 | 30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1 | 40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2 |</a:t>
            </a:r>
            <a:endParaRPr lang="zh-CN" altLang="en-US" sz="28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8AA309F-45EF-7625-113E-AA245DC6E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92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18C18EC-AAB0-4D97-964A-006124DAFD51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8704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870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3.4.1 </a:t>
            </a:r>
            <a:r>
              <a:rPr lang="zh-CN" altLang="en-US"/>
              <a:t>单表查询</a:t>
            </a:r>
          </a:p>
        </p:txBody>
      </p:sp>
      <p:sp>
        <p:nvSpPr>
          <p:cNvPr id="870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dirty="0" err="1"/>
              <a:t>postgres</a:t>
            </a:r>
            <a:r>
              <a:rPr lang="en-US" altLang="zh-CN" dirty="0"/>
              <a:t>=# select </a:t>
            </a:r>
            <a:r>
              <a:rPr lang="en-US" altLang="zh-CN" dirty="0" err="1">
                <a:solidFill>
                  <a:srgbClr val="0000FF"/>
                </a:solidFill>
              </a:rPr>
              <a:t>avg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en-US" altLang="zh-CN" dirty="0"/>
              <a:t>(b) from t1;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         </a:t>
            </a:r>
            <a:r>
              <a:rPr lang="en-US" altLang="zh-CN" dirty="0" err="1"/>
              <a:t>avg</a:t>
            </a:r>
            <a:endParaRPr lang="en-US" altLang="zh-CN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----------------------------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 30.0000000000000000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显然，第四行对结果毫</a:t>
            </a:r>
            <a:r>
              <a:rPr lang="zh-CN" altLang="en-US" dirty="0">
                <a:solidFill>
                  <a:srgbClr val="0000FF"/>
                </a:solidFill>
              </a:rPr>
              <a:t>无</a:t>
            </a:r>
            <a:r>
              <a:rPr lang="zh-CN" altLang="en-US" dirty="0"/>
              <a:t>影响。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3B2D3F4-7186-4EAF-A6DF-7022149ED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93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AF7AB1C-718C-4D8F-8B08-9A5AFE5A94F5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8806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880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3.4.1 </a:t>
            </a:r>
            <a:r>
              <a:rPr lang="zh-CN" altLang="en-US"/>
              <a:t>单表查询</a:t>
            </a:r>
          </a:p>
        </p:txBody>
      </p:sp>
      <p:sp>
        <p:nvSpPr>
          <p:cNvPr id="880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五、对查询结果分组 </a:t>
            </a:r>
          </a:p>
          <a:p>
            <a:pPr eaLnBrk="1" hangingPunct="1"/>
            <a:r>
              <a:rPr lang="en-US" altLang="zh-CN" sz="3000" dirty="0">
                <a:solidFill>
                  <a:srgbClr val="0000FF"/>
                </a:solidFill>
              </a:rPr>
              <a:t>GROUP BY</a:t>
            </a:r>
            <a:r>
              <a:rPr lang="zh-CN" altLang="en-US" sz="3000" dirty="0"/>
              <a:t>子句可以将</a:t>
            </a:r>
            <a:r>
              <a:rPr lang="zh-CN" altLang="en-US" sz="3000" u="sng" dirty="0"/>
              <a:t>查询结果表的各行</a:t>
            </a:r>
            <a:r>
              <a:rPr lang="zh-CN" altLang="en-US" sz="3000" dirty="0">
                <a:solidFill>
                  <a:schemeClr val="tx2"/>
                </a:solidFill>
              </a:rPr>
              <a:t>按</a:t>
            </a:r>
            <a:r>
              <a:rPr lang="zh-CN" altLang="en-US" sz="3000" b="1" dirty="0">
                <a:solidFill>
                  <a:srgbClr val="0000FF"/>
                </a:solidFill>
              </a:rPr>
              <a:t>一列</a:t>
            </a:r>
            <a:r>
              <a:rPr lang="zh-CN" altLang="en-US" sz="3000" dirty="0"/>
              <a:t>或</a:t>
            </a:r>
            <a:r>
              <a:rPr lang="zh-CN" altLang="en-US" sz="3000" b="1" dirty="0">
                <a:solidFill>
                  <a:srgbClr val="0000FF"/>
                </a:solidFill>
              </a:rPr>
              <a:t>多列</a:t>
            </a:r>
            <a:r>
              <a:rPr lang="zh-CN" altLang="en-US" sz="3000" b="1" dirty="0">
                <a:solidFill>
                  <a:srgbClr val="C00000"/>
                </a:solidFill>
              </a:rPr>
              <a:t>取值相等</a:t>
            </a:r>
            <a:r>
              <a:rPr lang="zh-CN" altLang="en-US" sz="3000" dirty="0"/>
              <a:t>的原则进行</a:t>
            </a:r>
            <a:r>
              <a:rPr lang="zh-CN" altLang="en-US" sz="3000" dirty="0">
                <a:solidFill>
                  <a:srgbClr val="0000FF"/>
                </a:solidFill>
              </a:rPr>
              <a:t>分组</a:t>
            </a:r>
            <a:r>
              <a:rPr lang="zh-CN" altLang="en-US" sz="3000" dirty="0"/>
              <a:t>。 　</a:t>
            </a:r>
            <a:endParaRPr lang="en-US" altLang="zh-CN" sz="3000" dirty="0"/>
          </a:p>
          <a:p>
            <a:pPr eaLnBrk="1" hangingPunct="1"/>
            <a:r>
              <a:rPr lang="zh-CN" altLang="en-US" sz="3000" dirty="0"/>
              <a:t>对查询结果</a:t>
            </a:r>
            <a:r>
              <a:rPr lang="zh-CN" altLang="en-US" sz="3000" b="1" dirty="0">
                <a:solidFill>
                  <a:srgbClr val="FF0000"/>
                </a:solidFill>
              </a:rPr>
              <a:t>分组的目的</a:t>
            </a:r>
            <a:r>
              <a:rPr lang="zh-CN" altLang="en-US" sz="3000" dirty="0"/>
              <a:t>是为了</a:t>
            </a:r>
            <a:r>
              <a:rPr lang="zh-CN" altLang="en-US" sz="3000" b="1" dirty="0">
                <a:solidFill>
                  <a:srgbClr val="FF0000"/>
                </a:solidFill>
              </a:rPr>
              <a:t>细化</a:t>
            </a:r>
            <a:r>
              <a:rPr lang="zh-CN" altLang="en-US" sz="3000" b="1" dirty="0">
                <a:solidFill>
                  <a:schemeClr val="tx2"/>
                </a:solidFill>
              </a:rPr>
              <a:t>集函数</a:t>
            </a:r>
            <a:r>
              <a:rPr lang="zh-CN" altLang="en-US" sz="3000" b="1" dirty="0"/>
              <a:t>的</a:t>
            </a:r>
            <a:r>
              <a:rPr lang="zh-CN" altLang="en-US" sz="3000" b="1" dirty="0">
                <a:solidFill>
                  <a:schemeClr val="tx2"/>
                </a:solidFill>
              </a:rPr>
              <a:t>作用对象</a:t>
            </a:r>
            <a:r>
              <a:rPr lang="zh-CN" altLang="en-US" sz="3000" dirty="0"/>
              <a:t>。</a:t>
            </a:r>
            <a:endParaRPr lang="en-US" altLang="zh-CN" sz="3000" dirty="0"/>
          </a:p>
          <a:p>
            <a:pPr eaLnBrk="1" hangingPunct="1"/>
            <a:r>
              <a:rPr lang="zh-CN" altLang="en-US" sz="3000" dirty="0"/>
              <a:t>如果</a:t>
            </a:r>
            <a:r>
              <a:rPr lang="zh-CN" altLang="en-US" sz="3000" dirty="0">
                <a:solidFill>
                  <a:srgbClr val="FF0000"/>
                </a:solidFill>
              </a:rPr>
              <a:t>未对</a:t>
            </a:r>
            <a:r>
              <a:rPr lang="zh-CN" altLang="en-US" sz="3000" dirty="0">
                <a:solidFill>
                  <a:schemeClr val="tx2"/>
                </a:solidFill>
              </a:rPr>
              <a:t>查询结果</a:t>
            </a:r>
            <a:r>
              <a:rPr lang="zh-CN" altLang="en-US" sz="3000" dirty="0">
                <a:solidFill>
                  <a:srgbClr val="FF0000"/>
                </a:solidFill>
              </a:rPr>
              <a:t>分组</a:t>
            </a:r>
            <a:r>
              <a:rPr lang="zh-CN" altLang="en-US" sz="3000" dirty="0"/>
              <a:t>，集函数将作用于整个查询结果，即</a:t>
            </a:r>
            <a:r>
              <a:rPr lang="zh-CN" altLang="en-US" sz="3000" dirty="0">
                <a:solidFill>
                  <a:schemeClr val="tx2"/>
                </a:solidFill>
              </a:rPr>
              <a:t>整个查询结果</a:t>
            </a:r>
            <a:r>
              <a:rPr lang="zh-CN" altLang="en-US" sz="3000" dirty="0">
                <a:solidFill>
                  <a:srgbClr val="FF0000"/>
                </a:solidFill>
              </a:rPr>
              <a:t>只有</a:t>
            </a:r>
            <a:r>
              <a:rPr lang="zh-CN" alt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一个</a:t>
            </a:r>
            <a:r>
              <a:rPr lang="zh-CN" altLang="en-US" sz="3000" dirty="0">
                <a:solidFill>
                  <a:schemeClr val="tx2"/>
                </a:solidFill>
              </a:rPr>
              <a:t>函数值</a:t>
            </a:r>
            <a:r>
              <a:rPr lang="zh-CN" altLang="en-US" sz="3000" dirty="0"/>
              <a:t>；</a:t>
            </a:r>
            <a:endParaRPr lang="en-US" altLang="zh-CN" sz="3000" dirty="0"/>
          </a:p>
          <a:p>
            <a:pPr eaLnBrk="1" hangingPunct="1"/>
            <a:r>
              <a:rPr lang="zh-CN" altLang="en-US" sz="3000" dirty="0"/>
              <a:t>否则，集函数将</a:t>
            </a:r>
            <a:r>
              <a:rPr lang="zh-CN" altLang="en-US" sz="3000" dirty="0">
                <a:solidFill>
                  <a:srgbClr val="0000FF"/>
                </a:solidFill>
              </a:rPr>
              <a:t>作用</a:t>
            </a:r>
            <a:r>
              <a:rPr lang="zh-CN" altLang="en-US" sz="3000" dirty="0"/>
              <a:t>于</a:t>
            </a:r>
            <a:r>
              <a:rPr lang="zh-CN" altLang="en-US" sz="3000" dirty="0">
                <a:solidFill>
                  <a:srgbClr val="0000FF"/>
                </a:solidFill>
              </a:rPr>
              <a:t>每一个组</a:t>
            </a:r>
            <a:r>
              <a:rPr lang="zh-CN" altLang="en-US" sz="3000" dirty="0"/>
              <a:t>，即</a:t>
            </a:r>
            <a:r>
              <a:rPr lang="zh-CN" altLang="en-US" sz="3000" dirty="0">
                <a:solidFill>
                  <a:srgbClr val="0000FF"/>
                </a:solidFill>
              </a:rPr>
              <a:t>每一组</a:t>
            </a:r>
            <a:r>
              <a:rPr lang="zh-CN" altLang="en-US" sz="3000" dirty="0"/>
              <a:t>都有</a:t>
            </a:r>
            <a:r>
              <a:rPr lang="zh-CN" altLang="en-US" sz="3000" dirty="0">
                <a:solidFill>
                  <a:srgbClr val="0000FF"/>
                </a:solidFill>
              </a:rPr>
              <a:t>一个函数值</a:t>
            </a:r>
            <a:r>
              <a:rPr lang="zh-CN" altLang="en-US" dirty="0"/>
              <a:t>。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A7EFC5D-AE91-E63A-D5F1-AB83D751D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94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80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80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80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80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80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80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80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80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0911B39-8033-4FF9-BDD1-C7EB64D93D0A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8909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890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3.4.1 </a:t>
            </a:r>
            <a:r>
              <a:rPr lang="zh-CN" altLang="en-US"/>
              <a:t>单表查询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85800" y="1295400"/>
            <a:ext cx="77724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ea typeface="宋体" charset="-122"/>
              </a:rPr>
              <a:t>[</a:t>
            </a:r>
            <a:r>
              <a:rPr lang="zh-CN" altLang="en-US" sz="2400" dirty="0">
                <a:ea typeface="黑体" pitchFamily="2" charset="-122"/>
              </a:rPr>
              <a:t>例</a:t>
            </a:r>
            <a:r>
              <a:rPr lang="en-US" altLang="zh-CN" sz="2400" dirty="0">
                <a:ea typeface="宋体" charset="-122"/>
              </a:rPr>
              <a:t>31]  </a:t>
            </a:r>
            <a:r>
              <a:rPr lang="zh-CN" altLang="en-US" sz="2400" dirty="0">
                <a:ea typeface="宋体" charset="-122"/>
              </a:rPr>
              <a:t>求</a:t>
            </a:r>
            <a:r>
              <a:rPr lang="zh-CN" altLang="en-US" sz="2400" u="sng" dirty="0">
                <a:ea typeface="宋体" charset="-122"/>
              </a:rPr>
              <a:t>各个课程号</a:t>
            </a:r>
            <a:r>
              <a:rPr lang="zh-CN" altLang="en-US" sz="2400" dirty="0">
                <a:ea typeface="宋体" charset="-122"/>
              </a:rPr>
              <a:t>及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charset="-122"/>
              </a:rPr>
              <a:t>相应</a:t>
            </a:r>
            <a:r>
              <a:rPr lang="zh-CN" altLang="en-US" sz="2400" dirty="0">
                <a:ea typeface="宋体" charset="-122"/>
              </a:rPr>
              <a:t>的</a:t>
            </a:r>
            <a:r>
              <a:rPr lang="zh-CN" altLang="en-US" sz="2400" u="sng" dirty="0">
                <a:ea typeface="宋体" charset="-122"/>
              </a:rPr>
              <a:t>选课人数</a:t>
            </a:r>
            <a:r>
              <a:rPr lang="zh-CN" altLang="en-US" sz="2400" dirty="0">
                <a:ea typeface="宋体" charset="-122"/>
              </a:rPr>
              <a:t>。</a:t>
            </a:r>
            <a:endParaRPr lang="en-US" altLang="zh-CN" sz="2400" dirty="0">
              <a:ea typeface="宋体" charset="-122"/>
            </a:endParaRP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endParaRPr lang="zh-CN" altLang="en-US" sz="2400" dirty="0">
              <a:ea typeface="宋体" charset="-122"/>
            </a:endParaRP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ea typeface="宋体" charset="-122"/>
              </a:rPr>
              <a:t>      </a:t>
            </a:r>
            <a:r>
              <a:rPr lang="en-US" altLang="zh-CN" sz="2400" dirty="0">
                <a:solidFill>
                  <a:schemeClr val="tx2"/>
                </a:solidFill>
                <a:ea typeface="宋体" charset="-122"/>
              </a:rPr>
              <a:t>SELECT</a:t>
            </a:r>
            <a:r>
              <a:rPr lang="en-US" altLang="zh-CN" sz="2400" dirty="0">
                <a:ea typeface="宋体" charset="-122"/>
              </a:rPr>
              <a:t> </a:t>
            </a:r>
            <a:r>
              <a:rPr lang="en-US" altLang="zh-CN" sz="2400" dirty="0" err="1">
                <a:solidFill>
                  <a:srgbClr val="0000FF"/>
                </a:solidFill>
                <a:ea typeface="宋体" charset="-122"/>
              </a:rPr>
              <a:t>Cno</a:t>
            </a:r>
            <a:r>
              <a:rPr lang="zh-CN" altLang="en-US" sz="2400" dirty="0">
                <a:ea typeface="宋体" charset="-122"/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  <a:ea typeface="宋体" charset="-122"/>
              </a:rPr>
              <a:t>COUNT(</a:t>
            </a:r>
            <a:r>
              <a:rPr lang="en-US" altLang="zh-CN" sz="2400" dirty="0" err="1">
                <a:solidFill>
                  <a:srgbClr val="FF0000"/>
                </a:solidFill>
                <a:ea typeface="宋体" charset="-122"/>
              </a:rPr>
              <a:t>Sno</a:t>
            </a:r>
            <a:r>
              <a:rPr lang="en-US" altLang="zh-CN" sz="2400" dirty="0">
                <a:solidFill>
                  <a:srgbClr val="FF0000"/>
                </a:solidFill>
                <a:ea typeface="宋体" charset="-122"/>
              </a:rPr>
              <a:t>) </a:t>
            </a:r>
            <a:r>
              <a:rPr lang="en-US" altLang="zh-CN" sz="2400" dirty="0">
                <a:ea typeface="宋体" charset="-122"/>
              </a:rPr>
              <a:t>AS Number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ea typeface="宋体" charset="-122"/>
              </a:rPr>
              <a:t>     </a:t>
            </a:r>
            <a:r>
              <a:rPr lang="en-US" altLang="zh-CN" sz="2400" dirty="0">
                <a:solidFill>
                  <a:schemeClr val="tx2"/>
                </a:solidFill>
                <a:ea typeface="宋体" charset="-122"/>
              </a:rPr>
              <a:t>FROM</a:t>
            </a:r>
            <a:r>
              <a:rPr lang="en-US" altLang="zh-CN" sz="2400" dirty="0">
                <a:ea typeface="宋体" charset="-122"/>
              </a:rPr>
              <a:t>    SC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C00000"/>
                </a:solidFill>
                <a:ea typeface="宋体" charset="-122"/>
              </a:rPr>
              <a:t>     GROUP BY </a:t>
            </a:r>
            <a:r>
              <a:rPr lang="en-US" altLang="zh-CN" sz="2400" dirty="0" err="1">
                <a:solidFill>
                  <a:srgbClr val="0000FF"/>
                </a:solidFill>
                <a:ea typeface="宋体" charset="-122"/>
              </a:rPr>
              <a:t>Cno</a:t>
            </a:r>
            <a:r>
              <a:rPr lang="zh-CN" altLang="en-US" sz="2400" dirty="0">
                <a:ea typeface="宋体" charset="-122"/>
              </a:rPr>
              <a:t>； </a:t>
            </a:r>
            <a:r>
              <a:rPr lang="en-US" altLang="zh-CN" sz="2400" dirty="0">
                <a:ea typeface="宋体" charset="-122"/>
              </a:rPr>
              <a:t>//</a:t>
            </a:r>
            <a:r>
              <a:rPr lang="zh-CN" altLang="en-US" sz="2400" dirty="0">
                <a:ea typeface="宋体" charset="-122"/>
              </a:rPr>
              <a:t>表示在课程号上取值相同的元组将被分在一个组内，在每个组上进行聚集计算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zh-CN" altLang="en-US" sz="2400" dirty="0">
              <a:ea typeface="宋体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sz="2400" dirty="0">
                <a:ea typeface="宋体" charset="-122"/>
              </a:rPr>
              <a:t>                    </a:t>
            </a:r>
            <a:r>
              <a:rPr lang="en-US" altLang="zh-CN" sz="2000" dirty="0" err="1">
                <a:ea typeface="宋体" charset="-122"/>
              </a:rPr>
              <a:t>Cno</a:t>
            </a:r>
            <a:r>
              <a:rPr lang="en-US" altLang="zh-CN" sz="2000" dirty="0">
                <a:ea typeface="宋体" charset="-122"/>
              </a:rPr>
              <a:t>         Number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400" dirty="0">
                <a:ea typeface="宋体" charset="-122"/>
              </a:rPr>
              <a:t> 			 </a:t>
            </a:r>
            <a:r>
              <a:rPr lang="en-US" altLang="zh-CN" sz="2000" dirty="0">
                <a:ea typeface="宋体" charset="-122"/>
              </a:rPr>
              <a:t>1             22</a:t>
            </a:r>
          </a:p>
          <a:p>
            <a:pPr algn="just">
              <a:buFont typeface="Wingdings" pitchFamily="2" charset="2"/>
              <a:buNone/>
            </a:pPr>
            <a:r>
              <a:rPr lang="en-US" altLang="zh-CN" sz="2000" dirty="0">
                <a:ea typeface="宋体" charset="-122"/>
              </a:rPr>
              <a:t>    </a:t>
            </a:r>
            <a:r>
              <a:rPr lang="en-US" altLang="zh-CN" sz="2400" dirty="0">
                <a:ea typeface="宋体" charset="-122"/>
              </a:rPr>
              <a:t>		           </a:t>
            </a:r>
            <a:r>
              <a:rPr lang="en-US" altLang="zh-CN" sz="2000" dirty="0">
                <a:ea typeface="宋体" charset="-122"/>
              </a:rPr>
              <a:t>2             34</a:t>
            </a:r>
          </a:p>
          <a:p>
            <a:pPr algn="just">
              <a:buFont typeface="Wingdings" pitchFamily="2" charset="2"/>
              <a:buNone/>
            </a:pPr>
            <a:r>
              <a:rPr lang="en-US" altLang="zh-CN" sz="2000" dirty="0">
                <a:ea typeface="宋体" charset="-122"/>
              </a:rPr>
              <a:t>     		 3             44</a:t>
            </a:r>
          </a:p>
          <a:p>
            <a:pPr algn="just">
              <a:buFont typeface="Wingdings" pitchFamily="2" charset="2"/>
              <a:buNone/>
            </a:pPr>
            <a:r>
              <a:rPr lang="en-US" altLang="zh-CN" sz="2000" dirty="0">
                <a:ea typeface="宋体" charset="-122"/>
              </a:rPr>
              <a:t>  			 4             33</a:t>
            </a:r>
          </a:p>
          <a:p>
            <a:pPr algn="just">
              <a:buFont typeface="Wingdings" pitchFamily="2" charset="2"/>
              <a:buNone/>
            </a:pPr>
            <a:r>
              <a:rPr lang="en-US" altLang="zh-CN" sz="2000" dirty="0">
                <a:ea typeface="宋体" charset="-122"/>
              </a:rPr>
              <a:t>       		 5             48</a:t>
            </a:r>
            <a:endParaRPr lang="en-US" altLang="zh-CN" sz="2400" dirty="0">
              <a:ea typeface="宋体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38200" y="3810000"/>
            <a:ext cx="15247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ea typeface="宋体" charset="-122"/>
              </a:rPr>
              <a:t>查询结果</a:t>
            </a:r>
            <a:r>
              <a:rPr lang="en-US" altLang="zh-CN" dirty="0">
                <a:ea typeface="宋体" charset="-122"/>
              </a:rPr>
              <a:t>: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68C2C70-D450-4647-6E30-9D42C1475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95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236006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080053B7-E8A3-4235-9B4A-2F2AF7D586A3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8909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890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3.4.1 </a:t>
            </a:r>
            <a:r>
              <a:rPr lang="zh-CN" altLang="en-US"/>
              <a:t>单表查询</a:t>
            </a:r>
          </a:p>
        </p:txBody>
      </p:sp>
      <p:sp>
        <p:nvSpPr>
          <p:cNvPr id="890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注：</a:t>
            </a:r>
            <a:r>
              <a:rPr lang="en-US" altLang="zh-CN" dirty="0">
                <a:solidFill>
                  <a:srgbClr val="FF0000"/>
                </a:solidFill>
              </a:rPr>
              <a:t>SQL</a:t>
            </a:r>
            <a:r>
              <a:rPr lang="zh-CN" altLang="en-US" dirty="0">
                <a:solidFill>
                  <a:srgbClr val="FF0000"/>
                </a:solidFill>
              </a:rPr>
              <a:t>规定</a:t>
            </a:r>
            <a:r>
              <a:rPr lang="zh-CN" altLang="en-US" dirty="0"/>
              <a:t>，所有带有</a:t>
            </a:r>
            <a:r>
              <a:rPr lang="en-US" altLang="zh-CN" dirty="0">
                <a:solidFill>
                  <a:srgbClr val="FF0000"/>
                </a:solidFill>
              </a:rPr>
              <a:t>NULL</a:t>
            </a:r>
            <a:r>
              <a:rPr lang="zh-CN" altLang="en-US" dirty="0">
                <a:solidFill>
                  <a:srgbClr val="FF0000"/>
                </a:solidFill>
              </a:rPr>
              <a:t>值</a:t>
            </a:r>
            <a:r>
              <a:rPr lang="zh-CN" altLang="en-US" dirty="0"/>
              <a:t>的记录在分组时</a:t>
            </a:r>
            <a:r>
              <a:rPr lang="zh-CN" altLang="en-US" dirty="0">
                <a:solidFill>
                  <a:srgbClr val="FF0000"/>
                </a:solidFill>
              </a:rPr>
              <a:t>被作为一组</a:t>
            </a:r>
            <a:r>
              <a:rPr lang="zh-CN" altLang="en-US" dirty="0"/>
              <a:t>。</a:t>
            </a:r>
          </a:p>
          <a:p>
            <a:pPr eaLnBrk="1" hangingPunct="1"/>
            <a:endParaRPr lang="zh-CN" altLang="en-US" sz="1000" dirty="0"/>
          </a:p>
          <a:p>
            <a:pPr eaLnBrk="1" hangingPunct="1"/>
            <a:r>
              <a:rPr lang="zh-CN" altLang="en-US" sz="2800" dirty="0"/>
              <a:t>例，对选</a:t>
            </a:r>
            <a:r>
              <a:rPr lang="en-US" altLang="zh-CN" sz="2800" dirty="0"/>
              <a:t>2</a:t>
            </a:r>
            <a:r>
              <a:rPr lang="zh-CN" altLang="en-US" sz="2800" dirty="0"/>
              <a:t>号课程的学生进行</a:t>
            </a:r>
            <a:r>
              <a:rPr lang="zh-CN" altLang="en-US" sz="2800" u="sng" dirty="0"/>
              <a:t>成绩分组</a:t>
            </a:r>
            <a:r>
              <a:rPr lang="zh-CN" altLang="en-US" sz="2800" dirty="0"/>
              <a:t>，计算每一成绩的人数。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  SELECT </a:t>
            </a:r>
            <a:r>
              <a:rPr lang="en-US" altLang="zh-CN" sz="2800" dirty="0">
                <a:solidFill>
                  <a:srgbClr val="0000FF"/>
                </a:solidFill>
              </a:rPr>
              <a:t>COUNT(*)</a:t>
            </a:r>
            <a:r>
              <a:rPr lang="en-US" altLang="zh-CN" sz="2800" dirty="0"/>
              <a:t>,</a:t>
            </a:r>
            <a:r>
              <a:rPr lang="en-US" altLang="zh-CN" sz="2800" dirty="0">
                <a:solidFill>
                  <a:srgbClr val="0000FF"/>
                </a:solidFill>
              </a:rPr>
              <a:t> Grade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  FROM SC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  WHERE </a:t>
            </a:r>
            <a:r>
              <a:rPr lang="en-US" altLang="zh-CN" sz="2800" dirty="0" err="1"/>
              <a:t>Cno</a:t>
            </a:r>
            <a:r>
              <a:rPr lang="en-US" altLang="zh-CN" sz="2800" dirty="0"/>
              <a:t>='2'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  </a:t>
            </a:r>
            <a:r>
              <a:rPr lang="en-US" altLang="zh-CN" sz="2800" dirty="0">
                <a:solidFill>
                  <a:srgbClr val="0000FF"/>
                </a:solidFill>
              </a:rPr>
              <a:t>GROUP BY Grade;</a:t>
            </a:r>
            <a:endParaRPr lang="zh-CN" altLang="en-US" sz="2800" dirty="0">
              <a:solidFill>
                <a:srgbClr val="0000FF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81BEA0B-C6E6-BDFE-6499-B21C1AC8F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96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90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90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90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90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90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90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90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90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90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90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8ED7BE0-28C6-428A-A2ED-598F69594F7E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9011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901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3.4.1 </a:t>
            </a:r>
            <a:r>
              <a:rPr lang="zh-CN" altLang="en-US"/>
              <a:t>单表查询</a:t>
            </a:r>
          </a:p>
        </p:txBody>
      </p:sp>
      <p:sp>
        <p:nvSpPr>
          <p:cNvPr id="901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注：</a:t>
            </a:r>
            <a:r>
              <a:rPr lang="zh-CN" altLang="en-US" dirty="0">
                <a:solidFill>
                  <a:srgbClr val="FF0000"/>
                </a:solidFill>
              </a:rPr>
              <a:t>分组后</a:t>
            </a:r>
            <a:r>
              <a:rPr lang="zh-CN" altLang="en-US" dirty="0"/>
              <a:t>，一些详细信息</a:t>
            </a:r>
            <a:r>
              <a:rPr lang="zh-CN" altLang="en-US" dirty="0">
                <a:solidFill>
                  <a:srgbClr val="FF0000"/>
                </a:solidFill>
              </a:rPr>
              <a:t>可能损失，不能出现</a:t>
            </a:r>
            <a:r>
              <a:rPr lang="zh-CN" altLang="en-US" dirty="0"/>
              <a:t>在</a:t>
            </a:r>
            <a:r>
              <a:rPr lang="en-US" altLang="zh-CN" dirty="0">
                <a:solidFill>
                  <a:srgbClr val="FF0000"/>
                </a:solidFill>
              </a:rPr>
              <a:t>SELECT</a:t>
            </a:r>
            <a:r>
              <a:rPr lang="zh-CN" altLang="en-US" dirty="0"/>
              <a:t>结果中。</a:t>
            </a:r>
          </a:p>
          <a:p>
            <a:pPr eaLnBrk="1" hangingPunct="1"/>
            <a:r>
              <a:rPr lang="zh-CN" altLang="en-US" dirty="0"/>
              <a:t>例如，下面的查询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	 SELECT </a:t>
            </a:r>
            <a:r>
              <a:rPr lang="en-US" altLang="zh-CN" sz="2800" dirty="0" err="1">
                <a:solidFill>
                  <a:srgbClr val="FF0000"/>
                </a:solidFill>
              </a:rPr>
              <a:t>Sno</a:t>
            </a:r>
            <a:r>
              <a:rPr lang="en-US" altLang="zh-CN" sz="2800" dirty="0"/>
              <a:t>, COUNT(*), </a:t>
            </a:r>
            <a:r>
              <a:rPr lang="en-US" altLang="zh-CN" sz="2800" dirty="0">
                <a:solidFill>
                  <a:srgbClr val="0000FF"/>
                </a:solidFill>
              </a:rPr>
              <a:t>Grade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  FROM SC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  WHERE </a:t>
            </a:r>
            <a:r>
              <a:rPr lang="en-US" altLang="zh-CN" sz="2800" dirty="0" err="1"/>
              <a:t>Cno</a:t>
            </a:r>
            <a:r>
              <a:rPr lang="en-US" altLang="zh-CN" sz="2800" dirty="0"/>
              <a:t>='2'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  GROUP BY </a:t>
            </a:r>
            <a:r>
              <a:rPr lang="en-US" altLang="zh-CN" sz="2800" dirty="0">
                <a:solidFill>
                  <a:srgbClr val="0000FF"/>
                </a:solidFill>
              </a:rPr>
              <a:t>Grade</a:t>
            </a:r>
            <a:r>
              <a:rPr lang="en-US" altLang="zh-CN" sz="2800" dirty="0"/>
              <a:t>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400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FF0000"/>
                </a:solidFill>
              </a:rPr>
              <a:t>将出错</a:t>
            </a:r>
            <a:r>
              <a:rPr lang="zh-CN" altLang="en-US" dirty="0"/>
              <a:t>，想一想，为什么？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234031B-8019-5F57-09E2-A1DEF8099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97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0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0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01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01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01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01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01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01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01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01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4286E84-B669-45F6-821B-74D15ACE33EB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9113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911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3.4.1 </a:t>
            </a:r>
            <a:r>
              <a:rPr lang="zh-CN" altLang="en-US"/>
              <a:t>单表查询</a:t>
            </a:r>
          </a:p>
        </p:txBody>
      </p:sp>
      <p:sp>
        <p:nvSpPr>
          <p:cNvPr id="911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一般来说，</a:t>
            </a:r>
            <a:r>
              <a:rPr lang="zh-CN" altLang="en-US" b="1" dirty="0">
                <a:solidFill>
                  <a:srgbClr val="C00000"/>
                </a:solidFill>
              </a:rPr>
              <a:t>分组查询</a:t>
            </a:r>
            <a:r>
              <a:rPr lang="zh-CN" altLang="en-US" dirty="0"/>
              <a:t>的</a:t>
            </a:r>
            <a:r>
              <a:rPr lang="en-US" altLang="zh-CN" dirty="0"/>
              <a:t>SELECT</a:t>
            </a:r>
            <a:r>
              <a:rPr lang="zh-CN" altLang="en-US" dirty="0">
                <a:solidFill>
                  <a:srgbClr val="0000FF"/>
                </a:solidFill>
              </a:rPr>
              <a:t>目标列</a:t>
            </a:r>
            <a:r>
              <a:rPr lang="zh-CN" altLang="en-US" dirty="0"/>
              <a:t>中</a:t>
            </a:r>
            <a:r>
              <a:rPr lang="zh-CN" altLang="en-US" dirty="0">
                <a:solidFill>
                  <a:srgbClr val="FF0000"/>
                </a:solidFill>
              </a:rPr>
              <a:t>只允许</a:t>
            </a:r>
            <a:r>
              <a:rPr lang="zh-CN" altLang="en-US" dirty="0"/>
              <a:t>出现</a:t>
            </a:r>
            <a:r>
              <a:rPr lang="zh-CN" altLang="en-US" b="1" u="sng" dirty="0">
                <a:solidFill>
                  <a:srgbClr val="0000FF"/>
                </a:solidFill>
              </a:rPr>
              <a:t>聚集函数</a:t>
            </a:r>
            <a:r>
              <a:rPr lang="zh-CN" altLang="en-US" dirty="0"/>
              <a:t>和</a:t>
            </a:r>
            <a:r>
              <a:rPr lang="en-US" altLang="zh-CN" u="sng" dirty="0">
                <a:solidFill>
                  <a:srgbClr val="FF0000"/>
                </a:solidFill>
              </a:rPr>
              <a:t>GROUP BY</a:t>
            </a:r>
            <a:r>
              <a:rPr lang="zh-CN" altLang="en-US" u="sng" dirty="0">
                <a:solidFill>
                  <a:srgbClr val="FF0000"/>
                </a:solidFill>
              </a:rPr>
              <a:t>子句</a:t>
            </a:r>
            <a:r>
              <a:rPr lang="zh-CN" altLang="en-US" u="sng" dirty="0"/>
              <a:t>中</a:t>
            </a:r>
            <a:r>
              <a:rPr lang="zh-CN" altLang="en-US" u="sng" dirty="0">
                <a:solidFill>
                  <a:srgbClr val="0000FF"/>
                </a:solidFill>
              </a:rPr>
              <a:t>出现过</a:t>
            </a:r>
            <a:r>
              <a:rPr lang="zh-CN" altLang="en-US" u="sng" dirty="0"/>
              <a:t>的</a:t>
            </a:r>
            <a:r>
              <a:rPr lang="zh-CN" altLang="en-US" b="1" u="sng" dirty="0">
                <a:solidFill>
                  <a:srgbClr val="0000FF"/>
                </a:solidFill>
              </a:rPr>
              <a:t>列</a:t>
            </a:r>
            <a:r>
              <a:rPr lang="zh-CN" altLang="en-US" dirty="0"/>
              <a:t>。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609599" y="3733800"/>
            <a:ext cx="8334375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eaLnBrk="1" hangingPunct="1">
              <a:buFontTx/>
              <a:buNone/>
            </a:pPr>
            <a:r>
              <a:rPr lang="zh-CN" altLang="en-US" sz="2600" dirty="0"/>
              <a:t>指定</a:t>
            </a:r>
            <a:r>
              <a:rPr lang="zh-CN" altLang="en-US" sz="2600" dirty="0">
                <a:solidFill>
                  <a:srgbClr val="FF0000"/>
                </a:solidFill>
              </a:rPr>
              <a:t> </a:t>
            </a:r>
            <a:r>
              <a:rPr lang="en-US" altLang="zh-CN" sz="2600" dirty="0">
                <a:solidFill>
                  <a:srgbClr val="FF0000"/>
                </a:solidFill>
              </a:rPr>
              <a:t>GROUP BY </a:t>
            </a:r>
            <a:r>
              <a:rPr lang="zh-CN" altLang="en-US" sz="2600" dirty="0"/>
              <a:t>时</a:t>
            </a:r>
            <a:r>
              <a:rPr lang="zh-CN" altLang="en-US" sz="2600" dirty="0">
                <a:solidFill>
                  <a:srgbClr val="FF0000"/>
                </a:solidFill>
              </a:rPr>
              <a:t>，</a:t>
            </a:r>
            <a:r>
              <a:rPr lang="en-US" altLang="zh-CN" sz="2600" dirty="0"/>
              <a:t>SELECT</a:t>
            </a:r>
            <a:r>
              <a:rPr lang="zh-CN" altLang="en-US" sz="2600" dirty="0"/>
              <a:t>选择列表中</a:t>
            </a:r>
            <a:r>
              <a:rPr lang="zh-CN" altLang="en-US" sz="2600" dirty="0">
                <a:solidFill>
                  <a:srgbClr val="0000FF"/>
                </a:solidFill>
              </a:rPr>
              <a:t>任一</a:t>
            </a:r>
            <a:r>
              <a:rPr lang="zh-CN" altLang="en-US" sz="2600" dirty="0">
                <a:solidFill>
                  <a:srgbClr val="FF0000"/>
                </a:solidFill>
              </a:rPr>
              <a:t>非聚集表达式</a:t>
            </a:r>
            <a:r>
              <a:rPr lang="zh-CN" altLang="en-US" sz="2600" dirty="0"/>
              <a:t>内的</a:t>
            </a:r>
            <a:r>
              <a:rPr lang="zh-CN" altLang="en-US" sz="2600" dirty="0">
                <a:solidFill>
                  <a:srgbClr val="FF0000"/>
                </a:solidFill>
              </a:rPr>
              <a:t>所有列</a:t>
            </a:r>
            <a:r>
              <a:rPr lang="zh-CN" altLang="en-US" sz="2600" dirty="0"/>
              <a:t>都应</a:t>
            </a:r>
            <a:r>
              <a:rPr lang="zh-CN" altLang="en-US" sz="2600" dirty="0">
                <a:solidFill>
                  <a:srgbClr val="0000FF"/>
                </a:solidFill>
              </a:rPr>
              <a:t>包含</a:t>
            </a:r>
            <a:r>
              <a:rPr lang="zh-CN" altLang="en-US" sz="2600" dirty="0"/>
              <a:t>在 </a:t>
            </a:r>
            <a:r>
              <a:rPr lang="en-US" altLang="zh-CN" sz="2600" dirty="0">
                <a:solidFill>
                  <a:srgbClr val="FF0000"/>
                </a:solidFill>
              </a:rPr>
              <a:t>GROUP BY </a:t>
            </a:r>
            <a:r>
              <a:rPr lang="zh-CN" altLang="en-US" sz="2600" dirty="0"/>
              <a:t>列表中，也即：</a:t>
            </a:r>
            <a:endParaRPr lang="en-US" altLang="zh-CN" sz="2600" dirty="0"/>
          </a:p>
          <a:p>
            <a:pPr algn="l" eaLnBrk="1" hangingPunct="1">
              <a:buFontTx/>
              <a:buNone/>
            </a:pPr>
            <a:r>
              <a:rPr lang="zh-CN" altLang="en-US" sz="2600" dirty="0"/>
              <a:t>没有在</a:t>
            </a:r>
            <a:r>
              <a:rPr lang="en-US" altLang="zh-CN" sz="2600" dirty="0"/>
              <a:t>GROUP BY</a:t>
            </a:r>
            <a:r>
              <a:rPr lang="zh-CN" altLang="en-US" sz="2600" dirty="0"/>
              <a:t>子句中出现的属性，不能出现在</a:t>
            </a:r>
            <a:r>
              <a:rPr lang="en-US" altLang="zh-CN" sz="2600" dirty="0"/>
              <a:t>select</a:t>
            </a:r>
            <a:r>
              <a:rPr lang="zh-CN" altLang="en-US" sz="2600" dirty="0"/>
              <a:t>子句，</a:t>
            </a:r>
            <a:r>
              <a:rPr lang="zh-CN" altLang="en-US" sz="2600" b="1" u="sng" dirty="0"/>
              <a:t>会报错</a:t>
            </a:r>
            <a:r>
              <a:rPr lang="zh-CN" altLang="en-US" sz="2600" dirty="0"/>
              <a:t>。</a:t>
            </a:r>
            <a:endParaRPr lang="en-US" altLang="zh-CN" sz="26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0BB9D85-DDC1-9B6F-1DBD-D402CE23C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98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93688D4-25BE-474F-B4BD-A03B102184B1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8909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890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3.4.1 </a:t>
            </a:r>
            <a:r>
              <a:rPr lang="zh-CN" altLang="en-US"/>
              <a:t>单表查询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066800" y="2971800"/>
            <a:ext cx="7772400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sz="2400" dirty="0">
                <a:ea typeface="黑体" pitchFamily="2" charset="-122"/>
              </a:rPr>
              <a:t>[</a:t>
            </a:r>
            <a:r>
              <a:rPr lang="zh-CN" altLang="en-US" sz="2400" dirty="0">
                <a:ea typeface="黑体" pitchFamily="2" charset="-122"/>
              </a:rPr>
              <a:t>例</a:t>
            </a:r>
            <a:r>
              <a:rPr lang="en-US" altLang="zh-CN" sz="2400" dirty="0">
                <a:ea typeface="宋体" charset="-122"/>
              </a:rPr>
              <a:t>32]  </a:t>
            </a:r>
            <a:r>
              <a:rPr lang="zh-CN" altLang="en-US" sz="2400" dirty="0">
                <a:ea typeface="宋体" charset="-122"/>
              </a:rPr>
              <a:t>查询选修了</a:t>
            </a:r>
            <a:r>
              <a:rPr lang="en-US" altLang="zh-CN" sz="2400" dirty="0">
                <a:solidFill>
                  <a:srgbClr val="0000FF"/>
                </a:solidFill>
                <a:ea typeface="宋体" charset="-122"/>
              </a:rPr>
              <a:t>3</a:t>
            </a:r>
            <a:r>
              <a:rPr lang="zh-CN" altLang="en-US" sz="2400" dirty="0">
                <a:solidFill>
                  <a:srgbClr val="0000FF"/>
                </a:solidFill>
                <a:ea typeface="宋体" charset="-122"/>
              </a:rPr>
              <a:t>门</a:t>
            </a:r>
            <a:r>
              <a:rPr lang="zh-CN" altLang="en-US" sz="2400" dirty="0">
                <a:ea typeface="宋体" charset="-122"/>
              </a:rPr>
              <a:t>以上课程的</a:t>
            </a:r>
            <a:r>
              <a:rPr lang="zh-CN" altLang="en-US" sz="2400" dirty="0">
                <a:solidFill>
                  <a:srgbClr val="0000FF"/>
                </a:solidFill>
                <a:ea typeface="宋体" charset="-122"/>
              </a:rPr>
              <a:t>学生学号</a:t>
            </a:r>
            <a:r>
              <a:rPr lang="zh-CN" altLang="en-US" sz="2000" dirty="0">
                <a:ea typeface="宋体" charset="-122"/>
              </a:rPr>
              <a:t>。</a:t>
            </a:r>
          </a:p>
          <a:p>
            <a:pPr lvl="1" algn="just">
              <a:buFont typeface="Wingdings" pitchFamily="2" charset="2"/>
              <a:buNone/>
            </a:pPr>
            <a:r>
              <a:rPr lang="zh-CN" altLang="en-US" sz="1800" dirty="0">
                <a:ea typeface="宋体" charset="-122"/>
              </a:rPr>
              <a:t>       </a:t>
            </a:r>
            <a:r>
              <a:rPr lang="en-US" altLang="zh-CN" sz="2400" dirty="0">
                <a:ea typeface="宋体" charset="-122"/>
              </a:rPr>
              <a:t>SELECT </a:t>
            </a:r>
            <a:r>
              <a:rPr lang="en-US" altLang="zh-CN" sz="2400" dirty="0" err="1">
                <a:solidFill>
                  <a:srgbClr val="0000FF"/>
                </a:solidFill>
                <a:ea typeface="宋体" charset="-122"/>
              </a:rPr>
              <a:t>Sno</a:t>
            </a:r>
            <a:endParaRPr lang="en-US" altLang="zh-CN" sz="2400" dirty="0">
              <a:solidFill>
                <a:srgbClr val="0000FF"/>
              </a:solidFill>
              <a:ea typeface="宋体" charset="-122"/>
            </a:endParaRPr>
          </a:p>
          <a:p>
            <a:pPr lvl="1" algn="just">
              <a:buFont typeface="Wingdings" pitchFamily="2" charset="2"/>
              <a:buNone/>
            </a:pPr>
            <a:r>
              <a:rPr lang="en-US" altLang="zh-CN" sz="2400" dirty="0">
                <a:ea typeface="宋体" charset="-122"/>
              </a:rPr>
              <a:t>     FROM  SC</a:t>
            </a:r>
          </a:p>
          <a:p>
            <a:pPr lvl="1" algn="just">
              <a:buFont typeface="Wingdings" pitchFamily="2" charset="2"/>
              <a:buNone/>
            </a:pPr>
            <a:r>
              <a:rPr lang="en-US" altLang="zh-CN" sz="2400" dirty="0">
                <a:ea typeface="宋体" charset="-122"/>
              </a:rPr>
              <a:t>     </a:t>
            </a:r>
            <a:r>
              <a:rPr lang="en-US" altLang="zh-CN" sz="2400" dirty="0">
                <a:solidFill>
                  <a:srgbClr val="FF0000"/>
                </a:solidFill>
                <a:ea typeface="宋体" charset="-122"/>
              </a:rPr>
              <a:t>GROUP BY</a:t>
            </a:r>
            <a:r>
              <a:rPr lang="en-US" altLang="zh-CN" sz="2400" dirty="0">
                <a:ea typeface="宋体" charset="-122"/>
              </a:rPr>
              <a:t> </a:t>
            </a:r>
            <a:r>
              <a:rPr lang="en-US" altLang="zh-CN" sz="2400" dirty="0" err="1">
                <a:solidFill>
                  <a:srgbClr val="0000FF"/>
                </a:solidFill>
                <a:ea typeface="宋体" charset="-122"/>
              </a:rPr>
              <a:t>Sno</a:t>
            </a:r>
            <a:endParaRPr lang="en-US" altLang="zh-CN" sz="2400" dirty="0">
              <a:solidFill>
                <a:srgbClr val="0000FF"/>
              </a:solidFill>
              <a:ea typeface="宋体" charset="-122"/>
            </a:endParaRPr>
          </a:p>
          <a:p>
            <a:pPr lvl="1" algn="just">
              <a:buFont typeface="Wingdings" pitchFamily="2" charset="2"/>
              <a:buNone/>
            </a:pPr>
            <a:r>
              <a:rPr lang="en-US" altLang="zh-CN" sz="2400" dirty="0">
                <a:ea typeface="宋体" charset="-122"/>
              </a:rPr>
              <a:t>     </a:t>
            </a:r>
            <a:r>
              <a:rPr lang="en-US" altLang="zh-CN" sz="2400" dirty="0">
                <a:solidFill>
                  <a:srgbClr val="FF0000"/>
                </a:solidFill>
                <a:ea typeface="宋体" charset="-122"/>
              </a:rPr>
              <a:t>HAVING</a:t>
            </a:r>
            <a:r>
              <a:rPr lang="en-US" altLang="zh-CN" sz="2400" dirty="0">
                <a:ea typeface="宋体" charset="-122"/>
              </a:rPr>
              <a:t>  </a:t>
            </a:r>
            <a:r>
              <a:rPr lang="en-US" altLang="zh-CN" sz="2400" dirty="0">
                <a:solidFill>
                  <a:srgbClr val="0000FF"/>
                </a:solidFill>
                <a:ea typeface="宋体" charset="-122"/>
              </a:rPr>
              <a:t>COUNT(*) &gt;3</a:t>
            </a:r>
            <a:r>
              <a:rPr lang="en-US" altLang="zh-CN" sz="2400" dirty="0">
                <a:ea typeface="宋体" charset="-122"/>
              </a:rPr>
              <a:t>;</a:t>
            </a:r>
            <a:r>
              <a:rPr lang="zh-CN" altLang="en-US" sz="2400" dirty="0">
                <a:ea typeface="宋体" charset="-122"/>
              </a:rPr>
              <a:t>   </a:t>
            </a:r>
          </a:p>
          <a:p>
            <a:pPr algn="just">
              <a:buFont typeface="Wingdings" pitchFamily="2" charset="2"/>
              <a:buNone/>
            </a:pPr>
            <a:r>
              <a:rPr lang="zh-CN" altLang="en-US" sz="2000" dirty="0">
                <a:ea typeface="宋体" charset="-122"/>
              </a:rPr>
              <a:t> 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D901286-775B-6BE7-4015-6E91DD2D32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7" y="1371600"/>
            <a:ext cx="8345488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kumimoji="0" lang="en-US" altLang="zh-CN" sz="2800" kern="0" dirty="0"/>
              <a:t>Having</a:t>
            </a:r>
            <a:r>
              <a:rPr kumimoji="0" lang="zh-CN" altLang="en-US" sz="2800" kern="0" dirty="0"/>
              <a:t>子句：对</a:t>
            </a:r>
            <a:r>
              <a:rPr kumimoji="0" lang="zh-CN" altLang="en-US" sz="2800" kern="0" dirty="0">
                <a:solidFill>
                  <a:srgbClr val="0000FF"/>
                </a:solidFill>
              </a:rPr>
              <a:t>分组限定条件</a:t>
            </a:r>
            <a:r>
              <a:rPr kumimoji="0" lang="zh-CN" altLang="en-US" sz="2800" kern="0" dirty="0"/>
              <a:t>，</a:t>
            </a:r>
            <a:r>
              <a:rPr kumimoji="0" lang="en-US" altLang="zh-CN" sz="2800" kern="0" dirty="0"/>
              <a:t>SQL</a:t>
            </a:r>
            <a:r>
              <a:rPr kumimoji="0" lang="zh-CN" altLang="en-US" sz="2800" kern="0" dirty="0"/>
              <a:t>在形成</a:t>
            </a:r>
            <a:r>
              <a:rPr kumimoji="0" lang="zh-CN" altLang="en-US" sz="2800" kern="0" dirty="0">
                <a:solidFill>
                  <a:srgbClr val="0000FF"/>
                </a:solidFill>
              </a:rPr>
              <a:t>分组形成</a:t>
            </a:r>
            <a:r>
              <a:rPr kumimoji="0" lang="zh-CN" altLang="en-US" sz="2800" b="1" kern="0" dirty="0">
                <a:solidFill>
                  <a:srgbClr val="FF0000"/>
                </a:solidFill>
              </a:rPr>
              <a:t>后</a:t>
            </a:r>
            <a:r>
              <a:rPr kumimoji="0" lang="zh-CN" altLang="en-US" sz="2800" kern="0" dirty="0"/>
              <a:t>才应用</a:t>
            </a:r>
            <a:r>
              <a:rPr kumimoji="0" lang="en-US" altLang="zh-CN" sz="2800" kern="0" dirty="0"/>
              <a:t>having</a:t>
            </a:r>
            <a:r>
              <a:rPr kumimoji="0" lang="zh-CN" altLang="en-US" sz="2800" kern="0" dirty="0"/>
              <a:t>子句中的谓词，因此</a:t>
            </a:r>
            <a:r>
              <a:rPr kumimoji="0" lang="en-US" altLang="zh-CN" sz="2800" kern="0" dirty="0"/>
              <a:t>having</a:t>
            </a:r>
            <a:r>
              <a:rPr kumimoji="0" lang="zh-CN" altLang="en-US" sz="2800" kern="0" dirty="0"/>
              <a:t>子句中</a:t>
            </a:r>
            <a:r>
              <a:rPr kumimoji="0" lang="zh-CN" altLang="en-US" sz="2800" kern="0" dirty="0">
                <a:solidFill>
                  <a:srgbClr val="0000FF"/>
                </a:solidFill>
              </a:rPr>
              <a:t>可以使用聚集函数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D0D67AC-69DD-5D96-E8B0-E458F365D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99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44057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ECF02CE-AC76-44D4-A6E3-17942044D7BB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8909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890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3.4.1 </a:t>
            </a:r>
            <a:r>
              <a:rPr lang="zh-CN" altLang="en-US"/>
              <a:t>单表查询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62000" y="14478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altLang="zh-CN" dirty="0">
                <a:ea typeface="宋体" charset="-122"/>
              </a:rPr>
              <a:t>HAVING</a:t>
            </a:r>
            <a:r>
              <a:rPr lang="zh-CN" altLang="en-US" dirty="0">
                <a:ea typeface="宋体" charset="-122"/>
              </a:rPr>
              <a:t>短语与</a:t>
            </a:r>
            <a:r>
              <a:rPr lang="en-US" altLang="zh-CN" dirty="0">
                <a:ea typeface="宋体" charset="-122"/>
              </a:rPr>
              <a:t>WHERE</a:t>
            </a:r>
            <a:r>
              <a:rPr lang="zh-CN" altLang="en-US" dirty="0">
                <a:ea typeface="宋体" charset="-122"/>
              </a:rPr>
              <a:t>子句的区别：</a:t>
            </a:r>
          </a:p>
          <a:p>
            <a:pPr lvl="1" algn="just">
              <a:lnSpc>
                <a:spcPct val="110000"/>
              </a:lnSpc>
            </a:pPr>
            <a:r>
              <a:rPr lang="zh-CN" altLang="en-US" dirty="0">
                <a:solidFill>
                  <a:srgbClr val="FF0000"/>
                </a:solidFill>
                <a:ea typeface="宋体" charset="-122"/>
              </a:rPr>
              <a:t>作用对象</a:t>
            </a:r>
            <a:r>
              <a:rPr lang="zh-CN" altLang="en-US" dirty="0">
                <a:ea typeface="宋体" charset="-122"/>
              </a:rPr>
              <a:t>不同</a:t>
            </a:r>
            <a:endParaRPr lang="en-US" altLang="zh-CN" dirty="0">
              <a:ea typeface="宋体" charset="-122"/>
            </a:endParaRPr>
          </a:p>
          <a:p>
            <a:pPr lvl="1" algn="just">
              <a:lnSpc>
                <a:spcPct val="110000"/>
              </a:lnSpc>
            </a:pPr>
            <a:r>
              <a:rPr lang="en-US" altLang="zh-CN" dirty="0">
                <a:ea typeface="宋体" charset="-122"/>
              </a:rPr>
              <a:t>WHERE</a:t>
            </a:r>
            <a:r>
              <a:rPr lang="zh-CN" altLang="en-US" dirty="0">
                <a:ea typeface="宋体" charset="-122"/>
              </a:rPr>
              <a:t>子句作用于</a:t>
            </a:r>
            <a:r>
              <a:rPr lang="zh-CN" altLang="en-US" dirty="0">
                <a:solidFill>
                  <a:srgbClr val="0000FF"/>
                </a:solidFill>
                <a:ea typeface="宋体" charset="-122"/>
              </a:rPr>
              <a:t>基表</a:t>
            </a:r>
            <a:r>
              <a:rPr lang="zh-CN" altLang="en-US" dirty="0">
                <a:ea typeface="宋体" charset="-122"/>
              </a:rPr>
              <a:t>或</a:t>
            </a:r>
            <a:r>
              <a:rPr lang="zh-CN" altLang="en-US" dirty="0">
                <a:solidFill>
                  <a:srgbClr val="0000FF"/>
                </a:solidFill>
                <a:ea typeface="宋体" charset="-122"/>
              </a:rPr>
              <a:t>视图</a:t>
            </a:r>
            <a:r>
              <a:rPr lang="zh-CN" altLang="en-US" dirty="0">
                <a:ea typeface="宋体" charset="-122"/>
              </a:rPr>
              <a:t>，从中</a:t>
            </a:r>
            <a:r>
              <a:rPr lang="zh-CN" altLang="en-US" dirty="0">
                <a:solidFill>
                  <a:srgbClr val="FF0000"/>
                </a:solidFill>
                <a:ea typeface="宋体" charset="-122"/>
              </a:rPr>
              <a:t>选择</a:t>
            </a:r>
            <a:r>
              <a:rPr lang="zh-CN" altLang="en-US" dirty="0">
                <a:ea typeface="宋体" charset="-122"/>
              </a:rPr>
              <a:t>满足条件的</a:t>
            </a:r>
            <a:r>
              <a:rPr lang="zh-CN" altLang="en-US" dirty="0">
                <a:solidFill>
                  <a:srgbClr val="0000FF"/>
                </a:solidFill>
                <a:ea typeface="宋体" charset="-122"/>
              </a:rPr>
              <a:t>元组</a:t>
            </a:r>
          </a:p>
          <a:p>
            <a:pPr lvl="1" algn="just">
              <a:lnSpc>
                <a:spcPct val="110000"/>
              </a:lnSpc>
            </a:pPr>
            <a:r>
              <a:rPr lang="en-US" altLang="zh-CN" dirty="0">
                <a:ea typeface="宋体" charset="-122"/>
              </a:rPr>
              <a:t>HAVING</a:t>
            </a:r>
            <a:r>
              <a:rPr lang="zh-CN" altLang="en-US" dirty="0">
                <a:ea typeface="宋体" charset="-122"/>
              </a:rPr>
              <a:t>短语作用于</a:t>
            </a:r>
            <a:r>
              <a:rPr lang="zh-CN" altLang="en-US" dirty="0">
                <a:solidFill>
                  <a:srgbClr val="0000FF"/>
                </a:solidFill>
                <a:ea typeface="宋体" charset="-122"/>
              </a:rPr>
              <a:t>分组</a:t>
            </a:r>
            <a:r>
              <a:rPr lang="zh-CN" altLang="en-US" dirty="0">
                <a:ea typeface="宋体" charset="-122"/>
              </a:rPr>
              <a:t>，从中</a:t>
            </a:r>
            <a:r>
              <a:rPr lang="zh-CN" altLang="en-US" dirty="0">
                <a:solidFill>
                  <a:srgbClr val="FF0000"/>
                </a:solidFill>
                <a:ea typeface="宋体" charset="-122"/>
              </a:rPr>
              <a:t>选择</a:t>
            </a:r>
            <a:r>
              <a:rPr lang="zh-CN" altLang="en-US" dirty="0">
                <a:ea typeface="宋体" charset="-122"/>
              </a:rPr>
              <a:t>满足条件的</a:t>
            </a:r>
            <a:r>
              <a:rPr lang="zh-CN" altLang="en-US" dirty="0">
                <a:solidFill>
                  <a:srgbClr val="0000FF"/>
                </a:solidFill>
                <a:ea typeface="宋体" charset="-122"/>
              </a:rPr>
              <a:t>分组</a:t>
            </a:r>
            <a:r>
              <a:rPr lang="zh-CN" altLang="en-US" dirty="0">
                <a:ea typeface="宋体" charset="-122"/>
              </a:rPr>
              <a:t>。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A553653-E1A6-38B4-5675-7DD6BC975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100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3394352"/>
      </p:ext>
    </p:extLst>
  </p:cSld>
  <p:clrMapOvr>
    <a:masterClrMapping/>
  </p:clrMapOvr>
  <p:transition>
    <p:fade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9961973-9F91-47E3-997F-EB28C46EBE75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9216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921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3.4.1 </a:t>
            </a:r>
            <a:r>
              <a:rPr lang="zh-CN" altLang="en-US"/>
              <a:t>单表查询</a:t>
            </a:r>
          </a:p>
        </p:txBody>
      </p:sp>
      <p:sp>
        <p:nvSpPr>
          <p:cNvPr id="921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HAVING</a:t>
            </a:r>
            <a:r>
              <a:rPr lang="zh-CN" altLang="en-US" dirty="0">
                <a:solidFill>
                  <a:srgbClr val="FF0000"/>
                </a:solidFill>
              </a:rPr>
              <a:t>条件</a:t>
            </a:r>
            <a:r>
              <a:rPr lang="zh-CN" altLang="en-US" dirty="0"/>
              <a:t>针对的是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GROUP</a:t>
            </a:r>
            <a:r>
              <a:rPr lang="zh-CN" altLang="en-US" dirty="0">
                <a:solidFill>
                  <a:srgbClr val="FF0000"/>
                </a:solidFill>
              </a:rPr>
              <a:t>分组</a:t>
            </a:r>
            <a:r>
              <a:rPr lang="zh-CN" altLang="en-US" dirty="0"/>
              <a:t>，</a:t>
            </a:r>
            <a:r>
              <a:rPr lang="en-US" altLang="zh-CN" dirty="0">
                <a:solidFill>
                  <a:srgbClr val="FF0000"/>
                </a:solidFill>
              </a:rPr>
              <a:t>WHERE</a:t>
            </a:r>
            <a:r>
              <a:rPr lang="zh-CN" altLang="en-US" dirty="0"/>
              <a:t>针对的是</a:t>
            </a:r>
            <a:r>
              <a:rPr lang="zh-CN" altLang="en-US" dirty="0">
                <a:solidFill>
                  <a:srgbClr val="FF0000"/>
                </a:solidFill>
              </a:rPr>
              <a:t>元组</a:t>
            </a:r>
            <a:r>
              <a:rPr lang="zh-CN" altLang="en-US" dirty="0"/>
              <a:t>，两者并不矛盾。</a:t>
            </a:r>
          </a:p>
          <a:p>
            <a:pPr eaLnBrk="1" hangingPunct="1"/>
            <a:r>
              <a:rPr lang="zh-CN" altLang="en-US" sz="2800" dirty="0"/>
              <a:t>例：查询有三科或三科以上成绩在</a:t>
            </a:r>
            <a:r>
              <a:rPr lang="en-US" altLang="zh-CN" sz="2800" dirty="0"/>
              <a:t>80</a:t>
            </a:r>
            <a:r>
              <a:rPr lang="zh-CN" altLang="en-US" sz="2800" dirty="0"/>
              <a:t>分以上的学生学号。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	SELECT </a:t>
            </a:r>
            <a:r>
              <a:rPr lang="en-US" altLang="zh-CN" sz="2800" dirty="0" err="1"/>
              <a:t>Sno</a:t>
            </a:r>
            <a:endParaRPr lang="en-US" altLang="zh-CN" sz="28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	FROM SC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>
                <a:solidFill>
                  <a:srgbClr val="0000FF"/>
                </a:solidFill>
              </a:rPr>
              <a:t>WHERE Grade&gt;=80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	GROUP BY </a:t>
            </a:r>
            <a:r>
              <a:rPr lang="en-US" altLang="zh-CN" sz="2800" dirty="0" err="1">
                <a:solidFill>
                  <a:srgbClr val="C00000"/>
                </a:solidFill>
              </a:rPr>
              <a:t>Sno</a:t>
            </a:r>
            <a:endParaRPr lang="en-US" altLang="zh-CN" sz="2800" dirty="0">
              <a:solidFill>
                <a:srgbClr val="C00000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	</a:t>
            </a:r>
            <a:r>
              <a:rPr lang="en-US" altLang="zh-CN" sz="2800" dirty="0">
                <a:solidFill>
                  <a:srgbClr val="C00000"/>
                </a:solidFill>
              </a:rPr>
              <a:t>HAVING</a:t>
            </a:r>
            <a:r>
              <a:rPr lang="en-US" altLang="zh-CN" sz="2800" dirty="0"/>
              <a:t> (</a:t>
            </a:r>
            <a:r>
              <a:rPr lang="en-US" altLang="zh-CN" sz="2800" dirty="0">
                <a:solidFill>
                  <a:srgbClr val="0000FF"/>
                </a:solidFill>
              </a:rPr>
              <a:t>COUNT(</a:t>
            </a:r>
            <a:r>
              <a:rPr lang="en-US" altLang="zh-CN" sz="2800" dirty="0" err="1">
                <a:solidFill>
                  <a:srgbClr val="0000FF"/>
                </a:solidFill>
              </a:rPr>
              <a:t>Cno</a:t>
            </a:r>
            <a:r>
              <a:rPr lang="en-US" altLang="zh-CN" sz="2800" dirty="0">
                <a:solidFill>
                  <a:srgbClr val="0000FF"/>
                </a:solidFill>
              </a:rPr>
              <a:t>)&gt;=3</a:t>
            </a:r>
            <a:r>
              <a:rPr lang="en-US" altLang="zh-CN" sz="2800" dirty="0"/>
              <a:t>);</a:t>
            </a:r>
            <a:endParaRPr lang="zh-CN" altLang="en-US" sz="28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E8B9ADE-2562-C02C-1996-56ABE5F61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101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1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1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1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B88A844C-9A80-477D-B586-48577E4F006B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8909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890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3.4.1 </a:t>
            </a:r>
            <a:r>
              <a:rPr lang="zh-CN" altLang="en-US"/>
              <a:t>单表查询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62000" y="1447800"/>
            <a:ext cx="77724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zh-CN" altLang="en-US" sz="2800" dirty="0">
                <a:ea typeface="宋体" charset="-122"/>
              </a:rPr>
              <a:t>与</a:t>
            </a:r>
            <a:r>
              <a:rPr lang="en-US" altLang="zh-CN" sz="2800" dirty="0">
                <a:ea typeface="宋体" charset="-122"/>
              </a:rPr>
              <a:t>select</a:t>
            </a:r>
            <a:r>
              <a:rPr lang="zh-CN" altLang="en-US" sz="2800" dirty="0">
                <a:ea typeface="宋体" charset="-122"/>
              </a:rPr>
              <a:t>子句的情况类似，任何出现在</a:t>
            </a:r>
            <a:r>
              <a:rPr lang="en-US" altLang="zh-CN" sz="2800" dirty="0">
                <a:ea typeface="宋体" charset="-122"/>
              </a:rPr>
              <a:t>having </a:t>
            </a:r>
            <a:r>
              <a:rPr lang="zh-CN" altLang="en-US" sz="2800" dirty="0">
                <a:ea typeface="宋体" charset="-122"/>
              </a:rPr>
              <a:t>子句中，但没有被聚集的属性必须出现在</a:t>
            </a:r>
            <a:r>
              <a:rPr lang="en-US" altLang="zh-CN" sz="2800" dirty="0">
                <a:ea typeface="宋体" charset="-122"/>
              </a:rPr>
              <a:t>group by</a:t>
            </a:r>
            <a:r>
              <a:rPr lang="zh-CN" altLang="en-US" sz="2800" dirty="0">
                <a:ea typeface="宋体" charset="-122"/>
              </a:rPr>
              <a:t>子句中，否则查询就是错误的。</a:t>
            </a:r>
            <a:endParaRPr lang="en-US" altLang="zh-CN" sz="2800" dirty="0">
              <a:ea typeface="宋体" charset="-122"/>
            </a:endParaRPr>
          </a:p>
          <a:p>
            <a:pPr algn="just">
              <a:lnSpc>
                <a:spcPct val="110000"/>
              </a:lnSpc>
            </a:pPr>
            <a:r>
              <a:rPr lang="zh-CN" altLang="en-US" sz="2800" dirty="0">
                <a:ea typeface="宋体" charset="-122"/>
              </a:rPr>
              <a:t>包含聚集、</a:t>
            </a:r>
            <a:r>
              <a:rPr lang="en-US" altLang="zh-CN" sz="2800" dirty="0">
                <a:ea typeface="宋体" charset="-122"/>
              </a:rPr>
              <a:t>group by</a:t>
            </a:r>
            <a:r>
              <a:rPr lang="zh-CN" altLang="en-US" sz="2800" dirty="0">
                <a:ea typeface="宋体" charset="-122"/>
              </a:rPr>
              <a:t>或</a:t>
            </a:r>
            <a:r>
              <a:rPr lang="en-US" altLang="zh-CN" sz="2800" dirty="0">
                <a:ea typeface="宋体" charset="-122"/>
              </a:rPr>
              <a:t>having</a:t>
            </a:r>
            <a:r>
              <a:rPr lang="zh-CN" altLang="en-US" sz="2800" dirty="0">
                <a:ea typeface="宋体" charset="-122"/>
              </a:rPr>
              <a:t>子句的查询可通过下述运算序列来定义：</a:t>
            </a:r>
            <a:endParaRPr lang="en-US" altLang="zh-CN" sz="2800" dirty="0">
              <a:ea typeface="宋体" charset="-122"/>
            </a:endParaRPr>
          </a:p>
          <a:p>
            <a:pPr marL="914400" lvl="1" indent="-457200" algn="just">
              <a:lnSpc>
                <a:spcPct val="110000"/>
              </a:lnSpc>
              <a:buFont typeface="+mj-lt"/>
              <a:buAutoNum type="arabicPeriod"/>
            </a:pPr>
            <a:r>
              <a:rPr lang="zh-CN" altLang="en-US" sz="2400" dirty="0">
                <a:ea typeface="宋体" charset="-122"/>
              </a:rPr>
              <a:t>与不带聚集的查询情况类似，首先根据</a:t>
            </a:r>
            <a:r>
              <a:rPr lang="en-US" altLang="zh-CN" sz="2400" dirty="0">
                <a:ea typeface="宋体" charset="-122"/>
              </a:rPr>
              <a:t>from</a:t>
            </a:r>
            <a:r>
              <a:rPr lang="zh-CN" altLang="en-US" sz="2400" dirty="0">
                <a:ea typeface="宋体" charset="-122"/>
              </a:rPr>
              <a:t>子句来计算出一个</a:t>
            </a:r>
            <a:r>
              <a:rPr lang="zh-CN" altLang="en-US" sz="2400" dirty="0">
                <a:solidFill>
                  <a:srgbClr val="0000FF"/>
                </a:solidFill>
                <a:ea typeface="宋体" charset="-122"/>
              </a:rPr>
              <a:t>关系</a:t>
            </a:r>
            <a:r>
              <a:rPr lang="zh-CN" altLang="en-US" sz="2400" dirty="0">
                <a:ea typeface="宋体" charset="-122"/>
              </a:rPr>
              <a:t>。</a:t>
            </a:r>
            <a:endParaRPr lang="en-US" altLang="zh-CN" sz="2400" dirty="0">
              <a:ea typeface="宋体" charset="-122"/>
            </a:endParaRPr>
          </a:p>
          <a:p>
            <a:pPr marL="914400" lvl="1" indent="-457200" algn="just">
              <a:lnSpc>
                <a:spcPct val="110000"/>
              </a:lnSpc>
              <a:buFont typeface="+mj-lt"/>
              <a:buAutoNum type="arabicPeriod"/>
            </a:pPr>
            <a:r>
              <a:rPr lang="zh-CN" altLang="en-US" sz="2400" dirty="0">
                <a:ea typeface="宋体" charset="-122"/>
              </a:rPr>
              <a:t>如果出现了</a:t>
            </a:r>
            <a:r>
              <a:rPr lang="en-US" altLang="zh-CN" sz="2400" dirty="0">
                <a:ea typeface="宋体" charset="-122"/>
              </a:rPr>
              <a:t>where</a:t>
            </a:r>
            <a:r>
              <a:rPr lang="zh-CN" altLang="en-US" sz="2400" dirty="0">
                <a:ea typeface="宋体" charset="-122"/>
              </a:rPr>
              <a:t>子句，</a:t>
            </a:r>
            <a:r>
              <a:rPr lang="en-US" altLang="zh-CN" sz="2400" dirty="0">
                <a:solidFill>
                  <a:srgbClr val="0000FF"/>
                </a:solidFill>
                <a:ea typeface="宋体" charset="-122"/>
              </a:rPr>
              <a:t>where</a:t>
            </a:r>
            <a:r>
              <a:rPr lang="zh-CN" altLang="en-US" sz="2400" dirty="0">
                <a:solidFill>
                  <a:srgbClr val="0000FF"/>
                </a:solidFill>
                <a:ea typeface="宋体" charset="-122"/>
              </a:rPr>
              <a:t>子句中</a:t>
            </a:r>
            <a:r>
              <a:rPr lang="zh-CN" altLang="en-US" sz="2400" dirty="0">
                <a:ea typeface="宋体" charset="-122"/>
              </a:rPr>
              <a:t>的</a:t>
            </a:r>
            <a:r>
              <a:rPr lang="zh-CN" altLang="en-US" sz="2400" dirty="0">
                <a:solidFill>
                  <a:srgbClr val="0000FF"/>
                </a:solidFill>
                <a:ea typeface="宋体" charset="-122"/>
              </a:rPr>
              <a:t>谓词</a:t>
            </a:r>
            <a:r>
              <a:rPr lang="zh-CN" altLang="en-US" sz="2400" dirty="0">
                <a:ea typeface="宋体" charset="-122"/>
              </a:rPr>
              <a:t>将应用到</a:t>
            </a:r>
            <a:r>
              <a:rPr lang="en-US" altLang="zh-CN" sz="2400" dirty="0">
                <a:solidFill>
                  <a:srgbClr val="FF0000"/>
                </a:solidFill>
                <a:ea typeface="宋体" charset="-122"/>
              </a:rPr>
              <a:t>from</a:t>
            </a:r>
            <a:r>
              <a:rPr lang="zh-CN" altLang="en-US" sz="2400" dirty="0">
                <a:solidFill>
                  <a:srgbClr val="FF0000"/>
                </a:solidFill>
                <a:ea typeface="宋体" charset="-122"/>
              </a:rPr>
              <a:t>子句</a:t>
            </a:r>
            <a:r>
              <a:rPr lang="zh-CN" altLang="en-US" sz="2400" dirty="0">
                <a:ea typeface="宋体" charset="-122"/>
              </a:rPr>
              <a:t>的结果</a:t>
            </a:r>
            <a:r>
              <a:rPr lang="zh-CN" altLang="en-US" sz="2400" dirty="0">
                <a:solidFill>
                  <a:srgbClr val="FF0000"/>
                </a:solidFill>
                <a:ea typeface="宋体" charset="-122"/>
              </a:rPr>
              <a:t>关系</a:t>
            </a:r>
            <a:r>
              <a:rPr lang="zh-CN" altLang="en-US" sz="2400" dirty="0">
                <a:ea typeface="宋体" charset="-122"/>
              </a:rPr>
              <a:t>上。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EC0F32C-D22B-4120-69C5-47F8853A3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102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0010132"/>
      </p:ext>
    </p:extLst>
  </p:cSld>
  <p:clrMapOvr>
    <a:masterClrMapping/>
  </p:clrMapOvr>
  <p:transition>
    <p:fade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C4820AC-2B70-4682-B3C9-7FA0E6323989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8909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890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3.4.1 </a:t>
            </a:r>
            <a:r>
              <a:rPr lang="zh-CN" altLang="en-US"/>
              <a:t>单表查询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61999" y="1447800"/>
            <a:ext cx="8105775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zh-CN" altLang="en-US" sz="2800" dirty="0">
                <a:ea typeface="宋体" charset="-122"/>
              </a:rPr>
              <a:t>包含聚集、</a:t>
            </a:r>
            <a:r>
              <a:rPr lang="en-US" altLang="zh-CN" sz="2800" dirty="0">
                <a:ea typeface="宋体" charset="-122"/>
              </a:rPr>
              <a:t>group by</a:t>
            </a:r>
            <a:r>
              <a:rPr lang="zh-CN" altLang="en-US" sz="2800" dirty="0">
                <a:ea typeface="宋体" charset="-122"/>
              </a:rPr>
              <a:t>或</a:t>
            </a:r>
            <a:r>
              <a:rPr lang="en-US" altLang="zh-CN" sz="2800" dirty="0">
                <a:ea typeface="宋体" charset="-122"/>
              </a:rPr>
              <a:t>having</a:t>
            </a:r>
            <a:r>
              <a:rPr lang="zh-CN" altLang="en-US" sz="2800" dirty="0">
                <a:ea typeface="宋体" charset="-122"/>
              </a:rPr>
              <a:t>子句的查询可通过下述运算序列来定义：</a:t>
            </a:r>
            <a:endParaRPr lang="en-US" altLang="zh-CN" sz="2800" dirty="0">
              <a:ea typeface="宋体" charset="-122"/>
            </a:endParaRPr>
          </a:p>
          <a:p>
            <a:pPr marL="914400" lvl="1" indent="-457200" algn="just">
              <a:lnSpc>
                <a:spcPct val="110000"/>
              </a:lnSpc>
              <a:buFont typeface="+mj-lt"/>
              <a:buAutoNum type="arabicPeriod" startAt="3"/>
            </a:pPr>
            <a:r>
              <a:rPr lang="zh-CN" altLang="en-US" sz="2400" dirty="0">
                <a:ea typeface="宋体" charset="-122"/>
              </a:rPr>
              <a:t>如果出现了</a:t>
            </a:r>
            <a:r>
              <a:rPr lang="en-US" altLang="zh-CN" sz="2400" dirty="0">
                <a:ea typeface="宋体" charset="-122"/>
              </a:rPr>
              <a:t>group by</a:t>
            </a:r>
            <a:r>
              <a:rPr lang="zh-CN" altLang="en-US" sz="2400" dirty="0">
                <a:ea typeface="宋体" charset="-122"/>
              </a:rPr>
              <a:t>子句，</a:t>
            </a:r>
            <a:r>
              <a:rPr lang="zh-CN" altLang="en-US" sz="2400" dirty="0">
                <a:solidFill>
                  <a:srgbClr val="FF0000"/>
                </a:solidFill>
                <a:ea typeface="宋体" charset="-122"/>
              </a:rPr>
              <a:t>满足</a:t>
            </a:r>
            <a:r>
              <a:rPr lang="en-US" altLang="zh-CN" sz="2400" dirty="0">
                <a:solidFill>
                  <a:srgbClr val="FF0000"/>
                </a:solidFill>
                <a:ea typeface="宋体" charset="-122"/>
              </a:rPr>
              <a:t>where</a:t>
            </a:r>
            <a:r>
              <a:rPr lang="zh-CN" altLang="en-US" sz="2400" dirty="0">
                <a:solidFill>
                  <a:srgbClr val="FF0000"/>
                </a:solidFill>
                <a:ea typeface="宋体" charset="-122"/>
              </a:rPr>
              <a:t>谓词的元组</a:t>
            </a:r>
            <a:r>
              <a:rPr lang="zh-CN" altLang="en-US" sz="2400" dirty="0">
                <a:ea typeface="宋体" charset="-122"/>
              </a:rPr>
              <a:t>通过</a:t>
            </a:r>
            <a:r>
              <a:rPr lang="en-US" altLang="zh-CN" sz="2400" dirty="0">
                <a:solidFill>
                  <a:srgbClr val="0000FF"/>
                </a:solidFill>
                <a:ea typeface="宋体" charset="-122"/>
              </a:rPr>
              <a:t>group by</a:t>
            </a:r>
            <a:r>
              <a:rPr lang="zh-CN" altLang="en-US" sz="2400" dirty="0">
                <a:solidFill>
                  <a:srgbClr val="0000FF"/>
                </a:solidFill>
                <a:ea typeface="宋体" charset="-122"/>
              </a:rPr>
              <a:t>子句</a:t>
            </a:r>
            <a:r>
              <a:rPr lang="zh-CN" altLang="en-US" sz="2400" dirty="0">
                <a:ea typeface="宋体" charset="-122"/>
              </a:rPr>
              <a:t>被放入</a:t>
            </a:r>
            <a:r>
              <a:rPr lang="zh-CN" altLang="en-US" sz="2400" dirty="0">
                <a:solidFill>
                  <a:srgbClr val="0000FF"/>
                </a:solidFill>
                <a:ea typeface="宋体" charset="-122"/>
              </a:rPr>
              <a:t>分组</a:t>
            </a:r>
            <a:r>
              <a:rPr lang="zh-CN" altLang="en-US" sz="2400" dirty="0">
                <a:ea typeface="宋体" charset="-122"/>
              </a:rPr>
              <a:t>中。如果没有</a:t>
            </a:r>
            <a:r>
              <a:rPr lang="en-US" altLang="zh-CN" sz="2400" dirty="0">
                <a:ea typeface="宋体" charset="-122"/>
              </a:rPr>
              <a:t>group by </a:t>
            </a:r>
            <a:r>
              <a:rPr lang="zh-CN" altLang="en-US" sz="2400" dirty="0">
                <a:ea typeface="宋体" charset="-122"/>
              </a:rPr>
              <a:t>子句，满足</a:t>
            </a:r>
            <a:r>
              <a:rPr lang="en-US" altLang="zh-CN" sz="2400" dirty="0">
                <a:ea typeface="宋体" charset="-122"/>
              </a:rPr>
              <a:t>where</a:t>
            </a:r>
            <a:r>
              <a:rPr lang="zh-CN" altLang="en-US" sz="2400" dirty="0">
                <a:ea typeface="宋体" charset="-122"/>
              </a:rPr>
              <a:t>谓词的整个</a:t>
            </a:r>
            <a:r>
              <a:rPr lang="zh-CN" altLang="en-US" sz="2400" dirty="0">
                <a:solidFill>
                  <a:srgbClr val="0000FF"/>
                </a:solidFill>
                <a:ea typeface="宋体" charset="-122"/>
              </a:rPr>
              <a:t>元组集</a:t>
            </a:r>
            <a:r>
              <a:rPr lang="zh-CN" altLang="en-US" sz="2400" dirty="0">
                <a:ea typeface="宋体" charset="-122"/>
              </a:rPr>
              <a:t>被当成</a:t>
            </a:r>
            <a:r>
              <a:rPr lang="zh-CN" altLang="en-US" sz="2400" b="1" dirty="0">
                <a:ea typeface="宋体" charset="-122"/>
              </a:rPr>
              <a:t>一个分组</a:t>
            </a:r>
            <a:endParaRPr lang="en-US" altLang="zh-CN" sz="2400" dirty="0">
              <a:ea typeface="宋体" charset="-122"/>
            </a:endParaRPr>
          </a:p>
          <a:p>
            <a:pPr marL="914400" lvl="1" indent="-457200" algn="just">
              <a:lnSpc>
                <a:spcPct val="110000"/>
              </a:lnSpc>
              <a:buFont typeface="+mj-lt"/>
              <a:buAutoNum type="arabicPeriod" startAt="3"/>
            </a:pPr>
            <a:r>
              <a:rPr lang="zh-CN" altLang="en-US" sz="2400" dirty="0">
                <a:ea typeface="宋体" charset="-122"/>
              </a:rPr>
              <a:t>如果出现</a:t>
            </a:r>
            <a:r>
              <a:rPr lang="en-US" altLang="zh-CN" sz="2400" dirty="0">
                <a:solidFill>
                  <a:srgbClr val="0000FF"/>
                </a:solidFill>
                <a:ea typeface="宋体" charset="-122"/>
              </a:rPr>
              <a:t>having</a:t>
            </a:r>
            <a:r>
              <a:rPr lang="zh-CN" altLang="en-US" sz="2400" dirty="0">
                <a:solidFill>
                  <a:srgbClr val="0000FF"/>
                </a:solidFill>
                <a:ea typeface="宋体" charset="-122"/>
              </a:rPr>
              <a:t>子句</a:t>
            </a:r>
            <a:r>
              <a:rPr lang="zh-CN" altLang="en-US" sz="2400" dirty="0">
                <a:ea typeface="宋体" charset="-122"/>
              </a:rPr>
              <a:t>，它将应用到</a:t>
            </a:r>
            <a:r>
              <a:rPr lang="zh-CN" altLang="en-US" sz="2400" dirty="0">
                <a:solidFill>
                  <a:srgbClr val="0000FF"/>
                </a:solidFill>
                <a:ea typeface="宋体" charset="-122"/>
              </a:rPr>
              <a:t>每个分组</a:t>
            </a:r>
            <a:r>
              <a:rPr lang="zh-CN" altLang="en-US" sz="2400" dirty="0">
                <a:ea typeface="宋体" charset="-122"/>
              </a:rPr>
              <a:t>上；</a:t>
            </a:r>
            <a:r>
              <a:rPr lang="zh-CN" altLang="en-US" sz="2400" b="1" dirty="0">
                <a:ea typeface="宋体" charset="-122"/>
              </a:rPr>
              <a:t>不满足</a:t>
            </a:r>
            <a:r>
              <a:rPr lang="en-US" altLang="zh-CN" sz="2400" dirty="0">
                <a:solidFill>
                  <a:srgbClr val="0000FF"/>
                </a:solidFill>
                <a:ea typeface="宋体" charset="-122"/>
              </a:rPr>
              <a:t>having</a:t>
            </a:r>
            <a:r>
              <a:rPr lang="zh-CN" altLang="en-US" sz="2400" dirty="0">
                <a:solidFill>
                  <a:srgbClr val="0000FF"/>
                </a:solidFill>
                <a:ea typeface="宋体" charset="-122"/>
              </a:rPr>
              <a:t>子句谓词</a:t>
            </a:r>
            <a:r>
              <a:rPr lang="zh-CN" altLang="en-US" sz="2400" b="1" dirty="0">
                <a:ea typeface="宋体" charset="-122"/>
              </a:rPr>
              <a:t>的分组将被去掉</a:t>
            </a:r>
            <a:endParaRPr lang="en-US" altLang="zh-CN" sz="2400" dirty="0">
              <a:ea typeface="宋体" charset="-122"/>
            </a:endParaRPr>
          </a:p>
          <a:p>
            <a:pPr marL="914400" lvl="1" indent="-457200" algn="just">
              <a:lnSpc>
                <a:spcPct val="110000"/>
              </a:lnSpc>
              <a:buFont typeface="+mj-lt"/>
              <a:buAutoNum type="arabicPeriod" startAt="3"/>
            </a:pPr>
            <a:r>
              <a:rPr lang="en-US" altLang="zh-CN" sz="2400" dirty="0">
                <a:ea typeface="宋体" charset="-122"/>
              </a:rPr>
              <a:t>select</a:t>
            </a:r>
            <a:r>
              <a:rPr lang="zh-CN" altLang="en-US" sz="2400" dirty="0">
                <a:ea typeface="宋体" charset="-122"/>
              </a:rPr>
              <a:t>子句利用</a:t>
            </a:r>
            <a:r>
              <a:rPr lang="zh-CN" altLang="en-US" sz="2400" b="1" dirty="0">
                <a:solidFill>
                  <a:srgbClr val="0000FF"/>
                </a:solidFill>
                <a:ea typeface="宋体" charset="-122"/>
              </a:rPr>
              <a:t>剩下的分组</a:t>
            </a:r>
            <a:r>
              <a:rPr lang="zh-CN" altLang="en-US" sz="2400" dirty="0">
                <a:ea typeface="宋体" charset="-122"/>
              </a:rPr>
              <a:t>产生</a:t>
            </a:r>
            <a:r>
              <a:rPr lang="zh-CN" altLang="en-US" sz="2400" dirty="0">
                <a:solidFill>
                  <a:srgbClr val="0000FF"/>
                </a:solidFill>
                <a:ea typeface="宋体" charset="-122"/>
              </a:rPr>
              <a:t>查询结果</a:t>
            </a:r>
            <a:r>
              <a:rPr lang="zh-CN" altLang="en-US" sz="2400" dirty="0">
                <a:ea typeface="宋体" charset="-122"/>
              </a:rPr>
              <a:t>中的</a:t>
            </a:r>
            <a:r>
              <a:rPr lang="zh-CN" altLang="en-US" sz="2400" dirty="0">
                <a:solidFill>
                  <a:srgbClr val="0000FF"/>
                </a:solidFill>
                <a:ea typeface="宋体" charset="-122"/>
              </a:rPr>
              <a:t>元组</a:t>
            </a:r>
            <a:r>
              <a:rPr lang="zh-CN" altLang="en-US" sz="2400" dirty="0">
                <a:ea typeface="宋体" charset="-122"/>
              </a:rPr>
              <a:t>，即在每个分组上应用聚集函数来得到单个结果元组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750E468-BC63-663F-C90A-E603166E9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103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7663213"/>
      </p:ext>
    </p:extLst>
  </p:cSld>
  <p:clrMapOvr>
    <a:masterClrMapping/>
  </p:clrMapOvr>
  <p:transition>
    <p:fade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6C7DACD-94C1-4CA9-9304-480CA466A92A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9318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931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3.4.2 </a:t>
            </a:r>
            <a:r>
              <a:rPr lang="zh-CN" altLang="en-US" dirty="0"/>
              <a:t>多关系查询</a:t>
            </a:r>
            <a:r>
              <a:rPr lang="en-US" altLang="zh-CN" dirty="0"/>
              <a:t>(</a:t>
            </a:r>
            <a:r>
              <a:rPr lang="zh-CN" altLang="en-US" dirty="0"/>
              <a:t>教材</a:t>
            </a:r>
            <a:r>
              <a:rPr lang="en-US" altLang="zh-CN" dirty="0"/>
              <a:t>3.3.2)</a:t>
            </a:r>
            <a:endParaRPr lang="zh-CN" altLang="en-US" dirty="0"/>
          </a:p>
        </p:txBody>
      </p:sp>
      <p:sp>
        <p:nvSpPr>
          <p:cNvPr id="931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153400" cy="4795838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前面的查询都是针对一个关系进行的。通常查询需要从</a:t>
            </a:r>
            <a:r>
              <a:rPr lang="zh-CN" altLang="en-US" sz="2800" dirty="0">
                <a:solidFill>
                  <a:srgbClr val="0000FF"/>
                </a:solidFill>
              </a:rPr>
              <a:t>多个关系</a:t>
            </a:r>
            <a:r>
              <a:rPr lang="zh-CN" altLang="en-US" sz="2800" dirty="0"/>
              <a:t>中获取信息。</a:t>
            </a:r>
            <a:endParaRPr lang="en-US" altLang="zh-CN" sz="2800" dirty="0"/>
          </a:p>
          <a:p>
            <a:pPr eaLnBrk="1" hangingPunct="1"/>
            <a:r>
              <a:rPr lang="zh-CN" altLang="en-US" sz="2800" dirty="0"/>
              <a:t>把需要查询访问的关系都列在</a:t>
            </a:r>
            <a:r>
              <a:rPr lang="en-US" altLang="zh-CN" sz="2800" dirty="0"/>
              <a:t>FROM</a:t>
            </a:r>
            <a:r>
              <a:rPr lang="zh-CN" altLang="en-US" sz="2800" dirty="0"/>
              <a:t>子句中，然后在</a:t>
            </a:r>
            <a:r>
              <a:rPr lang="en-US" altLang="zh-CN" sz="2800" dirty="0"/>
              <a:t>where</a:t>
            </a:r>
            <a:r>
              <a:rPr lang="zh-CN" altLang="en-US" sz="2800" dirty="0"/>
              <a:t>子句中指定查询条件。</a:t>
            </a:r>
            <a:endParaRPr lang="zh-CN" altLang="en-US" sz="2800" dirty="0">
              <a:solidFill>
                <a:srgbClr val="0000FF"/>
              </a:solidFill>
            </a:endParaRPr>
          </a:p>
          <a:p>
            <a:pPr lvl="2" eaLnBrk="1" hangingPunct="1">
              <a:buNone/>
            </a:pPr>
            <a:r>
              <a:rPr lang="en-US" altLang="zh-CN" sz="2000" dirty="0"/>
              <a:t>   </a:t>
            </a:r>
            <a:r>
              <a:rPr lang="en-US" altLang="zh-CN" sz="2800" dirty="0"/>
              <a:t>SELECT </a:t>
            </a:r>
            <a:r>
              <a:rPr lang="en-US" altLang="zh-CN" sz="2800" dirty="0">
                <a:solidFill>
                  <a:schemeClr val="tx2"/>
                </a:solidFill>
              </a:rPr>
              <a:t>A</a:t>
            </a:r>
            <a:r>
              <a:rPr lang="en-US" altLang="zh-CN" sz="2800" baseline="-25000" dirty="0">
                <a:solidFill>
                  <a:schemeClr val="tx2"/>
                </a:solidFill>
              </a:rPr>
              <a:t>1</a:t>
            </a:r>
            <a:r>
              <a:rPr lang="en-US" altLang="zh-CN" sz="2800" dirty="0">
                <a:solidFill>
                  <a:schemeClr val="tx2"/>
                </a:solidFill>
              </a:rPr>
              <a:t>, A</a:t>
            </a:r>
            <a:r>
              <a:rPr lang="en-US" altLang="zh-CN" sz="2800" baseline="-25000" dirty="0">
                <a:solidFill>
                  <a:schemeClr val="tx2"/>
                </a:solidFill>
              </a:rPr>
              <a:t>2</a:t>
            </a:r>
            <a:r>
              <a:rPr lang="en-US" altLang="zh-CN" sz="2800" dirty="0">
                <a:solidFill>
                  <a:schemeClr val="tx2"/>
                </a:solidFill>
              </a:rPr>
              <a:t>, </a:t>
            </a:r>
            <a:r>
              <a:rPr lang="en-US" altLang="zh-CN" sz="2800" dirty="0">
                <a:solidFill>
                  <a:schemeClr val="tx2"/>
                </a:solidFill>
                <a:latin typeface="Arial" charset="0"/>
              </a:rPr>
              <a:t>… </a:t>
            </a:r>
            <a:r>
              <a:rPr lang="en-US" altLang="zh-CN" sz="2800" dirty="0">
                <a:solidFill>
                  <a:schemeClr val="tx2"/>
                </a:solidFill>
              </a:rPr>
              <a:t>, A</a:t>
            </a:r>
            <a:r>
              <a:rPr lang="en-US" altLang="zh-CN" sz="2800" baseline="-25000" dirty="0">
                <a:solidFill>
                  <a:schemeClr val="tx2"/>
                </a:solidFill>
              </a:rPr>
              <a:t>n</a:t>
            </a:r>
            <a:r>
              <a:rPr lang="en-US" altLang="zh-CN" sz="2800" dirty="0">
                <a:solidFill>
                  <a:schemeClr val="tx2"/>
                </a:solidFill>
              </a:rPr>
              <a:t> </a:t>
            </a:r>
          </a:p>
          <a:p>
            <a:pPr lvl="2" eaLnBrk="1" hangingPunct="1">
              <a:buNone/>
            </a:pPr>
            <a:r>
              <a:rPr lang="en-US" altLang="zh-CN" sz="2800" dirty="0"/>
              <a:t>	FROM r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 r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 ... , </a:t>
            </a:r>
            <a:r>
              <a:rPr lang="en-US" altLang="zh-CN" sz="2800" dirty="0" err="1"/>
              <a:t>r</a:t>
            </a:r>
            <a:r>
              <a:rPr lang="en-US" altLang="zh-CN" sz="2800" baseline="-25000" dirty="0" err="1"/>
              <a:t>k</a:t>
            </a:r>
            <a:r>
              <a:rPr lang="en-US" altLang="zh-CN" sz="2800" baseline="-25000" dirty="0"/>
              <a:t>  </a:t>
            </a:r>
            <a:r>
              <a:rPr lang="en-US" altLang="zh-CN" sz="2000" dirty="0"/>
              <a:t>//</a:t>
            </a:r>
            <a:r>
              <a:rPr lang="zh-CN" altLang="en-US" sz="2000" dirty="0"/>
              <a:t>定义了列出所有关系的笛卡尔积</a:t>
            </a:r>
            <a:endParaRPr lang="en-US" altLang="zh-CN" sz="2800" dirty="0"/>
          </a:p>
          <a:p>
            <a:pPr lvl="2" eaLnBrk="1" hangingPunct="1">
              <a:buNone/>
            </a:pPr>
            <a:r>
              <a:rPr lang="en-US" altLang="zh-CN" sz="2800" dirty="0"/>
              <a:t>  WHERE </a:t>
            </a:r>
            <a:r>
              <a:rPr lang="en-US" altLang="zh-CN" sz="2800" dirty="0">
                <a:solidFill>
                  <a:srgbClr val="0000FF"/>
                </a:solidFill>
              </a:rPr>
              <a:t>F</a:t>
            </a:r>
            <a:r>
              <a:rPr lang="en-US" altLang="zh-CN" sz="2800" dirty="0"/>
              <a:t>;</a:t>
            </a:r>
          </a:p>
          <a:p>
            <a:pPr eaLnBrk="1" hangingPunct="1"/>
            <a:r>
              <a:rPr lang="zh-CN" altLang="en-US" sz="2800" dirty="0"/>
              <a:t>尽管各子句必须以</a:t>
            </a:r>
            <a:r>
              <a:rPr lang="en-US" altLang="zh-CN" sz="2800" dirty="0"/>
              <a:t>select from where</a:t>
            </a:r>
            <a:r>
              <a:rPr lang="zh-CN" altLang="en-US" sz="2800" dirty="0"/>
              <a:t>的次序</a:t>
            </a:r>
            <a:r>
              <a:rPr lang="zh-CN" altLang="en-US" sz="2800" dirty="0">
                <a:solidFill>
                  <a:srgbClr val="0000FF"/>
                </a:solidFill>
              </a:rPr>
              <a:t>写</a:t>
            </a:r>
            <a:r>
              <a:rPr lang="zh-CN" altLang="en-US" sz="2800" dirty="0"/>
              <a:t>出，但查询所代表的运算是以：首先</a:t>
            </a:r>
            <a:r>
              <a:rPr lang="en-US" altLang="zh-CN" sz="2800" dirty="0"/>
              <a:t>from</a:t>
            </a:r>
            <a:r>
              <a:rPr lang="zh-CN" altLang="en-US" sz="2800" dirty="0"/>
              <a:t>，然后</a:t>
            </a:r>
            <a:r>
              <a:rPr lang="en-US" altLang="zh-CN" sz="2800" dirty="0"/>
              <a:t>where</a:t>
            </a:r>
            <a:r>
              <a:rPr lang="zh-CN" altLang="en-US" sz="2800" dirty="0"/>
              <a:t>，最后</a:t>
            </a:r>
            <a:r>
              <a:rPr lang="en-US" altLang="zh-CN" sz="2800" dirty="0"/>
              <a:t>select</a:t>
            </a:r>
            <a:r>
              <a:rPr lang="zh-CN" altLang="en-US" sz="2800" dirty="0"/>
              <a:t>的顺序来考察的。</a:t>
            </a:r>
            <a:endParaRPr lang="en-US" altLang="zh-CN" sz="28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9354F3-7378-B69E-9447-534FCD5D8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104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59480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1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1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31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31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1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31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31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31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31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31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4DA5D2AB-97B3-49C5-8DDA-9C62BF060650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9318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931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3.4.2 </a:t>
            </a:r>
            <a:r>
              <a:rPr lang="zh-CN" altLang="en-US" dirty="0"/>
              <a:t>多关系查询</a:t>
            </a:r>
          </a:p>
        </p:txBody>
      </p:sp>
      <p:sp>
        <p:nvSpPr>
          <p:cNvPr id="931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通常说来一个</a:t>
            </a:r>
            <a:r>
              <a:rPr lang="en-US" altLang="zh-CN" sz="2800" dirty="0"/>
              <a:t>SQL </a:t>
            </a:r>
            <a:r>
              <a:rPr lang="zh-CN" altLang="en-US" sz="2800" dirty="0"/>
              <a:t>查询的含义可以理解如下：</a:t>
            </a:r>
            <a:endParaRPr lang="en-US" altLang="zh-CN" sz="2800" dirty="0"/>
          </a:p>
          <a:p>
            <a:pPr lvl="1" eaLnBrk="1" hangingPunct="1"/>
            <a:r>
              <a:rPr lang="en-US" altLang="zh-CN" sz="2400" dirty="0"/>
              <a:t>1. </a:t>
            </a:r>
            <a:r>
              <a:rPr lang="zh-CN" altLang="en-US" sz="2400" dirty="0"/>
              <a:t>为</a:t>
            </a:r>
            <a:r>
              <a:rPr lang="en-US" altLang="zh-CN" sz="2400" b="1" dirty="0"/>
              <a:t>from</a:t>
            </a:r>
            <a:r>
              <a:rPr lang="zh-CN" altLang="en-US" sz="2400" b="1" dirty="0"/>
              <a:t>子句</a:t>
            </a:r>
            <a:r>
              <a:rPr lang="zh-CN" altLang="en-US" sz="2400" dirty="0"/>
              <a:t>中列出的关系产生笛卡儿积；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/>
              <a:t>2. </a:t>
            </a:r>
            <a:r>
              <a:rPr lang="zh-CN" altLang="en-US" sz="2400" dirty="0"/>
              <a:t>在步骤</a:t>
            </a:r>
            <a:r>
              <a:rPr lang="en-US" altLang="zh-CN" sz="2400" dirty="0"/>
              <a:t>1</a:t>
            </a:r>
            <a:r>
              <a:rPr lang="zh-CN" altLang="en-US" sz="2400" dirty="0"/>
              <a:t>的结果上应用</a:t>
            </a:r>
            <a:r>
              <a:rPr lang="en-US" altLang="zh-CN" sz="2400" b="1" dirty="0"/>
              <a:t>where</a:t>
            </a:r>
            <a:r>
              <a:rPr lang="zh-CN" altLang="en-US" sz="2400" b="1" dirty="0"/>
              <a:t>子句中指定的谓词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/>
              <a:t>3. </a:t>
            </a:r>
            <a:r>
              <a:rPr lang="zh-CN" altLang="en-US" sz="2400" dirty="0"/>
              <a:t>对于步骤</a:t>
            </a:r>
            <a:r>
              <a:rPr lang="en-US" altLang="zh-CN" sz="2400" dirty="0"/>
              <a:t>2</a:t>
            </a:r>
            <a:r>
              <a:rPr lang="zh-CN" altLang="en-US" sz="2400" dirty="0"/>
              <a:t>的结果中的每个元组，输出</a:t>
            </a:r>
            <a:r>
              <a:rPr lang="en-US" altLang="zh-CN" sz="2400" b="1" dirty="0"/>
              <a:t>select</a:t>
            </a:r>
            <a:r>
              <a:rPr lang="zh-CN" altLang="en-US" sz="2400" b="1" dirty="0"/>
              <a:t>子句中指定的属性</a:t>
            </a:r>
            <a:r>
              <a:rPr lang="zh-CN" altLang="en-US" sz="2400" dirty="0"/>
              <a:t>（或表达式的结果）。</a:t>
            </a:r>
            <a:endParaRPr lang="en-US" altLang="zh-CN" sz="24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BC5F894-98F5-9C4F-A8CC-311BAAD99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105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9810276"/>
      </p:ext>
    </p:extLst>
  </p:cSld>
  <p:clrMapOvr>
    <a:masterClrMapping/>
  </p:clrMapOvr>
  <p:transition>
    <p:fade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0EB62A95-9DB4-4504-9167-00DBFED427FB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1059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105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3.4.3. </a:t>
            </a:r>
            <a:r>
              <a:rPr lang="zh-CN" altLang="en-US" dirty="0"/>
              <a:t>嵌套查询</a:t>
            </a:r>
            <a:r>
              <a:rPr lang="en-US" altLang="zh-CN" dirty="0"/>
              <a:t>(</a:t>
            </a:r>
            <a:r>
              <a:rPr lang="zh-CN" altLang="en-US" dirty="0"/>
              <a:t>教材</a:t>
            </a:r>
            <a:r>
              <a:rPr lang="en-US" altLang="zh-CN" dirty="0"/>
              <a:t>3.8)</a:t>
            </a:r>
            <a:endParaRPr lang="zh-CN" altLang="en-US" dirty="0"/>
          </a:p>
        </p:txBody>
      </p:sp>
      <p:sp>
        <p:nvSpPr>
          <p:cNvPr id="1105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在</a:t>
            </a:r>
            <a:r>
              <a:rPr lang="en-US" altLang="zh-CN" sz="2800" dirty="0"/>
              <a:t>SQL</a:t>
            </a:r>
            <a:r>
              <a:rPr lang="zh-CN" altLang="en-US" sz="2800" dirty="0"/>
              <a:t>语言中，一个</a:t>
            </a:r>
            <a:r>
              <a:rPr lang="en-US" altLang="zh-CN" sz="2800" dirty="0">
                <a:solidFill>
                  <a:srgbClr val="0000FF"/>
                </a:solidFill>
              </a:rPr>
              <a:t>SELECT-FROM-WHERE</a:t>
            </a:r>
            <a:r>
              <a:rPr lang="zh-CN" altLang="en-US" sz="2800" dirty="0">
                <a:solidFill>
                  <a:srgbClr val="800080"/>
                </a:solidFill>
              </a:rPr>
              <a:t>语句</a:t>
            </a:r>
            <a:r>
              <a:rPr lang="zh-CN" altLang="en-US" sz="2800" dirty="0"/>
              <a:t>称为一个</a:t>
            </a:r>
            <a:r>
              <a:rPr lang="zh-CN" altLang="en-US" sz="2800" dirty="0">
                <a:solidFill>
                  <a:srgbClr val="0000FF"/>
                </a:solidFill>
              </a:rPr>
              <a:t>查询块 </a:t>
            </a:r>
            <a:r>
              <a:rPr lang="en-US" altLang="zh-CN" sz="2800" dirty="0">
                <a:solidFill>
                  <a:srgbClr val="0000FF"/>
                </a:solidFill>
              </a:rPr>
              <a:t>SFW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eaLnBrk="1" hangingPunct="1"/>
            <a:r>
              <a:rPr lang="zh-CN" altLang="en-US" sz="2800" dirty="0"/>
              <a:t>将</a:t>
            </a:r>
            <a:r>
              <a:rPr lang="zh-CN" altLang="en-US" sz="2800" b="1" dirty="0"/>
              <a:t>一个查询块</a:t>
            </a:r>
            <a:r>
              <a:rPr lang="zh-CN" altLang="en-US" sz="2800" dirty="0">
                <a:solidFill>
                  <a:srgbClr val="C00000"/>
                </a:solidFill>
              </a:rPr>
              <a:t>嵌套</a:t>
            </a:r>
            <a:r>
              <a:rPr lang="zh-CN" altLang="en-US" sz="2800" dirty="0"/>
              <a:t>在</a:t>
            </a:r>
            <a:r>
              <a:rPr lang="zh-CN" altLang="en-US" sz="2800" b="1" dirty="0"/>
              <a:t>另一个查询块</a:t>
            </a:r>
            <a:r>
              <a:rPr lang="zh-CN" altLang="en-US" sz="2800" dirty="0"/>
              <a:t>的</a:t>
            </a:r>
            <a:r>
              <a:rPr lang="en-US" altLang="zh-CN" sz="2800" dirty="0">
                <a:solidFill>
                  <a:srgbClr val="0000FF"/>
                </a:solidFill>
              </a:rPr>
              <a:t>WHERE</a:t>
            </a:r>
            <a:r>
              <a:rPr lang="zh-CN" altLang="en-US" sz="2800" dirty="0">
                <a:solidFill>
                  <a:srgbClr val="0000FF"/>
                </a:solidFill>
              </a:rPr>
              <a:t>子句</a:t>
            </a:r>
            <a:r>
              <a:rPr lang="zh-CN" altLang="en-US" sz="2800" dirty="0"/>
              <a:t>或</a:t>
            </a:r>
            <a:r>
              <a:rPr lang="en-US" altLang="zh-CN" sz="2800" dirty="0">
                <a:solidFill>
                  <a:srgbClr val="0000FF"/>
                </a:solidFill>
              </a:rPr>
              <a:t>HAVING</a:t>
            </a:r>
            <a:r>
              <a:rPr lang="zh-CN" altLang="en-US" sz="2800" dirty="0">
                <a:solidFill>
                  <a:srgbClr val="0000FF"/>
                </a:solidFill>
              </a:rPr>
              <a:t>短语</a:t>
            </a:r>
            <a:r>
              <a:rPr lang="zh-CN" altLang="en-US" sz="2800" dirty="0"/>
              <a:t>的</a:t>
            </a:r>
            <a:r>
              <a:rPr lang="zh-CN" altLang="en-US" sz="2800" b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条件</a:t>
            </a:r>
            <a:r>
              <a:rPr lang="zh-CN" altLang="en-US" sz="2800" dirty="0"/>
              <a:t>中的</a:t>
            </a:r>
            <a:r>
              <a:rPr lang="zh-CN" altLang="en-US" sz="2800" b="1" dirty="0"/>
              <a:t>查询</a:t>
            </a:r>
            <a:r>
              <a:rPr lang="zh-CN" altLang="en-US" sz="2800" dirty="0"/>
              <a:t>称为</a:t>
            </a:r>
            <a:r>
              <a:rPr lang="zh-CN" altLang="en-US" sz="2800" dirty="0">
                <a:solidFill>
                  <a:srgbClr val="C00000"/>
                </a:solidFill>
              </a:rPr>
              <a:t>嵌套查询</a:t>
            </a:r>
            <a:r>
              <a:rPr lang="zh-CN" altLang="en-US" sz="2800" dirty="0">
                <a:solidFill>
                  <a:srgbClr val="0000FF"/>
                </a:solidFill>
              </a:rPr>
              <a:t>或</a:t>
            </a:r>
            <a:r>
              <a:rPr lang="zh-CN" altLang="en-US" sz="2800" dirty="0">
                <a:solidFill>
                  <a:srgbClr val="C00000"/>
                </a:solidFill>
              </a:rPr>
              <a:t>子查询</a:t>
            </a:r>
            <a:r>
              <a:rPr lang="zh-CN" altLang="en-US" sz="2800" dirty="0"/>
              <a:t>。例如： </a:t>
            </a:r>
            <a:endParaRPr lang="en-US" altLang="zh-CN" sz="2800" dirty="0"/>
          </a:p>
          <a:p>
            <a:pPr marL="400050" lvl="1" indent="0" eaLnBrk="1" hangingPunct="1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altLang="zh-CN" dirty="0"/>
              <a:t>SELECT </a:t>
            </a:r>
            <a:r>
              <a:rPr lang="en-US" altLang="zh-CN" dirty="0" err="1"/>
              <a:t>Sname</a:t>
            </a:r>
            <a:r>
              <a:rPr lang="en-US" altLang="zh-CN" dirty="0"/>
              <a:t> </a:t>
            </a:r>
            <a:br>
              <a:rPr lang="en-US" altLang="zh-CN" dirty="0"/>
            </a:br>
            <a:r>
              <a:rPr lang="en-US" altLang="zh-CN" dirty="0"/>
              <a:t>FROM Student</a:t>
            </a:r>
            <a:br>
              <a:rPr lang="en-US" altLang="zh-CN" dirty="0"/>
            </a:br>
            <a:r>
              <a:rPr lang="en-US" altLang="zh-CN" dirty="0">
                <a:solidFill>
                  <a:srgbClr val="0000FF"/>
                </a:solidFill>
              </a:rPr>
              <a:t>WHERE </a:t>
            </a:r>
            <a:r>
              <a:rPr lang="en-US" altLang="zh-CN" dirty="0" err="1"/>
              <a:t>Sno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C00000"/>
                </a:solidFill>
              </a:rPr>
              <a:t>IN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br>
              <a:rPr lang="en-US" altLang="zh-CN" dirty="0"/>
            </a:br>
            <a:r>
              <a:rPr lang="en-US" altLang="zh-CN" dirty="0">
                <a:latin typeface="Arial" charset="0"/>
              </a:rPr>
              <a:t>     </a:t>
            </a:r>
            <a:r>
              <a:rPr lang="en-US" altLang="zh-CN" dirty="0"/>
              <a:t> (</a:t>
            </a:r>
            <a:r>
              <a:rPr lang="en-US" altLang="zh-CN" dirty="0">
                <a:solidFill>
                  <a:srgbClr val="006600"/>
                </a:solidFill>
              </a:rPr>
              <a:t>SELECT </a:t>
            </a:r>
            <a:r>
              <a:rPr lang="en-US" altLang="zh-CN" dirty="0" err="1">
                <a:solidFill>
                  <a:srgbClr val="006600"/>
                </a:solidFill>
              </a:rPr>
              <a:t>Sno</a:t>
            </a:r>
            <a:r>
              <a:rPr lang="en-US" altLang="zh-CN" dirty="0">
                <a:solidFill>
                  <a:srgbClr val="006600"/>
                </a:solidFill>
              </a:rPr>
              <a:t> </a:t>
            </a:r>
            <a:br>
              <a:rPr lang="en-US" altLang="zh-CN" dirty="0">
                <a:solidFill>
                  <a:srgbClr val="006600"/>
                </a:solidFill>
              </a:rPr>
            </a:br>
            <a:r>
              <a:rPr lang="en-US" altLang="zh-CN" dirty="0">
                <a:solidFill>
                  <a:srgbClr val="006600"/>
                </a:solidFill>
                <a:latin typeface="Arial" charset="0"/>
              </a:rPr>
              <a:t>     </a:t>
            </a:r>
            <a:r>
              <a:rPr lang="en-US" altLang="zh-CN" dirty="0">
                <a:solidFill>
                  <a:srgbClr val="006600"/>
                </a:solidFill>
              </a:rPr>
              <a:t> FROM SC </a:t>
            </a:r>
            <a:br>
              <a:rPr lang="en-US" altLang="zh-CN" dirty="0">
                <a:solidFill>
                  <a:srgbClr val="006600"/>
                </a:solidFill>
              </a:rPr>
            </a:br>
            <a:r>
              <a:rPr lang="en-US" altLang="zh-CN" dirty="0">
                <a:solidFill>
                  <a:srgbClr val="006600"/>
                </a:solidFill>
                <a:latin typeface="Arial" charset="0"/>
              </a:rPr>
              <a:t>     </a:t>
            </a:r>
            <a:r>
              <a:rPr lang="en-US" altLang="zh-CN" dirty="0">
                <a:solidFill>
                  <a:srgbClr val="006600"/>
                </a:solidFill>
              </a:rPr>
              <a:t> WHERE </a:t>
            </a:r>
            <a:r>
              <a:rPr lang="en-US" altLang="zh-CN" dirty="0" err="1">
                <a:solidFill>
                  <a:srgbClr val="006600"/>
                </a:solidFill>
              </a:rPr>
              <a:t>Cno</a:t>
            </a:r>
            <a:r>
              <a:rPr lang="en-US" altLang="zh-CN" dirty="0">
                <a:solidFill>
                  <a:srgbClr val="006600"/>
                </a:solidFill>
              </a:rPr>
              <a:t>=</a:t>
            </a:r>
            <a:r>
              <a:rPr lang="en-US" altLang="zh-CN" dirty="0">
                <a:solidFill>
                  <a:srgbClr val="006600"/>
                </a:solidFill>
                <a:latin typeface="Arial" charset="0"/>
              </a:rPr>
              <a:t>‘</a:t>
            </a:r>
            <a:r>
              <a:rPr lang="en-US" altLang="zh-CN" dirty="0">
                <a:solidFill>
                  <a:srgbClr val="006600"/>
                </a:solidFill>
              </a:rPr>
              <a:t>2</a:t>
            </a:r>
            <a:r>
              <a:rPr lang="en-US" altLang="zh-CN" dirty="0">
                <a:solidFill>
                  <a:srgbClr val="006600"/>
                </a:solidFill>
                <a:latin typeface="Arial" charset="0"/>
              </a:rPr>
              <a:t>’</a:t>
            </a:r>
            <a:r>
              <a:rPr lang="en-US" altLang="zh-CN" dirty="0"/>
              <a:t>);</a:t>
            </a:r>
            <a:endParaRPr lang="zh-CN" altLang="en-US" dirty="0"/>
          </a:p>
        </p:txBody>
      </p:sp>
      <p:sp>
        <p:nvSpPr>
          <p:cNvPr id="7" name="AutoShape 9"/>
          <p:cNvSpPr>
            <a:spLocks noChangeArrowheads="1"/>
          </p:cNvSpPr>
          <p:nvPr/>
        </p:nvSpPr>
        <p:spPr bwMode="auto">
          <a:xfrm>
            <a:off x="5181600" y="4800600"/>
            <a:ext cx="1825625" cy="914400"/>
          </a:xfrm>
          <a:prstGeom prst="wedgeRectCallout">
            <a:avLst>
              <a:gd name="adj1" fmla="val -126865"/>
              <a:gd name="adj2" fmla="val -7868"/>
            </a:avLst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35000"/>
              </a:spcBef>
              <a:buClr>
                <a:schemeClr val="bg1"/>
              </a:buClr>
            </a:pPr>
            <a:r>
              <a:rPr lang="zh-CN" altLang="en-US" sz="2800" dirty="0">
                <a:solidFill>
                  <a:srgbClr val="0000FF"/>
                </a:solidFill>
                <a:latin typeface="Helvetica" pitchFamily="34" charset="0"/>
              </a:rPr>
              <a:t>子查询</a:t>
            </a:r>
            <a:r>
              <a:rPr lang="zh-CN" altLang="en-US" sz="2800" dirty="0">
                <a:latin typeface="Helvetica" pitchFamily="34" charset="0"/>
              </a:rPr>
              <a:t>或</a:t>
            </a:r>
            <a:r>
              <a:rPr lang="zh-CN" altLang="en-US" sz="2800" dirty="0">
                <a:solidFill>
                  <a:srgbClr val="0000FF"/>
                </a:solidFill>
                <a:latin typeface="Helvetica" pitchFamily="34" charset="0"/>
              </a:rPr>
              <a:t>内层查询</a:t>
            </a:r>
          </a:p>
        </p:txBody>
      </p:sp>
      <p:sp>
        <p:nvSpPr>
          <p:cNvPr id="8" name="AutoShape 9"/>
          <p:cNvSpPr>
            <a:spLocks noChangeArrowheads="1"/>
          </p:cNvSpPr>
          <p:nvPr/>
        </p:nvSpPr>
        <p:spPr bwMode="auto">
          <a:xfrm>
            <a:off x="4876800" y="3322637"/>
            <a:ext cx="1752599" cy="944563"/>
          </a:xfrm>
          <a:prstGeom prst="wedgeRectCallout">
            <a:avLst>
              <a:gd name="adj1" fmla="val -127706"/>
              <a:gd name="adj2" fmla="val 28422"/>
            </a:avLst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35000"/>
              </a:spcBef>
              <a:buClr>
                <a:schemeClr val="bg1"/>
              </a:buClr>
            </a:pPr>
            <a:r>
              <a:rPr lang="zh-CN" altLang="en-US" sz="2800" dirty="0">
                <a:solidFill>
                  <a:srgbClr val="0000FF"/>
                </a:solidFill>
                <a:latin typeface="Helvetica" pitchFamily="34" charset="0"/>
              </a:rPr>
              <a:t>父查询</a:t>
            </a:r>
            <a:r>
              <a:rPr lang="zh-CN" altLang="en-US" sz="2800" dirty="0">
                <a:latin typeface="Helvetica" pitchFamily="34" charset="0"/>
              </a:rPr>
              <a:t>或</a:t>
            </a:r>
            <a:r>
              <a:rPr lang="zh-CN" altLang="en-US" sz="2800" dirty="0">
                <a:solidFill>
                  <a:srgbClr val="0000FF"/>
                </a:solidFill>
                <a:latin typeface="Helvetica" pitchFamily="34" charset="0"/>
              </a:rPr>
              <a:t>外层查询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981200" y="6243638"/>
            <a:ext cx="518160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查询选了</a:t>
            </a:r>
            <a:r>
              <a:rPr lang="en-US" altLang="zh-CN" dirty="0"/>
              <a:t>2</a:t>
            </a:r>
            <a:r>
              <a:rPr lang="zh-CN" altLang="en-US" dirty="0"/>
              <a:t>号课程的学生的姓名。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71A4808-B58E-750E-1C5C-7BCC4A777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106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05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05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05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05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2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F6C9FAB-35E0-4323-B7FB-36D44D697EBA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1161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116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3.4.3. </a:t>
            </a:r>
            <a:r>
              <a:rPr lang="zh-CN" altLang="en-US" dirty="0"/>
              <a:t>嵌套查询</a:t>
            </a:r>
          </a:p>
        </p:txBody>
      </p:sp>
      <p:sp>
        <p:nvSpPr>
          <p:cNvPr id="1116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通常，嵌套查询的求解方法是</a:t>
            </a:r>
            <a:r>
              <a:rPr lang="zh-CN" altLang="en-US" b="1" dirty="0">
                <a:solidFill>
                  <a:srgbClr val="FF0000"/>
                </a:solidFill>
              </a:rPr>
              <a:t>由里向外</a:t>
            </a:r>
            <a:r>
              <a:rPr lang="zh-CN" altLang="en-US" dirty="0"/>
              <a:t>处理。即每个</a:t>
            </a:r>
            <a:r>
              <a:rPr lang="zh-CN" altLang="en-US" dirty="0">
                <a:solidFill>
                  <a:srgbClr val="C00000"/>
                </a:solidFill>
              </a:rPr>
              <a:t>子查询</a:t>
            </a:r>
            <a:r>
              <a:rPr lang="zh-CN" altLang="en-US" dirty="0"/>
              <a:t>在其上一级查询</a:t>
            </a:r>
            <a:r>
              <a:rPr lang="zh-CN" altLang="en-US" dirty="0">
                <a:solidFill>
                  <a:srgbClr val="0000FF"/>
                </a:solidFill>
              </a:rPr>
              <a:t>处理之前求解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0000FF"/>
                </a:solidFill>
              </a:rPr>
              <a:t>子查询的结果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用于</a:t>
            </a:r>
            <a:r>
              <a:rPr lang="zh-CN" altLang="en-US" dirty="0"/>
              <a:t>建立其</a:t>
            </a:r>
            <a:r>
              <a:rPr lang="zh-CN" altLang="en-US" dirty="0">
                <a:solidFill>
                  <a:srgbClr val="C00000"/>
                </a:solidFill>
              </a:rPr>
              <a:t>父查询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00FF"/>
                </a:solidFill>
              </a:rPr>
              <a:t>查找条件</a:t>
            </a:r>
            <a:r>
              <a:rPr lang="zh-CN" altLang="en-US" dirty="0"/>
              <a:t>。 　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嵌套查询使得可以用</a:t>
            </a:r>
            <a:r>
              <a:rPr lang="zh-CN" altLang="en-US" dirty="0">
                <a:solidFill>
                  <a:srgbClr val="0000FF"/>
                </a:solidFill>
              </a:rPr>
              <a:t>一系列简单查询</a:t>
            </a:r>
            <a:r>
              <a:rPr lang="zh-CN" altLang="en-US" dirty="0">
                <a:solidFill>
                  <a:srgbClr val="C00000"/>
                </a:solidFill>
              </a:rPr>
              <a:t>构成</a:t>
            </a:r>
            <a:r>
              <a:rPr lang="zh-CN" altLang="en-US" dirty="0">
                <a:solidFill>
                  <a:srgbClr val="0000FF"/>
                </a:solidFill>
              </a:rPr>
              <a:t>复杂的查询</a:t>
            </a:r>
            <a:r>
              <a:rPr lang="zh-CN" altLang="en-US" dirty="0"/>
              <a:t>，从而明显地</a:t>
            </a:r>
            <a:r>
              <a:rPr lang="zh-CN" altLang="en-US" u="sng" dirty="0"/>
              <a:t>增强了</a:t>
            </a:r>
            <a:r>
              <a:rPr lang="en-US" altLang="zh-CN" u="sng" dirty="0"/>
              <a:t>SQL</a:t>
            </a:r>
            <a:r>
              <a:rPr lang="zh-CN" altLang="en-US" u="sng" dirty="0"/>
              <a:t>的查询能力</a:t>
            </a:r>
            <a:r>
              <a:rPr lang="zh-CN" altLang="en-US" dirty="0"/>
              <a:t>。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以</a:t>
            </a:r>
            <a:r>
              <a:rPr lang="zh-CN" altLang="en-US" dirty="0">
                <a:solidFill>
                  <a:srgbClr val="C00000"/>
                </a:solidFill>
              </a:rPr>
              <a:t>层层嵌套</a:t>
            </a:r>
            <a:r>
              <a:rPr lang="zh-CN" altLang="en-US" dirty="0"/>
              <a:t>的方式来</a:t>
            </a:r>
            <a:r>
              <a:rPr lang="zh-CN" altLang="en-US" u="sng" dirty="0"/>
              <a:t>构造程序</a:t>
            </a:r>
            <a:r>
              <a:rPr lang="zh-CN" altLang="en-US" dirty="0"/>
              <a:t>正是 </a:t>
            </a:r>
            <a:r>
              <a:rPr lang="en-US" altLang="zh-CN" dirty="0"/>
              <a:t>SQL (Structured Query Language)</a:t>
            </a:r>
            <a:r>
              <a:rPr lang="zh-CN" altLang="en-US" dirty="0"/>
              <a:t>中</a:t>
            </a:r>
            <a:r>
              <a:rPr lang="zh-CN" altLang="en-US" dirty="0">
                <a:solidFill>
                  <a:srgbClr val="FF0000"/>
                </a:solidFill>
              </a:rPr>
              <a:t>“</a:t>
            </a:r>
            <a:r>
              <a:rPr lang="zh-CN" altLang="en-US" b="1" dirty="0">
                <a:solidFill>
                  <a:srgbClr val="FF0000"/>
                </a:solidFill>
              </a:rPr>
              <a:t>结构化</a:t>
            </a:r>
            <a:r>
              <a:rPr lang="zh-CN" altLang="en-US" dirty="0">
                <a:solidFill>
                  <a:srgbClr val="FF0000"/>
                </a:solidFill>
              </a:rPr>
              <a:t>”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含义所在</a:t>
            </a:r>
            <a:r>
              <a:rPr lang="zh-CN" altLang="en-US" dirty="0">
                <a:solidFill>
                  <a:srgbClr val="000080"/>
                </a:solidFill>
              </a:rPr>
              <a:t>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F032578-DB53-D413-791D-39DB3436C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107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16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16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16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16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BAD96D-6364-4777-77AD-3F554C2DA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3.4.3. </a:t>
            </a:r>
            <a:r>
              <a:rPr lang="zh-CN" altLang="en-US" dirty="0"/>
              <a:t>嵌套查询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00571B-E8DE-CFE2-C8BC-63CE47954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A50D8E-3595-43A1-B3C9-45C1AA8A1F59}" type="datetime1">
              <a:rPr lang="zh-CN" altLang="en-US" smtClean="0"/>
              <a:t>2025/9/24</a:t>
            </a:fld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41DFD6-9CE2-4E06-3E84-28E3E5334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《数据库系统概论》- 第3章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3C79A7B-7018-5ED8-780E-09D5BFD3E78C}"/>
              </a:ext>
            </a:extLst>
          </p:cNvPr>
          <p:cNvSpPr txBox="1"/>
          <p:nvPr/>
        </p:nvSpPr>
        <p:spPr>
          <a:xfrm>
            <a:off x="838200" y="1752600"/>
            <a:ext cx="78486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/>
              <a:t>classroom(</a:t>
            </a:r>
            <a:r>
              <a:rPr lang="zh-CN" altLang="en-US" sz="2000" u="sng" dirty="0"/>
              <a:t>building</a:t>
            </a:r>
            <a:r>
              <a:rPr lang="zh-CN" altLang="en-US" sz="2000" dirty="0"/>
              <a:t>, </a:t>
            </a:r>
            <a:r>
              <a:rPr lang="zh-CN" altLang="en-US" sz="2000" u="sng" dirty="0"/>
              <a:t>room</a:t>
            </a:r>
            <a:r>
              <a:rPr lang="en-US" altLang="zh-CN" sz="2000" u="sng" dirty="0"/>
              <a:t>_</a:t>
            </a:r>
            <a:r>
              <a:rPr lang="zh-CN" altLang="en-US" sz="2000" u="sng" dirty="0"/>
              <a:t>number</a:t>
            </a:r>
            <a:r>
              <a:rPr lang="zh-CN" altLang="en-US" sz="2000" dirty="0"/>
              <a:t>, capacity) </a:t>
            </a:r>
            <a:r>
              <a:rPr lang="en-US" altLang="zh-CN" sz="2000" dirty="0"/>
              <a:t>//</a:t>
            </a:r>
            <a:r>
              <a:rPr lang="zh-CN" altLang="en-US" sz="2000" dirty="0"/>
              <a:t>教室</a:t>
            </a:r>
            <a:endParaRPr lang="en-US" altLang="zh-CN" sz="2000" dirty="0"/>
          </a:p>
          <a:p>
            <a:pPr algn="l"/>
            <a:r>
              <a:rPr lang="zh-CN" altLang="en-US" sz="2000" dirty="0"/>
              <a:t>department(</a:t>
            </a:r>
            <a:r>
              <a:rPr lang="zh-CN" altLang="en-US" sz="2000" u="sng" dirty="0"/>
              <a:t>dept</a:t>
            </a:r>
            <a:r>
              <a:rPr lang="en-US" altLang="zh-CN" sz="2000" u="sng" dirty="0"/>
              <a:t>_</a:t>
            </a:r>
            <a:r>
              <a:rPr lang="zh-CN" altLang="en-US" sz="2000" u="sng" dirty="0"/>
              <a:t>name</a:t>
            </a:r>
            <a:r>
              <a:rPr lang="zh-CN" altLang="en-US" sz="2000" dirty="0"/>
              <a:t>, building, budget)</a:t>
            </a:r>
            <a:r>
              <a:rPr lang="en-US" altLang="zh-CN" sz="2000" dirty="0"/>
              <a:t>  //</a:t>
            </a:r>
            <a:r>
              <a:rPr lang="zh-CN" altLang="en-US" sz="2000" dirty="0"/>
              <a:t>系别</a:t>
            </a:r>
            <a:endParaRPr lang="en-US" altLang="zh-CN" sz="2000" dirty="0"/>
          </a:p>
          <a:p>
            <a:pPr algn="l"/>
            <a:r>
              <a:rPr lang="zh-CN" altLang="en-US" sz="2000" dirty="0"/>
              <a:t>course(</a:t>
            </a:r>
            <a:r>
              <a:rPr lang="zh-CN" altLang="en-US" sz="2000" u="sng" dirty="0"/>
              <a:t>course</a:t>
            </a:r>
            <a:r>
              <a:rPr lang="en-US" altLang="zh-CN" sz="2000" u="sng" dirty="0"/>
              <a:t>_</a:t>
            </a:r>
            <a:r>
              <a:rPr lang="zh-CN" altLang="en-US" sz="2000" u="sng" dirty="0"/>
              <a:t>id</a:t>
            </a:r>
            <a:r>
              <a:rPr lang="zh-CN" altLang="en-US" sz="2000" dirty="0"/>
              <a:t>, title, </a:t>
            </a:r>
            <a:r>
              <a:rPr lang="zh-CN" altLang="en-US" sz="2000" dirty="0">
                <a:solidFill>
                  <a:srgbClr val="0000FF"/>
                </a:solidFill>
              </a:rPr>
              <a:t>dept</a:t>
            </a:r>
            <a:r>
              <a:rPr lang="en-US" altLang="zh-CN" sz="2000" dirty="0">
                <a:solidFill>
                  <a:srgbClr val="0000FF"/>
                </a:solidFill>
              </a:rPr>
              <a:t>_</a:t>
            </a:r>
            <a:r>
              <a:rPr lang="zh-CN" altLang="en-US" sz="2000" dirty="0">
                <a:solidFill>
                  <a:srgbClr val="0000FF"/>
                </a:solidFill>
              </a:rPr>
              <a:t>name</a:t>
            </a:r>
            <a:r>
              <a:rPr lang="zh-CN" altLang="en-US" sz="2000" dirty="0"/>
              <a:t>, credits)</a:t>
            </a:r>
            <a:r>
              <a:rPr lang="en-US" altLang="zh-CN" sz="2000" dirty="0"/>
              <a:t>  //</a:t>
            </a:r>
            <a:r>
              <a:rPr lang="zh-CN" altLang="en-US" sz="2000" dirty="0"/>
              <a:t>课程</a:t>
            </a:r>
            <a:endParaRPr lang="en-US" altLang="zh-CN" sz="2000" dirty="0"/>
          </a:p>
          <a:p>
            <a:pPr algn="l"/>
            <a:r>
              <a:rPr lang="zh-CN" altLang="en-US" sz="2000" dirty="0"/>
              <a:t>instructor(</a:t>
            </a:r>
            <a:r>
              <a:rPr lang="zh-CN" altLang="en-US" sz="2000" u="sng" dirty="0"/>
              <a:t>ID</a:t>
            </a:r>
            <a:r>
              <a:rPr lang="zh-CN" altLang="en-US" sz="2000" dirty="0"/>
              <a:t>, name, </a:t>
            </a:r>
            <a:r>
              <a:rPr lang="zh-CN" altLang="en-US" sz="2000" dirty="0">
                <a:solidFill>
                  <a:srgbClr val="0000FF"/>
                </a:solidFill>
              </a:rPr>
              <a:t>dept</a:t>
            </a:r>
            <a:r>
              <a:rPr lang="en-US" altLang="zh-CN" sz="2000" dirty="0">
                <a:solidFill>
                  <a:srgbClr val="0000FF"/>
                </a:solidFill>
              </a:rPr>
              <a:t>_</a:t>
            </a:r>
            <a:r>
              <a:rPr lang="zh-CN" altLang="en-US" sz="2000" dirty="0">
                <a:solidFill>
                  <a:srgbClr val="0000FF"/>
                </a:solidFill>
              </a:rPr>
              <a:t>name</a:t>
            </a:r>
            <a:r>
              <a:rPr lang="zh-CN" altLang="en-US" sz="2000" dirty="0"/>
              <a:t>, salary)   </a:t>
            </a:r>
            <a:r>
              <a:rPr lang="en-US" altLang="zh-CN" sz="2000" dirty="0"/>
              <a:t>//</a:t>
            </a:r>
            <a:r>
              <a:rPr lang="zh-CN" altLang="en-US" sz="2000" dirty="0"/>
              <a:t>讲师</a:t>
            </a:r>
            <a:endParaRPr lang="en-US" altLang="zh-CN" sz="2000" dirty="0"/>
          </a:p>
          <a:p>
            <a:pPr algn="l"/>
            <a:r>
              <a:rPr lang="zh-CN" altLang="en-US" sz="2000" dirty="0"/>
              <a:t>section (</a:t>
            </a:r>
            <a:r>
              <a:rPr lang="zh-CN" altLang="en-US" sz="2000" u="sng" dirty="0"/>
              <a:t>course</a:t>
            </a:r>
            <a:r>
              <a:rPr lang="en-US" altLang="zh-CN" sz="2000" u="sng" dirty="0"/>
              <a:t>_</a:t>
            </a:r>
            <a:r>
              <a:rPr lang="zh-CN" altLang="en-US" sz="2000" u="sng" dirty="0"/>
              <a:t>id</a:t>
            </a:r>
            <a:r>
              <a:rPr lang="zh-CN" altLang="en-US" sz="2000" dirty="0"/>
              <a:t>, </a:t>
            </a:r>
            <a:r>
              <a:rPr lang="zh-CN" altLang="en-US" sz="2000" u="sng" dirty="0"/>
              <a:t>sec</a:t>
            </a:r>
            <a:r>
              <a:rPr lang="en-US" altLang="zh-CN" sz="2000" u="sng" dirty="0"/>
              <a:t>_</a:t>
            </a:r>
            <a:r>
              <a:rPr lang="zh-CN" altLang="en-US" sz="2000" u="sng" dirty="0"/>
              <a:t>id</a:t>
            </a:r>
            <a:r>
              <a:rPr lang="zh-CN" altLang="en-US" sz="2000" dirty="0"/>
              <a:t>, </a:t>
            </a:r>
            <a:r>
              <a:rPr lang="zh-CN" altLang="en-US" sz="2000" u="sng" dirty="0"/>
              <a:t>semester</a:t>
            </a:r>
            <a:r>
              <a:rPr lang="zh-CN" altLang="en-US" sz="2000" dirty="0"/>
              <a:t>, </a:t>
            </a:r>
            <a:r>
              <a:rPr lang="zh-CN" altLang="en-US" sz="2000" u="sng" dirty="0"/>
              <a:t>year</a:t>
            </a:r>
            <a:r>
              <a:rPr lang="zh-CN" altLang="en-US" sz="2000" dirty="0"/>
              <a:t>, </a:t>
            </a:r>
            <a:r>
              <a:rPr lang="zh-CN" altLang="en-US" sz="2000" dirty="0">
                <a:solidFill>
                  <a:srgbClr val="0000FF"/>
                </a:solidFill>
              </a:rPr>
              <a:t>building, room</a:t>
            </a:r>
            <a:r>
              <a:rPr lang="en-US" altLang="zh-CN" sz="2000" dirty="0">
                <a:solidFill>
                  <a:srgbClr val="0000FF"/>
                </a:solidFill>
              </a:rPr>
              <a:t>_</a:t>
            </a:r>
            <a:r>
              <a:rPr lang="zh-CN" altLang="en-US" sz="2000" dirty="0">
                <a:solidFill>
                  <a:srgbClr val="0000FF"/>
                </a:solidFill>
              </a:rPr>
              <a:t>number</a:t>
            </a:r>
            <a:r>
              <a:rPr lang="zh-CN" altLang="en-US" sz="2000" dirty="0"/>
              <a:t>, time</a:t>
            </a:r>
            <a:r>
              <a:rPr lang="en-US" altLang="zh-CN" sz="2000" dirty="0"/>
              <a:t>_</a:t>
            </a:r>
            <a:r>
              <a:rPr lang="zh-CN" altLang="en-US" sz="2000" dirty="0"/>
              <a:t>slot</a:t>
            </a:r>
            <a:r>
              <a:rPr lang="en-US" altLang="zh-CN" sz="2000" dirty="0"/>
              <a:t>_</a:t>
            </a:r>
            <a:r>
              <a:rPr lang="zh-CN" altLang="en-US" sz="2000" dirty="0"/>
              <a:t>id)</a:t>
            </a:r>
            <a:r>
              <a:rPr lang="en-US" altLang="zh-CN" sz="2000" dirty="0"/>
              <a:t> // </a:t>
            </a:r>
            <a:r>
              <a:rPr lang="zh-CN" altLang="en-US" sz="2000" dirty="0"/>
              <a:t>课程开设情况</a:t>
            </a:r>
            <a:endParaRPr lang="en-US" altLang="zh-CN" sz="2000" dirty="0"/>
          </a:p>
          <a:p>
            <a:pPr algn="l"/>
            <a:r>
              <a:rPr lang="zh-CN" altLang="en-US" sz="2000" dirty="0"/>
              <a:t>teaches(</a:t>
            </a:r>
            <a:r>
              <a:rPr lang="zh-CN" altLang="en-US" sz="2000" u="sng" dirty="0"/>
              <a:t>ID</a:t>
            </a:r>
            <a:r>
              <a:rPr lang="zh-CN" altLang="en-US" sz="2000" dirty="0"/>
              <a:t>, </a:t>
            </a:r>
            <a:r>
              <a:rPr lang="zh-CN" altLang="en-US" sz="2000" u="sng" dirty="0"/>
              <a:t>course</a:t>
            </a:r>
            <a:r>
              <a:rPr lang="en-US" altLang="zh-CN" sz="2000" u="sng" dirty="0"/>
              <a:t>_</a:t>
            </a:r>
            <a:r>
              <a:rPr lang="zh-CN" altLang="en-US" sz="2000" u="sng" dirty="0"/>
              <a:t>id</a:t>
            </a:r>
            <a:r>
              <a:rPr lang="zh-CN" altLang="en-US" sz="2000" dirty="0"/>
              <a:t>, </a:t>
            </a:r>
            <a:r>
              <a:rPr lang="zh-CN" altLang="en-US" sz="2000" u="sng" dirty="0"/>
              <a:t>sec</a:t>
            </a:r>
            <a:r>
              <a:rPr lang="en-US" altLang="zh-CN" sz="2000" u="sng" dirty="0"/>
              <a:t>_</a:t>
            </a:r>
            <a:r>
              <a:rPr lang="zh-CN" altLang="en-US" sz="2000" u="sng" dirty="0"/>
              <a:t>id</a:t>
            </a:r>
            <a:r>
              <a:rPr lang="zh-CN" altLang="en-US" sz="2000" dirty="0"/>
              <a:t>, </a:t>
            </a:r>
            <a:r>
              <a:rPr lang="zh-CN" altLang="en-US" sz="2000" u="sng" dirty="0"/>
              <a:t>semester</a:t>
            </a:r>
            <a:r>
              <a:rPr lang="zh-CN" altLang="en-US" sz="2000" dirty="0"/>
              <a:t>, </a:t>
            </a:r>
            <a:r>
              <a:rPr lang="zh-CN" altLang="en-US" sz="2000" u="sng" dirty="0"/>
              <a:t>year</a:t>
            </a:r>
            <a:r>
              <a:rPr lang="zh-CN" altLang="en-US" sz="2000" dirty="0"/>
              <a:t>)</a:t>
            </a:r>
            <a:r>
              <a:rPr lang="en-US" altLang="zh-CN" sz="2000" dirty="0"/>
              <a:t> //</a:t>
            </a:r>
            <a:r>
              <a:rPr lang="zh-CN" altLang="en-US" sz="2000" dirty="0"/>
              <a:t>授课</a:t>
            </a:r>
            <a:endParaRPr lang="en-US" altLang="zh-CN" sz="2000" dirty="0"/>
          </a:p>
          <a:p>
            <a:pPr algn="l"/>
            <a:r>
              <a:rPr lang="zh-CN" altLang="en-US" sz="2000" dirty="0"/>
              <a:t>student(</a:t>
            </a:r>
            <a:r>
              <a:rPr lang="zh-CN" altLang="en-US" sz="2000" u="sng" dirty="0"/>
              <a:t>ID</a:t>
            </a:r>
            <a:r>
              <a:rPr lang="zh-CN" altLang="en-US" sz="2000" dirty="0"/>
              <a:t>, name, dept</a:t>
            </a:r>
            <a:r>
              <a:rPr lang="en-US" altLang="zh-CN" sz="2000" dirty="0"/>
              <a:t>_</a:t>
            </a:r>
            <a:r>
              <a:rPr lang="zh-CN" altLang="en-US" sz="2000" dirty="0"/>
              <a:t>name, tot</a:t>
            </a:r>
            <a:r>
              <a:rPr lang="en-US" altLang="zh-CN" sz="2000" dirty="0"/>
              <a:t>_</a:t>
            </a:r>
            <a:r>
              <a:rPr lang="zh-CN" altLang="en-US" sz="2000" dirty="0"/>
              <a:t>cred)</a:t>
            </a:r>
            <a:r>
              <a:rPr lang="en-US" altLang="zh-CN" sz="2000" dirty="0"/>
              <a:t> //</a:t>
            </a:r>
            <a:r>
              <a:rPr lang="zh-CN" altLang="en-US" sz="2000" dirty="0"/>
              <a:t>学生</a:t>
            </a:r>
            <a:endParaRPr lang="en-US" altLang="zh-CN" sz="2000" dirty="0"/>
          </a:p>
          <a:p>
            <a:pPr algn="l"/>
            <a:r>
              <a:rPr lang="zh-CN" altLang="en-US" sz="2000" dirty="0"/>
              <a:t>takes(</a:t>
            </a:r>
            <a:r>
              <a:rPr lang="zh-CN" altLang="en-US" sz="2000" u="sng" dirty="0"/>
              <a:t>ID</a:t>
            </a:r>
            <a:r>
              <a:rPr lang="zh-CN" altLang="en-US" sz="2000" dirty="0"/>
              <a:t>, </a:t>
            </a:r>
            <a:r>
              <a:rPr lang="zh-CN" altLang="en-US" sz="2000" u="sng" dirty="0"/>
              <a:t>course</a:t>
            </a:r>
            <a:r>
              <a:rPr lang="en-US" altLang="zh-CN" sz="2000" u="sng" dirty="0"/>
              <a:t>_</a:t>
            </a:r>
            <a:r>
              <a:rPr lang="zh-CN" altLang="en-US" sz="2000" u="sng" dirty="0"/>
              <a:t>id</a:t>
            </a:r>
            <a:r>
              <a:rPr lang="zh-CN" altLang="en-US" sz="2000" dirty="0"/>
              <a:t>, </a:t>
            </a:r>
            <a:r>
              <a:rPr lang="zh-CN" altLang="en-US" sz="2000" u="sng" dirty="0"/>
              <a:t>sec</a:t>
            </a:r>
            <a:r>
              <a:rPr lang="en-US" altLang="zh-CN" sz="2000" u="sng" dirty="0"/>
              <a:t>_</a:t>
            </a:r>
            <a:r>
              <a:rPr lang="zh-CN" altLang="en-US" sz="2000" u="sng" dirty="0"/>
              <a:t>id</a:t>
            </a:r>
            <a:r>
              <a:rPr lang="zh-CN" altLang="en-US" sz="2000" dirty="0"/>
              <a:t>, </a:t>
            </a:r>
            <a:r>
              <a:rPr lang="zh-CN" altLang="en-US" sz="2000" u="sng" dirty="0"/>
              <a:t>semester</a:t>
            </a:r>
            <a:r>
              <a:rPr lang="zh-CN" altLang="en-US" sz="2000" dirty="0"/>
              <a:t>, </a:t>
            </a:r>
            <a:r>
              <a:rPr lang="zh-CN" altLang="en-US" sz="2000" u="sng" dirty="0"/>
              <a:t>year</a:t>
            </a:r>
            <a:r>
              <a:rPr lang="zh-CN" altLang="en-US" sz="2000" dirty="0"/>
              <a:t>, grade)</a:t>
            </a:r>
            <a:r>
              <a:rPr lang="en-US" altLang="zh-CN" sz="2000" dirty="0"/>
              <a:t> //</a:t>
            </a:r>
            <a:r>
              <a:rPr lang="zh-CN" altLang="en-US" sz="2000" dirty="0"/>
              <a:t>选课</a:t>
            </a:r>
            <a:endParaRPr lang="en-US" altLang="zh-CN" sz="2000" dirty="0"/>
          </a:p>
          <a:p>
            <a:pPr algn="l"/>
            <a:r>
              <a:rPr lang="zh-CN" altLang="en-US" sz="2000" dirty="0"/>
              <a:t>advisor(</a:t>
            </a:r>
            <a:r>
              <a:rPr lang="zh-CN" altLang="en-US" sz="2000" u="sng" dirty="0"/>
              <a:t>s</a:t>
            </a:r>
            <a:r>
              <a:rPr lang="en-US" altLang="zh-CN" sz="2000" u="sng" dirty="0"/>
              <a:t>_</a:t>
            </a:r>
            <a:r>
              <a:rPr lang="zh-CN" altLang="en-US" sz="2000" u="sng" dirty="0"/>
              <a:t>ID</a:t>
            </a:r>
            <a:r>
              <a:rPr lang="zh-CN" altLang="en-US" sz="2000" dirty="0"/>
              <a:t>, </a:t>
            </a:r>
            <a:r>
              <a:rPr lang="zh-CN" altLang="en-US" sz="2000" u="sng" dirty="0"/>
              <a:t>i</a:t>
            </a:r>
            <a:r>
              <a:rPr lang="en-US" altLang="zh-CN" sz="2000" u="sng" dirty="0"/>
              <a:t>_</a:t>
            </a:r>
            <a:r>
              <a:rPr lang="zh-CN" altLang="en-US" sz="2000" u="sng" dirty="0"/>
              <a:t>ID</a:t>
            </a:r>
            <a:r>
              <a:rPr lang="zh-CN" altLang="en-US" sz="2000" dirty="0"/>
              <a:t>)</a:t>
            </a:r>
            <a:r>
              <a:rPr lang="en-US" altLang="zh-CN" sz="2000" dirty="0"/>
              <a:t> //</a:t>
            </a:r>
            <a:r>
              <a:rPr lang="zh-CN" altLang="en-US" sz="2000" dirty="0"/>
              <a:t>指导老师</a:t>
            </a:r>
            <a:endParaRPr lang="en-US" altLang="zh-CN" sz="2000" dirty="0"/>
          </a:p>
          <a:p>
            <a:pPr algn="l"/>
            <a:r>
              <a:rPr lang="zh-CN" altLang="en-US" sz="2000" dirty="0"/>
              <a:t>time</a:t>
            </a:r>
            <a:r>
              <a:rPr lang="en-US" altLang="zh-CN" sz="2000" dirty="0"/>
              <a:t>_</a:t>
            </a:r>
            <a:r>
              <a:rPr lang="zh-CN" altLang="en-US" sz="2000" dirty="0"/>
              <a:t>slot (</a:t>
            </a:r>
            <a:r>
              <a:rPr lang="zh-CN" altLang="en-US" sz="2000" u="sng" dirty="0"/>
              <a:t>time</a:t>
            </a:r>
            <a:r>
              <a:rPr lang="en-US" altLang="zh-CN" sz="2000" u="sng" dirty="0"/>
              <a:t>_</a:t>
            </a:r>
            <a:r>
              <a:rPr lang="zh-CN" altLang="en-US" sz="2000" u="sng" dirty="0"/>
              <a:t>slot</a:t>
            </a:r>
            <a:r>
              <a:rPr lang="en-US" altLang="zh-CN" sz="2000" u="sng" dirty="0"/>
              <a:t>_</a:t>
            </a:r>
            <a:r>
              <a:rPr lang="zh-CN" altLang="en-US" sz="2000" u="sng" dirty="0"/>
              <a:t>id</a:t>
            </a:r>
            <a:r>
              <a:rPr lang="zh-CN" altLang="en-US" sz="2000" dirty="0"/>
              <a:t>, </a:t>
            </a:r>
            <a:r>
              <a:rPr lang="zh-CN" altLang="en-US" sz="2000" u="sng" dirty="0"/>
              <a:t>day</a:t>
            </a:r>
            <a:r>
              <a:rPr lang="zh-CN" altLang="en-US" sz="2000" dirty="0"/>
              <a:t>, </a:t>
            </a:r>
            <a:r>
              <a:rPr lang="zh-CN" altLang="en-US" sz="2000" u="sng" dirty="0"/>
              <a:t>start</a:t>
            </a:r>
            <a:r>
              <a:rPr lang="en-US" altLang="zh-CN" sz="2000" u="sng" dirty="0"/>
              <a:t>_</a:t>
            </a:r>
            <a:r>
              <a:rPr lang="zh-CN" altLang="en-US" sz="2000" u="sng" dirty="0"/>
              <a:t>time</a:t>
            </a:r>
            <a:r>
              <a:rPr lang="zh-CN" altLang="en-US" sz="2000" dirty="0"/>
              <a:t>, end</a:t>
            </a:r>
            <a:r>
              <a:rPr lang="en-US" altLang="zh-CN" sz="2000" dirty="0"/>
              <a:t>_</a:t>
            </a:r>
            <a:r>
              <a:rPr lang="zh-CN" altLang="en-US" sz="2000" dirty="0"/>
              <a:t>time)</a:t>
            </a:r>
            <a:r>
              <a:rPr lang="en-US" altLang="zh-CN" sz="2000" dirty="0"/>
              <a:t> // </a:t>
            </a:r>
            <a:r>
              <a:rPr lang="zh-CN" altLang="en-US" sz="2000" dirty="0"/>
              <a:t>课程时间片</a:t>
            </a:r>
            <a:endParaRPr lang="en-US" altLang="zh-CN" sz="2000" dirty="0"/>
          </a:p>
          <a:p>
            <a:pPr algn="l"/>
            <a:r>
              <a:rPr lang="zh-CN" altLang="en-US" sz="2000" dirty="0"/>
              <a:t>prereq( </a:t>
            </a:r>
            <a:r>
              <a:rPr lang="zh-CN" altLang="en-US" sz="2000" u="sng" dirty="0"/>
              <a:t>course</a:t>
            </a:r>
            <a:r>
              <a:rPr lang="en-US" altLang="zh-CN" sz="2000" u="sng" dirty="0"/>
              <a:t>_</a:t>
            </a:r>
            <a:r>
              <a:rPr lang="zh-CN" altLang="en-US" sz="2000" u="sng" dirty="0"/>
              <a:t>id</a:t>
            </a:r>
            <a:r>
              <a:rPr lang="zh-CN" altLang="en-US" sz="2000" dirty="0"/>
              <a:t>, </a:t>
            </a:r>
            <a:r>
              <a:rPr lang="zh-CN" altLang="en-US" sz="2000" u="sng" dirty="0"/>
              <a:t>prereq</a:t>
            </a:r>
            <a:r>
              <a:rPr lang="en-US" altLang="zh-CN" sz="2000" u="sng" dirty="0"/>
              <a:t>_</a:t>
            </a:r>
            <a:r>
              <a:rPr lang="zh-CN" altLang="en-US" sz="2000" u="sng" dirty="0"/>
              <a:t>la</a:t>
            </a:r>
            <a:r>
              <a:rPr lang="zh-CN" altLang="en-US" sz="2000" dirty="0"/>
              <a:t>) </a:t>
            </a:r>
            <a:r>
              <a:rPr lang="en-US" altLang="zh-CN" sz="2000" dirty="0"/>
              <a:t>//</a:t>
            </a:r>
            <a:r>
              <a:rPr lang="zh-CN" altLang="en-US" sz="2000" dirty="0"/>
              <a:t>先修课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F6B4F6-C260-0B7D-8E55-07F4598A8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108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6445782"/>
      </p:ext>
    </p:extLst>
  </p:cSld>
  <p:clrMapOvr>
    <a:masterClrMapping/>
  </p:clrMapOvr>
  <p:transition>
    <p:fade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BAD96D-6364-4777-77AD-3F554C2DA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3.4.3. </a:t>
            </a:r>
            <a:r>
              <a:rPr lang="zh-CN" altLang="en-US" dirty="0"/>
              <a:t>嵌套查询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00571B-E8DE-CFE2-C8BC-63CE47954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B64DEEB-DA6F-4E40-8467-7342B4F870DF}" type="datetime1">
              <a:rPr lang="zh-CN" altLang="en-US" smtClean="0"/>
              <a:t>2025/9/24</a:t>
            </a:fld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41DFD6-9CE2-4E06-3E84-28E3E5334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《数据库系统概论》- 第3章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AB8D295-9F9C-5354-2DE3-E86A0D342D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682" b="50000"/>
          <a:stretch/>
        </p:blipFill>
        <p:spPr>
          <a:xfrm>
            <a:off x="805720" y="1739900"/>
            <a:ext cx="3914521" cy="397252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B336686-FF3C-07A1-12AD-DDBB04D2D3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0000"/>
          <a:stretch/>
        </p:blipFill>
        <p:spPr>
          <a:xfrm>
            <a:off x="4645250" y="1843389"/>
            <a:ext cx="4298725" cy="3765550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AE8A430-D10C-635E-A011-A49DFE680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109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4129128"/>
      </p:ext>
    </p:extLst>
  </p:cSld>
  <p:clrMapOvr>
    <a:masterClrMapping/>
  </p:clrMapOvr>
  <p:transition>
    <p:fade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208651C-A849-420A-A990-1DCBF2E520AF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1264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126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3.4.3. </a:t>
            </a:r>
            <a:r>
              <a:rPr lang="zh-CN" altLang="en-US"/>
              <a:t>嵌套查询</a:t>
            </a:r>
          </a:p>
        </p:txBody>
      </p:sp>
      <p:sp>
        <p:nvSpPr>
          <p:cNvPr id="1126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</a:rPr>
              <a:t>一、</a:t>
            </a:r>
            <a:r>
              <a:rPr lang="zh-CN" altLang="en-US" dirty="0">
                <a:solidFill>
                  <a:srgbClr val="0000FF"/>
                </a:solidFill>
              </a:rPr>
              <a:t>带有</a:t>
            </a:r>
            <a:r>
              <a:rPr lang="en-US" altLang="zh-CN" dirty="0">
                <a:solidFill>
                  <a:srgbClr val="C00000"/>
                </a:solidFill>
              </a:rPr>
              <a:t>IN</a:t>
            </a:r>
            <a:r>
              <a:rPr lang="zh-CN" altLang="en-US" dirty="0">
                <a:solidFill>
                  <a:srgbClr val="0000FF"/>
                </a:solidFill>
              </a:rPr>
              <a:t>谓词的子查询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rgbClr val="0000FF"/>
                </a:solidFill>
              </a:rPr>
              <a:t>集合成员资格</a:t>
            </a:r>
            <a:r>
              <a:rPr lang="en-US" altLang="zh-CN" dirty="0"/>
              <a:t>)</a:t>
            </a:r>
            <a:endParaRPr lang="zh-CN" altLang="en-US" dirty="0"/>
          </a:p>
          <a:p>
            <a:pPr eaLnBrk="1" hangingPunct="1"/>
            <a:r>
              <a:rPr lang="zh-CN" altLang="en-US" dirty="0"/>
              <a:t>带有</a:t>
            </a:r>
            <a:r>
              <a:rPr lang="en-US" altLang="zh-CN" dirty="0"/>
              <a:t>IN</a:t>
            </a:r>
            <a:r>
              <a:rPr lang="zh-CN" altLang="en-US" dirty="0"/>
              <a:t>谓词的子查询是指</a:t>
            </a:r>
            <a:r>
              <a:rPr lang="zh-CN" altLang="en-US" dirty="0">
                <a:solidFill>
                  <a:srgbClr val="0000FF"/>
                </a:solidFill>
              </a:rPr>
              <a:t>父查询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0000FF"/>
                </a:solidFill>
              </a:rPr>
              <a:t>子查询</a:t>
            </a:r>
            <a:r>
              <a:rPr lang="zh-CN" altLang="en-US" dirty="0"/>
              <a:t>之间</a:t>
            </a:r>
            <a:r>
              <a:rPr lang="zh-CN" altLang="en-US" dirty="0">
                <a:solidFill>
                  <a:srgbClr val="0000FF"/>
                </a:solidFill>
              </a:rPr>
              <a:t>用</a:t>
            </a:r>
            <a:r>
              <a:rPr lang="en-US" altLang="zh-CN" dirty="0">
                <a:solidFill>
                  <a:srgbClr val="C00000"/>
                </a:solidFill>
              </a:rPr>
              <a:t>IN</a:t>
            </a:r>
            <a:r>
              <a:rPr lang="zh-CN" altLang="en-US" dirty="0">
                <a:solidFill>
                  <a:srgbClr val="0000FF"/>
                </a:solidFill>
              </a:rPr>
              <a:t>进行连接</a:t>
            </a:r>
            <a:r>
              <a:rPr lang="zh-CN" altLang="en-US" dirty="0"/>
              <a:t>，</a:t>
            </a:r>
            <a:r>
              <a:rPr lang="zh-CN" altLang="en-US" u="sng" dirty="0"/>
              <a:t>判断某个属性列值</a:t>
            </a:r>
            <a:r>
              <a:rPr lang="zh-CN" altLang="en-US" u="sng" dirty="0">
                <a:solidFill>
                  <a:srgbClr val="0000FF"/>
                </a:solidFill>
              </a:rPr>
              <a:t>是否在</a:t>
            </a:r>
            <a:r>
              <a:rPr lang="zh-CN" altLang="en-US" u="sng" dirty="0"/>
              <a:t>子查询的结果中</a:t>
            </a:r>
            <a:r>
              <a:rPr lang="zh-CN" altLang="en-US" dirty="0"/>
              <a:t>。</a:t>
            </a:r>
            <a:endParaRPr lang="en-US" altLang="zh-CN" dirty="0"/>
          </a:p>
          <a:p>
            <a:pPr eaLnBrk="1" hangingPunct="1"/>
            <a:r>
              <a:rPr lang="zh-CN" altLang="en-US" dirty="0"/>
              <a:t>由于在嵌套查询中，</a:t>
            </a:r>
            <a:r>
              <a:rPr lang="zh-CN" altLang="en-US" u="sng" dirty="0"/>
              <a:t>子查询的结果</a:t>
            </a:r>
            <a:r>
              <a:rPr lang="zh-CN" altLang="en-US" dirty="0"/>
              <a:t>往往是一个</a:t>
            </a:r>
            <a:r>
              <a:rPr lang="zh-CN" altLang="en-US" dirty="0">
                <a:solidFill>
                  <a:srgbClr val="C00000"/>
                </a:solidFill>
              </a:rPr>
              <a:t>集合</a:t>
            </a:r>
            <a:r>
              <a:rPr lang="zh-CN" altLang="en-US" dirty="0"/>
              <a:t>，所以</a:t>
            </a:r>
            <a:r>
              <a:rPr lang="zh-CN" altLang="en-US" dirty="0">
                <a:solidFill>
                  <a:srgbClr val="0000FF"/>
                </a:solidFill>
              </a:rPr>
              <a:t>谓词</a:t>
            </a:r>
            <a:r>
              <a:rPr lang="en-US" altLang="zh-CN" dirty="0">
                <a:solidFill>
                  <a:srgbClr val="0000FF"/>
                </a:solidFill>
              </a:rPr>
              <a:t>IN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0000FF"/>
                </a:solidFill>
              </a:rPr>
              <a:t>嵌套查询中</a:t>
            </a:r>
            <a:r>
              <a:rPr lang="zh-CN" altLang="en-US" dirty="0">
                <a:solidFill>
                  <a:srgbClr val="FF0000"/>
                </a:solidFill>
              </a:rPr>
              <a:t>最经常</a:t>
            </a:r>
            <a:r>
              <a:rPr lang="zh-CN" altLang="en-US" dirty="0">
                <a:solidFill>
                  <a:srgbClr val="0000FF"/>
                </a:solidFill>
              </a:rPr>
              <a:t>使用的谓词</a:t>
            </a:r>
            <a:r>
              <a:rPr lang="zh-CN" altLang="en-US" dirty="0"/>
              <a:t>。</a:t>
            </a:r>
            <a:endParaRPr lang="en-US" altLang="zh-CN" dirty="0"/>
          </a:p>
          <a:p>
            <a:pPr eaLnBrk="1" hangingPunct="1"/>
            <a:r>
              <a:rPr lang="en-US" altLang="zh-CN" dirty="0"/>
              <a:t>IN / NOT IN</a:t>
            </a:r>
            <a:endParaRPr lang="zh-CN" altLang="en-US" dirty="0"/>
          </a:p>
          <a:p>
            <a:pPr eaLnBrk="1" hangingPunct="1"/>
            <a:endParaRPr lang="zh-CN" altLang="en-US" sz="10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09BDAF1-39A9-13FD-1F28-8B6AF838C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110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F6BE569-7C2A-44A4-AE72-5AD90A771FCC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1366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136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3.4.3. </a:t>
            </a:r>
            <a:r>
              <a:rPr lang="zh-CN" altLang="en-US"/>
              <a:t>嵌套查询</a:t>
            </a:r>
          </a:p>
        </p:txBody>
      </p:sp>
      <p:sp>
        <p:nvSpPr>
          <p:cNvPr id="1136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/>
              <a:t>找出</a:t>
            </a:r>
            <a:r>
              <a:rPr lang="en-US" altLang="zh-CN" sz="2400" dirty="0"/>
              <a:t>2017</a:t>
            </a:r>
            <a:r>
              <a:rPr lang="zh-CN" altLang="en-US" sz="2400" dirty="0"/>
              <a:t>年秋季和</a:t>
            </a:r>
            <a:r>
              <a:rPr lang="en-US" altLang="zh-CN" sz="2400" dirty="0"/>
              <a:t>2018</a:t>
            </a:r>
            <a:r>
              <a:rPr lang="zh-CN" altLang="en-US" sz="2400" dirty="0"/>
              <a:t>年春季学期都开课的所有课程</a:t>
            </a:r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AB106A7-3A48-73A7-D5D6-72EE6993DF3E}"/>
              </a:ext>
            </a:extLst>
          </p:cNvPr>
          <p:cNvSpPr txBox="1"/>
          <p:nvPr/>
        </p:nvSpPr>
        <p:spPr>
          <a:xfrm>
            <a:off x="1790700" y="2235021"/>
            <a:ext cx="68961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0" i="0" u="none" strike="noStrike" baseline="0" dirty="0">
                <a:latin typeface="+mn-lt"/>
              </a:rPr>
              <a:t>(select </a:t>
            </a:r>
            <a:r>
              <a:rPr lang="en-US" altLang="zh-CN" i="1" dirty="0" err="1">
                <a:latin typeface="+mn-lt"/>
              </a:rPr>
              <a:t>course_id</a:t>
            </a:r>
            <a:r>
              <a:rPr lang="en-US" altLang="zh-CN" i="1" dirty="0">
                <a:latin typeface="+mn-lt"/>
              </a:rPr>
              <a:t> </a:t>
            </a:r>
            <a:endParaRPr lang="en-US" altLang="zh-CN" sz="2400" b="0" i="1" u="none" strike="noStrike" baseline="0" dirty="0">
              <a:latin typeface="+mn-lt"/>
            </a:endParaRP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from </a:t>
            </a:r>
            <a:r>
              <a:rPr lang="en-US" altLang="zh-CN" sz="2400" b="0" i="1" u="none" strike="noStrike" baseline="0" dirty="0">
                <a:latin typeface="+mn-lt"/>
              </a:rPr>
              <a:t>section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where </a:t>
            </a:r>
            <a:r>
              <a:rPr lang="en-US" altLang="zh-CN" sz="2400" b="0" i="1" u="none" strike="noStrike" baseline="0" dirty="0">
                <a:latin typeface="+mn-lt"/>
              </a:rPr>
              <a:t>semester </a:t>
            </a:r>
            <a:r>
              <a:rPr lang="en-US" altLang="zh-CN" sz="2400" b="0" i="0" u="none" strike="noStrike" baseline="0" dirty="0">
                <a:latin typeface="+mn-lt"/>
              </a:rPr>
              <a:t>= 'Spring' and </a:t>
            </a:r>
            <a:r>
              <a:rPr lang="en-US" altLang="zh-CN" sz="2400" b="0" i="1" u="none" strike="noStrike" baseline="0" dirty="0">
                <a:latin typeface="+mn-lt"/>
              </a:rPr>
              <a:t>year </a:t>
            </a:r>
            <a:r>
              <a:rPr lang="en-US" altLang="zh-CN" sz="2400" b="0" i="0" u="none" strike="noStrike" baseline="0" dirty="0">
                <a:latin typeface="+mn-lt"/>
              </a:rPr>
              <a:t>= 2018)</a:t>
            </a:r>
            <a:endParaRPr lang="zh-CN" altLang="en-US" dirty="0">
              <a:latin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C89BD26-FB0D-C1A2-2C8A-D3D3B6749343}"/>
              </a:ext>
            </a:extLst>
          </p:cNvPr>
          <p:cNvSpPr txBox="1"/>
          <p:nvPr/>
        </p:nvSpPr>
        <p:spPr>
          <a:xfrm>
            <a:off x="1778000" y="3777456"/>
            <a:ext cx="68961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0" i="0" u="none" strike="noStrike" baseline="0" dirty="0">
                <a:latin typeface="+mn-lt"/>
              </a:rPr>
              <a:t>(select </a:t>
            </a:r>
            <a:r>
              <a:rPr lang="en-US" altLang="zh-CN" i="1" dirty="0" err="1">
                <a:latin typeface="+mn-lt"/>
              </a:rPr>
              <a:t>course_id</a:t>
            </a:r>
            <a:r>
              <a:rPr lang="en-US" altLang="zh-CN" i="1" dirty="0">
                <a:latin typeface="+mn-lt"/>
              </a:rPr>
              <a:t> </a:t>
            </a:r>
            <a:endParaRPr lang="en-US" altLang="zh-CN" sz="2400" b="0" i="1" u="none" strike="noStrike" baseline="0" dirty="0">
              <a:latin typeface="+mn-lt"/>
            </a:endParaRP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from </a:t>
            </a:r>
            <a:r>
              <a:rPr lang="en-US" altLang="zh-CN" sz="2400" b="0" i="1" u="none" strike="noStrike" baseline="0" dirty="0">
                <a:latin typeface="+mn-lt"/>
              </a:rPr>
              <a:t>section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where </a:t>
            </a:r>
            <a:r>
              <a:rPr lang="en-US" altLang="zh-CN" sz="2400" b="0" i="1" u="none" strike="noStrike" baseline="0" dirty="0">
                <a:latin typeface="+mn-lt"/>
              </a:rPr>
              <a:t>semester </a:t>
            </a:r>
            <a:r>
              <a:rPr lang="en-US" altLang="zh-CN" sz="2400" b="0" i="0" u="none" strike="noStrike" baseline="0" dirty="0">
                <a:latin typeface="+mn-lt"/>
              </a:rPr>
              <a:t>= ‘Fall' and </a:t>
            </a:r>
            <a:r>
              <a:rPr lang="en-US" altLang="zh-CN" sz="2400" b="0" i="1" u="none" strike="noStrike" baseline="0" dirty="0">
                <a:latin typeface="+mn-lt"/>
              </a:rPr>
              <a:t>year </a:t>
            </a:r>
            <a:r>
              <a:rPr lang="en-US" altLang="zh-CN" sz="2400" b="0" i="0" u="none" strike="noStrike" baseline="0" dirty="0">
                <a:latin typeface="+mn-lt"/>
              </a:rPr>
              <a:t>= 2017)</a:t>
            </a:r>
            <a:endParaRPr lang="zh-CN" altLang="en-US" dirty="0">
              <a:latin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1DEF554-45EF-14D7-F024-3CDC39CDFBF3}"/>
              </a:ext>
            </a:extLst>
          </p:cNvPr>
          <p:cNvSpPr txBox="1"/>
          <p:nvPr/>
        </p:nvSpPr>
        <p:spPr>
          <a:xfrm>
            <a:off x="1717206" y="3341191"/>
            <a:ext cx="1669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i="0" u="none" strike="noStrike" baseline="0" dirty="0">
                <a:solidFill>
                  <a:srgbClr val="0000FF"/>
                </a:solidFill>
                <a:latin typeface="+mn-lt"/>
              </a:rPr>
              <a:t>intersect</a:t>
            </a:r>
            <a:endParaRPr lang="zh-CN" altLang="en-US" sz="320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0B90FA5-586D-6CD9-E941-C23058DFA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111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CF1906C-5257-4B0C-9D20-0390AEC59DCB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1366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136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3.4.3. </a:t>
            </a:r>
            <a:r>
              <a:rPr lang="zh-CN" altLang="en-US"/>
              <a:t>嵌套查询</a:t>
            </a:r>
          </a:p>
        </p:txBody>
      </p:sp>
      <p:sp>
        <p:nvSpPr>
          <p:cNvPr id="1136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/>
              <a:t>找出</a:t>
            </a:r>
            <a:r>
              <a:rPr lang="en-US" altLang="zh-CN" sz="2400" dirty="0"/>
              <a:t>2017</a:t>
            </a:r>
            <a:r>
              <a:rPr lang="zh-CN" altLang="en-US" sz="2400" dirty="0"/>
              <a:t>年秋季和</a:t>
            </a:r>
            <a:r>
              <a:rPr lang="en-US" altLang="zh-CN" sz="2400" dirty="0"/>
              <a:t>2018</a:t>
            </a:r>
            <a:r>
              <a:rPr lang="zh-CN" altLang="en-US" sz="2400" dirty="0"/>
              <a:t>年春季学期</a:t>
            </a:r>
            <a:r>
              <a:rPr lang="zh-CN" altLang="en-US" sz="2400" b="1" dirty="0">
                <a:solidFill>
                  <a:srgbClr val="0000FF"/>
                </a:solidFill>
              </a:rPr>
              <a:t>都开课</a:t>
            </a:r>
            <a:r>
              <a:rPr lang="zh-CN" altLang="en-US" sz="2400" dirty="0"/>
              <a:t>的所有课程</a:t>
            </a:r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AB106A7-3A48-73A7-D5D6-72EE6993DF3E}"/>
              </a:ext>
            </a:extLst>
          </p:cNvPr>
          <p:cNvSpPr txBox="1"/>
          <p:nvPr/>
        </p:nvSpPr>
        <p:spPr>
          <a:xfrm>
            <a:off x="609600" y="1919912"/>
            <a:ext cx="6324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0" i="0" u="none" strike="noStrike" baseline="0" dirty="0">
                <a:solidFill>
                  <a:srgbClr val="660066"/>
                </a:solidFill>
                <a:latin typeface="+mn-lt"/>
              </a:rPr>
              <a:t>select </a:t>
            </a:r>
            <a:r>
              <a:rPr lang="en-US" altLang="zh-CN" b="0" i="1" u="none" strike="noStrike" baseline="0" dirty="0" err="1">
                <a:solidFill>
                  <a:srgbClr val="660066"/>
                </a:solidFill>
                <a:latin typeface="+mn-lt"/>
              </a:rPr>
              <a:t>course_id</a:t>
            </a:r>
            <a:r>
              <a:rPr lang="en-US" altLang="zh-CN" b="0" i="1" u="none" strike="noStrike" baseline="0" dirty="0">
                <a:solidFill>
                  <a:srgbClr val="660066"/>
                </a:solidFill>
                <a:latin typeface="+mn-lt"/>
              </a:rPr>
              <a:t> </a:t>
            </a:r>
            <a:endParaRPr lang="en-US" altLang="zh-CN" sz="2400" b="0" i="1" u="none" strike="noStrike" baseline="0" dirty="0">
              <a:solidFill>
                <a:srgbClr val="660066"/>
              </a:solidFill>
              <a:latin typeface="+mn-lt"/>
            </a:endParaRPr>
          </a:p>
          <a:p>
            <a:pPr algn="l"/>
            <a:r>
              <a:rPr lang="en-US" altLang="zh-CN" sz="2400" b="0" i="0" u="none" strike="noStrike" baseline="0" dirty="0">
                <a:solidFill>
                  <a:srgbClr val="660066"/>
                </a:solidFill>
                <a:latin typeface="+mn-lt"/>
              </a:rPr>
              <a:t>from </a:t>
            </a:r>
            <a:r>
              <a:rPr lang="en-US" altLang="zh-CN" sz="2400" b="0" i="1" u="none" strike="noStrike" baseline="0" dirty="0">
                <a:solidFill>
                  <a:srgbClr val="660066"/>
                </a:solidFill>
                <a:latin typeface="+mn-lt"/>
              </a:rPr>
              <a:t>section</a:t>
            </a:r>
          </a:p>
          <a:p>
            <a:pPr algn="l"/>
            <a:r>
              <a:rPr lang="en-US" altLang="zh-CN" sz="2400" b="0" i="0" u="none" strike="noStrike" baseline="0" dirty="0">
                <a:solidFill>
                  <a:srgbClr val="660066"/>
                </a:solidFill>
                <a:latin typeface="+mn-lt"/>
              </a:rPr>
              <a:t>where </a:t>
            </a:r>
            <a:r>
              <a:rPr lang="en-US" altLang="zh-CN" sz="2400" b="0" i="1" u="none" strike="noStrike" baseline="0" dirty="0">
                <a:solidFill>
                  <a:srgbClr val="660066"/>
                </a:solidFill>
                <a:latin typeface="+mn-lt"/>
              </a:rPr>
              <a:t>semester </a:t>
            </a:r>
            <a:r>
              <a:rPr lang="en-US" altLang="zh-CN" sz="2400" b="0" i="0" u="none" strike="noStrike" baseline="0" dirty="0">
                <a:solidFill>
                  <a:srgbClr val="660066"/>
                </a:solidFill>
                <a:latin typeface="+mn-lt"/>
              </a:rPr>
              <a:t>= 'Spring' and </a:t>
            </a:r>
            <a:r>
              <a:rPr lang="en-US" altLang="zh-CN" sz="2400" b="0" i="1" u="none" strike="noStrike" baseline="0" dirty="0">
                <a:solidFill>
                  <a:srgbClr val="660066"/>
                </a:solidFill>
                <a:latin typeface="+mn-lt"/>
              </a:rPr>
              <a:t>year </a:t>
            </a:r>
            <a:r>
              <a:rPr lang="en-US" altLang="zh-CN" sz="2400" b="0" i="0" u="none" strike="noStrike" baseline="0" dirty="0">
                <a:solidFill>
                  <a:srgbClr val="660066"/>
                </a:solidFill>
                <a:latin typeface="+mn-lt"/>
              </a:rPr>
              <a:t>= 2018</a:t>
            </a:r>
            <a:endParaRPr lang="zh-CN" altLang="en-US" dirty="0">
              <a:solidFill>
                <a:srgbClr val="660066"/>
              </a:solidFill>
              <a:latin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7EAE267-09DD-98A4-B1CC-6F44240843B5}"/>
              </a:ext>
            </a:extLst>
          </p:cNvPr>
          <p:cNvSpPr txBox="1"/>
          <p:nvPr/>
        </p:nvSpPr>
        <p:spPr>
          <a:xfrm>
            <a:off x="609600" y="3425041"/>
            <a:ext cx="69143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0" i="0" u="none" strike="noStrike" baseline="0" dirty="0">
                <a:latin typeface="+mn-lt"/>
              </a:rPr>
              <a:t>select distinct </a:t>
            </a:r>
            <a:r>
              <a:rPr lang="en-US" altLang="zh-CN" b="0" i="1" u="none" strike="noStrike" baseline="0" dirty="0" err="1">
                <a:latin typeface="+mn-lt"/>
              </a:rPr>
              <a:t>course_id</a:t>
            </a:r>
            <a:endParaRPr lang="en-US" altLang="zh-CN" b="0" i="1" u="none" strike="noStrike" baseline="0" dirty="0">
              <a:latin typeface="+mn-lt"/>
            </a:endParaRPr>
          </a:p>
          <a:p>
            <a:pPr algn="l"/>
            <a:r>
              <a:rPr lang="en-US" altLang="zh-CN" b="0" i="0" u="none" strike="noStrike" baseline="0" dirty="0">
                <a:latin typeface="+mn-lt"/>
              </a:rPr>
              <a:t>from </a:t>
            </a:r>
            <a:r>
              <a:rPr lang="en-US" altLang="zh-CN" b="0" i="1" u="none" strike="noStrike" baseline="0" dirty="0">
                <a:latin typeface="+mn-lt"/>
              </a:rPr>
              <a:t>section</a:t>
            </a:r>
          </a:p>
          <a:p>
            <a:pPr algn="l"/>
            <a:r>
              <a:rPr lang="en-US" altLang="zh-CN" b="0" i="0" u="none" strike="noStrike" baseline="0" dirty="0">
                <a:latin typeface="+mn-lt"/>
              </a:rPr>
              <a:t>where </a:t>
            </a:r>
            <a:r>
              <a:rPr lang="en-US" altLang="zh-CN" b="0" i="1" u="none" strike="noStrike" baseline="0" dirty="0">
                <a:latin typeface="+mn-lt"/>
              </a:rPr>
              <a:t>semester </a:t>
            </a:r>
            <a:r>
              <a:rPr lang="en-US" altLang="zh-CN" b="0" i="0" u="none" strike="noStrike" baseline="0" dirty="0">
                <a:latin typeface="+mn-lt"/>
              </a:rPr>
              <a:t>= 'Fall' and </a:t>
            </a:r>
            <a:r>
              <a:rPr lang="en-US" altLang="zh-CN" b="0" i="1" u="none" strike="noStrike" baseline="0" dirty="0">
                <a:latin typeface="+mn-lt"/>
              </a:rPr>
              <a:t>year </a:t>
            </a:r>
            <a:r>
              <a:rPr lang="en-US" altLang="zh-CN" b="0" i="0" u="none" strike="noStrike" baseline="0" dirty="0">
                <a:latin typeface="+mn-lt"/>
              </a:rPr>
              <a:t>= 2017</a:t>
            </a:r>
            <a:endParaRPr lang="zh-CN" altLang="en-US" sz="3200" dirty="0">
              <a:latin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7D3ED5A-E34B-9D49-F0C1-384EF07668EC}"/>
              </a:ext>
            </a:extLst>
          </p:cNvPr>
          <p:cNvSpPr txBox="1"/>
          <p:nvPr/>
        </p:nvSpPr>
        <p:spPr>
          <a:xfrm>
            <a:off x="977106" y="4145340"/>
            <a:ext cx="839549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0" i="0" u="none" strike="noStrike" baseline="0" dirty="0">
                <a:solidFill>
                  <a:srgbClr val="FF0000"/>
                </a:solidFill>
                <a:latin typeface="+mn-lt"/>
              </a:rPr>
              <a:t>                                                       and</a:t>
            </a:r>
          </a:p>
          <a:p>
            <a:pPr algn="l"/>
            <a:r>
              <a:rPr lang="en-US" altLang="zh-CN" b="0" u="none" strike="noStrike" baseline="0" dirty="0" err="1">
                <a:solidFill>
                  <a:srgbClr val="0000FF"/>
                </a:solidFill>
                <a:latin typeface="+mn-lt"/>
              </a:rPr>
              <a:t>course_id</a:t>
            </a:r>
            <a:r>
              <a:rPr lang="en-US" altLang="zh-CN" b="0" i="1" u="none" strike="noStrike" baseline="0" dirty="0">
                <a:solidFill>
                  <a:srgbClr val="0000FF"/>
                </a:solidFill>
                <a:latin typeface="+mn-lt"/>
              </a:rPr>
              <a:t> 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+mn-lt"/>
              </a:rPr>
              <a:t>in</a:t>
            </a:r>
            <a:r>
              <a:rPr lang="en-US" altLang="zh-CN" b="0" i="0" u="none" strike="noStrike" baseline="0" dirty="0">
                <a:latin typeface="+mn-lt"/>
              </a:rPr>
              <a:t> (</a:t>
            </a:r>
            <a:r>
              <a:rPr lang="en-US" altLang="zh-CN" b="0" i="0" u="none" strike="noStrike" baseline="0" dirty="0">
                <a:solidFill>
                  <a:srgbClr val="660066"/>
                </a:solidFill>
                <a:latin typeface="+mn-lt"/>
              </a:rPr>
              <a:t>select </a:t>
            </a:r>
            <a:r>
              <a:rPr lang="en-US" altLang="zh-CN" b="0" i="1" u="none" strike="noStrike" baseline="0" dirty="0" err="1">
                <a:solidFill>
                  <a:srgbClr val="660066"/>
                </a:solidFill>
                <a:latin typeface="+mn-lt"/>
              </a:rPr>
              <a:t>course_id</a:t>
            </a:r>
            <a:endParaRPr lang="en-US" altLang="zh-CN" b="0" i="1" u="none" strike="noStrike" baseline="0" dirty="0">
              <a:solidFill>
                <a:srgbClr val="660066"/>
              </a:solidFill>
              <a:latin typeface="+mn-lt"/>
            </a:endParaRPr>
          </a:p>
          <a:p>
            <a:pPr algn="l"/>
            <a:r>
              <a:rPr lang="en-US" altLang="zh-CN" b="0" i="0" u="none" strike="noStrike" baseline="0" dirty="0">
                <a:solidFill>
                  <a:srgbClr val="660066"/>
                </a:solidFill>
                <a:latin typeface="+mn-lt"/>
              </a:rPr>
              <a:t>                    from </a:t>
            </a:r>
            <a:r>
              <a:rPr lang="en-US" altLang="zh-CN" b="0" i="1" u="none" strike="noStrike" baseline="0" dirty="0">
                <a:solidFill>
                  <a:srgbClr val="660066"/>
                </a:solidFill>
                <a:latin typeface="+mn-lt"/>
              </a:rPr>
              <a:t>section</a:t>
            </a:r>
          </a:p>
          <a:p>
            <a:pPr algn="l"/>
            <a:r>
              <a:rPr lang="en-US" altLang="zh-CN" b="0" i="0" u="none" strike="noStrike" baseline="0" dirty="0">
                <a:solidFill>
                  <a:srgbClr val="660066"/>
                </a:solidFill>
                <a:latin typeface="+mn-lt"/>
              </a:rPr>
              <a:t>                    where </a:t>
            </a:r>
            <a:r>
              <a:rPr lang="en-US" altLang="zh-CN" b="0" i="1" u="none" strike="noStrike" baseline="0" dirty="0">
                <a:solidFill>
                  <a:srgbClr val="660066"/>
                </a:solidFill>
                <a:latin typeface="+mn-lt"/>
              </a:rPr>
              <a:t>semester </a:t>
            </a:r>
            <a:r>
              <a:rPr lang="en-US" altLang="zh-CN" b="0" i="0" u="none" strike="noStrike" baseline="0" dirty="0">
                <a:solidFill>
                  <a:srgbClr val="660066"/>
                </a:solidFill>
                <a:latin typeface="+mn-lt"/>
              </a:rPr>
              <a:t>= 'Spring' and </a:t>
            </a:r>
            <a:r>
              <a:rPr lang="en-US" altLang="zh-CN" b="0" i="1" u="none" strike="noStrike" baseline="0" dirty="0">
                <a:solidFill>
                  <a:srgbClr val="660066"/>
                </a:solidFill>
                <a:latin typeface="+mn-lt"/>
              </a:rPr>
              <a:t>year </a:t>
            </a:r>
            <a:r>
              <a:rPr lang="en-US" altLang="zh-CN" b="0" i="0" u="none" strike="noStrike" baseline="0" dirty="0">
                <a:solidFill>
                  <a:srgbClr val="660066"/>
                </a:solidFill>
                <a:latin typeface="+mn-lt"/>
              </a:rPr>
              <a:t>= 2018</a:t>
            </a:r>
            <a:r>
              <a:rPr lang="en-US" altLang="zh-CN" b="0" i="0" u="none" strike="noStrike" baseline="0" dirty="0">
                <a:latin typeface="+mn-lt"/>
              </a:rPr>
              <a:t>);</a:t>
            </a:r>
            <a:endParaRPr lang="zh-CN" altLang="en-US" sz="3200" dirty="0">
              <a:latin typeface="+mn-lt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E4DBF45-B2CC-289A-5F6A-B4353A83A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112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48314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566190F-F52B-4417-946A-37B9724ADE68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1469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146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3.4.3. </a:t>
            </a:r>
            <a:r>
              <a:rPr lang="zh-CN" altLang="en-US"/>
              <a:t>嵌套查询</a:t>
            </a:r>
          </a:p>
        </p:txBody>
      </p:sp>
      <p:sp>
        <p:nvSpPr>
          <p:cNvPr id="1146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br>
              <a:rPr lang="en-US" altLang="zh-CN" sz="2800" dirty="0"/>
            </a:br>
            <a:endParaRPr lang="zh-CN" altLang="en-US" sz="280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14B92CD-6A6D-A15B-070E-C1C416D65A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350963"/>
            <a:ext cx="8345488" cy="1163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kumimoji="0" lang="zh-CN" altLang="en-US" b="1" kern="0" dirty="0">
                <a:solidFill>
                  <a:srgbClr val="0000FF"/>
                </a:solidFill>
              </a:rPr>
              <a:t>一、</a:t>
            </a:r>
            <a:r>
              <a:rPr kumimoji="0" lang="zh-CN" altLang="en-US" kern="0" dirty="0">
                <a:solidFill>
                  <a:srgbClr val="0000FF"/>
                </a:solidFill>
              </a:rPr>
              <a:t>带有</a:t>
            </a:r>
            <a:r>
              <a:rPr kumimoji="0" lang="en-US" altLang="zh-CN" kern="0" dirty="0">
                <a:solidFill>
                  <a:srgbClr val="C00000"/>
                </a:solidFill>
              </a:rPr>
              <a:t>IN</a:t>
            </a:r>
            <a:r>
              <a:rPr kumimoji="0" lang="zh-CN" altLang="en-US" kern="0" dirty="0">
                <a:solidFill>
                  <a:srgbClr val="0000FF"/>
                </a:solidFill>
              </a:rPr>
              <a:t>谓词的子查询</a:t>
            </a:r>
            <a:r>
              <a:rPr kumimoji="0" lang="en-US" altLang="zh-CN" kern="0" dirty="0"/>
              <a:t>(</a:t>
            </a:r>
            <a:r>
              <a:rPr kumimoji="0" lang="zh-CN" altLang="en-US" kern="0" dirty="0">
                <a:solidFill>
                  <a:srgbClr val="0000FF"/>
                </a:solidFill>
              </a:rPr>
              <a:t>集合成员资格</a:t>
            </a:r>
            <a:r>
              <a:rPr kumimoji="0" lang="en-US" altLang="zh-CN" kern="0" dirty="0"/>
              <a:t>)</a:t>
            </a:r>
            <a:endParaRPr kumimoji="0" lang="zh-CN" altLang="en-US" kern="0" dirty="0"/>
          </a:p>
          <a:p>
            <a:pPr eaLnBrk="1" hangingPunct="1"/>
            <a:r>
              <a:rPr kumimoji="0" lang="zh-CN" altLang="en-US" kern="0" dirty="0"/>
              <a:t>用于枚举集合</a:t>
            </a:r>
            <a:endParaRPr kumimoji="0" lang="en-US" altLang="zh-CN" kern="0" dirty="0"/>
          </a:p>
          <a:p>
            <a:pPr eaLnBrk="1" hangingPunct="1"/>
            <a:endParaRPr kumimoji="0" lang="en-US" altLang="zh-CN" sz="1000" kern="0" dirty="0"/>
          </a:p>
          <a:p>
            <a:pPr eaLnBrk="1" hangingPunct="1"/>
            <a:endParaRPr kumimoji="0" lang="en-US" altLang="zh-CN" sz="1000" kern="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5F86B66-0EA5-9632-BA54-011F5534B518}"/>
              </a:ext>
            </a:extLst>
          </p:cNvPr>
          <p:cNvSpPr txBox="1"/>
          <p:nvPr/>
        </p:nvSpPr>
        <p:spPr>
          <a:xfrm>
            <a:off x="1524000" y="3656953"/>
            <a:ext cx="669131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0" i="0" u="none" strike="noStrike" baseline="0" dirty="0">
                <a:latin typeface="+mn-lt"/>
              </a:rPr>
              <a:t>select distinct </a:t>
            </a:r>
            <a:r>
              <a:rPr lang="en-US" altLang="zh-CN" sz="2800" b="0" i="1" u="none" strike="noStrike" baseline="0" dirty="0">
                <a:latin typeface="+mn-lt"/>
              </a:rPr>
              <a:t>name</a:t>
            </a:r>
          </a:p>
          <a:p>
            <a:pPr algn="l"/>
            <a:r>
              <a:rPr lang="en-US" altLang="zh-CN" sz="2800" b="0" i="0" u="none" strike="noStrike" baseline="0" dirty="0">
                <a:latin typeface="+mn-lt"/>
              </a:rPr>
              <a:t>from </a:t>
            </a:r>
            <a:r>
              <a:rPr lang="en-US" altLang="zh-CN" sz="2800" b="0" i="1" u="none" strike="noStrike" baseline="0" dirty="0">
                <a:latin typeface="+mn-lt"/>
              </a:rPr>
              <a:t>instructor</a:t>
            </a:r>
          </a:p>
          <a:p>
            <a:pPr algn="l"/>
            <a:r>
              <a:rPr lang="en-US" altLang="zh-CN" sz="2800" b="0" i="0" u="none" strike="noStrike" baseline="0" dirty="0">
                <a:latin typeface="+mn-lt"/>
              </a:rPr>
              <a:t>where </a:t>
            </a:r>
            <a:r>
              <a:rPr lang="en-US" altLang="zh-CN" sz="2800" b="0" u="none" strike="noStrike" baseline="0" dirty="0">
                <a:solidFill>
                  <a:srgbClr val="7030A0"/>
                </a:solidFill>
                <a:latin typeface="+mn-lt"/>
              </a:rPr>
              <a:t>name</a:t>
            </a:r>
            <a:r>
              <a:rPr lang="en-US" altLang="zh-CN" sz="2800" b="0" i="1" u="none" strike="noStrike" baseline="0" dirty="0">
                <a:latin typeface="+mn-lt"/>
              </a:rPr>
              <a:t> </a:t>
            </a:r>
            <a:r>
              <a:rPr lang="en-US" altLang="zh-CN" sz="2800" b="0" i="0" u="none" strike="noStrike" baseline="0" dirty="0">
                <a:solidFill>
                  <a:srgbClr val="FF0000"/>
                </a:solidFill>
                <a:latin typeface="+mn-lt"/>
              </a:rPr>
              <a:t>not in </a:t>
            </a:r>
            <a:r>
              <a:rPr lang="en-US" altLang="zh-CN" sz="2800" b="0" i="0" u="none" strike="noStrike" baseline="0" dirty="0">
                <a:latin typeface="+mn-lt"/>
              </a:rPr>
              <a:t>('Mozart', 'Einstein');</a:t>
            </a:r>
            <a:endParaRPr lang="zh-CN" altLang="en-US" sz="2800" dirty="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597E721-0B7A-1886-3EA5-D48AE9576E00}"/>
              </a:ext>
            </a:extLst>
          </p:cNvPr>
          <p:cNvSpPr txBox="1"/>
          <p:nvPr/>
        </p:nvSpPr>
        <p:spPr>
          <a:xfrm>
            <a:off x="844550" y="2823785"/>
            <a:ext cx="685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2400" kern="0" dirty="0">
                <a:latin typeface="+mn-lt"/>
              </a:rPr>
              <a:t> 查询既不叫</a:t>
            </a:r>
            <a:r>
              <a:rPr lang="en-US" altLang="zh-CN" sz="2400" dirty="0">
                <a:latin typeface="+mn-lt"/>
              </a:rPr>
              <a:t>Mozart</a:t>
            </a:r>
            <a:r>
              <a:rPr kumimoji="0" lang="zh-CN" altLang="en-US" sz="2400" kern="0" dirty="0">
                <a:latin typeface="+mn-lt"/>
              </a:rPr>
              <a:t>也不叫</a:t>
            </a:r>
            <a:r>
              <a:rPr lang="en-US" altLang="zh-CN" sz="2400" dirty="0">
                <a:latin typeface="+mn-lt"/>
              </a:rPr>
              <a:t>Einstein</a:t>
            </a:r>
            <a:r>
              <a:rPr kumimoji="0" lang="zh-CN" altLang="en-US" sz="2400" kern="0" dirty="0">
                <a:latin typeface="+mn-lt"/>
              </a:rPr>
              <a:t>的教师的姓名</a:t>
            </a:r>
            <a:r>
              <a:rPr kumimoji="0" lang="en-US" altLang="zh-CN" sz="2400" kern="0" dirty="0">
                <a:latin typeface="+mn-lt"/>
              </a:rPr>
              <a:t>.</a:t>
            </a:r>
            <a:endParaRPr lang="zh-CN" altLang="en-US" dirty="0">
              <a:latin typeface="+mn-lt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434FAE2-9C52-86FB-9E5F-F3F3EB79E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113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FB0CA1C-BE91-4DCA-84FC-DBFB7BC433A9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1673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167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3.4.3. </a:t>
            </a:r>
            <a:r>
              <a:rPr lang="zh-CN" altLang="en-US"/>
              <a:t>嵌套查询</a:t>
            </a:r>
          </a:p>
        </p:txBody>
      </p:sp>
      <p:sp>
        <p:nvSpPr>
          <p:cNvPr id="1167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45488" cy="5105400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例</a:t>
            </a:r>
            <a:r>
              <a:rPr lang="en-US" altLang="zh-CN" sz="2800" dirty="0"/>
              <a:t>40 </a:t>
            </a:r>
            <a:r>
              <a:rPr lang="zh-CN" altLang="en-US" sz="2800" dirty="0"/>
              <a:t>查询</a:t>
            </a:r>
            <a:r>
              <a:rPr lang="zh-CN" altLang="en-US" sz="2800" dirty="0">
                <a:solidFill>
                  <a:srgbClr val="FF0000"/>
                </a:solidFill>
              </a:rPr>
              <a:t>选修</a:t>
            </a:r>
            <a:r>
              <a:rPr lang="zh-CN" altLang="en-US" sz="2800" dirty="0"/>
              <a:t>了</a:t>
            </a:r>
            <a:r>
              <a:rPr lang="zh-CN" altLang="en-US" sz="2800" u="sng" dirty="0">
                <a:solidFill>
                  <a:srgbClr val="0000FF"/>
                </a:solidFill>
              </a:rPr>
              <a:t>课程名</a:t>
            </a:r>
            <a:r>
              <a:rPr lang="zh-CN" altLang="en-US" sz="2800" u="sng" dirty="0"/>
              <a:t>为</a:t>
            </a:r>
            <a:r>
              <a:rPr lang="zh-CN" altLang="en-US" sz="2800" u="sng" dirty="0">
                <a:latin typeface="Arial" charset="0"/>
              </a:rPr>
              <a:t>“</a:t>
            </a:r>
            <a:r>
              <a:rPr lang="zh-CN" altLang="en-US" sz="2800" u="sng" dirty="0"/>
              <a:t>信息系统</a:t>
            </a:r>
            <a:r>
              <a:rPr lang="zh-CN" altLang="en-US" sz="2800" u="sng" dirty="0">
                <a:latin typeface="Arial" charset="0"/>
              </a:rPr>
              <a:t>”</a:t>
            </a:r>
            <a:r>
              <a:rPr lang="zh-CN" altLang="en-US" sz="2800" dirty="0"/>
              <a:t>的学生</a:t>
            </a:r>
            <a:r>
              <a:rPr lang="zh-CN" altLang="en-US" sz="2800" u="sng" dirty="0"/>
              <a:t>学号和</a:t>
            </a:r>
            <a:r>
              <a:rPr lang="zh-CN" altLang="en-US" sz="2800" u="sng" dirty="0">
                <a:solidFill>
                  <a:srgbClr val="0000FF"/>
                </a:solidFill>
              </a:rPr>
              <a:t>姓名</a:t>
            </a:r>
            <a:r>
              <a:rPr lang="zh-CN" altLang="en-US" sz="2800" dirty="0"/>
              <a:t>。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/>
              <a:t>	SELECT </a:t>
            </a:r>
            <a:r>
              <a:rPr lang="en-US" altLang="zh-CN" sz="2800" dirty="0" err="1"/>
              <a:t>Sno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Sname</a:t>
            </a:r>
            <a:r>
              <a:rPr lang="en-US" altLang="zh-CN" sz="2800" dirty="0"/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/>
              <a:t>    FROM </a:t>
            </a:r>
            <a:r>
              <a:rPr lang="en-US" altLang="zh-CN" sz="2800" dirty="0">
                <a:solidFill>
                  <a:srgbClr val="006600"/>
                </a:solidFill>
              </a:rPr>
              <a:t>Student</a:t>
            </a:r>
            <a:r>
              <a:rPr lang="en-US" altLang="zh-CN" sz="2800" dirty="0"/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FF"/>
                </a:solidFill>
              </a:rPr>
              <a:t>    </a:t>
            </a:r>
            <a:r>
              <a:rPr lang="en-US" altLang="zh-CN" sz="2800" dirty="0"/>
              <a:t>WHERE </a:t>
            </a:r>
            <a:r>
              <a:rPr lang="en-US" altLang="zh-CN" sz="2800" dirty="0" err="1">
                <a:solidFill>
                  <a:srgbClr val="660066"/>
                </a:solidFill>
              </a:rPr>
              <a:t>Sno</a:t>
            </a:r>
            <a:r>
              <a:rPr lang="en-US" altLang="zh-CN" sz="2800" dirty="0">
                <a:solidFill>
                  <a:srgbClr val="660066"/>
                </a:solidFill>
              </a:rPr>
              <a:t> </a:t>
            </a:r>
            <a:r>
              <a:rPr lang="en-US" altLang="zh-CN" sz="2800" dirty="0">
                <a:solidFill>
                  <a:srgbClr val="FF0000"/>
                </a:solidFill>
              </a:rPr>
              <a:t>IN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/>
              <a:t>       (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SELECT </a:t>
            </a:r>
            <a:r>
              <a:rPr lang="en-US" altLang="zh-CN" sz="2800" dirty="0" err="1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Sno</a:t>
            </a:r>
            <a:endParaRPr lang="en-US" altLang="zh-CN" sz="2800" dirty="0">
              <a:solidFill>
                <a:srgbClr val="66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       FROM </a:t>
            </a:r>
            <a:r>
              <a:rPr lang="en-US" altLang="zh-CN" sz="2800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       WHERE </a:t>
            </a:r>
            <a:r>
              <a:rPr lang="en-US" altLang="zh-CN" sz="28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Cno</a:t>
            </a:r>
            <a:r>
              <a:rPr lang="en-US" altLang="zh-CN" sz="28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           (</a:t>
            </a:r>
            <a:r>
              <a:rPr lang="en-US" altLang="zh-CN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SELECT </a:t>
            </a:r>
            <a:r>
              <a:rPr lang="en-US" altLang="zh-CN" sz="2800" i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Cno</a:t>
            </a:r>
            <a:endParaRPr lang="en-US" altLang="zh-CN" sz="2800" i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            FROM </a:t>
            </a:r>
            <a:r>
              <a:rPr lang="en-US" altLang="zh-CN" sz="2800" i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Course</a:t>
            </a:r>
            <a:r>
              <a:rPr lang="en-US" altLang="zh-CN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            WHERE </a:t>
            </a:r>
            <a:r>
              <a:rPr lang="en-US" altLang="zh-CN" sz="28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Cname</a:t>
            </a:r>
            <a:r>
              <a:rPr lang="en-US" altLang="zh-CN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=‘</a:t>
            </a:r>
            <a:r>
              <a:rPr lang="zh-CN" altLang="en-US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信息系统’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en-US" altLang="zh-CN" sz="2800" dirty="0"/>
              <a:t>)</a:t>
            </a:r>
            <a:r>
              <a:rPr lang="zh-CN" altLang="en-US" sz="2800" dirty="0"/>
              <a:t>；</a:t>
            </a:r>
          </a:p>
        </p:txBody>
      </p:sp>
      <p:sp>
        <p:nvSpPr>
          <p:cNvPr id="2" name="下箭头 1"/>
          <p:cNvSpPr/>
          <p:nvPr/>
        </p:nvSpPr>
        <p:spPr bwMode="auto">
          <a:xfrm flipV="1">
            <a:off x="762000" y="4107976"/>
            <a:ext cx="457200" cy="1447800"/>
          </a:xfrm>
          <a:prstGeom prst="downArrow">
            <a:avLst>
              <a:gd name="adj1" fmla="val 50000"/>
              <a:gd name="adj2" fmla="val 88095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83808" y="3410760"/>
            <a:ext cx="1620957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800" dirty="0"/>
              <a:t>三层嵌套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E1B592-444A-B849-316D-47A498166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114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67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67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67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67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67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67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67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67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67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67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67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67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67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67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67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67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67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67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29D56EF-1E8C-496F-81DC-584FCAAC94D7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1878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187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3.4.3. </a:t>
            </a:r>
            <a:r>
              <a:rPr lang="zh-CN" altLang="en-US"/>
              <a:t>嵌套查询</a:t>
            </a:r>
          </a:p>
        </p:txBody>
      </p:sp>
      <p:sp>
        <p:nvSpPr>
          <p:cNvPr id="1187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</a:rPr>
              <a:t>二、带有比较运算符的子查询</a:t>
            </a:r>
          </a:p>
          <a:p>
            <a:pPr eaLnBrk="1" hangingPunct="1"/>
            <a:r>
              <a:rPr lang="zh-CN" altLang="en-US" dirty="0"/>
              <a:t>带有比较运算符的子查询是指</a:t>
            </a:r>
            <a:r>
              <a:rPr lang="zh-CN" altLang="en-US" dirty="0">
                <a:solidFill>
                  <a:srgbClr val="0000FF"/>
                </a:solidFill>
              </a:rPr>
              <a:t>父查询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0000FF"/>
                </a:solidFill>
              </a:rPr>
              <a:t>子查询之间</a:t>
            </a:r>
            <a:r>
              <a:rPr lang="zh-CN" altLang="en-US" dirty="0"/>
              <a:t>用</a:t>
            </a:r>
            <a:r>
              <a:rPr lang="zh-CN" altLang="en-US" u="sng" dirty="0">
                <a:solidFill>
                  <a:srgbClr val="C00000"/>
                </a:solidFill>
              </a:rPr>
              <a:t>比较运算符</a:t>
            </a:r>
            <a:r>
              <a:rPr lang="zh-CN" altLang="en-US" dirty="0"/>
              <a:t>进行连接。</a:t>
            </a:r>
          </a:p>
          <a:p>
            <a:pPr eaLnBrk="1" hangingPunct="1"/>
            <a:r>
              <a:rPr lang="zh-CN" altLang="en-US" dirty="0"/>
              <a:t>当用户能</a:t>
            </a:r>
            <a:r>
              <a:rPr lang="zh-CN" altLang="en-US" dirty="0">
                <a:solidFill>
                  <a:srgbClr val="FF0000"/>
                </a:solidFill>
              </a:rPr>
              <a:t>确切</a:t>
            </a:r>
            <a:r>
              <a:rPr lang="zh-CN" altLang="en-US" dirty="0"/>
              <a:t>知道</a:t>
            </a:r>
            <a:r>
              <a:rPr lang="zh-CN" altLang="en-US" dirty="0">
                <a:solidFill>
                  <a:srgbClr val="0000FF"/>
                </a:solidFill>
              </a:rPr>
              <a:t>内层查询返回的</a:t>
            </a:r>
            <a:r>
              <a:rPr lang="zh-CN" altLang="en-US" dirty="0"/>
              <a:t>是</a:t>
            </a:r>
            <a:r>
              <a:rPr lang="zh-CN" altLang="en-US" b="1" u="sng" dirty="0">
                <a:solidFill>
                  <a:srgbClr val="FF0000"/>
                </a:solidFill>
              </a:rPr>
              <a:t>单值</a:t>
            </a:r>
            <a:r>
              <a:rPr lang="zh-CN" altLang="en-US" dirty="0"/>
              <a:t>时，可以用</a:t>
            </a:r>
            <a:r>
              <a:rPr lang="en-US" altLang="zh-CN" dirty="0"/>
              <a:t>&gt;</a:t>
            </a:r>
            <a:r>
              <a:rPr lang="zh-CN" altLang="en-US" dirty="0">
                <a:latin typeface="宋体" pitchFamily="2" charset="-122"/>
              </a:rPr>
              <a:t>、</a:t>
            </a:r>
            <a:r>
              <a:rPr lang="zh-CN" altLang="en-US" dirty="0"/>
              <a:t> </a:t>
            </a:r>
            <a:r>
              <a:rPr lang="en-US" altLang="zh-CN" dirty="0"/>
              <a:t>&lt;</a:t>
            </a:r>
            <a:r>
              <a:rPr lang="zh-CN" altLang="en-US" dirty="0">
                <a:latin typeface="宋体" pitchFamily="2" charset="-122"/>
              </a:rPr>
              <a:t>、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>
                <a:latin typeface="宋体" pitchFamily="2" charset="-122"/>
              </a:rPr>
              <a:t>、</a:t>
            </a:r>
            <a:r>
              <a:rPr lang="zh-CN" altLang="en-US" dirty="0"/>
              <a:t> </a:t>
            </a:r>
            <a:r>
              <a:rPr lang="en-US" altLang="zh-CN" dirty="0"/>
              <a:t>&gt;=</a:t>
            </a:r>
            <a:r>
              <a:rPr lang="zh-CN" altLang="en-US" dirty="0">
                <a:latin typeface="宋体" pitchFamily="2" charset="-122"/>
              </a:rPr>
              <a:t>、</a:t>
            </a:r>
            <a:r>
              <a:rPr lang="en-US" altLang="zh-CN" dirty="0"/>
              <a:t>&lt;=</a:t>
            </a:r>
            <a:r>
              <a:rPr lang="zh-CN" altLang="en-US" dirty="0">
                <a:latin typeface="宋体" pitchFamily="2" charset="-122"/>
              </a:rPr>
              <a:t>、</a:t>
            </a:r>
            <a:r>
              <a:rPr lang="en-US" altLang="zh-CN" dirty="0"/>
              <a:t>!=</a:t>
            </a:r>
            <a:r>
              <a:rPr lang="zh-CN" altLang="en-US" dirty="0">
                <a:latin typeface="宋体" pitchFamily="2" charset="-122"/>
              </a:rPr>
              <a:t>或</a:t>
            </a:r>
            <a:r>
              <a:rPr lang="en-US" altLang="zh-CN" dirty="0"/>
              <a:t>&lt;&gt;</a:t>
            </a:r>
            <a:r>
              <a:rPr lang="zh-CN" altLang="en-US" dirty="0"/>
              <a:t>等</a:t>
            </a:r>
            <a:r>
              <a:rPr lang="zh-CN" altLang="en-US" dirty="0">
                <a:solidFill>
                  <a:srgbClr val="C00000"/>
                </a:solidFill>
              </a:rPr>
              <a:t>比较运算符</a:t>
            </a:r>
            <a:r>
              <a:rPr lang="zh-CN" altLang="en-US" dirty="0"/>
              <a:t>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60ABFF7-6312-7F6D-1E6D-E670002E9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115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87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87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87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87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D479D47-2291-49A3-9CDD-E1228AC1A280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2083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208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3.4.3. </a:t>
            </a:r>
            <a:r>
              <a:rPr lang="zh-CN" altLang="en-US"/>
              <a:t>嵌套查询</a:t>
            </a:r>
          </a:p>
        </p:txBody>
      </p:sp>
      <p:sp>
        <p:nvSpPr>
          <p:cNvPr id="1208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105775" cy="468471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zh-CN" altLang="en-US" sz="1000" dirty="0"/>
          </a:p>
          <a:p>
            <a:pPr eaLnBrk="1" hangingPunct="1">
              <a:lnSpc>
                <a:spcPct val="80000"/>
              </a:lnSpc>
            </a:pPr>
            <a:r>
              <a:rPr lang="zh-CN" altLang="en-US" sz="2800" dirty="0"/>
              <a:t>查询</a:t>
            </a:r>
            <a:r>
              <a:rPr lang="zh-CN" altLang="en-US" sz="2800" u="sng" dirty="0"/>
              <a:t>选修</a:t>
            </a:r>
            <a:r>
              <a:rPr lang="en-US" altLang="zh-CN" sz="2800" u="sng" dirty="0"/>
              <a:t>2</a:t>
            </a:r>
            <a:r>
              <a:rPr lang="zh-CN" altLang="en-US" sz="2800" u="sng" dirty="0"/>
              <a:t>号课程</a:t>
            </a:r>
            <a:r>
              <a:rPr lang="zh-CN" altLang="en-US" sz="2800" dirty="0"/>
              <a:t>的</a:t>
            </a:r>
            <a:r>
              <a:rPr lang="zh-CN" altLang="en-US" sz="2800" u="sng" dirty="0"/>
              <a:t>成绩最高</a:t>
            </a:r>
            <a:r>
              <a:rPr lang="zh-CN" altLang="en-US" sz="2800" dirty="0"/>
              <a:t>的学生的学号。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CN" sz="8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/>
              <a:t>	SELECT </a:t>
            </a:r>
            <a:r>
              <a:rPr lang="en-US" altLang="zh-CN" sz="2800" dirty="0" err="1"/>
              <a:t>Sno</a:t>
            </a:r>
            <a:endParaRPr lang="en-US" altLang="zh-CN" sz="28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/>
              <a:t>	   FROM SC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/>
              <a:t>	   WHERE </a:t>
            </a:r>
            <a:r>
              <a:rPr lang="en-US" altLang="zh-CN" sz="2800" dirty="0" err="1">
                <a:solidFill>
                  <a:srgbClr val="0000FF"/>
                </a:solidFill>
              </a:rPr>
              <a:t>Cno</a:t>
            </a:r>
            <a:r>
              <a:rPr lang="en-US" altLang="zh-CN" sz="2800" dirty="0">
                <a:solidFill>
                  <a:srgbClr val="0000FF"/>
                </a:solidFill>
              </a:rPr>
              <a:t>=</a:t>
            </a:r>
            <a:r>
              <a:rPr lang="en-US" altLang="zh-CN" sz="2800" dirty="0">
                <a:solidFill>
                  <a:srgbClr val="0000FF"/>
                </a:solidFill>
                <a:latin typeface="Arial" charset="0"/>
              </a:rPr>
              <a:t>‘</a:t>
            </a:r>
            <a:r>
              <a:rPr lang="en-US" altLang="zh-CN" sz="2800" dirty="0">
                <a:solidFill>
                  <a:srgbClr val="0000FF"/>
                </a:solidFill>
              </a:rPr>
              <a:t>2</a:t>
            </a:r>
            <a:r>
              <a:rPr lang="en-US" altLang="zh-CN" sz="2800" dirty="0">
                <a:solidFill>
                  <a:srgbClr val="0000FF"/>
                </a:solidFill>
                <a:latin typeface="Arial" charset="0"/>
              </a:rPr>
              <a:t>’</a:t>
            </a:r>
            <a:r>
              <a:rPr lang="en-US" altLang="zh-CN" sz="2800" dirty="0">
                <a:solidFill>
                  <a:srgbClr val="0000FF"/>
                </a:solidFill>
              </a:rPr>
              <a:t> </a:t>
            </a:r>
            <a:r>
              <a:rPr lang="en-US" altLang="zh-CN" sz="2800" dirty="0"/>
              <a:t>AND </a:t>
            </a:r>
            <a:r>
              <a:rPr lang="en-US" altLang="zh-CN" sz="2800" dirty="0">
                <a:solidFill>
                  <a:srgbClr val="C00000"/>
                </a:solidFill>
              </a:rPr>
              <a:t>Grade </a:t>
            </a:r>
            <a:r>
              <a:rPr lang="en-US" altLang="zh-CN" sz="2800" dirty="0">
                <a:solidFill>
                  <a:srgbClr val="0000FF"/>
                </a:solidFill>
              </a:rPr>
              <a:t>=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/>
              <a:t>	       			   (SELECT </a:t>
            </a:r>
            <a:r>
              <a:rPr lang="en-US" altLang="zh-CN" sz="2800" dirty="0">
                <a:solidFill>
                  <a:srgbClr val="C00000"/>
                </a:solidFill>
              </a:rPr>
              <a:t>MAX(Grade)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/>
              <a:t>	          			    FROM SC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/>
              <a:t>	         			    WHERE </a:t>
            </a:r>
            <a:r>
              <a:rPr lang="en-US" altLang="zh-CN" sz="2800" dirty="0" err="1">
                <a:solidFill>
                  <a:srgbClr val="0000FF"/>
                </a:solidFill>
              </a:rPr>
              <a:t>Cno</a:t>
            </a:r>
            <a:r>
              <a:rPr lang="en-US" altLang="zh-CN" sz="2800" dirty="0">
                <a:solidFill>
                  <a:srgbClr val="0000FF"/>
                </a:solidFill>
              </a:rPr>
              <a:t>=</a:t>
            </a:r>
            <a:r>
              <a:rPr lang="en-US" altLang="zh-CN" sz="2800" dirty="0">
                <a:solidFill>
                  <a:srgbClr val="0000FF"/>
                </a:solidFill>
                <a:latin typeface="Arial" charset="0"/>
              </a:rPr>
              <a:t>‘</a:t>
            </a:r>
            <a:r>
              <a:rPr lang="en-US" altLang="zh-CN" sz="2800" dirty="0">
                <a:solidFill>
                  <a:srgbClr val="0000FF"/>
                </a:solidFill>
              </a:rPr>
              <a:t>2</a:t>
            </a:r>
            <a:r>
              <a:rPr lang="en-US" altLang="zh-CN" sz="2800" dirty="0">
                <a:solidFill>
                  <a:srgbClr val="0000FF"/>
                </a:solidFill>
                <a:latin typeface="Arial" charset="0"/>
              </a:rPr>
              <a:t>’</a:t>
            </a:r>
            <a:r>
              <a:rPr lang="en-US" altLang="zh-CN" sz="2800" dirty="0"/>
              <a:t>);</a:t>
            </a:r>
            <a:endParaRPr lang="zh-CN" altLang="en-US" sz="28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CF142CE-E56F-A41B-4EFA-E13004969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116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08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08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08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08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08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08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08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08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08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08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08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08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7D7C5D1-A53F-4FC9-8FB0-53F31CC849D4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2185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218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3.4.3. </a:t>
            </a:r>
            <a:r>
              <a:rPr lang="zh-CN" altLang="en-US"/>
              <a:t>嵌套查询</a:t>
            </a:r>
          </a:p>
        </p:txBody>
      </p:sp>
      <p:sp>
        <p:nvSpPr>
          <p:cNvPr id="1218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7924800" cy="4684713"/>
          </a:xfrm>
        </p:spPr>
        <p:txBody>
          <a:bodyPr/>
          <a:lstStyle/>
          <a:p>
            <a:pPr eaLnBrk="1" hangingPunct="1"/>
            <a:r>
              <a:rPr lang="zh-CN" altLang="en-US" dirty="0"/>
              <a:t>需要注意的是，</a:t>
            </a:r>
            <a:r>
              <a:rPr lang="zh-CN" altLang="en-US" b="1" dirty="0">
                <a:solidFill>
                  <a:srgbClr val="0000FF"/>
                </a:solidFill>
              </a:rPr>
              <a:t>子查询</a:t>
            </a:r>
            <a:r>
              <a:rPr lang="zh-CN" altLang="en-US" b="1" dirty="0"/>
              <a:t>一定要跟在</a:t>
            </a:r>
            <a:r>
              <a:rPr lang="zh-CN" altLang="en-US" b="1" dirty="0">
                <a:solidFill>
                  <a:srgbClr val="0000FF"/>
                </a:solidFill>
              </a:rPr>
              <a:t>比较运算符</a:t>
            </a:r>
            <a:r>
              <a:rPr lang="zh-CN" altLang="en-US" b="1" dirty="0">
                <a:solidFill>
                  <a:srgbClr val="C00000"/>
                </a:solidFill>
              </a:rPr>
              <a:t>之后</a:t>
            </a:r>
            <a:r>
              <a:rPr lang="zh-CN" altLang="en-US" dirty="0"/>
              <a:t>，下列写法是</a:t>
            </a:r>
            <a:r>
              <a:rPr lang="zh-CN" altLang="en-US" dirty="0">
                <a:solidFill>
                  <a:schemeClr val="hlink"/>
                </a:solidFill>
              </a:rPr>
              <a:t>错误的</a:t>
            </a:r>
            <a:r>
              <a:rPr lang="zh-CN" altLang="en-US" dirty="0"/>
              <a:t>：</a:t>
            </a:r>
            <a:br>
              <a:rPr lang="zh-CN" altLang="en-US" dirty="0"/>
            </a:br>
            <a:endParaRPr lang="zh-CN" altLang="en-US" sz="12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	SELECT </a:t>
            </a:r>
            <a:r>
              <a:rPr lang="en-US" altLang="zh-CN" sz="2800" dirty="0" err="1"/>
              <a:t>Sno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Sname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Sdept</a:t>
            </a:r>
            <a:r>
              <a:rPr lang="en-US" altLang="zh-CN" sz="2800" dirty="0"/>
              <a:t> </a:t>
            </a:r>
            <a:br>
              <a:rPr lang="en-US" altLang="zh-CN" sz="2800" dirty="0"/>
            </a:br>
            <a:r>
              <a:rPr lang="en-US" altLang="zh-CN" sz="2800" dirty="0"/>
              <a:t>FROM Student </a:t>
            </a:r>
            <a:br>
              <a:rPr lang="en-US" altLang="zh-CN" sz="2800" dirty="0"/>
            </a:br>
            <a:r>
              <a:rPr lang="en-US" altLang="zh-CN" sz="2800" dirty="0"/>
              <a:t>WHERE (SELECT </a:t>
            </a:r>
            <a:r>
              <a:rPr lang="en-US" altLang="zh-CN" sz="2800" dirty="0" err="1"/>
              <a:t>Sdept</a:t>
            </a:r>
            <a:r>
              <a:rPr lang="en-US" altLang="zh-CN" sz="2800" dirty="0"/>
              <a:t> </a:t>
            </a:r>
            <a:br>
              <a:rPr lang="en-US" altLang="zh-CN" sz="2800" dirty="0"/>
            </a:br>
            <a:r>
              <a:rPr lang="en-US" altLang="zh-CN" sz="2800" dirty="0">
                <a:latin typeface="Arial" charset="0"/>
              </a:rPr>
              <a:t>           </a:t>
            </a:r>
            <a:r>
              <a:rPr lang="en-US" altLang="zh-CN" sz="2800" dirty="0"/>
              <a:t> FROM Student </a:t>
            </a:r>
            <a:br>
              <a:rPr lang="en-US" altLang="zh-CN" sz="2800" dirty="0"/>
            </a:br>
            <a:r>
              <a:rPr lang="en-US" altLang="zh-CN" sz="2800" dirty="0">
                <a:latin typeface="Arial" charset="0"/>
              </a:rPr>
              <a:t>           </a:t>
            </a:r>
            <a:r>
              <a:rPr lang="en-US" altLang="zh-CN" sz="2800" dirty="0"/>
              <a:t> WHERE </a:t>
            </a:r>
            <a:r>
              <a:rPr lang="en-US" altLang="zh-CN" sz="2800" dirty="0" err="1"/>
              <a:t>Sname</a:t>
            </a:r>
            <a:r>
              <a:rPr lang="en-US" altLang="zh-CN" sz="2800" dirty="0"/>
              <a:t>='</a:t>
            </a:r>
            <a:r>
              <a:rPr lang="zh-CN" altLang="en-US" sz="2800" dirty="0"/>
              <a:t>刘晨</a:t>
            </a:r>
            <a:r>
              <a:rPr lang="en-US" altLang="zh-CN" sz="2800" dirty="0"/>
              <a:t>') </a:t>
            </a:r>
            <a:r>
              <a:rPr lang="en-US" altLang="zh-CN" sz="2800" dirty="0">
                <a:solidFill>
                  <a:srgbClr val="0000FF"/>
                </a:solidFill>
              </a:rPr>
              <a:t>=</a:t>
            </a:r>
            <a:r>
              <a:rPr lang="en-US" altLang="zh-CN" sz="2800" dirty="0"/>
              <a:t> </a:t>
            </a:r>
            <a:r>
              <a:rPr lang="en-US" altLang="zh-CN" sz="2800" dirty="0" err="1"/>
              <a:t>Sdept</a:t>
            </a:r>
            <a:r>
              <a:rPr lang="en-US" altLang="zh-CN" sz="2800" dirty="0"/>
              <a:t>; </a:t>
            </a:r>
            <a:br>
              <a:rPr lang="en-US" altLang="zh-CN" sz="2800" dirty="0"/>
            </a:br>
            <a:endParaRPr lang="zh-CN" altLang="en-US" sz="2800" dirty="0"/>
          </a:p>
        </p:txBody>
      </p:sp>
      <p:sp>
        <p:nvSpPr>
          <p:cNvPr id="7" name="十字形 6"/>
          <p:cNvSpPr/>
          <p:nvPr/>
        </p:nvSpPr>
        <p:spPr bwMode="auto">
          <a:xfrm rot="2621431">
            <a:off x="3246415" y="2741210"/>
            <a:ext cx="2517741" cy="2442379"/>
          </a:xfrm>
          <a:prstGeom prst="plus">
            <a:avLst>
              <a:gd name="adj" fmla="val 40584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A5677E2-8CBE-5BFE-8A93-A57750D68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117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2747A40-886E-45FE-93CF-11B2294849CF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2288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228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3.4.3. </a:t>
            </a:r>
            <a:r>
              <a:rPr lang="zh-CN" altLang="en-US"/>
              <a:t>嵌套查询</a:t>
            </a:r>
          </a:p>
        </p:txBody>
      </p:sp>
      <p:sp>
        <p:nvSpPr>
          <p:cNvPr id="1228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45488" cy="5029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例</a:t>
            </a:r>
            <a:r>
              <a:rPr lang="en-US" altLang="zh-CN" sz="2800" dirty="0"/>
              <a:t>40</a:t>
            </a:r>
            <a:r>
              <a:rPr lang="zh-CN" altLang="en-US" sz="2800" dirty="0"/>
              <a:t>中 </a:t>
            </a:r>
            <a:r>
              <a:rPr lang="en-US" altLang="zh-CN" sz="2800" dirty="0"/>
              <a:t>‘</a:t>
            </a:r>
            <a:r>
              <a:rPr lang="zh-CN" altLang="en-US" sz="2800" dirty="0"/>
              <a:t>信息系统</a:t>
            </a:r>
            <a:r>
              <a:rPr lang="en-US" altLang="zh-CN" sz="2800" dirty="0"/>
              <a:t>’</a:t>
            </a:r>
            <a:r>
              <a:rPr lang="zh-CN" altLang="en-US" sz="2800" dirty="0"/>
              <a:t>的</a:t>
            </a:r>
            <a:r>
              <a:rPr lang="zh-CN" altLang="en-US" sz="2800" dirty="0">
                <a:solidFill>
                  <a:srgbClr val="0000FF"/>
                </a:solidFill>
              </a:rPr>
              <a:t>课程号是唯一的</a:t>
            </a:r>
            <a:r>
              <a:rPr lang="zh-CN" altLang="en-US" sz="2800" dirty="0"/>
              <a:t>，但选修该课程的学生并不只一个，所以例</a:t>
            </a:r>
            <a:r>
              <a:rPr lang="en-US" altLang="zh-CN" sz="2800" dirty="0"/>
              <a:t>40</a:t>
            </a:r>
            <a:r>
              <a:rPr lang="zh-CN" altLang="en-US" sz="2800" dirty="0"/>
              <a:t>也可以用</a:t>
            </a:r>
            <a:r>
              <a:rPr lang="en-US" altLang="zh-CN" sz="2800" dirty="0">
                <a:solidFill>
                  <a:srgbClr val="0000FF"/>
                </a:solidFill>
              </a:rPr>
              <a:t>=</a:t>
            </a:r>
            <a:r>
              <a:rPr lang="zh-CN" altLang="en-US" sz="2800" dirty="0">
                <a:solidFill>
                  <a:srgbClr val="0000FF"/>
                </a:solidFill>
              </a:rPr>
              <a:t>运算符</a:t>
            </a:r>
            <a:r>
              <a:rPr lang="zh-CN" altLang="en-US" sz="2800" dirty="0"/>
              <a:t>和</a:t>
            </a:r>
            <a:r>
              <a:rPr lang="en-US" altLang="zh-CN" sz="2800" dirty="0">
                <a:solidFill>
                  <a:srgbClr val="0000FF"/>
                </a:solidFill>
              </a:rPr>
              <a:t>IN</a:t>
            </a:r>
            <a:r>
              <a:rPr lang="zh-CN" altLang="en-US" sz="2800" dirty="0">
                <a:solidFill>
                  <a:srgbClr val="0000FF"/>
                </a:solidFill>
              </a:rPr>
              <a:t>谓词共同完成</a:t>
            </a:r>
            <a:r>
              <a:rPr lang="zh-CN" altLang="en-US" sz="2800" dirty="0"/>
              <a:t>： 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br>
              <a:rPr lang="zh-CN" altLang="en-US" sz="1200" dirty="0"/>
            </a:br>
            <a:r>
              <a:rPr lang="en-US" altLang="zh-CN" sz="2800" dirty="0"/>
              <a:t>SELECT </a:t>
            </a:r>
            <a:r>
              <a:rPr lang="en-US" altLang="zh-CN" sz="2800" dirty="0" err="1"/>
              <a:t>Sno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Sname</a:t>
            </a:r>
            <a:r>
              <a:rPr lang="en-US" altLang="zh-CN" sz="2800" dirty="0"/>
              <a:t> </a:t>
            </a:r>
            <a:br>
              <a:rPr lang="en-US" altLang="zh-CN" sz="2800" dirty="0"/>
            </a:br>
            <a:r>
              <a:rPr lang="en-US" altLang="zh-CN" sz="2800" dirty="0"/>
              <a:t>FROM Student</a:t>
            </a:r>
            <a:br>
              <a:rPr lang="en-US" altLang="zh-CN" sz="2800" dirty="0"/>
            </a:br>
            <a:r>
              <a:rPr lang="en-US" altLang="zh-CN" sz="2800" dirty="0"/>
              <a:t>WHERE </a:t>
            </a:r>
            <a:r>
              <a:rPr lang="en-US" altLang="zh-CN" sz="2800" dirty="0" err="1">
                <a:solidFill>
                  <a:srgbClr val="C00000"/>
                </a:solidFill>
              </a:rPr>
              <a:t>Sno</a:t>
            </a:r>
            <a:r>
              <a:rPr lang="en-US" altLang="zh-CN" sz="2800" dirty="0">
                <a:solidFill>
                  <a:srgbClr val="C00000"/>
                </a:solidFill>
              </a:rPr>
              <a:t> IN </a:t>
            </a:r>
            <a:br>
              <a:rPr lang="en-US" altLang="zh-CN" sz="2800" dirty="0"/>
            </a:br>
            <a:r>
              <a:rPr lang="en-US" altLang="zh-CN" sz="2800" dirty="0">
                <a:latin typeface="Arial" charset="0"/>
              </a:rPr>
              <a:t>    </a:t>
            </a:r>
            <a:r>
              <a:rPr lang="en-US" altLang="zh-CN" sz="2800" dirty="0"/>
              <a:t>( SELECT </a:t>
            </a:r>
            <a:r>
              <a:rPr lang="en-US" altLang="zh-CN" sz="2800" dirty="0" err="1"/>
              <a:t>Sno</a:t>
            </a:r>
            <a:r>
              <a:rPr lang="en-US" altLang="zh-CN" sz="2800" dirty="0"/>
              <a:t> </a:t>
            </a:r>
            <a:br>
              <a:rPr lang="en-US" altLang="zh-CN" sz="2800" dirty="0"/>
            </a:br>
            <a:r>
              <a:rPr lang="en-US" altLang="zh-CN" sz="2800" dirty="0">
                <a:latin typeface="Arial" charset="0"/>
              </a:rPr>
              <a:t>     </a:t>
            </a:r>
            <a:r>
              <a:rPr lang="en-US" altLang="zh-CN" sz="2800" dirty="0"/>
              <a:t> FROM SC </a:t>
            </a:r>
            <a:br>
              <a:rPr lang="en-US" altLang="zh-CN" sz="2800" dirty="0"/>
            </a:br>
            <a:r>
              <a:rPr lang="en-US" altLang="zh-CN" sz="2800" dirty="0">
                <a:latin typeface="Arial" charset="0"/>
              </a:rPr>
              <a:t>     </a:t>
            </a:r>
            <a:r>
              <a:rPr lang="en-US" altLang="zh-CN" sz="2800" dirty="0"/>
              <a:t> WHERE </a:t>
            </a:r>
            <a:r>
              <a:rPr lang="en-US" altLang="zh-CN" sz="2800" dirty="0" err="1">
                <a:solidFill>
                  <a:srgbClr val="0000FF"/>
                </a:solidFill>
              </a:rPr>
              <a:t>Cno</a:t>
            </a:r>
            <a:r>
              <a:rPr lang="en-US" altLang="zh-CN" sz="2800" dirty="0">
                <a:solidFill>
                  <a:srgbClr val="0000FF"/>
                </a:solidFill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</a:rPr>
              <a:t>=</a:t>
            </a:r>
            <a:r>
              <a:rPr lang="en-US" altLang="zh-CN" sz="2800" dirty="0"/>
              <a:t> </a:t>
            </a:r>
            <a:br>
              <a:rPr lang="en-US" altLang="zh-CN" sz="2800" dirty="0"/>
            </a:br>
            <a:r>
              <a:rPr lang="en-US" altLang="zh-CN" sz="2800" dirty="0">
                <a:latin typeface="Arial" charset="0"/>
              </a:rPr>
              <a:t>          </a:t>
            </a:r>
            <a:r>
              <a:rPr lang="en-US" altLang="zh-CN" sz="2800" dirty="0"/>
              <a:t>( SELECT </a:t>
            </a:r>
            <a:r>
              <a:rPr lang="en-US" altLang="zh-CN" sz="2800" dirty="0" err="1"/>
              <a:t>Cno</a:t>
            </a:r>
            <a:br>
              <a:rPr lang="en-US" altLang="zh-CN" sz="2800" dirty="0"/>
            </a:br>
            <a:r>
              <a:rPr lang="en-US" altLang="zh-CN" sz="2800" dirty="0">
                <a:latin typeface="Arial" charset="0"/>
              </a:rPr>
              <a:t>           </a:t>
            </a:r>
            <a:r>
              <a:rPr lang="en-US" altLang="zh-CN" sz="2800" dirty="0"/>
              <a:t> FROM Course </a:t>
            </a:r>
            <a:br>
              <a:rPr lang="en-US" altLang="zh-CN" sz="2800" dirty="0"/>
            </a:br>
            <a:r>
              <a:rPr lang="en-US" altLang="zh-CN" sz="2800" dirty="0">
                <a:latin typeface="Arial" charset="0"/>
              </a:rPr>
              <a:t>           </a:t>
            </a:r>
            <a:r>
              <a:rPr lang="en-US" altLang="zh-CN" sz="2800" dirty="0"/>
              <a:t> WHERE </a:t>
            </a:r>
            <a:r>
              <a:rPr lang="en-US" altLang="zh-CN" sz="2800" dirty="0" err="1"/>
              <a:t>Cname</a:t>
            </a:r>
            <a:r>
              <a:rPr lang="en-US" altLang="zh-CN" sz="2800" dirty="0"/>
              <a:t>=</a:t>
            </a:r>
            <a:r>
              <a:rPr lang="en-US" altLang="zh-CN" sz="2800" dirty="0">
                <a:latin typeface="Arial" charset="0"/>
              </a:rPr>
              <a:t>‘</a:t>
            </a:r>
            <a:r>
              <a:rPr lang="zh-CN" altLang="en-US" sz="2800" dirty="0"/>
              <a:t>信息系统</a:t>
            </a:r>
            <a:r>
              <a:rPr lang="zh-CN" altLang="en-US" sz="2800" dirty="0">
                <a:latin typeface="Arial" charset="0"/>
              </a:rPr>
              <a:t>’</a:t>
            </a:r>
            <a:r>
              <a:rPr lang="en-US" altLang="zh-CN" sz="2800" dirty="0"/>
              <a:t>)) </a:t>
            </a:r>
            <a:r>
              <a:rPr lang="zh-CN" altLang="en-US" sz="2800" dirty="0"/>
              <a:t>；</a:t>
            </a:r>
          </a:p>
        </p:txBody>
      </p:sp>
      <p:sp>
        <p:nvSpPr>
          <p:cNvPr id="2" name="矩形 1"/>
          <p:cNvSpPr/>
          <p:nvPr/>
        </p:nvSpPr>
        <p:spPr>
          <a:xfrm>
            <a:off x="6019800" y="2667000"/>
            <a:ext cx="2743200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/>
              <a:t>例</a:t>
            </a:r>
            <a:r>
              <a:rPr lang="en-US" altLang="zh-CN" dirty="0"/>
              <a:t>40 </a:t>
            </a:r>
            <a:r>
              <a:rPr lang="zh-CN" altLang="en-US" dirty="0"/>
              <a:t>查询选修了课程名为</a:t>
            </a:r>
            <a:r>
              <a:rPr lang="zh-CN" altLang="en-US" dirty="0">
                <a:latin typeface="Arial" charset="0"/>
              </a:rPr>
              <a:t>“</a:t>
            </a:r>
            <a:r>
              <a:rPr lang="zh-CN" altLang="en-US" dirty="0"/>
              <a:t>信息系统</a:t>
            </a:r>
            <a:r>
              <a:rPr lang="zh-CN" altLang="en-US" dirty="0">
                <a:latin typeface="Arial" charset="0"/>
              </a:rPr>
              <a:t>”</a:t>
            </a:r>
            <a:r>
              <a:rPr lang="zh-CN" altLang="en-US" dirty="0"/>
              <a:t>的学生学号和姓名</a:t>
            </a:r>
          </a:p>
        </p:txBody>
      </p:sp>
      <p:sp>
        <p:nvSpPr>
          <p:cNvPr id="8" name="下箭头 7"/>
          <p:cNvSpPr/>
          <p:nvPr/>
        </p:nvSpPr>
        <p:spPr bwMode="auto">
          <a:xfrm flipV="1">
            <a:off x="762000" y="4107976"/>
            <a:ext cx="457200" cy="1447800"/>
          </a:xfrm>
          <a:prstGeom prst="downArrow">
            <a:avLst>
              <a:gd name="adj1" fmla="val 50000"/>
              <a:gd name="adj2" fmla="val 88095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50CE512-15E1-84AD-973A-6825817FB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118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8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8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DE270B1-31BE-4933-9753-74DA2D0852B6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1776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177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3.4.3. </a:t>
            </a:r>
            <a:r>
              <a:rPr lang="zh-CN" altLang="en-US"/>
              <a:t>嵌套查询</a:t>
            </a:r>
          </a:p>
        </p:txBody>
      </p:sp>
      <p:sp>
        <p:nvSpPr>
          <p:cNvPr id="1177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39</a:t>
            </a:r>
            <a:r>
              <a:rPr lang="zh-CN" altLang="en-US" dirty="0"/>
              <a:t>和例</a:t>
            </a:r>
            <a:r>
              <a:rPr lang="en-US" altLang="zh-CN" dirty="0"/>
              <a:t>40</a:t>
            </a:r>
            <a:r>
              <a:rPr lang="zh-CN" altLang="en-US" dirty="0"/>
              <a:t>中的各个</a:t>
            </a:r>
            <a:r>
              <a:rPr lang="zh-CN" altLang="en-US" b="1" dirty="0">
                <a:solidFill>
                  <a:srgbClr val="0000FF"/>
                </a:solidFill>
              </a:rPr>
              <a:t>子查询</a:t>
            </a:r>
            <a:r>
              <a:rPr lang="zh-CN" altLang="en-US" b="1" dirty="0">
                <a:solidFill>
                  <a:srgbClr val="FF0000"/>
                </a:solidFill>
              </a:rPr>
              <a:t>都只</a:t>
            </a:r>
            <a:r>
              <a:rPr lang="zh-CN" altLang="en-US" b="1" dirty="0">
                <a:solidFill>
                  <a:srgbClr val="0000FF"/>
                </a:solidFill>
              </a:rPr>
              <a:t>执行一次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0000FF"/>
                </a:solidFill>
              </a:rPr>
              <a:t>其结果</a:t>
            </a:r>
            <a:r>
              <a:rPr lang="zh-CN" altLang="en-US" b="1" dirty="0">
                <a:solidFill>
                  <a:srgbClr val="C00000"/>
                </a:solidFill>
              </a:rPr>
              <a:t>用于</a:t>
            </a:r>
            <a:r>
              <a:rPr lang="zh-CN" altLang="en-US" dirty="0">
                <a:solidFill>
                  <a:srgbClr val="0000FF"/>
                </a:solidFill>
              </a:rPr>
              <a:t>父查询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FF0000"/>
                </a:solidFill>
              </a:rPr>
              <a:t>子查询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00FF"/>
                </a:solidFill>
              </a:rPr>
              <a:t>查询条件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FF0000"/>
                </a:solidFill>
              </a:rPr>
              <a:t>独立</a:t>
            </a:r>
            <a:r>
              <a:rPr lang="zh-CN" altLang="en-US" dirty="0">
                <a:solidFill>
                  <a:srgbClr val="0000FF"/>
                </a:solidFill>
              </a:rPr>
              <a:t>的，</a:t>
            </a:r>
            <a:r>
              <a:rPr lang="zh-CN" altLang="en-US" dirty="0">
                <a:solidFill>
                  <a:srgbClr val="C00000"/>
                </a:solidFill>
              </a:rPr>
              <a:t>不依赖于</a:t>
            </a:r>
            <a:r>
              <a:rPr lang="zh-CN" altLang="en-US" dirty="0">
                <a:solidFill>
                  <a:srgbClr val="0000FF"/>
                </a:solidFill>
              </a:rPr>
              <a:t>父查询</a:t>
            </a:r>
            <a:r>
              <a:rPr lang="zh-CN" altLang="en-US" dirty="0"/>
              <a:t>，这类子查询称为</a:t>
            </a:r>
            <a:r>
              <a:rPr lang="zh-CN" altLang="en-US" u="sng" dirty="0">
                <a:solidFill>
                  <a:schemeClr val="hlink"/>
                </a:solidFill>
              </a:rPr>
              <a:t>不相关子查询</a:t>
            </a:r>
            <a:r>
              <a:rPr lang="zh-CN" altLang="en-US" dirty="0"/>
              <a:t>。</a:t>
            </a:r>
            <a:endParaRPr lang="en-US" altLang="zh-CN" dirty="0"/>
          </a:p>
          <a:p>
            <a:pPr eaLnBrk="1" hangingPunct="1"/>
            <a:r>
              <a:rPr lang="zh-CN" altLang="en-US" dirty="0"/>
              <a:t>不相关子查询是</a:t>
            </a:r>
            <a:r>
              <a:rPr lang="zh-CN" altLang="en-US" dirty="0">
                <a:solidFill>
                  <a:srgbClr val="C00000"/>
                </a:solidFill>
              </a:rPr>
              <a:t>最简单</a:t>
            </a:r>
            <a:r>
              <a:rPr lang="zh-CN" altLang="en-US" dirty="0"/>
              <a:t>的一类子查询，查询过程</a:t>
            </a:r>
            <a:r>
              <a:rPr lang="zh-CN" altLang="en-US" b="1" dirty="0">
                <a:solidFill>
                  <a:srgbClr val="FF0000"/>
                </a:solidFill>
              </a:rPr>
              <a:t>由里到外</a:t>
            </a:r>
            <a:r>
              <a:rPr lang="zh-CN" altLang="en-US" dirty="0"/>
              <a:t>的逐层处理。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ACA3E0A-4016-3C0B-9140-D8CE1BB9C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119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1819463"/>
      </p:ext>
    </p:extLst>
  </p:cSld>
  <p:clrMapOvr>
    <a:masterClrMapping/>
  </p:clrMapOvr>
  <p:transition>
    <p:fade/>
  </p:transition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A10209E-CE77-434E-98A4-961AFFBB62CB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2800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280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3.4.3. </a:t>
            </a:r>
            <a:r>
              <a:rPr lang="zh-CN" altLang="en-US"/>
              <a:t>嵌套查询</a:t>
            </a:r>
          </a:p>
        </p:txBody>
      </p:sp>
      <p:sp>
        <p:nvSpPr>
          <p:cNvPr id="1280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</a:rPr>
              <a:t>三</a:t>
            </a:r>
            <a:r>
              <a:rPr lang="en-US" altLang="zh-CN" b="1" dirty="0">
                <a:solidFill>
                  <a:srgbClr val="0000FF"/>
                </a:solidFill>
              </a:rPr>
              <a:t>. </a:t>
            </a:r>
            <a:r>
              <a:rPr lang="zh-CN" altLang="en-US" b="1" dirty="0">
                <a:solidFill>
                  <a:srgbClr val="0000FF"/>
                </a:solidFill>
              </a:rPr>
              <a:t>带有</a:t>
            </a:r>
            <a:r>
              <a:rPr lang="en-US" altLang="zh-CN" b="1" dirty="0">
                <a:solidFill>
                  <a:srgbClr val="0000FF"/>
                </a:solidFill>
              </a:rPr>
              <a:t>ANY</a:t>
            </a:r>
            <a:r>
              <a:rPr lang="zh-CN" altLang="en-US" b="1" dirty="0">
                <a:solidFill>
                  <a:srgbClr val="0000FF"/>
                </a:solidFill>
              </a:rPr>
              <a:t>（</a:t>
            </a:r>
            <a:r>
              <a:rPr lang="en-US" altLang="zh-CN" b="1" dirty="0">
                <a:solidFill>
                  <a:srgbClr val="0000FF"/>
                </a:solidFill>
              </a:rPr>
              <a:t>SOME</a:t>
            </a:r>
            <a:r>
              <a:rPr lang="zh-CN" altLang="en-US" b="1" dirty="0">
                <a:solidFill>
                  <a:srgbClr val="0000FF"/>
                </a:solidFill>
              </a:rPr>
              <a:t>）</a:t>
            </a:r>
            <a:r>
              <a:rPr lang="zh-CN" altLang="en-US" b="1" dirty="0"/>
              <a:t>或</a:t>
            </a:r>
            <a:r>
              <a:rPr lang="en-US" altLang="zh-CN" b="1" dirty="0">
                <a:solidFill>
                  <a:srgbClr val="0000FF"/>
                </a:solidFill>
              </a:rPr>
              <a:t>ALL</a:t>
            </a:r>
            <a:r>
              <a:rPr lang="zh-CN" altLang="en-US" b="1" dirty="0">
                <a:solidFill>
                  <a:srgbClr val="0000FF"/>
                </a:solidFill>
              </a:rPr>
              <a:t>的子查询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dirty="0">
                <a:solidFill>
                  <a:srgbClr val="C00000"/>
                </a:solidFill>
              </a:rPr>
              <a:t>比较运算符</a:t>
            </a:r>
            <a:r>
              <a:rPr lang="zh-CN" altLang="en-US" sz="2800" dirty="0"/>
              <a:t>一般</a:t>
            </a:r>
            <a:r>
              <a:rPr lang="zh-CN" altLang="en-US" sz="2800" dirty="0">
                <a:solidFill>
                  <a:srgbClr val="0000FF"/>
                </a:solidFill>
              </a:rPr>
              <a:t>不能与集合比较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eaLnBrk="1" hangingPunct="1">
              <a:lnSpc>
                <a:spcPct val="110000"/>
              </a:lnSpc>
            </a:pPr>
            <a:r>
              <a:rPr lang="zh-CN" altLang="en-US" sz="2800" dirty="0">
                <a:solidFill>
                  <a:srgbClr val="0000FF"/>
                </a:solidFill>
              </a:rPr>
              <a:t>集合前</a:t>
            </a:r>
            <a:r>
              <a:rPr lang="zh-CN" altLang="en-US" sz="2800" dirty="0"/>
              <a:t>加以</a:t>
            </a:r>
            <a:r>
              <a:rPr lang="zh-CN" altLang="en-US" sz="2800" dirty="0">
                <a:solidFill>
                  <a:srgbClr val="0000FF"/>
                </a:solidFill>
              </a:rPr>
              <a:t>谓词</a:t>
            </a:r>
            <a:r>
              <a:rPr lang="en-US" altLang="zh-CN" sz="2800" dirty="0">
                <a:solidFill>
                  <a:srgbClr val="0000FF"/>
                </a:solidFill>
              </a:rPr>
              <a:t>ANY</a:t>
            </a:r>
            <a:r>
              <a:rPr lang="zh-CN" altLang="en-US" sz="2800" dirty="0">
                <a:solidFill>
                  <a:srgbClr val="0000FF"/>
                </a:solidFill>
              </a:rPr>
              <a:t>（</a:t>
            </a:r>
            <a:r>
              <a:rPr lang="en-US" altLang="zh-CN" sz="2800" dirty="0">
                <a:solidFill>
                  <a:srgbClr val="0000FF"/>
                </a:solidFill>
              </a:rPr>
              <a:t>SOME</a:t>
            </a:r>
            <a:r>
              <a:rPr lang="zh-CN" altLang="en-US" sz="2800" dirty="0">
                <a:solidFill>
                  <a:srgbClr val="0000FF"/>
                </a:solidFill>
              </a:rPr>
              <a:t>）</a:t>
            </a:r>
            <a:r>
              <a:rPr lang="zh-CN" altLang="en-US" sz="2800" dirty="0"/>
              <a:t>或</a:t>
            </a:r>
            <a:r>
              <a:rPr lang="en-US" altLang="zh-CN" sz="2800" dirty="0">
                <a:solidFill>
                  <a:srgbClr val="0000FF"/>
                </a:solidFill>
              </a:rPr>
              <a:t>ALL</a:t>
            </a:r>
            <a:r>
              <a:rPr lang="zh-CN" altLang="en-US" sz="2800" dirty="0">
                <a:solidFill>
                  <a:srgbClr val="FF0000"/>
                </a:solidFill>
              </a:rPr>
              <a:t>修饰</a:t>
            </a:r>
            <a:r>
              <a:rPr lang="zh-CN" altLang="en-US" sz="2800" dirty="0"/>
              <a:t>后</a:t>
            </a:r>
            <a:r>
              <a:rPr lang="zh-CN" altLang="en-US" sz="2800" dirty="0">
                <a:solidFill>
                  <a:srgbClr val="FF0000"/>
                </a:solidFill>
              </a:rPr>
              <a:t>可以比较</a:t>
            </a:r>
            <a:r>
              <a:rPr lang="zh-CN" altLang="en-US" sz="2800" dirty="0"/>
              <a:t>。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CN" dirty="0"/>
              <a:t>Some R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  <a:r>
              <a:rPr lang="zh-CN" altLang="en-US" dirty="0"/>
              <a:t>意义为</a:t>
            </a:r>
            <a:r>
              <a:rPr lang="zh-CN" altLang="en-US" dirty="0">
                <a:solidFill>
                  <a:srgbClr val="0066FF"/>
                </a:solidFill>
              </a:rPr>
              <a:t>  </a:t>
            </a:r>
            <a:r>
              <a:rPr lang="en-US" altLang="zh-CN" dirty="0"/>
              <a:t>Some in R</a:t>
            </a:r>
            <a:r>
              <a:rPr lang="zh-CN" altLang="en-US" dirty="0"/>
              <a:t>。</a:t>
            </a:r>
            <a:r>
              <a:rPr lang="en-US" altLang="zh-CN" u="sng" dirty="0"/>
              <a:t>R</a:t>
            </a:r>
            <a:r>
              <a:rPr lang="zh-CN" altLang="en-US" u="sng" dirty="0"/>
              <a:t>中的某一个</a:t>
            </a:r>
            <a:r>
              <a:rPr lang="zh-CN" altLang="en-US" dirty="0"/>
              <a:t>。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CN" dirty="0"/>
              <a:t>All R </a:t>
            </a:r>
            <a:r>
              <a:rPr lang="zh-CN" altLang="en-US" dirty="0"/>
              <a:t>意义为  </a:t>
            </a:r>
            <a:r>
              <a:rPr lang="en-US" altLang="zh-CN" dirty="0"/>
              <a:t>all  in R, </a:t>
            </a:r>
            <a:r>
              <a:rPr lang="zh-CN" altLang="en-US" dirty="0"/>
              <a:t>或 </a:t>
            </a:r>
            <a:r>
              <a:rPr lang="en-US" altLang="zh-CN" dirty="0"/>
              <a:t>all of R</a:t>
            </a:r>
            <a:r>
              <a:rPr lang="zh-CN" altLang="en-US" dirty="0"/>
              <a:t>。</a:t>
            </a:r>
            <a:r>
              <a:rPr lang="en-US" altLang="zh-CN" u="sng" dirty="0"/>
              <a:t>R</a:t>
            </a:r>
            <a:r>
              <a:rPr lang="zh-CN" altLang="en-US" u="sng" dirty="0"/>
              <a:t>中的全部</a:t>
            </a:r>
            <a:r>
              <a:rPr lang="zh-CN" altLang="en-US" dirty="0"/>
              <a:t>。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F6ACF4D-F9CC-A496-4873-54AA1BD26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120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80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80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80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80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80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80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80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80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E8FBE4F-D153-4F3C-92B7-EEEB51930566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2902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290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3.4.3. </a:t>
            </a:r>
            <a:r>
              <a:rPr lang="zh-CN" altLang="en-US"/>
              <a:t>嵌套查询</a:t>
            </a:r>
          </a:p>
        </p:txBody>
      </p:sp>
      <p:grpSp>
        <p:nvGrpSpPr>
          <p:cNvPr id="129030" name="Group 4"/>
          <p:cNvGrpSpPr>
            <a:grpSpLocks/>
          </p:cNvGrpSpPr>
          <p:nvPr/>
        </p:nvGrpSpPr>
        <p:grpSpPr bwMode="auto">
          <a:xfrm>
            <a:off x="2708275" y="1068388"/>
            <a:ext cx="566738" cy="1419225"/>
            <a:chOff x="2448" y="1296"/>
            <a:chExt cx="288" cy="960"/>
          </a:xfrm>
        </p:grpSpPr>
        <p:sp>
          <p:nvSpPr>
            <p:cNvPr id="129051" name="Rectangle 5"/>
            <p:cNvSpPr>
              <a:spLocks noChangeArrowheads="1"/>
            </p:cNvSpPr>
            <p:nvPr/>
          </p:nvSpPr>
          <p:spPr bwMode="auto">
            <a:xfrm>
              <a:off x="2448" y="1296"/>
              <a:ext cx="288" cy="3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r>
                <a:rPr kumimoji="0" lang="en-US" altLang="zh-CN" sz="28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129052" name="Rectangle 6"/>
            <p:cNvSpPr>
              <a:spLocks noChangeArrowheads="1"/>
            </p:cNvSpPr>
            <p:nvPr/>
          </p:nvSpPr>
          <p:spPr bwMode="auto">
            <a:xfrm>
              <a:off x="2448" y="1584"/>
              <a:ext cx="288" cy="3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r>
                <a:rPr kumimoji="0" lang="en-US" altLang="zh-CN" sz="2800"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129053" name="Rectangle 7"/>
            <p:cNvSpPr>
              <a:spLocks noChangeArrowheads="1"/>
            </p:cNvSpPr>
            <p:nvPr/>
          </p:nvSpPr>
          <p:spPr bwMode="auto">
            <a:xfrm>
              <a:off x="2448" y="1920"/>
              <a:ext cx="288" cy="3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r>
                <a:rPr kumimoji="0" lang="en-US" altLang="zh-CN" sz="2800">
                  <a:latin typeface="Times New Roman" pitchFamily="18" charset="0"/>
                </a:rPr>
                <a:t>6</a:t>
              </a:r>
            </a:p>
          </p:txBody>
        </p:sp>
      </p:grpSp>
      <p:sp>
        <p:nvSpPr>
          <p:cNvPr id="129031" name="Text Box 8"/>
          <p:cNvSpPr txBox="1">
            <a:spLocks noChangeArrowheads="1"/>
          </p:cNvSpPr>
          <p:nvPr/>
        </p:nvSpPr>
        <p:spPr bwMode="auto">
          <a:xfrm>
            <a:off x="763588" y="1571625"/>
            <a:ext cx="19383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kumimoji="0" lang="en-US" altLang="zh-CN" sz="2800" dirty="0">
                <a:latin typeface="Helvetica" pitchFamily="34" charset="0"/>
              </a:rPr>
              <a:t>(5&lt; </a:t>
            </a:r>
            <a:r>
              <a:rPr kumimoji="0" lang="en-US" altLang="zh-CN" sz="2800" b="1" dirty="0">
                <a:latin typeface="Helvetica" pitchFamily="34" charset="0"/>
              </a:rPr>
              <a:t>some</a:t>
            </a:r>
            <a:endParaRPr kumimoji="0" lang="en-US" altLang="zh-CN" sz="2800" dirty="0">
              <a:latin typeface="Helvetica" pitchFamily="34" charset="0"/>
            </a:endParaRPr>
          </a:p>
        </p:txBody>
      </p:sp>
      <p:sp>
        <p:nvSpPr>
          <p:cNvPr id="129032" name="Text Box 9"/>
          <p:cNvSpPr txBox="1">
            <a:spLocks noChangeArrowheads="1"/>
          </p:cNvSpPr>
          <p:nvPr/>
        </p:nvSpPr>
        <p:spPr bwMode="auto">
          <a:xfrm>
            <a:off x="3284538" y="1571625"/>
            <a:ext cx="8270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kumimoji="0" lang="en-US" altLang="zh-CN" sz="2800" dirty="0">
                <a:latin typeface="Helvetica" pitchFamily="34" charset="0"/>
              </a:rPr>
              <a:t>)  </a:t>
            </a:r>
            <a:endParaRPr kumimoji="0" lang="en-US" altLang="zh-CN" sz="2800" dirty="0">
              <a:solidFill>
                <a:srgbClr val="0000FF"/>
              </a:solidFill>
              <a:latin typeface="Helvetica" pitchFamily="34" charset="0"/>
            </a:endParaRPr>
          </a:p>
        </p:txBody>
      </p:sp>
      <p:grpSp>
        <p:nvGrpSpPr>
          <p:cNvPr id="129033" name="Group 10"/>
          <p:cNvGrpSpPr>
            <a:grpSpLocks/>
          </p:cNvGrpSpPr>
          <p:nvPr/>
        </p:nvGrpSpPr>
        <p:grpSpPr bwMode="auto">
          <a:xfrm>
            <a:off x="2708275" y="2795588"/>
            <a:ext cx="576263" cy="936625"/>
            <a:chOff x="1383" y="1570"/>
            <a:chExt cx="363" cy="590"/>
          </a:xfrm>
        </p:grpSpPr>
        <p:sp>
          <p:nvSpPr>
            <p:cNvPr id="129049" name="Rectangle 11"/>
            <p:cNvSpPr>
              <a:spLocks noChangeArrowheads="1"/>
            </p:cNvSpPr>
            <p:nvPr/>
          </p:nvSpPr>
          <p:spPr bwMode="auto">
            <a:xfrm>
              <a:off x="1383" y="1570"/>
              <a:ext cx="363" cy="31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r>
                <a:rPr kumimoji="0" lang="en-US" altLang="zh-CN" sz="28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129050" name="Rectangle 12"/>
            <p:cNvSpPr>
              <a:spLocks noChangeArrowheads="1"/>
            </p:cNvSpPr>
            <p:nvPr/>
          </p:nvSpPr>
          <p:spPr bwMode="auto">
            <a:xfrm>
              <a:off x="1383" y="1888"/>
              <a:ext cx="363" cy="27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r>
                <a:rPr kumimoji="0" lang="en-US" altLang="zh-CN" sz="2800">
                  <a:latin typeface="Times New Roman" pitchFamily="18" charset="0"/>
                </a:rPr>
                <a:t>5</a:t>
              </a:r>
            </a:p>
          </p:txBody>
        </p:sp>
      </p:grpSp>
      <p:sp>
        <p:nvSpPr>
          <p:cNvPr id="129034" name="Text Box 13"/>
          <p:cNvSpPr txBox="1">
            <a:spLocks noChangeArrowheads="1"/>
          </p:cNvSpPr>
          <p:nvPr/>
        </p:nvSpPr>
        <p:spPr bwMode="auto">
          <a:xfrm>
            <a:off x="3355975" y="3011488"/>
            <a:ext cx="756444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kumimoji="0" lang="en-US" altLang="zh-CN" sz="2800" dirty="0">
                <a:latin typeface="Helvetica" pitchFamily="34" charset="0"/>
              </a:rPr>
              <a:t>)  </a:t>
            </a:r>
            <a:endParaRPr kumimoji="0" lang="en-US" altLang="zh-CN" sz="2800" dirty="0">
              <a:solidFill>
                <a:srgbClr val="0000FF"/>
              </a:solidFill>
              <a:latin typeface="Helvetica" pitchFamily="34" charset="0"/>
            </a:endParaRPr>
          </a:p>
        </p:txBody>
      </p:sp>
      <p:grpSp>
        <p:nvGrpSpPr>
          <p:cNvPr id="129035" name="Group 14"/>
          <p:cNvGrpSpPr>
            <a:grpSpLocks/>
          </p:cNvGrpSpPr>
          <p:nvPr/>
        </p:nvGrpSpPr>
        <p:grpSpPr bwMode="auto">
          <a:xfrm>
            <a:off x="2779713" y="4019550"/>
            <a:ext cx="576262" cy="982663"/>
            <a:chOff x="1344" y="2494"/>
            <a:chExt cx="288" cy="386"/>
          </a:xfrm>
        </p:grpSpPr>
        <p:sp>
          <p:nvSpPr>
            <p:cNvPr id="129047" name="Rectangle 15"/>
            <p:cNvSpPr>
              <a:spLocks noChangeArrowheads="1"/>
            </p:cNvSpPr>
            <p:nvPr/>
          </p:nvSpPr>
          <p:spPr bwMode="auto">
            <a:xfrm>
              <a:off x="1344" y="2494"/>
              <a:ext cx="288" cy="1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r>
                <a:rPr kumimoji="0" lang="en-US" altLang="zh-CN" sz="28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129048" name="Rectangle 16"/>
            <p:cNvSpPr>
              <a:spLocks noChangeArrowheads="1"/>
            </p:cNvSpPr>
            <p:nvPr/>
          </p:nvSpPr>
          <p:spPr bwMode="auto">
            <a:xfrm>
              <a:off x="1344" y="2686"/>
              <a:ext cx="288" cy="1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r>
                <a:rPr kumimoji="0" lang="en-US" altLang="zh-CN" sz="2800">
                  <a:latin typeface="Times New Roman" pitchFamily="18" charset="0"/>
                </a:rPr>
                <a:t>5</a:t>
              </a:r>
            </a:p>
          </p:txBody>
        </p:sp>
      </p:grpSp>
      <p:grpSp>
        <p:nvGrpSpPr>
          <p:cNvPr id="129036" name="Group 17"/>
          <p:cNvGrpSpPr>
            <a:grpSpLocks/>
          </p:cNvGrpSpPr>
          <p:nvPr/>
        </p:nvGrpSpPr>
        <p:grpSpPr bwMode="auto">
          <a:xfrm>
            <a:off x="2852738" y="5172075"/>
            <a:ext cx="566737" cy="862013"/>
            <a:chOff x="1344" y="3024"/>
            <a:chExt cx="288" cy="387"/>
          </a:xfrm>
        </p:grpSpPr>
        <p:sp>
          <p:nvSpPr>
            <p:cNvPr id="129045" name="Rectangle 18"/>
            <p:cNvSpPr>
              <a:spLocks noChangeArrowheads="1"/>
            </p:cNvSpPr>
            <p:nvPr/>
          </p:nvSpPr>
          <p:spPr bwMode="auto">
            <a:xfrm>
              <a:off x="1344" y="3024"/>
              <a:ext cx="288" cy="1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r>
                <a:rPr kumimoji="0" lang="en-US" altLang="zh-CN" sz="28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129046" name="Rectangle 19"/>
            <p:cNvSpPr>
              <a:spLocks noChangeArrowheads="1"/>
            </p:cNvSpPr>
            <p:nvPr/>
          </p:nvSpPr>
          <p:spPr bwMode="auto">
            <a:xfrm>
              <a:off x="1344" y="3216"/>
              <a:ext cx="288" cy="1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r>
                <a:rPr kumimoji="0" lang="en-US" altLang="zh-CN" sz="2800">
                  <a:latin typeface="Times New Roman" pitchFamily="18" charset="0"/>
                </a:rPr>
                <a:t>5</a:t>
              </a:r>
            </a:p>
          </p:txBody>
        </p:sp>
      </p:grpSp>
      <p:sp>
        <p:nvSpPr>
          <p:cNvPr id="129037" name="Text Box 20"/>
          <p:cNvSpPr txBox="1">
            <a:spLocks noChangeArrowheads="1"/>
          </p:cNvSpPr>
          <p:nvPr/>
        </p:nvSpPr>
        <p:spPr bwMode="auto">
          <a:xfrm>
            <a:off x="836613" y="5316538"/>
            <a:ext cx="20161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kumimoji="0" lang="en-US" altLang="zh-CN" sz="2800" dirty="0">
                <a:solidFill>
                  <a:srgbClr val="0000FF"/>
                </a:solidFill>
                <a:latin typeface="Helvetica" pitchFamily="34" charset="0"/>
              </a:rPr>
              <a:t>(5 != </a:t>
            </a:r>
            <a:r>
              <a:rPr kumimoji="0" lang="en-US" altLang="zh-CN" sz="2800" b="1" dirty="0">
                <a:solidFill>
                  <a:srgbClr val="0000FF"/>
                </a:solidFill>
                <a:latin typeface="Helvetica" pitchFamily="34" charset="0"/>
              </a:rPr>
              <a:t>some</a:t>
            </a:r>
          </a:p>
        </p:txBody>
      </p:sp>
      <p:sp>
        <p:nvSpPr>
          <p:cNvPr id="129038" name="Text Box 21"/>
          <p:cNvSpPr txBox="1">
            <a:spLocks noChangeArrowheads="1"/>
          </p:cNvSpPr>
          <p:nvPr/>
        </p:nvSpPr>
        <p:spPr bwMode="auto">
          <a:xfrm>
            <a:off x="3429000" y="5316538"/>
            <a:ext cx="63988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kumimoji="0" lang="en-US" altLang="zh-CN" sz="2800" dirty="0">
                <a:solidFill>
                  <a:srgbClr val="0000FF"/>
                </a:solidFill>
                <a:latin typeface="Helvetica" pitchFamily="34" charset="0"/>
              </a:rPr>
              <a:t>) </a:t>
            </a:r>
            <a:r>
              <a:rPr kumimoji="0" lang="en-US" altLang="zh-CN" sz="2800" dirty="0">
                <a:latin typeface="Helvetica" pitchFamily="34" charset="0"/>
              </a:rPr>
              <a:t> </a:t>
            </a:r>
            <a:r>
              <a:rPr kumimoji="0" lang="en-US" altLang="zh-CN" sz="2800" dirty="0">
                <a:solidFill>
                  <a:srgbClr val="0000FF"/>
                </a:solidFill>
                <a:latin typeface="Helvetica" pitchFamily="34" charset="0"/>
              </a:rPr>
              <a:t>    </a:t>
            </a:r>
          </a:p>
        </p:txBody>
      </p:sp>
      <p:sp>
        <p:nvSpPr>
          <p:cNvPr id="129039" name="Text Box 22"/>
          <p:cNvSpPr txBox="1">
            <a:spLocks noChangeArrowheads="1"/>
          </p:cNvSpPr>
          <p:nvPr/>
        </p:nvSpPr>
        <p:spPr bwMode="auto">
          <a:xfrm>
            <a:off x="4645847" y="1398915"/>
            <a:ext cx="4650553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zh-CN" sz="2800" dirty="0">
                <a:latin typeface="Helvetica" pitchFamily="34" charset="0"/>
              </a:rPr>
              <a:t>(read:  5 &lt; some tuple(</a:t>
            </a:r>
            <a:r>
              <a:rPr kumimoji="0" lang="zh-CN" altLang="en-US" sz="2800" dirty="0">
                <a:latin typeface="Helvetica" pitchFamily="34" charset="0"/>
              </a:rPr>
              <a:t>元组</a:t>
            </a:r>
            <a:r>
              <a:rPr kumimoji="0" lang="en-US" altLang="zh-CN" sz="2800" dirty="0">
                <a:latin typeface="Helvetica" pitchFamily="34" charset="0"/>
              </a:rPr>
              <a:t>) in the relation)</a:t>
            </a:r>
          </a:p>
        </p:txBody>
      </p:sp>
      <p:sp>
        <p:nvSpPr>
          <p:cNvPr id="129040" name="Text Box 23"/>
          <p:cNvSpPr txBox="1">
            <a:spLocks noChangeArrowheads="1"/>
          </p:cNvSpPr>
          <p:nvPr/>
        </p:nvSpPr>
        <p:spPr bwMode="auto">
          <a:xfrm>
            <a:off x="838200" y="3011488"/>
            <a:ext cx="16557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kumimoji="0" lang="en-US" altLang="zh-CN" sz="2800">
                <a:latin typeface="Helvetica" pitchFamily="34" charset="0"/>
              </a:rPr>
              <a:t>(5&lt;</a:t>
            </a:r>
            <a:r>
              <a:rPr kumimoji="0" lang="en-US" altLang="zh-CN" sz="2800" b="1">
                <a:latin typeface="Helvetica" pitchFamily="34" charset="0"/>
              </a:rPr>
              <a:t>some</a:t>
            </a:r>
            <a:endParaRPr kumimoji="0" lang="en-US" altLang="zh-CN" sz="2800">
              <a:latin typeface="Helvetica" pitchFamily="34" charset="0"/>
            </a:endParaRPr>
          </a:p>
        </p:txBody>
      </p:sp>
      <p:sp>
        <p:nvSpPr>
          <p:cNvPr id="129041" name="Text Box 24"/>
          <p:cNvSpPr txBox="1">
            <a:spLocks noChangeArrowheads="1"/>
          </p:cNvSpPr>
          <p:nvPr/>
        </p:nvSpPr>
        <p:spPr bwMode="auto">
          <a:xfrm>
            <a:off x="3355975" y="4237038"/>
            <a:ext cx="7556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kumimoji="0" lang="en-US" altLang="zh-CN" sz="2800" dirty="0">
                <a:solidFill>
                  <a:srgbClr val="0000FF"/>
                </a:solidFill>
                <a:latin typeface="Helvetica" pitchFamily="34" charset="0"/>
              </a:rPr>
              <a:t>) </a:t>
            </a:r>
            <a:r>
              <a:rPr kumimoji="0" lang="en-US" altLang="zh-CN" sz="2800" dirty="0">
                <a:latin typeface="Helvetica" pitchFamily="34" charset="0"/>
              </a:rPr>
              <a:t> </a:t>
            </a:r>
            <a:endParaRPr kumimoji="0" lang="en-US" altLang="zh-CN" sz="2800" dirty="0">
              <a:solidFill>
                <a:srgbClr val="0000FF"/>
              </a:solidFill>
              <a:latin typeface="Helvetica" pitchFamily="34" charset="0"/>
            </a:endParaRPr>
          </a:p>
        </p:txBody>
      </p:sp>
      <p:sp>
        <p:nvSpPr>
          <p:cNvPr id="129042" name="Text Box 25"/>
          <p:cNvSpPr txBox="1">
            <a:spLocks noChangeArrowheads="1"/>
          </p:cNvSpPr>
          <p:nvPr/>
        </p:nvSpPr>
        <p:spPr bwMode="auto">
          <a:xfrm>
            <a:off x="838200" y="4267200"/>
            <a:ext cx="18986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kumimoji="0" lang="en-US" altLang="zh-CN" sz="2800" dirty="0">
                <a:solidFill>
                  <a:srgbClr val="0000FF"/>
                </a:solidFill>
                <a:latin typeface="Helvetica" pitchFamily="34" charset="0"/>
              </a:rPr>
              <a:t>(5 = </a:t>
            </a:r>
            <a:r>
              <a:rPr kumimoji="0" lang="en-US" altLang="zh-CN" sz="2800" b="1" dirty="0">
                <a:solidFill>
                  <a:srgbClr val="0000FF"/>
                </a:solidFill>
                <a:latin typeface="Helvetica" pitchFamily="34" charset="0"/>
              </a:rPr>
              <a:t>some</a:t>
            </a:r>
            <a:endParaRPr kumimoji="0" lang="en-US" altLang="zh-CN" sz="2800" dirty="0">
              <a:solidFill>
                <a:srgbClr val="0000FF"/>
              </a:solidFill>
              <a:latin typeface="Helvetica" pitchFamily="34" charset="0"/>
            </a:endParaRPr>
          </a:p>
        </p:txBody>
      </p:sp>
      <p:sp>
        <p:nvSpPr>
          <p:cNvPr id="129043" name="Rectangle 26"/>
          <p:cNvSpPr>
            <a:spLocks noChangeArrowheads="1"/>
          </p:cNvSpPr>
          <p:nvPr/>
        </p:nvSpPr>
        <p:spPr bwMode="auto">
          <a:xfrm>
            <a:off x="5732463" y="4230688"/>
            <a:ext cx="3167062" cy="2017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/>
            <a:r>
              <a:rPr kumimoji="0" lang="en-US" altLang="zh-CN" sz="2800" dirty="0">
                <a:solidFill>
                  <a:srgbClr val="C00000"/>
                </a:solidFill>
                <a:latin typeface="Times New Roman" pitchFamily="18" charset="0"/>
              </a:rPr>
              <a:t>(= </a:t>
            </a:r>
            <a:r>
              <a:rPr kumimoji="0" lang="en-US" altLang="zh-CN" sz="2800" b="1" dirty="0">
                <a:solidFill>
                  <a:srgbClr val="C00000"/>
                </a:solidFill>
                <a:latin typeface="Times New Roman" pitchFamily="18" charset="0"/>
              </a:rPr>
              <a:t>some</a:t>
            </a:r>
            <a:r>
              <a:rPr kumimoji="0" lang="en-US" altLang="zh-CN" sz="2800" dirty="0">
                <a:solidFill>
                  <a:srgbClr val="C00000"/>
                </a:solidFill>
                <a:latin typeface="Times New Roman" pitchFamily="18" charset="0"/>
              </a:rPr>
              <a:t>) </a:t>
            </a:r>
            <a:r>
              <a:rPr kumimoji="0" lang="en-US" altLang="zh-CN" sz="2800" dirty="0">
                <a:solidFill>
                  <a:srgbClr val="C00000"/>
                </a:solidFill>
                <a:latin typeface="Times New Roman" pitchFamily="18" charset="0"/>
                <a:sym typeface="Symbol" pitchFamily="18" charset="2"/>
              </a:rPr>
              <a:t> IN</a:t>
            </a:r>
            <a:endParaRPr kumimoji="0" lang="en-US" altLang="zh-CN" sz="2800" b="1" dirty="0">
              <a:solidFill>
                <a:srgbClr val="C00000"/>
              </a:solidFill>
              <a:latin typeface="Times New Roman" pitchFamily="18" charset="0"/>
              <a:sym typeface="Symbol" pitchFamily="18" charset="2"/>
            </a:endParaRPr>
          </a:p>
          <a:p>
            <a:pPr algn="l"/>
            <a:r>
              <a:rPr kumimoji="0" lang="zh-CN" altLang="en-US" sz="2800" dirty="0">
                <a:latin typeface="Times New Roman" pitchFamily="18" charset="0"/>
                <a:sym typeface="Symbol" pitchFamily="18" charset="2"/>
              </a:rPr>
              <a:t>但是， </a:t>
            </a:r>
            <a:endParaRPr kumimoji="0" lang="en-US" altLang="zh-CN" sz="2800" dirty="0">
              <a:latin typeface="Times New Roman" pitchFamily="18" charset="0"/>
              <a:sym typeface="Symbol" pitchFamily="18" charset="2"/>
            </a:endParaRPr>
          </a:p>
          <a:p>
            <a:pPr algn="l"/>
            <a:r>
              <a:rPr kumimoji="0" lang="en-US" altLang="zh-CN" sz="2800" dirty="0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rPr>
              <a:t>(!=</a:t>
            </a:r>
            <a:r>
              <a:rPr kumimoji="0" lang="en-US" altLang="zh-CN" sz="2800" b="1" dirty="0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rPr>
              <a:t>some</a:t>
            </a:r>
            <a:r>
              <a:rPr kumimoji="0" lang="en-US" altLang="zh-CN" sz="2800" dirty="0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rPr>
              <a:t>)  </a:t>
            </a:r>
            <a:r>
              <a:rPr kumimoji="0" lang="en-US" altLang="zh-CN" sz="2800" b="1" dirty="0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rPr>
              <a:t>NOT IN</a:t>
            </a:r>
            <a:endParaRPr kumimoji="0" lang="en-US" altLang="zh-CN" sz="2800" dirty="0">
              <a:solidFill>
                <a:srgbClr val="0000FF"/>
              </a:solidFill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129044" name="Line 27"/>
          <p:cNvSpPr>
            <a:spLocks noChangeShapeType="1"/>
          </p:cNvSpPr>
          <p:nvPr/>
        </p:nvSpPr>
        <p:spPr bwMode="auto">
          <a:xfrm flipH="1">
            <a:off x="7269162" y="5240338"/>
            <a:ext cx="122238" cy="27940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412700" y="5842726"/>
            <a:ext cx="17636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dirty="0">
                <a:solidFill>
                  <a:srgbClr val="C00000"/>
                </a:solidFill>
                <a:latin typeface="Helvetica" pitchFamily="34" charset="0"/>
              </a:rPr>
              <a:t>(</a:t>
            </a:r>
            <a:r>
              <a:rPr kumimoji="0" lang="zh-CN" altLang="en-US" dirty="0">
                <a:solidFill>
                  <a:srgbClr val="C00000"/>
                </a:solidFill>
                <a:latin typeface="Helvetica" pitchFamily="34" charset="0"/>
              </a:rPr>
              <a:t>注意 </a:t>
            </a:r>
            <a:r>
              <a:rPr kumimoji="0" lang="en-US" altLang="zh-CN" dirty="0">
                <a:solidFill>
                  <a:srgbClr val="C00000"/>
                </a:solidFill>
                <a:latin typeface="Helvetica" pitchFamily="34" charset="0"/>
              </a:rPr>
              <a:t>0 </a:t>
            </a:r>
            <a:r>
              <a:rPr kumimoji="0" lang="en-US" altLang="zh-CN" dirty="0">
                <a:solidFill>
                  <a:srgbClr val="C00000"/>
                </a:solidFill>
                <a:latin typeface="Times New Roman" pitchFamily="18" charset="0"/>
                <a:sym typeface="Symbol" pitchFamily="18" charset="2"/>
              </a:rPr>
              <a:t> </a:t>
            </a:r>
            <a:r>
              <a:rPr kumimoji="0" lang="en-US" altLang="zh-CN" dirty="0">
                <a:solidFill>
                  <a:srgbClr val="C00000"/>
                </a:solidFill>
                <a:latin typeface="Helvetica" pitchFamily="34" charset="0"/>
                <a:sym typeface="Symbol" pitchFamily="18" charset="2"/>
              </a:rPr>
              <a:t>5)</a:t>
            </a:r>
            <a:endParaRPr kumimoji="0" lang="en-US" altLang="zh-CN" dirty="0">
              <a:solidFill>
                <a:srgbClr val="C00000"/>
              </a:solidFill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840818" y="1567518"/>
            <a:ext cx="805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800" dirty="0">
                <a:solidFill>
                  <a:srgbClr val="0000FF"/>
                </a:solidFill>
                <a:latin typeface="Helvetica" pitchFamily="34" charset="0"/>
              </a:rPr>
              <a:t>true</a:t>
            </a:r>
          </a:p>
        </p:txBody>
      </p:sp>
      <p:sp>
        <p:nvSpPr>
          <p:cNvPr id="34" name="Text Box 13"/>
          <p:cNvSpPr txBox="1">
            <a:spLocks noChangeArrowheads="1"/>
          </p:cNvSpPr>
          <p:nvPr/>
        </p:nvSpPr>
        <p:spPr bwMode="auto">
          <a:xfrm>
            <a:off x="3886200" y="2997201"/>
            <a:ext cx="15128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kumimoji="0" lang="en-US" altLang="zh-CN" sz="2800" dirty="0">
                <a:solidFill>
                  <a:srgbClr val="0000FF"/>
                </a:solidFill>
                <a:latin typeface="Helvetica" pitchFamily="34" charset="0"/>
              </a:rPr>
              <a:t>false</a:t>
            </a:r>
          </a:p>
        </p:txBody>
      </p:sp>
      <p:sp>
        <p:nvSpPr>
          <p:cNvPr id="35" name="Text Box 24"/>
          <p:cNvSpPr txBox="1">
            <a:spLocks noChangeArrowheads="1"/>
          </p:cNvSpPr>
          <p:nvPr/>
        </p:nvSpPr>
        <p:spPr bwMode="auto">
          <a:xfrm>
            <a:off x="4068882" y="4237038"/>
            <a:ext cx="15113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kumimoji="0" lang="en-US" altLang="zh-CN" sz="2800" dirty="0">
                <a:solidFill>
                  <a:srgbClr val="0000FF"/>
                </a:solidFill>
                <a:latin typeface="Helvetica" pitchFamily="34" charset="0"/>
              </a:rPr>
              <a:t>true</a:t>
            </a:r>
          </a:p>
        </p:txBody>
      </p:sp>
      <p:sp>
        <p:nvSpPr>
          <p:cNvPr id="37" name="Text Box 24"/>
          <p:cNvSpPr txBox="1">
            <a:spLocks noChangeArrowheads="1"/>
          </p:cNvSpPr>
          <p:nvPr/>
        </p:nvSpPr>
        <p:spPr bwMode="auto">
          <a:xfrm>
            <a:off x="4068882" y="5316097"/>
            <a:ext cx="15113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kumimoji="0" lang="en-US" altLang="zh-CN" sz="2800" dirty="0">
                <a:solidFill>
                  <a:srgbClr val="FF0000"/>
                </a:solidFill>
                <a:latin typeface="Helvetica" pitchFamily="34" charset="0"/>
              </a:rPr>
              <a:t>true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08368E-8308-79C7-B645-A7704D552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121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29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29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29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29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29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29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29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29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129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129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129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29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29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29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29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0" dur="2000"/>
                                        <p:tgtEl>
                                          <p:spTgt spid="129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34" grpId="0"/>
      <p:bldP spid="129037" grpId="0"/>
      <p:bldP spid="129038" grpId="0"/>
      <p:bldP spid="129039" grpId="0"/>
      <p:bldP spid="129040" grpId="0"/>
      <p:bldP spid="129041" grpId="0"/>
      <p:bldP spid="129042" grpId="0"/>
      <p:bldP spid="129044" grpId="0" animBg="1"/>
      <p:bldP spid="2" grpId="0"/>
      <p:bldP spid="3" grpId="0"/>
      <p:bldP spid="34" grpId="0"/>
      <p:bldP spid="35" grpId="0"/>
      <p:bldP spid="37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33A8FC5-8E37-476B-9127-F25BF5A72040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3005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300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3.4.3. </a:t>
            </a:r>
            <a:r>
              <a:rPr lang="zh-CN" altLang="en-US"/>
              <a:t>嵌套查询</a:t>
            </a:r>
          </a:p>
        </p:txBody>
      </p:sp>
      <p:sp>
        <p:nvSpPr>
          <p:cNvPr id="1300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grpSp>
        <p:nvGrpSpPr>
          <p:cNvPr id="130055" name="Group 4"/>
          <p:cNvGrpSpPr>
            <a:grpSpLocks/>
          </p:cNvGrpSpPr>
          <p:nvPr/>
        </p:nvGrpSpPr>
        <p:grpSpPr bwMode="auto">
          <a:xfrm>
            <a:off x="2708275" y="1323975"/>
            <a:ext cx="566738" cy="1419225"/>
            <a:chOff x="2448" y="1296"/>
            <a:chExt cx="288" cy="960"/>
          </a:xfrm>
        </p:grpSpPr>
        <p:sp>
          <p:nvSpPr>
            <p:cNvPr id="130075" name="Rectangle 5"/>
            <p:cNvSpPr>
              <a:spLocks noChangeArrowheads="1"/>
            </p:cNvSpPr>
            <p:nvPr/>
          </p:nvSpPr>
          <p:spPr bwMode="auto">
            <a:xfrm>
              <a:off x="2448" y="1296"/>
              <a:ext cx="288" cy="3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r>
                <a:rPr kumimoji="0" lang="en-US" altLang="zh-CN" sz="28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130076" name="Rectangle 6"/>
            <p:cNvSpPr>
              <a:spLocks noChangeArrowheads="1"/>
            </p:cNvSpPr>
            <p:nvPr/>
          </p:nvSpPr>
          <p:spPr bwMode="auto">
            <a:xfrm>
              <a:off x="2448" y="1584"/>
              <a:ext cx="288" cy="3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r>
                <a:rPr kumimoji="0" lang="en-US" altLang="zh-CN" sz="2800"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130077" name="Rectangle 7"/>
            <p:cNvSpPr>
              <a:spLocks noChangeArrowheads="1"/>
            </p:cNvSpPr>
            <p:nvPr/>
          </p:nvSpPr>
          <p:spPr bwMode="auto">
            <a:xfrm>
              <a:off x="2448" y="1920"/>
              <a:ext cx="288" cy="3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r>
                <a:rPr kumimoji="0" lang="en-US" altLang="zh-CN" sz="2800">
                  <a:latin typeface="Times New Roman" pitchFamily="18" charset="0"/>
                </a:rPr>
                <a:t>6</a:t>
              </a:r>
            </a:p>
          </p:txBody>
        </p:sp>
      </p:grpSp>
      <p:sp>
        <p:nvSpPr>
          <p:cNvPr id="130056" name="Text Box 8"/>
          <p:cNvSpPr txBox="1">
            <a:spLocks noChangeArrowheads="1"/>
          </p:cNvSpPr>
          <p:nvPr/>
        </p:nvSpPr>
        <p:spPr bwMode="auto">
          <a:xfrm>
            <a:off x="804863" y="1827213"/>
            <a:ext cx="289117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kumimoji="0" lang="en-US" altLang="zh-CN" sz="2800" dirty="0">
                <a:latin typeface="Helvetica" pitchFamily="34" charset="0"/>
              </a:rPr>
              <a:t>(5 &lt; </a:t>
            </a:r>
            <a:r>
              <a:rPr kumimoji="0" lang="en-US" altLang="zh-CN" sz="2800" b="1" dirty="0">
                <a:latin typeface="Helvetica" pitchFamily="34" charset="0"/>
              </a:rPr>
              <a:t>ALL           </a:t>
            </a:r>
            <a:r>
              <a:rPr kumimoji="0" lang="en-US" altLang="zh-CN" sz="2800" dirty="0">
                <a:latin typeface="Helvetica" pitchFamily="34" charset="0"/>
              </a:rPr>
              <a:t>)</a:t>
            </a:r>
            <a:r>
              <a:rPr kumimoji="0" lang="en-US" altLang="zh-CN" sz="2800" b="1" dirty="0">
                <a:latin typeface="Helvetica" pitchFamily="34" charset="0"/>
              </a:rPr>
              <a:t>   </a:t>
            </a:r>
            <a:endParaRPr kumimoji="0" lang="en-US" altLang="zh-CN" sz="2800" dirty="0">
              <a:latin typeface="Helvetica" pitchFamily="34" charset="0"/>
            </a:endParaRPr>
          </a:p>
        </p:txBody>
      </p:sp>
      <p:grpSp>
        <p:nvGrpSpPr>
          <p:cNvPr id="130058" name="Group 10"/>
          <p:cNvGrpSpPr>
            <a:grpSpLocks/>
          </p:cNvGrpSpPr>
          <p:nvPr/>
        </p:nvGrpSpPr>
        <p:grpSpPr bwMode="auto">
          <a:xfrm>
            <a:off x="2708275" y="2971800"/>
            <a:ext cx="576263" cy="936625"/>
            <a:chOff x="1383" y="1570"/>
            <a:chExt cx="363" cy="590"/>
          </a:xfrm>
        </p:grpSpPr>
        <p:sp>
          <p:nvSpPr>
            <p:cNvPr id="130073" name="Rectangle 11"/>
            <p:cNvSpPr>
              <a:spLocks noChangeArrowheads="1"/>
            </p:cNvSpPr>
            <p:nvPr/>
          </p:nvSpPr>
          <p:spPr bwMode="auto">
            <a:xfrm>
              <a:off x="1383" y="1570"/>
              <a:ext cx="363" cy="31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r>
                <a:rPr kumimoji="0" lang="en-US" altLang="zh-CN" sz="2800"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130074" name="Rectangle 12"/>
            <p:cNvSpPr>
              <a:spLocks noChangeArrowheads="1"/>
            </p:cNvSpPr>
            <p:nvPr/>
          </p:nvSpPr>
          <p:spPr bwMode="auto">
            <a:xfrm>
              <a:off x="1383" y="1888"/>
              <a:ext cx="363" cy="27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r>
                <a:rPr kumimoji="0" lang="en-US" altLang="zh-CN" sz="2800">
                  <a:latin typeface="Times New Roman" pitchFamily="18" charset="0"/>
                </a:rPr>
                <a:t>9</a:t>
              </a:r>
            </a:p>
          </p:txBody>
        </p:sp>
      </p:grpSp>
      <p:sp>
        <p:nvSpPr>
          <p:cNvPr id="130059" name="Text Box 13"/>
          <p:cNvSpPr txBox="1">
            <a:spLocks noChangeArrowheads="1"/>
          </p:cNvSpPr>
          <p:nvPr/>
        </p:nvSpPr>
        <p:spPr bwMode="auto">
          <a:xfrm>
            <a:off x="3355975" y="3238500"/>
            <a:ext cx="15128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kumimoji="0" lang="en-US" altLang="zh-CN" sz="2800" dirty="0">
                <a:latin typeface="Helvetica" pitchFamily="34" charset="0"/>
              </a:rPr>
              <a:t>)  </a:t>
            </a:r>
            <a:endParaRPr kumimoji="0" lang="en-US" altLang="zh-CN" sz="2800" dirty="0">
              <a:solidFill>
                <a:srgbClr val="0000FF"/>
              </a:solidFill>
              <a:latin typeface="Helvetica" pitchFamily="34" charset="0"/>
            </a:endParaRPr>
          </a:p>
        </p:txBody>
      </p:sp>
      <p:grpSp>
        <p:nvGrpSpPr>
          <p:cNvPr id="130060" name="Group 14"/>
          <p:cNvGrpSpPr>
            <a:grpSpLocks/>
          </p:cNvGrpSpPr>
          <p:nvPr/>
        </p:nvGrpSpPr>
        <p:grpSpPr bwMode="auto">
          <a:xfrm>
            <a:off x="2713038" y="4246563"/>
            <a:ext cx="576262" cy="982662"/>
            <a:chOff x="1344" y="2494"/>
            <a:chExt cx="288" cy="386"/>
          </a:xfrm>
        </p:grpSpPr>
        <p:sp>
          <p:nvSpPr>
            <p:cNvPr id="130071" name="Rectangle 15"/>
            <p:cNvSpPr>
              <a:spLocks noChangeArrowheads="1"/>
            </p:cNvSpPr>
            <p:nvPr/>
          </p:nvSpPr>
          <p:spPr bwMode="auto">
            <a:xfrm>
              <a:off x="1344" y="2494"/>
              <a:ext cx="288" cy="1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r>
                <a:rPr kumimoji="0" lang="en-US" altLang="zh-CN" sz="28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130072" name="Rectangle 16"/>
            <p:cNvSpPr>
              <a:spLocks noChangeArrowheads="1"/>
            </p:cNvSpPr>
            <p:nvPr/>
          </p:nvSpPr>
          <p:spPr bwMode="auto">
            <a:xfrm>
              <a:off x="1344" y="2686"/>
              <a:ext cx="288" cy="1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r>
                <a:rPr kumimoji="0" lang="en-US" altLang="zh-CN" sz="2800">
                  <a:latin typeface="Times New Roman" pitchFamily="18" charset="0"/>
                </a:rPr>
                <a:t>5</a:t>
              </a:r>
            </a:p>
          </p:txBody>
        </p:sp>
      </p:grpSp>
      <p:grpSp>
        <p:nvGrpSpPr>
          <p:cNvPr id="130061" name="Group 17"/>
          <p:cNvGrpSpPr>
            <a:grpSpLocks/>
          </p:cNvGrpSpPr>
          <p:nvPr/>
        </p:nvGrpSpPr>
        <p:grpSpPr bwMode="auto">
          <a:xfrm>
            <a:off x="2708275" y="5399088"/>
            <a:ext cx="566737" cy="862012"/>
            <a:chOff x="1344" y="3024"/>
            <a:chExt cx="288" cy="387"/>
          </a:xfrm>
        </p:grpSpPr>
        <p:sp>
          <p:nvSpPr>
            <p:cNvPr id="130069" name="Rectangle 18"/>
            <p:cNvSpPr>
              <a:spLocks noChangeArrowheads="1"/>
            </p:cNvSpPr>
            <p:nvPr/>
          </p:nvSpPr>
          <p:spPr bwMode="auto">
            <a:xfrm>
              <a:off x="1344" y="3024"/>
              <a:ext cx="288" cy="1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r>
                <a:rPr kumimoji="0" lang="en-US" altLang="zh-CN" sz="2800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130070" name="Rectangle 19"/>
            <p:cNvSpPr>
              <a:spLocks noChangeArrowheads="1"/>
            </p:cNvSpPr>
            <p:nvPr/>
          </p:nvSpPr>
          <p:spPr bwMode="auto">
            <a:xfrm>
              <a:off x="1344" y="3216"/>
              <a:ext cx="288" cy="19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r>
                <a:rPr kumimoji="0" lang="en-US" altLang="zh-CN" sz="2800">
                  <a:latin typeface="Times New Roman" pitchFamily="18" charset="0"/>
                </a:rPr>
                <a:t>6</a:t>
              </a:r>
            </a:p>
          </p:txBody>
        </p:sp>
      </p:grpSp>
      <p:sp>
        <p:nvSpPr>
          <p:cNvPr id="130062" name="Text Box 20"/>
          <p:cNvSpPr txBox="1">
            <a:spLocks noChangeArrowheads="1"/>
          </p:cNvSpPr>
          <p:nvPr/>
        </p:nvSpPr>
        <p:spPr bwMode="auto">
          <a:xfrm>
            <a:off x="836613" y="5543550"/>
            <a:ext cx="20161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kumimoji="0" lang="en-US" altLang="zh-CN" sz="2800">
                <a:latin typeface="Helvetica" pitchFamily="34" charset="0"/>
              </a:rPr>
              <a:t>(5 != </a:t>
            </a:r>
            <a:r>
              <a:rPr kumimoji="0" lang="en-US" altLang="zh-CN" sz="2800" b="1">
                <a:latin typeface="Helvetica" pitchFamily="34" charset="0"/>
              </a:rPr>
              <a:t>ALL</a:t>
            </a:r>
          </a:p>
        </p:txBody>
      </p:sp>
      <p:sp>
        <p:nvSpPr>
          <p:cNvPr id="130063" name="Text Box 21"/>
          <p:cNvSpPr txBox="1">
            <a:spLocks noChangeArrowheads="1"/>
          </p:cNvSpPr>
          <p:nvPr/>
        </p:nvSpPr>
        <p:spPr bwMode="auto">
          <a:xfrm>
            <a:off x="3211512" y="5543550"/>
            <a:ext cx="15128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kumimoji="0" lang="en-US" altLang="zh-CN" sz="2800" dirty="0">
                <a:latin typeface="Helvetica" pitchFamily="34" charset="0"/>
              </a:rPr>
              <a:t>)     </a:t>
            </a:r>
            <a:endParaRPr kumimoji="0" lang="en-US" altLang="zh-CN" sz="2800" dirty="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130064" name="Text Box 22"/>
          <p:cNvSpPr txBox="1">
            <a:spLocks noChangeArrowheads="1"/>
          </p:cNvSpPr>
          <p:nvPr/>
        </p:nvSpPr>
        <p:spPr bwMode="auto">
          <a:xfrm>
            <a:off x="858838" y="3187700"/>
            <a:ext cx="16557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kumimoji="0" lang="en-US" altLang="zh-CN" sz="2800" dirty="0">
                <a:latin typeface="Helvetica" pitchFamily="34" charset="0"/>
              </a:rPr>
              <a:t>(5 &lt; </a:t>
            </a:r>
            <a:r>
              <a:rPr kumimoji="0" lang="en-US" altLang="zh-CN" sz="2800" b="1" dirty="0">
                <a:latin typeface="Helvetica" pitchFamily="34" charset="0"/>
              </a:rPr>
              <a:t>ALL</a:t>
            </a:r>
            <a:endParaRPr kumimoji="0" lang="en-US" altLang="zh-CN" sz="2800" dirty="0">
              <a:latin typeface="Helvetica" pitchFamily="34" charset="0"/>
            </a:endParaRPr>
          </a:p>
        </p:txBody>
      </p:sp>
      <p:sp>
        <p:nvSpPr>
          <p:cNvPr id="130065" name="Text Box 23"/>
          <p:cNvSpPr txBox="1">
            <a:spLocks noChangeArrowheads="1"/>
          </p:cNvSpPr>
          <p:nvPr/>
        </p:nvSpPr>
        <p:spPr bwMode="auto">
          <a:xfrm>
            <a:off x="3289300" y="4464050"/>
            <a:ext cx="15113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kumimoji="0" lang="en-US" altLang="zh-CN" sz="2800" dirty="0">
                <a:latin typeface="Helvetica" pitchFamily="34" charset="0"/>
              </a:rPr>
              <a:t>)   </a:t>
            </a:r>
            <a:endParaRPr kumimoji="0" lang="en-US" altLang="zh-CN" sz="2800" dirty="0">
              <a:solidFill>
                <a:srgbClr val="C00000"/>
              </a:solidFill>
              <a:latin typeface="Helvetica" pitchFamily="34" charset="0"/>
            </a:endParaRPr>
          </a:p>
        </p:txBody>
      </p:sp>
      <p:sp>
        <p:nvSpPr>
          <p:cNvPr id="130066" name="Text Box 24"/>
          <p:cNvSpPr txBox="1">
            <a:spLocks noChangeArrowheads="1"/>
          </p:cNvSpPr>
          <p:nvPr/>
        </p:nvSpPr>
        <p:spPr bwMode="auto">
          <a:xfrm>
            <a:off x="836613" y="4464050"/>
            <a:ext cx="1898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>
              <a:spcBef>
                <a:spcPct val="50000"/>
              </a:spcBef>
            </a:pPr>
            <a:r>
              <a:rPr kumimoji="0" lang="en-US" altLang="zh-CN" sz="2800" dirty="0">
                <a:latin typeface="Helvetica" pitchFamily="34" charset="0"/>
              </a:rPr>
              <a:t>(5 = </a:t>
            </a:r>
            <a:r>
              <a:rPr kumimoji="0" lang="en-US" altLang="zh-CN" sz="2800" b="1" dirty="0">
                <a:latin typeface="Helvetica" pitchFamily="34" charset="0"/>
              </a:rPr>
              <a:t>ALL</a:t>
            </a:r>
            <a:endParaRPr kumimoji="0" lang="en-US" altLang="zh-CN" sz="2800" dirty="0">
              <a:latin typeface="Helvetica" pitchFamily="34" charset="0"/>
            </a:endParaRPr>
          </a:p>
        </p:txBody>
      </p:sp>
      <p:sp>
        <p:nvSpPr>
          <p:cNvPr id="130067" name="Rectangle 25"/>
          <p:cNvSpPr>
            <a:spLocks noChangeArrowheads="1"/>
          </p:cNvSpPr>
          <p:nvPr/>
        </p:nvSpPr>
        <p:spPr bwMode="auto">
          <a:xfrm>
            <a:off x="5473890" y="4267200"/>
            <a:ext cx="3167062" cy="2017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/>
            <a:r>
              <a:rPr kumimoji="0" lang="zh-CN" altLang="en-US" sz="2800" dirty="0">
                <a:latin typeface="Times New Roman" pitchFamily="18" charset="0"/>
                <a:sym typeface="Symbol" pitchFamily="18" charset="2"/>
              </a:rPr>
              <a:t>要注意， </a:t>
            </a:r>
            <a:endParaRPr kumimoji="0" lang="en-US" altLang="zh-CN" sz="2800" dirty="0">
              <a:latin typeface="Times New Roman" pitchFamily="18" charset="0"/>
              <a:sym typeface="Symbol" pitchFamily="18" charset="2"/>
            </a:endParaRPr>
          </a:p>
          <a:p>
            <a:pPr algn="l"/>
            <a:r>
              <a:rPr kumimoji="0" lang="en-US" altLang="zh-CN" sz="2800" dirty="0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rPr>
              <a:t>( = </a:t>
            </a:r>
            <a:r>
              <a:rPr kumimoji="0" lang="en-US" altLang="zh-CN" sz="2800" b="1" dirty="0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rPr>
              <a:t>ALL</a:t>
            </a:r>
            <a:r>
              <a:rPr kumimoji="0" lang="en-US" altLang="zh-CN" sz="2800" dirty="0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rPr>
              <a:t>)  </a:t>
            </a:r>
            <a:r>
              <a:rPr kumimoji="0" lang="en-US" altLang="zh-CN" sz="2800" b="1" dirty="0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rPr>
              <a:t>IN</a:t>
            </a:r>
          </a:p>
          <a:p>
            <a:pPr algn="l"/>
            <a:endParaRPr kumimoji="0" lang="en-US" altLang="zh-CN" sz="2800" b="1" dirty="0">
              <a:solidFill>
                <a:srgbClr val="0000FF"/>
              </a:solidFill>
              <a:latin typeface="Times New Roman" pitchFamily="18" charset="0"/>
              <a:sym typeface="Symbol" pitchFamily="18" charset="2"/>
            </a:endParaRPr>
          </a:p>
          <a:p>
            <a:pPr algn="l"/>
            <a:r>
              <a:rPr kumimoji="0" lang="en-US" altLang="zh-CN" sz="2800" dirty="0">
                <a:solidFill>
                  <a:srgbClr val="C00000"/>
                </a:solidFill>
                <a:latin typeface="Times New Roman" pitchFamily="18" charset="0"/>
              </a:rPr>
              <a:t>(!= </a:t>
            </a:r>
            <a:r>
              <a:rPr kumimoji="0" lang="en-US" altLang="zh-CN" sz="2800" b="1" dirty="0">
                <a:solidFill>
                  <a:srgbClr val="C00000"/>
                </a:solidFill>
                <a:latin typeface="Times New Roman" pitchFamily="18" charset="0"/>
              </a:rPr>
              <a:t>ALL</a:t>
            </a:r>
            <a:r>
              <a:rPr kumimoji="0" lang="en-US" altLang="zh-CN" sz="2800" dirty="0">
                <a:solidFill>
                  <a:srgbClr val="C00000"/>
                </a:solidFill>
                <a:latin typeface="Times New Roman" pitchFamily="18" charset="0"/>
              </a:rPr>
              <a:t>) </a:t>
            </a:r>
            <a:r>
              <a:rPr kumimoji="0" lang="en-US" altLang="zh-CN" sz="2800" dirty="0">
                <a:solidFill>
                  <a:srgbClr val="C00000"/>
                </a:solidFill>
                <a:latin typeface="Times New Roman" pitchFamily="18" charset="0"/>
                <a:sym typeface="Symbol" pitchFamily="18" charset="2"/>
              </a:rPr>
              <a:t> NOT IN</a:t>
            </a:r>
          </a:p>
          <a:p>
            <a:pPr algn="l"/>
            <a:endParaRPr kumimoji="0" lang="en-US" altLang="zh-CN" sz="2800" dirty="0">
              <a:solidFill>
                <a:srgbClr val="0000FF"/>
              </a:solidFill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130068" name="Line 26"/>
          <p:cNvSpPr>
            <a:spLocks noChangeShapeType="1"/>
          </p:cNvSpPr>
          <p:nvPr/>
        </p:nvSpPr>
        <p:spPr bwMode="auto">
          <a:xfrm flipH="1">
            <a:off x="7040562" y="4826000"/>
            <a:ext cx="122238" cy="27940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Text Box 22"/>
          <p:cNvSpPr txBox="1">
            <a:spLocks noChangeArrowheads="1"/>
          </p:cNvSpPr>
          <p:nvPr/>
        </p:nvSpPr>
        <p:spPr bwMode="auto">
          <a:xfrm>
            <a:off x="4781978" y="1572339"/>
            <a:ext cx="436202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zh-CN" sz="2800" dirty="0">
                <a:latin typeface="Helvetica" pitchFamily="34" charset="0"/>
              </a:rPr>
              <a:t>(read:  5 &lt; </a:t>
            </a:r>
            <a:r>
              <a:rPr kumimoji="0" lang="en-US" altLang="zh-CN" sz="2800" b="1" dirty="0">
                <a:solidFill>
                  <a:srgbClr val="C00000"/>
                </a:solidFill>
                <a:latin typeface="Helvetica" pitchFamily="34" charset="0"/>
              </a:rPr>
              <a:t>all</a:t>
            </a:r>
            <a:r>
              <a:rPr kumimoji="0" lang="en-US" altLang="zh-CN" sz="2800" dirty="0">
                <a:solidFill>
                  <a:srgbClr val="C00000"/>
                </a:solidFill>
                <a:latin typeface="Helvetica" pitchFamily="34" charset="0"/>
              </a:rPr>
              <a:t> </a:t>
            </a:r>
            <a:r>
              <a:rPr kumimoji="0" lang="en-US" altLang="zh-CN" sz="2800" dirty="0">
                <a:latin typeface="Helvetica" pitchFamily="34" charset="0"/>
              </a:rPr>
              <a:t>tuple(</a:t>
            </a:r>
            <a:r>
              <a:rPr kumimoji="0" lang="zh-CN" altLang="en-US" sz="2800" dirty="0">
                <a:latin typeface="Helvetica" pitchFamily="34" charset="0"/>
              </a:rPr>
              <a:t>元组</a:t>
            </a:r>
            <a:r>
              <a:rPr kumimoji="0" lang="en-US" altLang="zh-CN" sz="2800" dirty="0">
                <a:latin typeface="Helvetica" pitchFamily="34" charset="0"/>
              </a:rPr>
              <a:t>) in the relation)</a:t>
            </a:r>
          </a:p>
        </p:txBody>
      </p:sp>
      <p:sp>
        <p:nvSpPr>
          <p:cNvPr id="33" name="矩形 32"/>
          <p:cNvSpPr/>
          <p:nvPr/>
        </p:nvSpPr>
        <p:spPr>
          <a:xfrm>
            <a:off x="3884948" y="1798638"/>
            <a:ext cx="9444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800" dirty="0">
                <a:solidFill>
                  <a:srgbClr val="0000FF"/>
                </a:solidFill>
                <a:latin typeface="Helvetica" pitchFamily="34" charset="0"/>
              </a:rPr>
              <a:t>false</a:t>
            </a:r>
          </a:p>
        </p:txBody>
      </p:sp>
      <p:sp>
        <p:nvSpPr>
          <p:cNvPr id="34" name="矩形 33"/>
          <p:cNvSpPr/>
          <p:nvPr/>
        </p:nvSpPr>
        <p:spPr>
          <a:xfrm>
            <a:off x="3967956" y="3238500"/>
            <a:ext cx="805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800" dirty="0">
                <a:solidFill>
                  <a:srgbClr val="0000FF"/>
                </a:solidFill>
                <a:latin typeface="Helvetica" pitchFamily="34" charset="0"/>
              </a:rPr>
              <a:t>true</a:t>
            </a:r>
          </a:p>
        </p:txBody>
      </p:sp>
      <p:sp>
        <p:nvSpPr>
          <p:cNvPr id="35" name="矩形 34"/>
          <p:cNvSpPr/>
          <p:nvPr/>
        </p:nvSpPr>
        <p:spPr>
          <a:xfrm>
            <a:off x="3924374" y="4448032"/>
            <a:ext cx="9444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800" dirty="0">
                <a:solidFill>
                  <a:srgbClr val="C00000"/>
                </a:solidFill>
                <a:latin typeface="Helvetica" pitchFamily="34" charset="0"/>
              </a:rPr>
              <a:t>false</a:t>
            </a:r>
          </a:p>
        </p:txBody>
      </p:sp>
      <p:sp>
        <p:nvSpPr>
          <p:cNvPr id="36" name="矩形 35"/>
          <p:cNvSpPr/>
          <p:nvPr/>
        </p:nvSpPr>
        <p:spPr>
          <a:xfrm>
            <a:off x="3884948" y="5565143"/>
            <a:ext cx="805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800" dirty="0">
                <a:solidFill>
                  <a:srgbClr val="0000FF"/>
                </a:solidFill>
                <a:latin typeface="Helvetica" pitchFamily="34" charset="0"/>
              </a:rPr>
              <a:t>true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26056F1-6F12-B6D3-4B7D-0BDE619F1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122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0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0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0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0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0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0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0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0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67" grpId="0" uiExpand="1" build="allAtOnce"/>
      <p:bldP spid="130068" grpId="0" animBg="1"/>
      <p:bldP spid="30" grpId="0"/>
      <p:bldP spid="33" grpId="0"/>
      <p:bldP spid="34" grpId="0"/>
      <p:bldP spid="35" grpId="0"/>
      <p:bldP spid="36" grpId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E58E050-7473-4260-89F1-CCBC9C87F569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198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198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3.4.3. </a:t>
            </a:r>
            <a:r>
              <a:rPr lang="zh-CN" altLang="en-US"/>
              <a:t>嵌套查询</a:t>
            </a:r>
          </a:p>
        </p:txBody>
      </p:sp>
      <p:sp>
        <p:nvSpPr>
          <p:cNvPr id="1198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查询工资至少比</a:t>
            </a:r>
            <a:r>
              <a:rPr lang="en-US" altLang="zh-CN" sz="2800" u="sng" dirty="0"/>
              <a:t>Biology</a:t>
            </a:r>
            <a:r>
              <a:rPr lang="zh-CN" altLang="en-US" sz="2800" u="sng" dirty="0"/>
              <a:t>系</a:t>
            </a:r>
            <a:r>
              <a:rPr lang="zh-CN" altLang="en-US" sz="2800" b="1" u="sng" dirty="0">
                <a:solidFill>
                  <a:srgbClr val="0000FF"/>
                </a:solidFill>
              </a:rPr>
              <a:t>某位教师</a:t>
            </a:r>
            <a:r>
              <a:rPr lang="zh-CN" altLang="en-US" sz="2800" u="sng" dirty="0"/>
              <a:t>的工资</a:t>
            </a:r>
            <a:r>
              <a:rPr lang="zh-CN" altLang="en-US" sz="2800" dirty="0"/>
              <a:t>要</a:t>
            </a:r>
            <a:r>
              <a:rPr lang="zh-CN" altLang="en-US" sz="2800" dirty="0">
                <a:solidFill>
                  <a:srgbClr val="0000FF"/>
                </a:solidFill>
              </a:rPr>
              <a:t>高</a:t>
            </a:r>
            <a:r>
              <a:rPr lang="zh-CN" altLang="en-US" sz="2800" dirty="0"/>
              <a:t>的所有教师的姓名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endParaRPr lang="zh-CN" altLang="en-US" sz="28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517FB06-C07B-357A-C594-5BDBEED1C366}"/>
              </a:ext>
            </a:extLst>
          </p:cNvPr>
          <p:cNvSpPr txBox="1"/>
          <p:nvPr/>
        </p:nvSpPr>
        <p:spPr>
          <a:xfrm>
            <a:off x="1333500" y="5474147"/>
            <a:ext cx="6781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/>
              <a:t>instructor(</a:t>
            </a:r>
            <a:r>
              <a:rPr lang="zh-CN" altLang="en-US" sz="2400" u="sng" dirty="0"/>
              <a:t>ID</a:t>
            </a:r>
            <a:r>
              <a:rPr lang="zh-CN" altLang="en-US" sz="2400" dirty="0"/>
              <a:t>, name, </a:t>
            </a:r>
            <a:r>
              <a:rPr lang="zh-CN" altLang="en-US" sz="2400" dirty="0">
                <a:solidFill>
                  <a:srgbClr val="0000FF"/>
                </a:solidFill>
              </a:rPr>
              <a:t>dept</a:t>
            </a:r>
            <a:r>
              <a:rPr lang="en-US" altLang="zh-CN" sz="2400" dirty="0">
                <a:solidFill>
                  <a:srgbClr val="0000FF"/>
                </a:solidFill>
              </a:rPr>
              <a:t>_</a:t>
            </a:r>
            <a:r>
              <a:rPr lang="zh-CN" altLang="en-US" sz="2400" dirty="0">
                <a:solidFill>
                  <a:srgbClr val="0000FF"/>
                </a:solidFill>
              </a:rPr>
              <a:t>name</a:t>
            </a:r>
            <a:r>
              <a:rPr lang="zh-CN" altLang="en-US" sz="2400" dirty="0"/>
              <a:t>, </a:t>
            </a:r>
            <a:r>
              <a:rPr lang="zh-CN" altLang="en-US" sz="2400" dirty="0">
                <a:solidFill>
                  <a:srgbClr val="0000FF"/>
                </a:solidFill>
              </a:rPr>
              <a:t>salary</a:t>
            </a:r>
            <a:r>
              <a:rPr lang="zh-CN" altLang="en-US" sz="2400" dirty="0"/>
              <a:t>)   </a:t>
            </a:r>
            <a:r>
              <a:rPr lang="en-US" altLang="zh-CN" sz="2400" dirty="0"/>
              <a:t>//</a:t>
            </a:r>
            <a:r>
              <a:rPr lang="zh-CN" altLang="en-US" sz="2400" dirty="0"/>
              <a:t>讲师</a:t>
            </a:r>
            <a:endParaRPr lang="en-US" altLang="zh-CN" sz="2400" dirty="0"/>
          </a:p>
        </p:txBody>
      </p:sp>
      <p:sp>
        <p:nvSpPr>
          <p:cNvPr id="10" name="文本框 4">
            <a:extLst>
              <a:ext uri="{FF2B5EF4-FFF2-40B4-BE49-F238E27FC236}">
                <a16:creationId xmlns:a16="http://schemas.microsoft.com/office/drawing/2014/main" id="{BCC478DC-3900-E0B1-85E7-DED8C2AE3384}"/>
              </a:ext>
            </a:extLst>
          </p:cNvPr>
          <p:cNvSpPr txBox="1"/>
          <p:nvPr/>
        </p:nvSpPr>
        <p:spPr>
          <a:xfrm>
            <a:off x="4495800" y="3447871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0" i="0" u="none" strike="noStrike" baseline="0" dirty="0">
                <a:latin typeface="+mn-lt"/>
              </a:rPr>
              <a:t>(select </a:t>
            </a:r>
            <a:r>
              <a:rPr lang="en-US" altLang="zh-CN" sz="2400" b="0" i="1" u="none" strike="noStrike" baseline="0" dirty="0">
                <a:latin typeface="+mn-lt"/>
              </a:rPr>
              <a:t>salary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from </a:t>
            </a:r>
            <a:r>
              <a:rPr lang="en-US" altLang="zh-CN" sz="2400" b="0" i="1" u="none" strike="noStrike" baseline="0" dirty="0">
                <a:latin typeface="+mn-lt"/>
              </a:rPr>
              <a:t>instructor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where </a:t>
            </a:r>
            <a:r>
              <a:rPr lang="en-US" altLang="zh-CN" sz="2400" b="0" i="1" u="none" strike="noStrike" baseline="0" dirty="0" err="1">
                <a:latin typeface="+mn-lt"/>
              </a:rPr>
              <a:t>dept_name</a:t>
            </a:r>
            <a:r>
              <a:rPr lang="en-US" altLang="zh-CN" sz="2400" b="0" i="1" u="none" strike="noStrike" baseline="0" dirty="0">
                <a:latin typeface="+mn-lt"/>
              </a:rPr>
              <a:t> </a:t>
            </a:r>
            <a:r>
              <a:rPr lang="en-US" altLang="zh-CN" sz="2400" b="0" i="0" u="none" strike="noStrike" baseline="0" dirty="0">
                <a:latin typeface="+mn-lt"/>
              </a:rPr>
              <a:t>= 'Biology')</a:t>
            </a:r>
            <a:endParaRPr lang="zh-CN" altLang="en-US" dirty="0">
              <a:latin typeface="+mn-lt"/>
            </a:endParaRPr>
          </a:p>
        </p:txBody>
      </p:sp>
      <p:sp>
        <p:nvSpPr>
          <p:cNvPr id="11" name="文本框 7">
            <a:extLst>
              <a:ext uri="{FF2B5EF4-FFF2-40B4-BE49-F238E27FC236}">
                <a16:creationId xmlns:a16="http://schemas.microsoft.com/office/drawing/2014/main" id="{77FA0866-A5A0-E306-C297-19DA50EA5ED0}"/>
              </a:ext>
            </a:extLst>
          </p:cNvPr>
          <p:cNvSpPr txBox="1"/>
          <p:nvPr/>
        </p:nvSpPr>
        <p:spPr>
          <a:xfrm>
            <a:off x="1447800" y="2724388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0" i="0" u="none" strike="noStrike" baseline="0" dirty="0">
                <a:latin typeface="+mn-lt"/>
              </a:rPr>
              <a:t>select </a:t>
            </a:r>
            <a:r>
              <a:rPr lang="en-US" altLang="zh-CN" sz="2400" b="0" i="1" u="none" strike="noStrike" baseline="0" dirty="0">
                <a:latin typeface="+mn-lt"/>
              </a:rPr>
              <a:t>name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from </a:t>
            </a:r>
            <a:r>
              <a:rPr lang="en-US" altLang="zh-CN" sz="2400" b="0" i="1" u="none" strike="noStrike" baseline="0" dirty="0">
                <a:latin typeface="+mn-lt"/>
              </a:rPr>
              <a:t>instructor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where </a:t>
            </a:r>
            <a:r>
              <a:rPr lang="en-US" altLang="zh-CN" sz="2400" b="0" i="1" u="none" strike="noStrike" baseline="0" dirty="0">
                <a:latin typeface="+mn-lt"/>
              </a:rPr>
              <a:t>salary &gt;  </a:t>
            </a:r>
            <a:r>
              <a:rPr lang="en-US" altLang="zh-CN" sz="2400" b="0" i="1" u="none" strike="noStrike" baseline="0" dirty="0">
                <a:solidFill>
                  <a:srgbClr val="0000FF"/>
                </a:solidFill>
                <a:latin typeface="+mn-lt"/>
              </a:rPr>
              <a:t>some</a:t>
            </a:r>
            <a:endParaRPr lang="zh-CN" altLang="en-US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65BC52F-BF6E-B324-396F-CBD7207CC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123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44809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98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98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F403FB7-1749-4A1B-B32D-8AB8C55A1A46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198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198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3.4.3. </a:t>
            </a:r>
            <a:r>
              <a:rPr lang="zh-CN" altLang="en-US"/>
              <a:t>嵌套查询</a:t>
            </a:r>
          </a:p>
        </p:txBody>
      </p:sp>
      <p:sp>
        <p:nvSpPr>
          <p:cNvPr id="1198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查询工资至少比</a:t>
            </a:r>
            <a:r>
              <a:rPr lang="en-US" altLang="zh-CN" sz="2800" u="sng" dirty="0"/>
              <a:t>Biology</a:t>
            </a:r>
            <a:r>
              <a:rPr lang="zh-CN" altLang="en-US" sz="2800" u="sng" dirty="0"/>
              <a:t>系</a:t>
            </a:r>
            <a:r>
              <a:rPr lang="zh-CN" altLang="en-US" sz="2800" b="1" u="sng" dirty="0">
                <a:solidFill>
                  <a:srgbClr val="0000FF"/>
                </a:solidFill>
              </a:rPr>
              <a:t>所有教师</a:t>
            </a:r>
            <a:r>
              <a:rPr lang="zh-CN" altLang="en-US" sz="2800" u="sng" dirty="0"/>
              <a:t>的工资</a:t>
            </a:r>
            <a:r>
              <a:rPr lang="zh-CN" altLang="en-US" sz="2800" dirty="0"/>
              <a:t>要</a:t>
            </a:r>
            <a:r>
              <a:rPr lang="zh-CN" altLang="en-US" sz="2800" dirty="0">
                <a:solidFill>
                  <a:srgbClr val="0000FF"/>
                </a:solidFill>
              </a:rPr>
              <a:t>高</a:t>
            </a:r>
            <a:r>
              <a:rPr lang="zh-CN" altLang="en-US" sz="2800" dirty="0"/>
              <a:t>的所有教师的姓名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endParaRPr lang="zh-CN" altLang="en-US" sz="28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517FB06-C07B-357A-C594-5BDBEED1C366}"/>
              </a:ext>
            </a:extLst>
          </p:cNvPr>
          <p:cNvSpPr txBox="1"/>
          <p:nvPr/>
        </p:nvSpPr>
        <p:spPr>
          <a:xfrm>
            <a:off x="1333500" y="5474147"/>
            <a:ext cx="6781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/>
              <a:t>instructor(</a:t>
            </a:r>
            <a:r>
              <a:rPr lang="zh-CN" altLang="en-US" sz="2400" u="sng" dirty="0"/>
              <a:t>ID</a:t>
            </a:r>
            <a:r>
              <a:rPr lang="zh-CN" altLang="en-US" sz="2400" dirty="0"/>
              <a:t>, name, </a:t>
            </a:r>
            <a:r>
              <a:rPr lang="zh-CN" altLang="en-US" sz="2400" dirty="0">
                <a:solidFill>
                  <a:srgbClr val="0000FF"/>
                </a:solidFill>
              </a:rPr>
              <a:t>dept</a:t>
            </a:r>
            <a:r>
              <a:rPr lang="en-US" altLang="zh-CN" sz="2400" dirty="0">
                <a:solidFill>
                  <a:srgbClr val="0000FF"/>
                </a:solidFill>
              </a:rPr>
              <a:t>_</a:t>
            </a:r>
            <a:r>
              <a:rPr lang="zh-CN" altLang="en-US" sz="2400" dirty="0">
                <a:solidFill>
                  <a:srgbClr val="0000FF"/>
                </a:solidFill>
              </a:rPr>
              <a:t>name</a:t>
            </a:r>
            <a:r>
              <a:rPr lang="zh-CN" altLang="en-US" sz="2400" dirty="0"/>
              <a:t>, salary)   </a:t>
            </a:r>
            <a:r>
              <a:rPr lang="en-US" altLang="zh-CN" sz="2400" dirty="0"/>
              <a:t>//</a:t>
            </a:r>
            <a:r>
              <a:rPr lang="zh-CN" altLang="en-US" sz="2400" dirty="0"/>
              <a:t>讲师</a:t>
            </a:r>
            <a:endParaRPr lang="en-US" altLang="zh-CN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CC478DC-3900-E0B1-85E7-DED8C2AE3384}"/>
              </a:ext>
            </a:extLst>
          </p:cNvPr>
          <p:cNvSpPr txBox="1"/>
          <p:nvPr/>
        </p:nvSpPr>
        <p:spPr>
          <a:xfrm>
            <a:off x="4114800" y="3447871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0" i="0" u="none" strike="noStrike" baseline="0" dirty="0">
                <a:latin typeface="+mn-lt"/>
              </a:rPr>
              <a:t>(select </a:t>
            </a:r>
            <a:r>
              <a:rPr lang="en-US" altLang="zh-CN" sz="2400" b="0" i="1" u="none" strike="noStrike" baseline="0" dirty="0">
                <a:latin typeface="+mn-lt"/>
              </a:rPr>
              <a:t>salary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from </a:t>
            </a:r>
            <a:r>
              <a:rPr lang="en-US" altLang="zh-CN" sz="2400" b="0" i="1" u="none" strike="noStrike" baseline="0" dirty="0">
                <a:latin typeface="+mn-lt"/>
              </a:rPr>
              <a:t>instructor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where </a:t>
            </a:r>
            <a:r>
              <a:rPr lang="en-US" altLang="zh-CN" sz="2400" b="0" i="1" u="none" strike="noStrike" baseline="0" dirty="0" err="1">
                <a:latin typeface="+mn-lt"/>
              </a:rPr>
              <a:t>dept_name</a:t>
            </a:r>
            <a:r>
              <a:rPr lang="en-US" altLang="zh-CN" sz="2400" b="0" i="1" u="none" strike="noStrike" baseline="0" dirty="0">
                <a:latin typeface="+mn-lt"/>
              </a:rPr>
              <a:t> </a:t>
            </a:r>
            <a:r>
              <a:rPr lang="en-US" altLang="zh-CN" sz="2400" b="0" i="0" u="none" strike="noStrike" baseline="0" dirty="0">
                <a:latin typeface="+mn-lt"/>
              </a:rPr>
              <a:t>= 'Biology')</a:t>
            </a:r>
            <a:endParaRPr lang="zh-CN" altLang="en-US" dirty="0">
              <a:latin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7FA0866-A5A0-E306-C297-19DA50EA5ED0}"/>
              </a:ext>
            </a:extLst>
          </p:cNvPr>
          <p:cNvSpPr txBox="1"/>
          <p:nvPr/>
        </p:nvSpPr>
        <p:spPr>
          <a:xfrm>
            <a:off x="1447800" y="2724388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0" i="0" u="none" strike="noStrike" baseline="0" dirty="0">
                <a:latin typeface="+mn-lt"/>
              </a:rPr>
              <a:t>select </a:t>
            </a:r>
            <a:r>
              <a:rPr lang="en-US" altLang="zh-CN" sz="2400" b="0" i="1" u="none" strike="noStrike" baseline="0" dirty="0">
                <a:latin typeface="+mn-lt"/>
              </a:rPr>
              <a:t>name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from </a:t>
            </a:r>
            <a:r>
              <a:rPr lang="en-US" altLang="zh-CN" sz="2400" b="0" i="1" u="none" strike="noStrike" baseline="0" dirty="0">
                <a:latin typeface="+mn-lt"/>
              </a:rPr>
              <a:t>instructor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where </a:t>
            </a:r>
            <a:r>
              <a:rPr lang="en-US" altLang="zh-CN" sz="2400" b="0" i="1" u="none" strike="noStrike" baseline="0" dirty="0">
                <a:latin typeface="+mn-lt"/>
              </a:rPr>
              <a:t>salary </a:t>
            </a:r>
            <a:r>
              <a:rPr lang="en-US" altLang="zh-CN" sz="2400" b="0" i="1" u="none" strike="noStrike" baseline="0" dirty="0">
                <a:solidFill>
                  <a:srgbClr val="0000FF"/>
                </a:solidFill>
                <a:latin typeface="+mn-lt"/>
              </a:rPr>
              <a:t>&gt;  all</a:t>
            </a:r>
            <a:endParaRPr lang="zh-CN" altLang="en-US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38AFE48-9379-D3A5-CD9E-E857D8B25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124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36505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98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98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C47CA1C-B56F-4433-BCDA-062316CA1180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3209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321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3.4.3. </a:t>
            </a:r>
            <a:r>
              <a:rPr lang="zh-CN" altLang="en-US"/>
              <a:t>嵌套查询</a:t>
            </a:r>
          </a:p>
        </p:txBody>
      </p:sp>
      <p:sp>
        <p:nvSpPr>
          <p:cNvPr id="1321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事实上，用</a:t>
            </a:r>
            <a:r>
              <a:rPr lang="zh-CN" altLang="en-US" dirty="0">
                <a:solidFill>
                  <a:srgbClr val="C00000"/>
                </a:solidFill>
              </a:rPr>
              <a:t>集函数</a:t>
            </a:r>
            <a:r>
              <a:rPr lang="zh-CN" altLang="en-US" dirty="0"/>
              <a:t>实现子查询通常比直接用</a:t>
            </a:r>
            <a:r>
              <a:rPr lang="en-US" altLang="zh-CN" dirty="0"/>
              <a:t>ANY</a:t>
            </a:r>
            <a:r>
              <a:rPr lang="zh-CN" altLang="en-US" dirty="0"/>
              <a:t>或</a:t>
            </a:r>
            <a:r>
              <a:rPr lang="en-US" altLang="zh-CN" dirty="0"/>
              <a:t>ALL</a:t>
            </a:r>
            <a:r>
              <a:rPr lang="zh-CN" altLang="en-US" dirty="0">
                <a:solidFill>
                  <a:srgbClr val="0000FF"/>
                </a:solidFill>
              </a:rPr>
              <a:t>查询效率要高</a:t>
            </a:r>
            <a:r>
              <a:rPr lang="zh-CN" altLang="en-US" dirty="0"/>
              <a:t>。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	</a:t>
            </a:r>
            <a:endParaRPr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B872121-A837-05F7-C20D-6A36B1CC864B}"/>
              </a:ext>
            </a:extLst>
          </p:cNvPr>
          <p:cNvSpPr txBox="1"/>
          <p:nvPr/>
        </p:nvSpPr>
        <p:spPr>
          <a:xfrm>
            <a:off x="3886200" y="3435677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0" i="0" u="none" strike="noStrike" baseline="0" dirty="0">
                <a:latin typeface="+mn-lt"/>
              </a:rPr>
              <a:t>(select </a:t>
            </a:r>
            <a:r>
              <a:rPr lang="en-US" altLang="zh-CN" sz="2400" b="0" i="0" u="none" strike="noStrike" baseline="0" dirty="0">
                <a:solidFill>
                  <a:srgbClr val="0000FF"/>
                </a:solidFill>
                <a:latin typeface="+mn-lt"/>
              </a:rPr>
              <a:t>max</a:t>
            </a:r>
            <a:r>
              <a:rPr lang="en-US" altLang="zh-CN" dirty="0">
                <a:solidFill>
                  <a:srgbClr val="0000FF"/>
                </a:solidFill>
                <a:latin typeface="+mn-lt"/>
              </a:rPr>
              <a:t>(</a:t>
            </a:r>
            <a:r>
              <a:rPr lang="en-US" altLang="zh-CN" sz="2400" b="0" i="1" u="none" strike="noStrike" baseline="0" dirty="0">
                <a:solidFill>
                  <a:srgbClr val="0000FF"/>
                </a:solidFill>
                <a:latin typeface="+mn-lt"/>
              </a:rPr>
              <a:t>salary)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from </a:t>
            </a:r>
            <a:r>
              <a:rPr lang="en-US" altLang="zh-CN" sz="2400" b="0" i="1" u="none" strike="noStrike" baseline="0" dirty="0">
                <a:latin typeface="+mn-lt"/>
              </a:rPr>
              <a:t>instructor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where </a:t>
            </a:r>
            <a:r>
              <a:rPr lang="en-US" altLang="zh-CN" sz="2400" b="0" i="1" u="none" strike="noStrike" baseline="0" dirty="0" err="1">
                <a:latin typeface="+mn-lt"/>
              </a:rPr>
              <a:t>dept_name</a:t>
            </a:r>
            <a:r>
              <a:rPr lang="en-US" altLang="zh-CN" sz="2400" b="0" i="1" u="none" strike="noStrike" baseline="0" dirty="0">
                <a:latin typeface="+mn-lt"/>
              </a:rPr>
              <a:t> </a:t>
            </a:r>
            <a:r>
              <a:rPr lang="en-US" altLang="zh-CN" sz="2400" b="0" i="0" u="none" strike="noStrike" baseline="0" dirty="0">
                <a:latin typeface="+mn-lt"/>
              </a:rPr>
              <a:t>= 'Biology')</a:t>
            </a:r>
            <a:endParaRPr lang="zh-CN" altLang="en-US" dirty="0">
              <a:latin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BA21AE-37FA-FEFA-C194-5C818E44F9A5}"/>
              </a:ext>
            </a:extLst>
          </p:cNvPr>
          <p:cNvSpPr txBox="1"/>
          <p:nvPr/>
        </p:nvSpPr>
        <p:spPr>
          <a:xfrm>
            <a:off x="1752600" y="2724388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0" i="0" u="none" strike="noStrike" baseline="0" dirty="0">
                <a:latin typeface="+mn-lt"/>
              </a:rPr>
              <a:t>select </a:t>
            </a:r>
            <a:r>
              <a:rPr lang="en-US" altLang="zh-CN" sz="2400" b="0" i="1" u="none" strike="noStrike" baseline="0" dirty="0">
                <a:latin typeface="+mn-lt"/>
              </a:rPr>
              <a:t>name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from </a:t>
            </a:r>
            <a:r>
              <a:rPr lang="en-US" altLang="zh-CN" sz="2400" b="0" i="1" u="none" strike="noStrike" baseline="0" dirty="0">
                <a:latin typeface="+mn-lt"/>
              </a:rPr>
              <a:t>instructor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where </a:t>
            </a:r>
            <a:r>
              <a:rPr lang="en-US" altLang="zh-CN" sz="2400" b="0" i="1" u="none" strike="noStrike" baseline="0" dirty="0">
                <a:latin typeface="+mn-lt"/>
              </a:rPr>
              <a:t>salary &gt;</a:t>
            </a:r>
            <a:endParaRPr lang="zh-CN" altLang="en-US" dirty="0">
              <a:latin typeface="+mn-lt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D77B948-EA47-02A6-4EA9-9EC097ABC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125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2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2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6628F51-D15C-4A70-B84A-B321E4BDD418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198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198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3.4.3. </a:t>
            </a:r>
            <a:r>
              <a:rPr lang="zh-CN" altLang="en-US"/>
              <a:t>嵌套查询</a:t>
            </a:r>
          </a:p>
        </p:txBody>
      </p:sp>
      <p:sp>
        <p:nvSpPr>
          <p:cNvPr id="1198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查询工资至少比</a:t>
            </a:r>
            <a:r>
              <a:rPr lang="en-US" altLang="zh-CN" sz="2800" u="sng" dirty="0"/>
              <a:t>Biology</a:t>
            </a:r>
            <a:r>
              <a:rPr lang="zh-CN" altLang="en-US" sz="2800" u="sng" dirty="0"/>
              <a:t>系</a:t>
            </a:r>
            <a:r>
              <a:rPr lang="zh-CN" altLang="en-US" sz="2800" b="1" u="sng" dirty="0">
                <a:solidFill>
                  <a:srgbClr val="0000FF"/>
                </a:solidFill>
              </a:rPr>
              <a:t>某位教师</a:t>
            </a:r>
            <a:r>
              <a:rPr lang="zh-CN" altLang="en-US" sz="2800" u="sng" dirty="0"/>
              <a:t>的工资</a:t>
            </a:r>
            <a:r>
              <a:rPr lang="zh-CN" altLang="en-US" sz="2800" dirty="0"/>
              <a:t>要</a:t>
            </a:r>
            <a:r>
              <a:rPr lang="zh-CN" altLang="en-US" sz="2800" dirty="0">
                <a:solidFill>
                  <a:srgbClr val="0000FF"/>
                </a:solidFill>
              </a:rPr>
              <a:t>高</a:t>
            </a:r>
            <a:r>
              <a:rPr lang="zh-CN" altLang="en-US" sz="2800" dirty="0"/>
              <a:t>的所有教师的姓名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endParaRPr lang="zh-CN" altLang="en-US" sz="2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CC478DC-3900-E0B1-85E7-DED8C2AE3384}"/>
              </a:ext>
            </a:extLst>
          </p:cNvPr>
          <p:cNvSpPr txBox="1"/>
          <p:nvPr/>
        </p:nvSpPr>
        <p:spPr>
          <a:xfrm>
            <a:off x="3886200" y="2952154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0" i="0" u="none" strike="noStrike" baseline="0" dirty="0">
                <a:latin typeface="+mn-lt"/>
              </a:rPr>
              <a:t>(select </a:t>
            </a:r>
            <a:r>
              <a:rPr lang="en-US" altLang="zh-CN" sz="2400" b="0" i="1" u="none" strike="noStrike" baseline="0" dirty="0">
                <a:latin typeface="+mn-lt"/>
              </a:rPr>
              <a:t>salary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from </a:t>
            </a:r>
            <a:r>
              <a:rPr lang="en-US" altLang="zh-CN" sz="2400" b="0" i="1" u="none" strike="noStrike" baseline="0" dirty="0">
                <a:latin typeface="+mn-lt"/>
              </a:rPr>
              <a:t>instructor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where </a:t>
            </a:r>
            <a:r>
              <a:rPr lang="en-US" altLang="zh-CN" sz="2400" b="0" i="1" u="none" strike="noStrike" baseline="0" dirty="0" err="1">
                <a:latin typeface="+mn-lt"/>
              </a:rPr>
              <a:t>dept_name</a:t>
            </a:r>
            <a:r>
              <a:rPr lang="en-US" altLang="zh-CN" sz="2400" b="0" i="1" u="none" strike="noStrike" baseline="0" dirty="0">
                <a:latin typeface="+mn-lt"/>
              </a:rPr>
              <a:t> </a:t>
            </a:r>
            <a:r>
              <a:rPr lang="en-US" altLang="zh-CN" sz="2400" b="0" i="0" u="none" strike="noStrike" baseline="0" dirty="0">
                <a:latin typeface="+mn-lt"/>
              </a:rPr>
              <a:t>= 'Biology')</a:t>
            </a:r>
            <a:endParaRPr lang="zh-CN" altLang="en-US" dirty="0">
              <a:latin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7FA0866-A5A0-E306-C297-19DA50EA5ED0}"/>
              </a:ext>
            </a:extLst>
          </p:cNvPr>
          <p:cNvSpPr txBox="1"/>
          <p:nvPr/>
        </p:nvSpPr>
        <p:spPr>
          <a:xfrm>
            <a:off x="914400" y="2228671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0" i="0" u="none" strike="noStrike" baseline="0" dirty="0">
                <a:latin typeface="+mn-lt"/>
              </a:rPr>
              <a:t>select </a:t>
            </a:r>
            <a:r>
              <a:rPr lang="en-US" altLang="zh-CN" sz="2400" b="0" i="1" u="none" strike="noStrike" baseline="0" dirty="0">
                <a:latin typeface="+mn-lt"/>
              </a:rPr>
              <a:t>name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from </a:t>
            </a:r>
            <a:r>
              <a:rPr lang="en-US" altLang="zh-CN" sz="2400" b="0" i="1" u="none" strike="noStrike" baseline="0" dirty="0">
                <a:latin typeface="+mn-lt"/>
              </a:rPr>
              <a:t>instructor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where </a:t>
            </a:r>
            <a:r>
              <a:rPr lang="en-US" altLang="zh-CN" sz="2400" b="0" i="1" u="none" strike="noStrike" baseline="0" dirty="0">
                <a:latin typeface="+mn-lt"/>
              </a:rPr>
              <a:t>salary </a:t>
            </a:r>
            <a:r>
              <a:rPr lang="en-US" altLang="zh-CN" sz="2400" b="0" i="1" u="none" strike="noStrike" baseline="0" dirty="0">
                <a:solidFill>
                  <a:srgbClr val="0000FF"/>
                </a:solidFill>
                <a:latin typeface="+mn-lt"/>
              </a:rPr>
              <a:t>&gt; some</a:t>
            </a:r>
            <a:endParaRPr lang="zh-CN" altLang="en-US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C7C8B0D-761D-75C6-AD39-B1277FC633E2}"/>
              </a:ext>
            </a:extLst>
          </p:cNvPr>
          <p:cNvSpPr txBox="1"/>
          <p:nvPr/>
        </p:nvSpPr>
        <p:spPr>
          <a:xfrm>
            <a:off x="3124200" y="4895671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0" i="0" u="none" strike="noStrike" baseline="0" dirty="0">
                <a:latin typeface="+mn-lt"/>
              </a:rPr>
              <a:t>(select </a:t>
            </a:r>
            <a:r>
              <a:rPr lang="en-US" altLang="zh-CN" sz="2400" b="0" i="0" u="none" strike="noStrike" baseline="0" dirty="0">
                <a:solidFill>
                  <a:srgbClr val="0000FF"/>
                </a:solidFill>
                <a:latin typeface="+mn-lt"/>
              </a:rPr>
              <a:t>min</a:t>
            </a:r>
            <a:r>
              <a:rPr lang="en-US" altLang="zh-CN" dirty="0">
                <a:solidFill>
                  <a:srgbClr val="0000FF"/>
                </a:solidFill>
                <a:latin typeface="+mn-lt"/>
              </a:rPr>
              <a:t>(</a:t>
            </a:r>
            <a:r>
              <a:rPr lang="en-US" altLang="zh-CN" sz="2400" b="0" i="1" u="none" strike="noStrike" baseline="0" dirty="0">
                <a:solidFill>
                  <a:srgbClr val="0000FF"/>
                </a:solidFill>
                <a:latin typeface="+mn-lt"/>
              </a:rPr>
              <a:t>salary)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from </a:t>
            </a:r>
            <a:r>
              <a:rPr lang="en-US" altLang="zh-CN" sz="2400" b="0" i="1" u="none" strike="noStrike" baseline="0" dirty="0">
                <a:latin typeface="+mn-lt"/>
              </a:rPr>
              <a:t>instructor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where </a:t>
            </a:r>
            <a:r>
              <a:rPr lang="en-US" altLang="zh-CN" sz="2400" b="0" i="1" u="none" strike="noStrike" baseline="0" dirty="0" err="1">
                <a:latin typeface="+mn-lt"/>
              </a:rPr>
              <a:t>dept_name</a:t>
            </a:r>
            <a:r>
              <a:rPr lang="en-US" altLang="zh-CN" sz="2400" b="0" i="1" u="none" strike="noStrike" baseline="0" dirty="0">
                <a:latin typeface="+mn-lt"/>
              </a:rPr>
              <a:t> </a:t>
            </a:r>
            <a:r>
              <a:rPr lang="en-US" altLang="zh-CN" sz="2400" b="0" i="0" u="none" strike="noStrike" baseline="0" dirty="0">
                <a:latin typeface="+mn-lt"/>
              </a:rPr>
              <a:t>= 'Biology')</a:t>
            </a:r>
            <a:endParaRPr lang="zh-CN" altLang="en-US" dirty="0">
              <a:latin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F382EF0-CCBC-E1FF-9CCD-EE8A532B3C18}"/>
              </a:ext>
            </a:extLst>
          </p:cNvPr>
          <p:cNvSpPr txBox="1"/>
          <p:nvPr/>
        </p:nvSpPr>
        <p:spPr>
          <a:xfrm>
            <a:off x="914400" y="4172188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0" i="0" u="none" strike="noStrike" baseline="0" dirty="0">
                <a:latin typeface="+mn-lt"/>
              </a:rPr>
              <a:t>select </a:t>
            </a:r>
            <a:r>
              <a:rPr lang="en-US" altLang="zh-CN" sz="2400" b="0" i="1" u="none" strike="noStrike" baseline="0" dirty="0">
                <a:latin typeface="+mn-lt"/>
              </a:rPr>
              <a:t>name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from </a:t>
            </a:r>
            <a:r>
              <a:rPr lang="en-US" altLang="zh-CN" sz="2400" b="0" i="1" u="none" strike="noStrike" baseline="0" dirty="0">
                <a:latin typeface="+mn-lt"/>
              </a:rPr>
              <a:t>instructor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where </a:t>
            </a:r>
            <a:r>
              <a:rPr lang="en-US" altLang="zh-CN" sz="2400" b="0" i="1" u="none" strike="noStrike" baseline="0" dirty="0">
                <a:latin typeface="+mn-lt"/>
              </a:rPr>
              <a:t>salary &gt;</a:t>
            </a:r>
            <a:endParaRPr lang="zh-CN" altLang="en-US" dirty="0">
              <a:latin typeface="+mn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A5A4CD-4571-6448-298C-A7D85B440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126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9808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98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98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2" grpId="0"/>
      <p:bldP spid="6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F4F3676-0E7C-4E55-8EDC-7856E51CF45E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3312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331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3.4.3. </a:t>
            </a:r>
            <a:r>
              <a:rPr lang="zh-CN" altLang="en-US"/>
              <a:t>嵌套查询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545875" y="1878012"/>
            <a:ext cx="822960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609600" indent="-609600" algn="ctr">
              <a:buFont typeface="宋体" charset="-122"/>
              <a:buNone/>
            </a:pPr>
            <a:r>
              <a:rPr kumimoji="0" lang="zh-CN" altLang="en-US" sz="2400" kern="0" dirty="0">
                <a:ea typeface="宋体" charset="-122"/>
              </a:rPr>
              <a:t>表</a:t>
            </a:r>
            <a:r>
              <a:rPr kumimoji="0" lang="en-US" altLang="zh-CN" sz="2400" kern="0" dirty="0">
                <a:ea typeface="宋体" charset="-122"/>
              </a:rPr>
              <a:t>3.5 SOME</a:t>
            </a:r>
            <a:r>
              <a:rPr kumimoji="0" lang="zh-CN" altLang="en-US" sz="2400" kern="0" dirty="0">
                <a:ea typeface="宋体" charset="-122"/>
              </a:rPr>
              <a:t>（或</a:t>
            </a:r>
            <a:r>
              <a:rPr kumimoji="0" lang="en-US" altLang="zh-CN" sz="2400" kern="0" dirty="0">
                <a:ea typeface="宋体" charset="-122"/>
              </a:rPr>
              <a:t>ANY</a:t>
            </a:r>
            <a:r>
              <a:rPr kumimoji="0" lang="zh-CN" altLang="en-US" sz="2400" kern="0" dirty="0">
                <a:ea typeface="宋体" charset="-122"/>
              </a:rPr>
              <a:t>），</a:t>
            </a:r>
            <a:r>
              <a:rPr kumimoji="0" lang="en-US" altLang="zh-CN" sz="2400" kern="0" dirty="0">
                <a:ea typeface="宋体" charset="-122"/>
              </a:rPr>
              <a:t>ALL</a:t>
            </a:r>
            <a:r>
              <a:rPr kumimoji="0" lang="zh-CN" altLang="en-US" sz="2400" kern="0" dirty="0">
                <a:ea typeface="宋体" charset="-122"/>
              </a:rPr>
              <a:t>谓词与聚集函数、</a:t>
            </a:r>
            <a:r>
              <a:rPr kumimoji="0" lang="en-US" altLang="zh-CN" sz="2400" kern="0" dirty="0">
                <a:ea typeface="宋体" charset="-122"/>
              </a:rPr>
              <a:t>IN</a:t>
            </a:r>
            <a:r>
              <a:rPr kumimoji="0" lang="zh-CN" altLang="en-US" sz="2400" kern="0" dirty="0">
                <a:ea typeface="宋体" charset="-122"/>
              </a:rPr>
              <a:t>谓词的</a:t>
            </a:r>
            <a:r>
              <a:rPr kumimoji="0" lang="zh-CN" altLang="en-US" sz="2400" kern="0" dirty="0">
                <a:solidFill>
                  <a:srgbClr val="C00000"/>
                </a:solidFill>
                <a:ea typeface="宋体" charset="-122"/>
              </a:rPr>
              <a:t>等价转换</a:t>
            </a:r>
            <a:r>
              <a:rPr kumimoji="0" lang="zh-CN" altLang="en-US" sz="2400" kern="0" dirty="0">
                <a:ea typeface="宋体" charset="-122"/>
              </a:rPr>
              <a:t>关系 </a:t>
            </a:r>
          </a:p>
        </p:txBody>
      </p:sp>
      <p:grpSp>
        <p:nvGrpSpPr>
          <p:cNvPr id="10" name="Group 4"/>
          <p:cNvGrpSpPr>
            <a:grpSpLocks/>
          </p:cNvGrpSpPr>
          <p:nvPr/>
        </p:nvGrpSpPr>
        <p:grpSpPr bwMode="auto">
          <a:xfrm>
            <a:off x="104492" y="3276600"/>
            <a:ext cx="8932903" cy="1769807"/>
            <a:chOff x="-3" y="-3"/>
            <a:chExt cx="4065" cy="1120"/>
          </a:xfrm>
        </p:grpSpPr>
        <p:grpSp>
          <p:nvGrpSpPr>
            <p:cNvPr id="11" name="Group 5"/>
            <p:cNvGrpSpPr>
              <a:grpSpLocks/>
            </p:cNvGrpSpPr>
            <p:nvPr/>
          </p:nvGrpSpPr>
          <p:grpSpPr bwMode="auto">
            <a:xfrm>
              <a:off x="0" y="0"/>
              <a:ext cx="4059" cy="1117"/>
              <a:chOff x="0" y="0"/>
              <a:chExt cx="4059" cy="1117"/>
            </a:xfrm>
          </p:grpSpPr>
          <p:grpSp>
            <p:nvGrpSpPr>
              <p:cNvPr id="13" name="Group 6"/>
              <p:cNvGrpSpPr>
                <a:grpSpLocks/>
              </p:cNvGrpSpPr>
              <p:nvPr/>
            </p:nvGrpSpPr>
            <p:grpSpPr bwMode="auto">
              <a:xfrm>
                <a:off x="0" y="0"/>
                <a:ext cx="493" cy="448"/>
                <a:chOff x="0" y="0"/>
                <a:chExt cx="493" cy="448"/>
              </a:xfrm>
            </p:grpSpPr>
            <p:sp>
              <p:nvSpPr>
                <p:cNvPr id="74" name="Rectangle 7"/>
                <p:cNvSpPr>
                  <a:spLocks noChangeArrowheads="1"/>
                </p:cNvSpPr>
                <p:nvPr/>
              </p:nvSpPr>
              <p:spPr bwMode="auto">
                <a:xfrm>
                  <a:off x="44" y="0"/>
                  <a:ext cx="406" cy="4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kumimoji="1" lang="en-US" altLang="zh-CN" sz="2000" b="0"/>
                    <a:t> </a:t>
                  </a:r>
                </a:p>
                <a:p>
                  <a:pPr eaLnBrk="0" hangingPunct="0"/>
                  <a:endParaRPr kumimoji="1" lang="en-US" altLang="zh-CN" sz="2000" b="0"/>
                </a:p>
              </p:txBody>
            </p:sp>
            <p:sp>
              <p:nvSpPr>
                <p:cNvPr id="75" name="Rectangle 8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93" cy="25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 sz="2000"/>
                </a:p>
              </p:txBody>
            </p:sp>
          </p:grpSp>
          <p:grpSp>
            <p:nvGrpSpPr>
              <p:cNvPr id="14" name="Group 9"/>
              <p:cNvGrpSpPr>
                <a:grpSpLocks/>
              </p:cNvGrpSpPr>
              <p:nvPr/>
            </p:nvGrpSpPr>
            <p:grpSpPr bwMode="auto">
              <a:xfrm>
                <a:off x="493" y="0"/>
                <a:ext cx="396" cy="253"/>
                <a:chOff x="493" y="0"/>
                <a:chExt cx="396" cy="253"/>
              </a:xfrm>
            </p:grpSpPr>
            <p:sp>
              <p:nvSpPr>
                <p:cNvPr id="72" name="Rectangle 10"/>
                <p:cNvSpPr>
                  <a:spLocks noChangeArrowheads="1"/>
                </p:cNvSpPr>
                <p:nvPr/>
              </p:nvSpPr>
              <p:spPr bwMode="auto">
                <a:xfrm>
                  <a:off x="536" y="0"/>
                  <a:ext cx="310" cy="25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algn="l"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1pPr>
                  <a:lvl2pPr algn="l"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2pPr>
                  <a:lvl3pPr algn="l"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3pPr>
                  <a:lvl4pPr algn="l"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4pPr>
                  <a:lvl5pPr algn="l"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9pPr>
                </a:lstStyle>
                <a:p>
                  <a:pPr algn="ctr"/>
                  <a:r>
                    <a:rPr lang="en-US" altLang="zh-CN" sz="2000" dirty="0">
                      <a:solidFill>
                        <a:srgbClr val="0000FF"/>
                      </a:solidFill>
                    </a:rPr>
                    <a:t> =</a:t>
                  </a:r>
                  <a:endParaRPr lang="en-US" altLang="zh-CN" sz="2000" b="0" dirty="0">
                    <a:solidFill>
                      <a:srgbClr val="0000FF"/>
                    </a:solidFill>
                  </a:endParaRPr>
                </a:p>
              </p:txBody>
            </p:sp>
            <p:sp>
              <p:nvSpPr>
                <p:cNvPr id="73" name="Rectangle 11"/>
                <p:cNvSpPr>
                  <a:spLocks noChangeArrowheads="1"/>
                </p:cNvSpPr>
                <p:nvPr/>
              </p:nvSpPr>
              <p:spPr bwMode="auto">
                <a:xfrm>
                  <a:off x="493" y="0"/>
                  <a:ext cx="396" cy="25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 sz="2000"/>
                </a:p>
              </p:txBody>
            </p:sp>
          </p:grpSp>
          <p:grpSp>
            <p:nvGrpSpPr>
              <p:cNvPr id="15" name="Group 12"/>
              <p:cNvGrpSpPr>
                <a:grpSpLocks/>
              </p:cNvGrpSpPr>
              <p:nvPr/>
            </p:nvGrpSpPr>
            <p:grpSpPr bwMode="auto">
              <a:xfrm>
                <a:off x="889" y="0"/>
                <a:ext cx="656" cy="253"/>
                <a:chOff x="889" y="0"/>
                <a:chExt cx="656" cy="253"/>
              </a:xfrm>
            </p:grpSpPr>
            <p:sp>
              <p:nvSpPr>
                <p:cNvPr id="70" name="Rectangle 13"/>
                <p:cNvSpPr>
                  <a:spLocks noChangeArrowheads="1"/>
                </p:cNvSpPr>
                <p:nvPr/>
              </p:nvSpPr>
              <p:spPr bwMode="auto">
                <a:xfrm>
                  <a:off x="934" y="0"/>
                  <a:ext cx="568" cy="25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kumimoji="1" lang="en-US" altLang="zh-CN" sz="2000">
                      <a:solidFill>
                        <a:srgbClr val="0000FF"/>
                      </a:solidFill>
                    </a:rPr>
                    <a:t> &lt;&gt;</a:t>
                  </a:r>
                  <a:r>
                    <a:rPr kumimoji="1" lang="zh-CN" altLang="en-US" sz="2000">
                      <a:solidFill>
                        <a:srgbClr val="0000FF"/>
                      </a:solidFill>
                    </a:rPr>
                    <a:t>或</a:t>
                  </a:r>
                  <a:r>
                    <a:rPr kumimoji="1" lang="en-US" altLang="zh-CN" sz="2000">
                      <a:solidFill>
                        <a:srgbClr val="0000FF"/>
                      </a:solidFill>
                    </a:rPr>
                    <a:t>!=</a:t>
                  </a:r>
                  <a:endParaRPr kumimoji="1" lang="en-US" altLang="zh-CN" sz="2000" b="0">
                    <a:solidFill>
                      <a:srgbClr val="0000FF"/>
                    </a:solidFill>
                  </a:endParaRPr>
                </a:p>
              </p:txBody>
            </p:sp>
            <p:sp>
              <p:nvSpPr>
                <p:cNvPr id="71" name="Rectangle 14"/>
                <p:cNvSpPr>
                  <a:spLocks noChangeArrowheads="1"/>
                </p:cNvSpPr>
                <p:nvPr/>
              </p:nvSpPr>
              <p:spPr bwMode="auto">
                <a:xfrm>
                  <a:off x="889" y="0"/>
                  <a:ext cx="656" cy="25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 sz="2000"/>
                </a:p>
              </p:txBody>
            </p:sp>
          </p:grpSp>
          <p:grpSp>
            <p:nvGrpSpPr>
              <p:cNvPr id="16" name="Group 15"/>
              <p:cNvGrpSpPr>
                <a:grpSpLocks/>
              </p:cNvGrpSpPr>
              <p:nvPr/>
            </p:nvGrpSpPr>
            <p:grpSpPr bwMode="auto">
              <a:xfrm>
                <a:off x="1545" y="0"/>
                <a:ext cx="617" cy="253"/>
                <a:chOff x="1545" y="0"/>
                <a:chExt cx="617" cy="253"/>
              </a:xfrm>
            </p:grpSpPr>
            <p:sp>
              <p:nvSpPr>
                <p:cNvPr id="68" name="Rectangle 16"/>
                <p:cNvSpPr>
                  <a:spLocks noChangeArrowheads="1"/>
                </p:cNvSpPr>
                <p:nvPr/>
              </p:nvSpPr>
              <p:spPr bwMode="auto">
                <a:xfrm>
                  <a:off x="1588" y="0"/>
                  <a:ext cx="530" cy="25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algn="l"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1pPr>
                  <a:lvl2pPr algn="l"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2pPr>
                  <a:lvl3pPr algn="l"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3pPr>
                  <a:lvl4pPr algn="l"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4pPr>
                  <a:lvl5pPr algn="l"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9pPr>
                </a:lstStyle>
                <a:p>
                  <a:pPr algn="ctr"/>
                  <a:r>
                    <a:rPr lang="en-US" altLang="zh-CN" sz="2000">
                      <a:solidFill>
                        <a:srgbClr val="0000FF"/>
                      </a:solidFill>
                    </a:rPr>
                    <a:t>   &lt;</a:t>
                  </a:r>
                  <a:endParaRPr lang="en-US" altLang="zh-CN" sz="2000" b="0">
                    <a:solidFill>
                      <a:srgbClr val="0000FF"/>
                    </a:solidFill>
                  </a:endParaRPr>
                </a:p>
              </p:txBody>
            </p:sp>
            <p:sp>
              <p:nvSpPr>
                <p:cNvPr id="69" name="Rectangle 17"/>
                <p:cNvSpPr>
                  <a:spLocks noChangeArrowheads="1"/>
                </p:cNvSpPr>
                <p:nvPr/>
              </p:nvSpPr>
              <p:spPr bwMode="auto">
                <a:xfrm>
                  <a:off x="1545" y="0"/>
                  <a:ext cx="617" cy="25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 sz="2000"/>
                </a:p>
              </p:txBody>
            </p:sp>
          </p:grpSp>
          <p:grpSp>
            <p:nvGrpSpPr>
              <p:cNvPr id="17" name="Group 18"/>
              <p:cNvGrpSpPr>
                <a:grpSpLocks/>
              </p:cNvGrpSpPr>
              <p:nvPr/>
            </p:nvGrpSpPr>
            <p:grpSpPr bwMode="auto">
              <a:xfrm>
                <a:off x="2162" y="0"/>
                <a:ext cx="655" cy="253"/>
                <a:chOff x="2162" y="0"/>
                <a:chExt cx="655" cy="253"/>
              </a:xfrm>
            </p:grpSpPr>
            <p:sp>
              <p:nvSpPr>
                <p:cNvPr id="66" name="Rectangle 19"/>
                <p:cNvSpPr>
                  <a:spLocks noChangeArrowheads="1"/>
                </p:cNvSpPr>
                <p:nvPr/>
              </p:nvSpPr>
              <p:spPr bwMode="auto">
                <a:xfrm>
                  <a:off x="2205" y="0"/>
                  <a:ext cx="569" cy="25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algn="l"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1pPr>
                  <a:lvl2pPr algn="l"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2pPr>
                  <a:lvl3pPr algn="l"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3pPr>
                  <a:lvl4pPr algn="l"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4pPr>
                  <a:lvl5pPr algn="l"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9pPr>
                </a:lstStyle>
                <a:p>
                  <a:pPr algn="ctr"/>
                  <a:r>
                    <a:rPr lang="en-US" altLang="zh-CN" sz="2000" dirty="0">
                      <a:solidFill>
                        <a:srgbClr val="0000FF"/>
                      </a:solidFill>
                    </a:rPr>
                    <a:t>  &lt;=</a:t>
                  </a:r>
                  <a:endParaRPr lang="en-US" altLang="zh-CN" sz="2000" b="0" dirty="0">
                    <a:solidFill>
                      <a:srgbClr val="0000FF"/>
                    </a:solidFill>
                  </a:endParaRPr>
                </a:p>
              </p:txBody>
            </p:sp>
            <p:sp>
              <p:nvSpPr>
                <p:cNvPr id="67" name="Rectangle 20"/>
                <p:cNvSpPr>
                  <a:spLocks noChangeArrowheads="1"/>
                </p:cNvSpPr>
                <p:nvPr/>
              </p:nvSpPr>
              <p:spPr bwMode="auto">
                <a:xfrm>
                  <a:off x="2162" y="0"/>
                  <a:ext cx="655" cy="25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 sz="2000"/>
                </a:p>
              </p:txBody>
            </p:sp>
          </p:grpSp>
          <p:grpSp>
            <p:nvGrpSpPr>
              <p:cNvPr id="18" name="Group 21"/>
              <p:cNvGrpSpPr>
                <a:grpSpLocks/>
              </p:cNvGrpSpPr>
              <p:nvPr/>
            </p:nvGrpSpPr>
            <p:grpSpPr bwMode="auto">
              <a:xfrm>
                <a:off x="2817" y="0"/>
                <a:ext cx="587" cy="253"/>
                <a:chOff x="2817" y="0"/>
                <a:chExt cx="587" cy="253"/>
              </a:xfrm>
            </p:grpSpPr>
            <p:sp>
              <p:nvSpPr>
                <p:cNvPr id="64" name="Rectangle 22"/>
                <p:cNvSpPr>
                  <a:spLocks noChangeArrowheads="1"/>
                </p:cNvSpPr>
                <p:nvPr/>
              </p:nvSpPr>
              <p:spPr bwMode="auto">
                <a:xfrm>
                  <a:off x="2860" y="0"/>
                  <a:ext cx="501" cy="25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algn="l"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1pPr>
                  <a:lvl2pPr algn="l"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2pPr>
                  <a:lvl3pPr algn="l"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3pPr>
                  <a:lvl4pPr algn="l"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4pPr>
                  <a:lvl5pPr algn="l"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9pPr>
                </a:lstStyle>
                <a:p>
                  <a:pPr algn="ctr"/>
                  <a:r>
                    <a:rPr lang="en-US" altLang="zh-CN" sz="2000">
                      <a:solidFill>
                        <a:srgbClr val="0000FF"/>
                      </a:solidFill>
                    </a:rPr>
                    <a:t>  &gt;</a:t>
                  </a:r>
                  <a:endParaRPr lang="en-US" altLang="zh-CN" sz="2000" b="0">
                    <a:solidFill>
                      <a:srgbClr val="0000FF"/>
                    </a:solidFill>
                  </a:endParaRPr>
                </a:p>
              </p:txBody>
            </p:sp>
            <p:sp>
              <p:nvSpPr>
                <p:cNvPr id="65" name="Rectangle 23"/>
                <p:cNvSpPr>
                  <a:spLocks noChangeArrowheads="1"/>
                </p:cNvSpPr>
                <p:nvPr/>
              </p:nvSpPr>
              <p:spPr bwMode="auto">
                <a:xfrm>
                  <a:off x="2817" y="0"/>
                  <a:ext cx="587" cy="25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 sz="2000"/>
                </a:p>
              </p:txBody>
            </p:sp>
          </p:grpSp>
          <p:grpSp>
            <p:nvGrpSpPr>
              <p:cNvPr id="19" name="Group 24"/>
              <p:cNvGrpSpPr>
                <a:grpSpLocks/>
              </p:cNvGrpSpPr>
              <p:nvPr/>
            </p:nvGrpSpPr>
            <p:grpSpPr bwMode="auto">
              <a:xfrm>
                <a:off x="3404" y="0"/>
                <a:ext cx="655" cy="253"/>
                <a:chOff x="3404" y="0"/>
                <a:chExt cx="655" cy="253"/>
              </a:xfrm>
            </p:grpSpPr>
            <p:sp>
              <p:nvSpPr>
                <p:cNvPr id="62" name="Rectangle 25"/>
                <p:cNvSpPr>
                  <a:spLocks noChangeArrowheads="1"/>
                </p:cNvSpPr>
                <p:nvPr/>
              </p:nvSpPr>
              <p:spPr bwMode="auto">
                <a:xfrm>
                  <a:off x="3447" y="0"/>
                  <a:ext cx="568" cy="25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algn="l"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1pPr>
                  <a:lvl2pPr algn="l"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2pPr>
                  <a:lvl3pPr algn="l"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3pPr>
                  <a:lvl4pPr algn="l"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4pPr>
                  <a:lvl5pPr algn="l"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266700" algn="r"/>
                      <a:tab pos="5292725" algn="r"/>
                    </a:tabLst>
                    <a:defRPr kumimoji="1" sz="2400">
                      <a:solidFill>
                        <a:schemeClr val="tx1"/>
                      </a:solidFill>
                      <a:latin typeface="Times New Roman" charset="0"/>
                      <a:ea typeface="宋体" charset="-122"/>
                    </a:defRPr>
                  </a:lvl9pPr>
                </a:lstStyle>
                <a:p>
                  <a:pPr algn="ctr"/>
                  <a:r>
                    <a:rPr lang="en-US" altLang="zh-CN" sz="2000">
                      <a:solidFill>
                        <a:srgbClr val="0000FF"/>
                      </a:solidFill>
                    </a:rPr>
                    <a:t>  &gt;=</a:t>
                  </a:r>
                  <a:endParaRPr lang="en-US" altLang="zh-CN" sz="2000" b="0">
                    <a:solidFill>
                      <a:srgbClr val="0000FF"/>
                    </a:solidFill>
                  </a:endParaRPr>
                </a:p>
              </p:txBody>
            </p:sp>
            <p:sp>
              <p:nvSpPr>
                <p:cNvPr id="63" name="Rectangle 26"/>
                <p:cNvSpPr>
                  <a:spLocks noChangeArrowheads="1"/>
                </p:cNvSpPr>
                <p:nvPr/>
              </p:nvSpPr>
              <p:spPr bwMode="auto">
                <a:xfrm>
                  <a:off x="3404" y="0"/>
                  <a:ext cx="655" cy="25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 sz="2000"/>
                </a:p>
              </p:txBody>
            </p:sp>
          </p:grpSp>
          <p:grpSp>
            <p:nvGrpSpPr>
              <p:cNvPr id="20" name="Group 27"/>
              <p:cNvGrpSpPr>
                <a:grpSpLocks/>
              </p:cNvGrpSpPr>
              <p:nvPr/>
            </p:nvGrpSpPr>
            <p:grpSpPr bwMode="auto">
              <a:xfrm>
                <a:off x="0" y="432"/>
                <a:ext cx="493" cy="255"/>
                <a:chOff x="0" y="432"/>
                <a:chExt cx="493" cy="255"/>
              </a:xfrm>
            </p:grpSpPr>
            <p:sp>
              <p:nvSpPr>
                <p:cNvPr id="60" name="Rectangle 28"/>
                <p:cNvSpPr>
                  <a:spLocks noChangeArrowheads="1"/>
                </p:cNvSpPr>
                <p:nvPr/>
              </p:nvSpPr>
              <p:spPr bwMode="auto">
                <a:xfrm>
                  <a:off x="44" y="434"/>
                  <a:ext cx="406" cy="25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kumimoji="1" lang="en-US" altLang="zh-CN" sz="2000" b="0" dirty="0">
                      <a:solidFill>
                        <a:srgbClr val="0000FF"/>
                      </a:solidFill>
                    </a:rPr>
                    <a:t>SOME</a:t>
                  </a:r>
                </a:p>
              </p:txBody>
            </p:sp>
            <p:sp>
              <p:nvSpPr>
                <p:cNvPr id="61" name="Rectangle 29"/>
                <p:cNvSpPr>
                  <a:spLocks noChangeArrowheads="1"/>
                </p:cNvSpPr>
                <p:nvPr/>
              </p:nvSpPr>
              <p:spPr bwMode="auto">
                <a:xfrm>
                  <a:off x="0" y="432"/>
                  <a:ext cx="493" cy="25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 sz="2000"/>
                </a:p>
              </p:txBody>
            </p:sp>
          </p:grpSp>
          <p:grpSp>
            <p:nvGrpSpPr>
              <p:cNvPr id="21" name="Group 30"/>
              <p:cNvGrpSpPr>
                <a:grpSpLocks/>
              </p:cNvGrpSpPr>
              <p:nvPr/>
            </p:nvGrpSpPr>
            <p:grpSpPr bwMode="auto">
              <a:xfrm>
                <a:off x="493" y="432"/>
                <a:ext cx="396" cy="255"/>
                <a:chOff x="493" y="432"/>
                <a:chExt cx="396" cy="255"/>
              </a:xfrm>
            </p:grpSpPr>
            <p:sp>
              <p:nvSpPr>
                <p:cNvPr id="58" name="Rectangle 31"/>
                <p:cNvSpPr>
                  <a:spLocks noChangeArrowheads="1"/>
                </p:cNvSpPr>
                <p:nvPr/>
              </p:nvSpPr>
              <p:spPr bwMode="auto">
                <a:xfrm>
                  <a:off x="536" y="434"/>
                  <a:ext cx="310" cy="25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kumimoji="1" lang="en-US" altLang="zh-CN" sz="2000"/>
                    <a:t>  IN</a:t>
                  </a:r>
                  <a:endParaRPr kumimoji="1" lang="en-US" altLang="zh-CN" sz="2000" b="0"/>
                </a:p>
              </p:txBody>
            </p:sp>
            <p:sp>
              <p:nvSpPr>
                <p:cNvPr id="59" name="Rectangle 32"/>
                <p:cNvSpPr>
                  <a:spLocks noChangeArrowheads="1"/>
                </p:cNvSpPr>
                <p:nvPr/>
              </p:nvSpPr>
              <p:spPr bwMode="auto">
                <a:xfrm>
                  <a:off x="493" y="432"/>
                  <a:ext cx="396" cy="25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 sz="2000"/>
                </a:p>
              </p:txBody>
            </p:sp>
          </p:grpSp>
          <p:grpSp>
            <p:nvGrpSpPr>
              <p:cNvPr id="22" name="Group 33"/>
              <p:cNvGrpSpPr>
                <a:grpSpLocks/>
              </p:cNvGrpSpPr>
              <p:nvPr/>
            </p:nvGrpSpPr>
            <p:grpSpPr bwMode="auto">
              <a:xfrm>
                <a:off x="889" y="432"/>
                <a:ext cx="656" cy="255"/>
                <a:chOff x="889" y="432"/>
                <a:chExt cx="656" cy="255"/>
              </a:xfrm>
            </p:grpSpPr>
            <p:sp>
              <p:nvSpPr>
                <p:cNvPr id="56" name="Rectangle 34"/>
                <p:cNvSpPr>
                  <a:spLocks noChangeArrowheads="1"/>
                </p:cNvSpPr>
                <p:nvPr/>
              </p:nvSpPr>
              <p:spPr bwMode="auto">
                <a:xfrm>
                  <a:off x="934" y="434"/>
                  <a:ext cx="568" cy="25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kumimoji="1" lang="en-US" altLang="zh-CN" sz="2000" dirty="0"/>
                    <a:t> --</a:t>
                  </a:r>
                  <a:endParaRPr kumimoji="1" lang="en-US" altLang="zh-CN" sz="2000" b="0" dirty="0"/>
                </a:p>
              </p:txBody>
            </p:sp>
            <p:sp>
              <p:nvSpPr>
                <p:cNvPr id="57" name="Rectangle 35"/>
                <p:cNvSpPr>
                  <a:spLocks noChangeArrowheads="1"/>
                </p:cNvSpPr>
                <p:nvPr/>
              </p:nvSpPr>
              <p:spPr bwMode="auto">
                <a:xfrm>
                  <a:off x="889" y="432"/>
                  <a:ext cx="656" cy="25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 sz="2000"/>
                </a:p>
              </p:txBody>
            </p:sp>
          </p:grpSp>
          <p:grpSp>
            <p:nvGrpSpPr>
              <p:cNvPr id="23" name="Group 36"/>
              <p:cNvGrpSpPr>
                <a:grpSpLocks/>
              </p:cNvGrpSpPr>
              <p:nvPr/>
            </p:nvGrpSpPr>
            <p:grpSpPr bwMode="auto">
              <a:xfrm>
                <a:off x="1545" y="432"/>
                <a:ext cx="617" cy="255"/>
                <a:chOff x="1545" y="432"/>
                <a:chExt cx="617" cy="255"/>
              </a:xfrm>
            </p:grpSpPr>
            <p:sp>
              <p:nvSpPr>
                <p:cNvPr id="54" name="Rectangle 37"/>
                <p:cNvSpPr>
                  <a:spLocks noChangeArrowheads="1"/>
                </p:cNvSpPr>
                <p:nvPr/>
              </p:nvSpPr>
              <p:spPr bwMode="auto">
                <a:xfrm>
                  <a:off x="1588" y="434"/>
                  <a:ext cx="530" cy="25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kumimoji="1" lang="en-US" altLang="zh-CN" sz="2000" dirty="0"/>
                    <a:t> &lt;MAX</a:t>
                  </a:r>
                  <a:endParaRPr kumimoji="1" lang="en-US" altLang="zh-CN" sz="2000" b="0" dirty="0"/>
                </a:p>
              </p:txBody>
            </p:sp>
            <p:sp>
              <p:nvSpPr>
                <p:cNvPr id="55" name="Rectangle 38"/>
                <p:cNvSpPr>
                  <a:spLocks noChangeArrowheads="1"/>
                </p:cNvSpPr>
                <p:nvPr/>
              </p:nvSpPr>
              <p:spPr bwMode="auto">
                <a:xfrm>
                  <a:off x="1545" y="432"/>
                  <a:ext cx="617" cy="25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 sz="2000"/>
                </a:p>
              </p:txBody>
            </p:sp>
          </p:grpSp>
          <p:grpSp>
            <p:nvGrpSpPr>
              <p:cNvPr id="24" name="Group 39"/>
              <p:cNvGrpSpPr>
                <a:grpSpLocks/>
              </p:cNvGrpSpPr>
              <p:nvPr/>
            </p:nvGrpSpPr>
            <p:grpSpPr bwMode="auto">
              <a:xfrm>
                <a:off x="2162" y="432"/>
                <a:ext cx="655" cy="255"/>
                <a:chOff x="2162" y="432"/>
                <a:chExt cx="655" cy="255"/>
              </a:xfrm>
            </p:grpSpPr>
            <p:sp>
              <p:nvSpPr>
                <p:cNvPr id="52" name="Rectangle 40"/>
                <p:cNvSpPr>
                  <a:spLocks noChangeArrowheads="1"/>
                </p:cNvSpPr>
                <p:nvPr/>
              </p:nvSpPr>
              <p:spPr bwMode="auto">
                <a:xfrm>
                  <a:off x="2205" y="434"/>
                  <a:ext cx="569" cy="25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kumimoji="1" lang="en-US" altLang="zh-CN" sz="2000" dirty="0"/>
                    <a:t>&lt;=MAX</a:t>
                  </a:r>
                  <a:endParaRPr kumimoji="1" lang="en-US" altLang="zh-CN" sz="2000" b="0" dirty="0"/>
                </a:p>
              </p:txBody>
            </p:sp>
            <p:sp>
              <p:nvSpPr>
                <p:cNvPr id="53" name="Rectangle 41"/>
                <p:cNvSpPr>
                  <a:spLocks noChangeArrowheads="1"/>
                </p:cNvSpPr>
                <p:nvPr/>
              </p:nvSpPr>
              <p:spPr bwMode="auto">
                <a:xfrm>
                  <a:off x="2162" y="432"/>
                  <a:ext cx="655" cy="25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 sz="2000"/>
                </a:p>
              </p:txBody>
            </p:sp>
          </p:grpSp>
          <p:grpSp>
            <p:nvGrpSpPr>
              <p:cNvPr id="25" name="Group 42"/>
              <p:cNvGrpSpPr>
                <a:grpSpLocks/>
              </p:cNvGrpSpPr>
              <p:nvPr/>
            </p:nvGrpSpPr>
            <p:grpSpPr bwMode="auto">
              <a:xfrm>
                <a:off x="2817" y="432"/>
                <a:ext cx="587" cy="255"/>
                <a:chOff x="2817" y="432"/>
                <a:chExt cx="587" cy="255"/>
              </a:xfrm>
            </p:grpSpPr>
            <p:sp>
              <p:nvSpPr>
                <p:cNvPr id="50" name="Rectangle 43"/>
                <p:cNvSpPr>
                  <a:spLocks noChangeArrowheads="1"/>
                </p:cNvSpPr>
                <p:nvPr/>
              </p:nvSpPr>
              <p:spPr bwMode="auto">
                <a:xfrm>
                  <a:off x="2860" y="434"/>
                  <a:ext cx="501" cy="25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kumimoji="1" lang="en-US" altLang="zh-CN" sz="2000"/>
                    <a:t>&gt;MIN</a:t>
                  </a:r>
                  <a:endParaRPr kumimoji="1" lang="en-US" altLang="zh-CN" sz="2000" b="0"/>
                </a:p>
              </p:txBody>
            </p:sp>
            <p:sp>
              <p:nvSpPr>
                <p:cNvPr id="51" name="Rectangle 44"/>
                <p:cNvSpPr>
                  <a:spLocks noChangeArrowheads="1"/>
                </p:cNvSpPr>
                <p:nvPr/>
              </p:nvSpPr>
              <p:spPr bwMode="auto">
                <a:xfrm>
                  <a:off x="2817" y="432"/>
                  <a:ext cx="587" cy="25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 sz="2000"/>
                </a:p>
              </p:txBody>
            </p:sp>
          </p:grpSp>
          <p:grpSp>
            <p:nvGrpSpPr>
              <p:cNvPr id="26" name="Group 45"/>
              <p:cNvGrpSpPr>
                <a:grpSpLocks/>
              </p:cNvGrpSpPr>
              <p:nvPr/>
            </p:nvGrpSpPr>
            <p:grpSpPr bwMode="auto">
              <a:xfrm>
                <a:off x="3404" y="432"/>
                <a:ext cx="655" cy="255"/>
                <a:chOff x="3404" y="432"/>
                <a:chExt cx="655" cy="255"/>
              </a:xfrm>
            </p:grpSpPr>
            <p:sp>
              <p:nvSpPr>
                <p:cNvPr id="48" name="Rectangle 46"/>
                <p:cNvSpPr>
                  <a:spLocks noChangeArrowheads="1"/>
                </p:cNvSpPr>
                <p:nvPr/>
              </p:nvSpPr>
              <p:spPr bwMode="auto">
                <a:xfrm>
                  <a:off x="3447" y="434"/>
                  <a:ext cx="568" cy="25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kumimoji="1" lang="en-US" altLang="zh-CN" sz="2000"/>
                    <a:t>&gt;= MIN</a:t>
                  </a:r>
                  <a:endParaRPr kumimoji="1" lang="en-US" altLang="zh-CN" sz="2000" b="0"/>
                </a:p>
              </p:txBody>
            </p:sp>
            <p:sp>
              <p:nvSpPr>
                <p:cNvPr id="49" name="Rectangle 47"/>
                <p:cNvSpPr>
                  <a:spLocks noChangeArrowheads="1"/>
                </p:cNvSpPr>
                <p:nvPr/>
              </p:nvSpPr>
              <p:spPr bwMode="auto">
                <a:xfrm>
                  <a:off x="3404" y="432"/>
                  <a:ext cx="655" cy="25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 sz="2000"/>
                </a:p>
              </p:txBody>
            </p:sp>
          </p:grpSp>
          <p:grpSp>
            <p:nvGrpSpPr>
              <p:cNvPr id="27" name="Group 48"/>
              <p:cNvGrpSpPr>
                <a:grpSpLocks/>
              </p:cNvGrpSpPr>
              <p:nvPr/>
            </p:nvGrpSpPr>
            <p:grpSpPr bwMode="auto">
              <a:xfrm>
                <a:off x="0" y="864"/>
                <a:ext cx="493" cy="253"/>
                <a:chOff x="0" y="864"/>
                <a:chExt cx="493" cy="253"/>
              </a:xfrm>
            </p:grpSpPr>
            <p:sp>
              <p:nvSpPr>
                <p:cNvPr id="46" name="Rectangle 49"/>
                <p:cNvSpPr>
                  <a:spLocks noChangeArrowheads="1"/>
                </p:cNvSpPr>
                <p:nvPr/>
              </p:nvSpPr>
              <p:spPr bwMode="auto">
                <a:xfrm>
                  <a:off x="44" y="864"/>
                  <a:ext cx="406" cy="25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kumimoji="1" lang="en-US" altLang="zh-CN" sz="2000">
                      <a:solidFill>
                        <a:srgbClr val="0000FF"/>
                      </a:solidFill>
                    </a:rPr>
                    <a:t>ALL</a:t>
                  </a:r>
                  <a:endParaRPr kumimoji="1" lang="en-US" altLang="zh-CN" sz="2000" b="0">
                    <a:solidFill>
                      <a:srgbClr val="0000FF"/>
                    </a:solidFill>
                  </a:endParaRPr>
                </a:p>
              </p:txBody>
            </p:sp>
            <p:sp>
              <p:nvSpPr>
                <p:cNvPr id="47" name="Rectangle 50"/>
                <p:cNvSpPr>
                  <a:spLocks noChangeArrowheads="1"/>
                </p:cNvSpPr>
                <p:nvPr/>
              </p:nvSpPr>
              <p:spPr bwMode="auto">
                <a:xfrm>
                  <a:off x="0" y="864"/>
                  <a:ext cx="493" cy="25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 sz="2000"/>
                </a:p>
              </p:txBody>
            </p:sp>
          </p:grpSp>
          <p:grpSp>
            <p:nvGrpSpPr>
              <p:cNvPr id="28" name="Group 51"/>
              <p:cNvGrpSpPr>
                <a:grpSpLocks/>
              </p:cNvGrpSpPr>
              <p:nvPr/>
            </p:nvGrpSpPr>
            <p:grpSpPr bwMode="auto">
              <a:xfrm>
                <a:off x="493" y="864"/>
                <a:ext cx="396" cy="253"/>
                <a:chOff x="493" y="864"/>
                <a:chExt cx="396" cy="253"/>
              </a:xfrm>
            </p:grpSpPr>
            <p:sp>
              <p:nvSpPr>
                <p:cNvPr id="44" name="Rectangle 52"/>
                <p:cNvSpPr>
                  <a:spLocks noChangeArrowheads="1"/>
                </p:cNvSpPr>
                <p:nvPr/>
              </p:nvSpPr>
              <p:spPr bwMode="auto">
                <a:xfrm>
                  <a:off x="536" y="864"/>
                  <a:ext cx="310" cy="25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kumimoji="1" lang="en-US" altLang="zh-CN" sz="2000"/>
                    <a:t>  --</a:t>
                  </a:r>
                  <a:endParaRPr kumimoji="1" lang="en-US" altLang="zh-CN" sz="2000" b="0"/>
                </a:p>
              </p:txBody>
            </p:sp>
            <p:sp>
              <p:nvSpPr>
                <p:cNvPr id="45" name="Rectangle 53"/>
                <p:cNvSpPr>
                  <a:spLocks noChangeArrowheads="1"/>
                </p:cNvSpPr>
                <p:nvPr/>
              </p:nvSpPr>
              <p:spPr bwMode="auto">
                <a:xfrm>
                  <a:off x="493" y="864"/>
                  <a:ext cx="396" cy="25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 sz="2000"/>
                </a:p>
              </p:txBody>
            </p:sp>
          </p:grpSp>
          <p:grpSp>
            <p:nvGrpSpPr>
              <p:cNvPr id="29" name="Group 54"/>
              <p:cNvGrpSpPr>
                <a:grpSpLocks/>
              </p:cNvGrpSpPr>
              <p:nvPr/>
            </p:nvGrpSpPr>
            <p:grpSpPr bwMode="auto">
              <a:xfrm>
                <a:off x="889" y="864"/>
                <a:ext cx="656" cy="253"/>
                <a:chOff x="889" y="864"/>
                <a:chExt cx="656" cy="253"/>
              </a:xfrm>
            </p:grpSpPr>
            <p:sp>
              <p:nvSpPr>
                <p:cNvPr id="42" name="Rectangle 55"/>
                <p:cNvSpPr>
                  <a:spLocks noChangeArrowheads="1"/>
                </p:cNvSpPr>
                <p:nvPr/>
              </p:nvSpPr>
              <p:spPr bwMode="auto">
                <a:xfrm>
                  <a:off x="934" y="864"/>
                  <a:ext cx="568" cy="25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kumimoji="1" lang="en-US" altLang="zh-CN" sz="2000"/>
                    <a:t> NOT IN</a:t>
                  </a:r>
                  <a:endParaRPr kumimoji="1" lang="en-US" altLang="zh-CN" sz="2000" b="0"/>
                </a:p>
              </p:txBody>
            </p:sp>
            <p:sp>
              <p:nvSpPr>
                <p:cNvPr id="43" name="Rectangle 56"/>
                <p:cNvSpPr>
                  <a:spLocks noChangeArrowheads="1"/>
                </p:cNvSpPr>
                <p:nvPr/>
              </p:nvSpPr>
              <p:spPr bwMode="auto">
                <a:xfrm>
                  <a:off x="889" y="864"/>
                  <a:ext cx="656" cy="25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 sz="2000"/>
                </a:p>
              </p:txBody>
            </p:sp>
          </p:grpSp>
          <p:grpSp>
            <p:nvGrpSpPr>
              <p:cNvPr id="30" name="Group 57"/>
              <p:cNvGrpSpPr>
                <a:grpSpLocks/>
              </p:cNvGrpSpPr>
              <p:nvPr/>
            </p:nvGrpSpPr>
            <p:grpSpPr bwMode="auto">
              <a:xfrm>
                <a:off x="1545" y="864"/>
                <a:ext cx="617" cy="253"/>
                <a:chOff x="1545" y="864"/>
                <a:chExt cx="617" cy="253"/>
              </a:xfrm>
            </p:grpSpPr>
            <p:sp>
              <p:nvSpPr>
                <p:cNvPr id="40" name="Rectangle 58"/>
                <p:cNvSpPr>
                  <a:spLocks noChangeArrowheads="1"/>
                </p:cNvSpPr>
                <p:nvPr/>
              </p:nvSpPr>
              <p:spPr bwMode="auto">
                <a:xfrm>
                  <a:off x="1588" y="864"/>
                  <a:ext cx="530" cy="25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kumimoji="1" lang="en-US" altLang="zh-CN" sz="2000" dirty="0"/>
                    <a:t> &lt;MIN</a:t>
                  </a:r>
                  <a:endParaRPr kumimoji="1" lang="en-US" altLang="zh-CN" sz="2000" b="0" dirty="0"/>
                </a:p>
              </p:txBody>
            </p:sp>
            <p:sp>
              <p:nvSpPr>
                <p:cNvPr id="41" name="Rectangle 59"/>
                <p:cNvSpPr>
                  <a:spLocks noChangeArrowheads="1"/>
                </p:cNvSpPr>
                <p:nvPr/>
              </p:nvSpPr>
              <p:spPr bwMode="auto">
                <a:xfrm>
                  <a:off x="1545" y="864"/>
                  <a:ext cx="617" cy="25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 sz="2000"/>
                </a:p>
              </p:txBody>
            </p:sp>
          </p:grpSp>
          <p:grpSp>
            <p:nvGrpSpPr>
              <p:cNvPr id="31" name="Group 60"/>
              <p:cNvGrpSpPr>
                <a:grpSpLocks/>
              </p:cNvGrpSpPr>
              <p:nvPr/>
            </p:nvGrpSpPr>
            <p:grpSpPr bwMode="auto">
              <a:xfrm>
                <a:off x="2162" y="864"/>
                <a:ext cx="655" cy="253"/>
                <a:chOff x="2162" y="864"/>
                <a:chExt cx="655" cy="253"/>
              </a:xfrm>
            </p:grpSpPr>
            <p:sp>
              <p:nvSpPr>
                <p:cNvPr id="38" name="Rectangle 61"/>
                <p:cNvSpPr>
                  <a:spLocks noChangeArrowheads="1"/>
                </p:cNvSpPr>
                <p:nvPr/>
              </p:nvSpPr>
              <p:spPr bwMode="auto">
                <a:xfrm>
                  <a:off x="2205" y="864"/>
                  <a:ext cx="569" cy="25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kumimoji="1" lang="en-US" altLang="zh-CN" sz="2000"/>
                    <a:t>&lt;= MIN</a:t>
                  </a:r>
                  <a:endParaRPr kumimoji="1" lang="en-US" altLang="zh-CN" sz="2000" b="0"/>
                </a:p>
              </p:txBody>
            </p:sp>
            <p:sp>
              <p:nvSpPr>
                <p:cNvPr id="39" name="Rectangle 62"/>
                <p:cNvSpPr>
                  <a:spLocks noChangeArrowheads="1"/>
                </p:cNvSpPr>
                <p:nvPr/>
              </p:nvSpPr>
              <p:spPr bwMode="auto">
                <a:xfrm>
                  <a:off x="2162" y="864"/>
                  <a:ext cx="655" cy="25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 sz="2000"/>
                </a:p>
              </p:txBody>
            </p:sp>
          </p:grpSp>
          <p:grpSp>
            <p:nvGrpSpPr>
              <p:cNvPr id="32" name="Group 63"/>
              <p:cNvGrpSpPr>
                <a:grpSpLocks/>
              </p:cNvGrpSpPr>
              <p:nvPr/>
            </p:nvGrpSpPr>
            <p:grpSpPr bwMode="auto">
              <a:xfrm>
                <a:off x="2817" y="864"/>
                <a:ext cx="587" cy="253"/>
                <a:chOff x="2817" y="864"/>
                <a:chExt cx="587" cy="253"/>
              </a:xfrm>
            </p:grpSpPr>
            <p:sp>
              <p:nvSpPr>
                <p:cNvPr id="36" name="Rectangle 64"/>
                <p:cNvSpPr>
                  <a:spLocks noChangeArrowheads="1"/>
                </p:cNvSpPr>
                <p:nvPr/>
              </p:nvSpPr>
              <p:spPr bwMode="auto">
                <a:xfrm>
                  <a:off x="2860" y="864"/>
                  <a:ext cx="501" cy="25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kumimoji="1" lang="en-US" altLang="zh-CN" sz="2000" dirty="0"/>
                    <a:t>&gt;MAX</a:t>
                  </a:r>
                  <a:endParaRPr kumimoji="1" lang="en-US" altLang="zh-CN" sz="2000" b="0" dirty="0"/>
                </a:p>
              </p:txBody>
            </p:sp>
            <p:sp>
              <p:nvSpPr>
                <p:cNvPr id="37" name="Rectangle 65"/>
                <p:cNvSpPr>
                  <a:spLocks noChangeArrowheads="1"/>
                </p:cNvSpPr>
                <p:nvPr/>
              </p:nvSpPr>
              <p:spPr bwMode="auto">
                <a:xfrm>
                  <a:off x="2817" y="864"/>
                  <a:ext cx="587" cy="25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 sz="2000"/>
                </a:p>
              </p:txBody>
            </p:sp>
          </p:grpSp>
          <p:grpSp>
            <p:nvGrpSpPr>
              <p:cNvPr id="33" name="Group 66"/>
              <p:cNvGrpSpPr>
                <a:grpSpLocks/>
              </p:cNvGrpSpPr>
              <p:nvPr/>
            </p:nvGrpSpPr>
            <p:grpSpPr bwMode="auto">
              <a:xfrm>
                <a:off x="3404" y="864"/>
                <a:ext cx="655" cy="253"/>
                <a:chOff x="3404" y="864"/>
                <a:chExt cx="655" cy="253"/>
              </a:xfrm>
            </p:grpSpPr>
            <p:sp>
              <p:nvSpPr>
                <p:cNvPr id="34" name="Rectangle 67"/>
                <p:cNvSpPr>
                  <a:spLocks noChangeArrowheads="1"/>
                </p:cNvSpPr>
                <p:nvPr/>
              </p:nvSpPr>
              <p:spPr bwMode="auto">
                <a:xfrm>
                  <a:off x="3447" y="864"/>
                  <a:ext cx="568" cy="25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kumimoji="1" lang="en-US" altLang="zh-CN" sz="2000" dirty="0"/>
                    <a:t>&gt;= MAX</a:t>
                  </a:r>
                  <a:endParaRPr kumimoji="1" lang="en-US" altLang="zh-CN" sz="2000" b="0" dirty="0"/>
                </a:p>
              </p:txBody>
            </p:sp>
            <p:sp>
              <p:nvSpPr>
                <p:cNvPr id="35" name="Rectangle 68"/>
                <p:cNvSpPr>
                  <a:spLocks noChangeArrowheads="1"/>
                </p:cNvSpPr>
                <p:nvPr/>
              </p:nvSpPr>
              <p:spPr bwMode="auto">
                <a:xfrm>
                  <a:off x="3404" y="864"/>
                  <a:ext cx="655" cy="25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 sz="2000"/>
                </a:p>
              </p:txBody>
            </p:sp>
          </p:grpSp>
        </p:grpSp>
        <p:sp>
          <p:nvSpPr>
            <p:cNvPr id="12" name="Rectangle 69"/>
            <p:cNvSpPr>
              <a:spLocks noChangeArrowheads="1"/>
            </p:cNvSpPr>
            <p:nvPr/>
          </p:nvSpPr>
          <p:spPr bwMode="auto">
            <a:xfrm>
              <a:off x="-3" y="-3"/>
              <a:ext cx="4065" cy="253"/>
            </a:xfrm>
            <a:prstGeom prst="rect">
              <a:avLst/>
            </a:prstGeom>
            <a:noFill/>
            <a:ln w="11112">
              <a:solidFill>
                <a:srgbClr val="A0A0A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sz="2000"/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841AEC9-3489-ED9F-E962-9E0034AE0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127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93001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F73198F-1664-4F86-BD03-419EC03E0E29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198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198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3.4.3. </a:t>
            </a:r>
            <a:r>
              <a:rPr lang="zh-CN" altLang="en-US"/>
              <a:t>嵌套查询</a:t>
            </a:r>
          </a:p>
        </p:txBody>
      </p:sp>
      <p:sp>
        <p:nvSpPr>
          <p:cNvPr id="1198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45488" cy="457201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找出平均工资最高的</a:t>
            </a:r>
            <a:r>
              <a:rPr lang="zh-CN" altLang="en-US" sz="2800" dirty="0">
                <a:solidFill>
                  <a:srgbClr val="0000FF"/>
                </a:solidFill>
              </a:rPr>
              <a:t>系</a:t>
            </a:r>
            <a:endParaRPr lang="en-US" altLang="zh-CN" sz="28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zh-CN" altLang="en-US" sz="2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93626E7-BA10-5972-3601-D0AC9580D318}"/>
              </a:ext>
            </a:extLst>
          </p:cNvPr>
          <p:cNvSpPr txBox="1"/>
          <p:nvPr/>
        </p:nvSpPr>
        <p:spPr>
          <a:xfrm>
            <a:off x="1143000" y="2438400"/>
            <a:ext cx="665797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0" i="0" u="none" strike="noStrike" baseline="0" dirty="0">
                <a:latin typeface="+mn-lt"/>
              </a:rPr>
              <a:t>select </a:t>
            </a:r>
            <a:r>
              <a:rPr lang="en-US" altLang="zh-CN" sz="2400" b="0" i="1" u="none" strike="noStrike" baseline="0" dirty="0" err="1">
                <a:latin typeface="+mn-lt"/>
              </a:rPr>
              <a:t>dept_name</a:t>
            </a:r>
            <a:endParaRPr lang="en-US" altLang="zh-CN" sz="2400" b="0" i="1" u="none" strike="noStrike" baseline="0" dirty="0">
              <a:latin typeface="+mn-lt"/>
            </a:endParaRP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from </a:t>
            </a:r>
            <a:r>
              <a:rPr lang="en-US" altLang="zh-CN" sz="2400" b="0" i="1" u="none" strike="noStrike" baseline="0" dirty="0">
                <a:latin typeface="+mn-lt"/>
              </a:rPr>
              <a:t>instructor</a:t>
            </a:r>
          </a:p>
          <a:p>
            <a:pPr algn="l"/>
            <a:r>
              <a:rPr lang="en-US" altLang="zh-CN" sz="2400" b="0" i="0" u="none" strike="noStrike" baseline="0" dirty="0">
                <a:solidFill>
                  <a:srgbClr val="0000FF"/>
                </a:solidFill>
                <a:latin typeface="+mn-lt"/>
              </a:rPr>
              <a:t>group by </a:t>
            </a:r>
            <a:r>
              <a:rPr lang="en-US" altLang="zh-CN" sz="2400" b="0" i="1" u="none" strike="noStrike" baseline="0" dirty="0" err="1">
                <a:latin typeface="+mn-lt"/>
              </a:rPr>
              <a:t>dept_name</a:t>
            </a:r>
            <a:endParaRPr lang="en-US" altLang="zh-CN" sz="2400" b="0" i="1" u="none" strike="noStrike" baseline="0" dirty="0">
              <a:latin typeface="+mn-lt"/>
            </a:endParaRPr>
          </a:p>
          <a:p>
            <a:pPr algn="l"/>
            <a:r>
              <a:rPr lang="en-US" altLang="zh-CN" sz="2400" b="0" i="0" u="none" strike="noStrike" baseline="0" dirty="0">
                <a:solidFill>
                  <a:srgbClr val="0000FF"/>
                </a:solidFill>
                <a:latin typeface="+mn-lt"/>
              </a:rPr>
              <a:t>having</a:t>
            </a:r>
            <a:r>
              <a:rPr lang="en-US" altLang="zh-CN" sz="2400" b="0" i="0" u="none" strike="noStrike" baseline="0" dirty="0">
                <a:latin typeface="+mn-lt"/>
              </a:rPr>
              <a:t> avg (</a:t>
            </a:r>
            <a:r>
              <a:rPr lang="en-US" altLang="zh-CN" sz="2400" b="0" i="1" u="none" strike="noStrike" baseline="0" dirty="0">
                <a:latin typeface="+mn-lt"/>
              </a:rPr>
              <a:t>salary</a:t>
            </a:r>
            <a:r>
              <a:rPr lang="en-US" altLang="zh-CN" sz="2400" b="0" i="0" u="none" strike="noStrike" baseline="0" dirty="0">
                <a:latin typeface="+mn-lt"/>
              </a:rPr>
              <a:t>) </a:t>
            </a:r>
            <a:r>
              <a:rPr lang="en-US" altLang="zh-CN" sz="2400" b="0" i="1" u="none" strike="noStrike" baseline="0" dirty="0">
                <a:solidFill>
                  <a:srgbClr val="FF0000"/>
                </a:solidFill>
                <a:latin typeface="+mn-lt"/>
              </a:rPr>
              <a:t>&gt;</a:t>
            </a:r>
            <a:r>
              <a:rPr lang="en-US" altLang="zh-CN" sz="2400" b="0" i="0" u="none" strike="noStrike" baseline="0" dirty="0">
                <a:solidFill>
                  <a:srgbClr val="FF0000"/>
                </a:solidFill>
                <a:latin typeface="+mn-lt"/>
              </a:rPr>
              <a:t>= all</a:t>
            </a:r>
            <a:endParaRPr lang="zh-CN" altLang="en-US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D84BA49-4D30-09B4-DC63-395C6679041D}"/>
              </a:ext>
            </a:extLst>
          </p:cNvPr>
          <p:cNvSpPr txBox="1"/>
          <p:nvPr/>
        </p:nvSpPr>
        <p:spPr>
          <a:xfrm>
            <a:off x="4724400" y="3508237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0" i="0" u="none" strike="noStrike" baseline="0" dirty="0">
                <a:latin typeface="+mn-lt"/>
              </a:rPr>
              <a:t>(</a:t>
            </a:r>
            <a:r>
              <a:rPr lang="en-US" altLang="zh-CN" sz="2400" b="0" i="0" u="none" strike="noStrike" baseline="0" dirty="0">
                <a:solidFill>
                  <a:srgbClr val="0000FF"/>
                </a:solidFill>
                <a:latin typeface="+mn-lt"/>
              </a:rPr>
              <a:t>select avg (</a:t>
            </a:r>
            <a:r>
              <a:rPr lang="en-US" altLang="zh-CN" sz="2400" b="0" i="1" u="none" strike="noStrike" baseline="0" dirty="0">
                <a:solidFill>
                  <a:srgbClr val="0000FF"/>
                </a:solidFill>
                <a:latin typeface="+mn-lt"/>
              </a:rPr>
              <a:t>salary</a:t>
            </a:r>
            <a:r>
              <a:rPr lang="en-US" altLang="zh-CN" sz="2400" b="0" i="0" u="none" strike="noStrike" baseline="0" dirty="0">
                <a:solidFill>
                  <a:srgbClr val="0000FF"/>
                </a:solidFill>
                <a:latin typeface="+mn-lt"/>
              </a:rPr>
              <a:t>)</a:t>
            </a:r>
          </a:p>
          <a:p>
            <a:pPr algn="l"/>
            <a:r>
              <a:rPr lang="en-US" altLang="zh-CN" sz="2400" b="0" i="0" u="none" strike="noStrike" baseline="0" dirty="0">
                <a:solidFill>
                  <a:srgbClr val="0000FF"/>
                </a:solidFill>
                <a:latin typeface="+mn-lt"/>
              </a:rPr>
              <a:t> from </a:t>
            </a:r>
            <a:r>
              <a:rPr lang="en-US" altLang="zh-CN" sz="2400" b="0" i="1" u="none" strike="noStrike" baseline="0" dirty="0">
                <a:solidFill>
                  <a:srgbClr val="0000FF"/>
                </a:solidFill>
                <a:latin typeface="+mn-lt"/>
              </a:rPr>
              <a:t>instructor</a:t>
            </a:r>
          </a:p>
          <a:p>
            <a:pPr algn="l"/>
            <a:r>
              <a:rPr lang="en-US" altLang="zh-CN" sz="2400" b="0" i="0" u="none" strike="noStrike" baseline="0" dirty="0">
                <a:solidFill>
                  <a:srgbClr val="0000FF"/>
                </a:solidFill>
                <a:latin typeface="+mn-lt"/>
              </a:rPr>
              <a:t> group by </a:t>
            </a:r>
            <a:r>
              <a:rPr lang="en-US" altLang="zh-CN" sz="2400" b="0" i="1" u="none" strike="noStrike" baseline="0" dirty="0" err="1">
                <a:solidFill>
                  <a:srgbClr val="0000FF"/>
                </a:solidFill>
                <a:latin typeface="+mn-lt"/>
              </a:rPr>
              <a:t>dept_name</a:t>
            </a:r>
            <a:r>
              <a:rPr lang="en-US" altLang="zh-CN" sz="2400" b="0" i="0" u="none" strike="noStrike" baseline="0" dirty="0">
                <a:latin typeface="+mn-lt"/>
              </a:rPr>
              <a:t>);</a:t>
            </a:r>
            <a:endParaRPr lang="zh-CN" altLang="en-US" dirty="0">
              <a:latin typeface="+mn-lt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4FA727C-9BCB-1C6B-AB01-C0213795A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128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1471021"/>
      </p:ext>
    </p:extLst>
  </p:cSld>
  <p:clrMapOvr>
    <a:masterClrMapping/>
  </p:clrMapOvr>
  <p:transition>
    <p:fade/>
  </p:transition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日期占位符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88DE37A-B9C2-430A-94E0-E83DC4552B19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34147" name="页脚占位符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34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3.4.3. </a:t>
            </a:r>
            <a:r>
              <a:rPr lang="zh-CN" altLang="en-US"/>
              <a:t>嵌套查询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447800"/>
            <a:ext cx="8001000" cy="468471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800" dirty="0"/>
              <a:t>四</a:t>
            </a:r>
            <a:r>
              <a:rPr lang="en-US" altLang="zh-CN" sz="2800" dirty="0"/>
              <a:t>. </a:t>
            </a:r>
            <a:r>
              <a:rPr lang="zh-CN" altLang="en-US" sz="2800" dirty="0"/>
              <a:t>带有</a:t>
            </a:r>
            <a:r>
              <a:rPr lang="en-US" altLang="zh-CN" sz="2800" dirty="0"/>
              <a:t>EXISTS</a:t>
            </a:r>
            <a:r>
              <a:rPr lang="zh-CN" altLang="en-US" sz="2800" dirty="0"/>
              <a:t>谓词的子查询</a:t>
            </a:r>
          </a:p>
          <a:p>
            <a:pPr eaLnBrk="1" hangingPunct="1">
              <a:defRPr/>
            </a:pPr>
            <a:r>
              <a:rPr lang="en-US" altLang="zh-CN" sz="2800" dirty="0"/>
              <a:t>EXISTS</a:t>
            </a:r>
            <a:r>
              <a:rPr lang="zh-CN" altLang="en-US" sz="2800" dirty="0"/>
              <a:t>代表</a:t>
            </a:r>
            <a:r>
              <a:rPr lang="zh-CN" altLang="en-US" sz="2800" dirty="0">
                <a:solidFill>
                  <a:srgbClr val="C00000"/>
                </a:solidFill>
              </a:rPr>
              <a:t>存在量词</a:t>
            </a:r>
            <a:r>
              <a:rPr lang="zh-CN" altLang="en-US" sz="2800" dirty="0">
                <a:solidFill>
                  <a:srgbClr val="0000FF"/>
                </a:solidFill>
              </a:rPr>
              <a:t>彐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eaLnBrk="1" hangingPunct="1">
              <a:defRPr/>
            </a:pPr>
            <a:r>
              <a:rPr lang="zh-CN" altLang="en-US" sz="2800" dirty="0"/>
              <a:t>带有</a:t>
            </a:r>
            <a:r>
              <a:rPr lang="en-US" altLang="zh-CN" sz="2800" dirty="0"/>
              <a:t>EXISTS</a:t>
            </a:r>
            <a:r>
              <a:rPr lang="zh-CN" altLang="en-US" sz="2800" dirty="0"/>
              <a:t>谓词的子查询</a:t>
            </a:r>
            <a:r>
              <a:rPr lang="zh-CN" altLang="en-US" sz="2800" dirty="0">
                <a:solidFill>
                  <a:srgbClr val="FF0000"/>
                </a:solidFill>
              </a:rPr>
              <a:t>不返回任何实际数据</a:t>
            </a:r>
            <a:r>
              <a:rPr lang="zh-CN" altLang="en-US" sz="2800" dirty="0"/>
              <a:t>，而是根据子查询结果是否非空产生逻辑值，它</a:t>
            </a:r>
            <a:r>
              <a:rPr lang="zh-CN" altLang="en-US" sz="2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只产生</a:t>
            </a:r>
            <a:r>
              <a:rPr lang="zh-CN" altLang="en-US" sz="2800" dirty="0">
                <a:solidFill>
                  <a:srgbClr val="0000FF"/>
                </a:solidFill>
              </a:rPr>
              <a:t>逻辑真值</a:t>
            </a:r>
            <a:r>
              <a:rPr lang="en-US" altLang="zh-CN" sz="2800" dirty="0">
                <a:solidFill>
                  <a:srgbClr val="0000FF"/>
                </a:solidFill>
                <a:latin typeface="Arial"/>
              </a:rPr>
              <a:t>"</a:t>
            </a:r>
            <a:r>
              <a:rPr lang="en-US" altLang="zh-CN" sz="2800" dirty="0">
                <a:solidFill>
                  <a:srgbClr val="0000FF"/>
                </a:solidFill>
              </a:rPr>
              <a:t>true</a:t>
            </a:r>
            <a:r>
              <a:rPr lang="en-US" altLang="zh-CN" sz="2800" dirty="0">
                <a:solidFill>
                  <a:srgbClr val="0000FF"/>
                </a:solidFill>
                <a:latin typeface="Arial"/>
              </a:rPr>
              <a:t>"</a:t>
            </a:r>
            <a:r>
              <a:rPr lang="zh-CN" altLang="en-US" sz="2800" dirty="0"/>
              <a:t>或</a:t>
            </a:r>
            <a:r>
              <a:rPr lang="zh-CN" altLang="en-US" sz="2800" dirty="0">
                <a:solidFill>
                  <a:srgbClr val="0000FF"/>
                </a:solidFill>
              </a:rPr>
              <a:t>逻辑假值</a:t>
            </a:r>
            <a:r>
              <a:rPr lang="en-US" altLang="zh-CN" sz="2800" dirty="0">
                <a:solidFill>
                  <a:srgbClr val="0000FF"/>
                </a:solidFill>
                <a:latin typeface="Arial"/>
              </a:rPr>
              <a:t>"</a:t>
            </a:r>
            <a:r>
              <a:rPr lang="en-US" altLang="zh-CN" sz="2800" dirty="0">
                <a:solidFill>
                  <a:srgbClr val="0000FF"/>
                </a:solidFill>
              </a:rPr>
              <a:t>false</a:t>
            </a:r>
            <a:r>
              <a:rPr lang="en-US" altLang="zh-CN" sz="2800" dirty="0">
                <a:solidFill>
                  <a:srgbClr val="0000FF"/>
                </a:solidFill>
                <a:latin typeface="Arial"/>
              </a:rPr>
              <a:t>" </a:t>
            </a:r>
            <a:r>
              <a:rPr lang="zh-CN" altLang="en-US" sz="2800" dirty="0"/>
              <a:t>。</a:t>
            </a:r>
          </a:p>
          <a:p>
            <a:pPr eaLnBrk="1" hangingPunct="1">
              <a:defRPr/>
            </a:pPr>
            <a:r>
              <a:rPr lang="zh-CN" altLang="en-US" sz="2800" dirty="0"/>
              <a:t>常用于判断</a:t>
            </a:r>
            <a:r>
              <a:rPr lang="en-US" altLang="zh-CN" sz="2800" dirty="0" err="1">
                <a:solidFill>
                  <a:srgbClr val="C00000"/>
                </a:solidFill>
              </a:rPr>
              <a:t>x</a:t>
            </a:r>
            <a:r>
              <a:rPr lang="en-US" altLang="zh-CN" sz="28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∈R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，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S  R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，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S=R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，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S∩R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非空等</a:t>
            </a:r>
          </a:p>
          <a:p>
            <a:pPr eaLnBrk="1" hangingPunct="1">
              <a:defRPr/>
            </a:pPr>
            <a:r>
              <a:rPr lang="zh-CN" altLang="en-US" sz="2800" dirty="0"/>
              <a:t>通常是</a:t>
            </a:r>
            <a:r>
              <a:rPr lang="zh-CN" altLang="en-US" sz="2800" b="1" u="sng" dirty="0"/>
              <a:t>相关子查询</a:t>
            </a:r>
            <a:r>
              <a:rPr lang="zh-CN" altLang="en-US" sz="2800" dirty="0"/>
              <a:t>。</a:t>
            </a:r>
          </a:p>
        </p:txBody>
      </p:sp>
      <p:graphicFrame>
        <p:nvGraphicFramePr>
          <p:cNvPr id="134151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08833083"/>
              </p:ext>
            </p:extLst>
          </p:nvPr>
        </p:nvGraphicFramePr>
        <p:xfrm>
          <a:off x="4191000" y="3962400"/>
          <a:ext cx="3333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68" imgH="152268" progId="Equation.3">
                  <p:embed/>
                </p:oleObj>
              </mc:Choice>
              <mc:Fallback>
                <p:oleObj name="Equation" r:id="rId2" imgW="152268" imgH="152268" progId="Equation.3">
                  <p:embed/>
                  <p:pic>
                    <p:nvPicPr>
                      <p:cNvPr id="0" name="Picture 75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3962400"/>
                        <a:ext cx="333375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07B2E19-FC4B-4FC8-641E-B48754C19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B95F93-1FA0-4470-9C7E-0F02488CAEB5}" type="slidenum">
              <a:rPr lang="en-US" altLang="zh-CN" smtClean="0"/>
              <a:pPr>
                <a:defRPr/>
              </a:pPr>
              <a:t>129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4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4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A9ADD2F-528A-486C-AE6E-CC034948BD74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198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198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3.4.3. </a:t>
            </a:r>
            <a:r>
              <a:rPr lang="zh-CN" altLang="en-US"/>
              <a:t>嵌套查询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53FA8F6-0BC9-6E06-4CE9-2CADA6F271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447800"/>
            <a:ext cx="8345488" cy="4684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kumimoji="0" lang="zh-CN" altLang="en-US" sz="2400" kern="0"/>
              <a:t>找出</a:t>
            </a:r>
            <a:r>
              <a:rPr kumimoji="0" lang="en-US" altLang="zh-CN" sz="2400" kern="0"/>
              <a:t>2017</a:t>
            </a:r>
            <a:r>
              <a:rPr kumimoji="0" lang="zh-CN" altLang="en-US" sz="2400" kern="0"/>
              <a:t>年秋季和</a:t>
            </a:r>
            <a:r>
              <a:rPr kumimoji="0" lang="en-US" altLang="zh-CN" sz="2400" kern="0"/>
              <a:t>2018</a:t>
            </a:r>
            <a:r>
              <a:rPr kumimoji="0" lang="zh-CN" altLang="en-US" sz="2400" kern="0"/>
              <a:t>年春季学期</a:t>
            </a:r>
            <a:r>
              <a:rPr kumimoji="0" lang="zh-CN" altLang="en-US" sz="2400" b="1" kern="0">
                <a:solidFill>
                  <a:srgbClr val="0000FF"/>
                </a:solidFill>
              </a:rPr>
              <a:t>都开课</a:t>
            </a:r>
            <a:r>
              <a:rPr kumimoji="0" lang="zh-CN" altLang="en-US" sz="2400" kern="0"/>
              <a:t>的所有课程</a:t>
            </a:r>
            <a:br>
              <a:rPr kumimoji="0" lang="en-US" altLang="zh-CN" sz="2400" kern="0"/>
            </a:br>
            <a:br>
              <a:rPr kumimoji="0" lang="en-US" altLang="zh-CN" sz="2400" kern="0"/>
            </a:br>
            <a:endParaRPr kumimoji="0" lang="zh-CN" altLang="en-US" sz="2400" kern="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50E814-DA71-1E8E-75D5-BC05E60DB90F}"/>
              </a:ext>
            </a:extLst>
          </p:cNvPr>
          <p:cNvSpPr txBox="1"/>
          <p:nvPr/>
        </p:nvSpPr>
        <p:spPr>
          <a:xfrm>
            <a:off x="1177924" y="2169211"/>
            <a:ext cx="777716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0" i="0" u="none" strike="noStrike" baseline="0" dirty="0">
                <a:latin typeface="+mn-lt"/>
              </a:rPr>
              <a:t>select </a:t>
            </a:r>
            <a:r>
              <a:rPr lang="en-US" altLang="zh-CN" sz="2400" b="0" i="1" u="none" strike="noStrike" baseline="0" dirty="0" err="1">
                <a:solidFill>
                  <a:srgbClr val="0000FF"/>
                </a:solidFill>
                <a:latin typeface="+mn-lt"/>
              </a:rPr>
              <a:t>course_id</a:t>
            </a:r>
            <a:endParaRPr lang="en-US" altLang="zh-CN" sz="2400" b="0" i="1" u="none" strike="noStrike" baseline="0" dirty="0">
              <a:solidFill>
                <a:srgbClr val="0000FF"/>
              </a:solidFill>
              <a:latin typeface="+mn-lt"/>
            </a:endParaRP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from </a:t>
            </a:r>
            <a:r>
              <a:rPr lang="en-US" altLang="zh-CN" sz="2400" b="0" i="1" u="none" strike="noStrike" baseline="0" dirty="0">
                <a:latin typeface="+mn-lt"/>
              </a:rPr>
              <a:t>section </a:t>
            </a:r>
            <a:r>
              <a:rPr lang="en-US" altLang="zh-CN" sz="2400" b="0" i="0" u="none" strike="noStrike" baseline="0" dirty="0">
                <a:latin typeface="+mn-lt"/>
              </a:rPr>
              <a:t>as </a:t>
            </a:r>
            <a:r>
              <a:rPr lang="en-US" altLang="zh-CN" sz="2400" b="0" i="1" u="none" strike="noStrike" baseline="0" dirty="0">
                <a:solidFill>
                  <a:srgbClr val="0000FF"/>
                </a:solidFill>
                <a:latin typeface="+mn-lt"/>
              </a:rPr>
              <a:t>S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where </a:t>
            </a:r>
            <a:r>
              <a:rPr lang="en-US" altLang="zh-CN" sz="2400" b="0" i="1" u="none" strike="noStrike" baseline="0" dirty="0">
                <a:latin typeface="+mn-lt"/>
              </a:rPr>
              <a:t>semester </a:t>
            </a:r>
            <a:r>
              <a:rPr lang="en-US" altLang="zh-CN" sz="2400" b="0" i="0" u="none" strike="noStrike" baseline="0" dirty="0">
                <a:latin typeface="+mn-lt"/>
              </a:rPr>
              <a:t>= 'Fall' and </a:t>
            </a:r>
            <a:r>
              <a:rPr lang="en-US" altLang="zh-CN" sz="2400" b="0" i="1" u="none" strike="noStrike" baseline="0" dirty="0">
                <a:latin typeface="+mn-lt"/>
              </a:rPr>
              <a:t>year </a:t>
            </a:r>
            <a:r>
              <a:rPr lang="en-US" altLang="zh-CN" sz="2400" b="0" i="0" u="none" strike="noStrike" baseline="0" dirty="0">
                <a:latin typeface="+mn-lt"/>
              </a:rPr>
              <a:t>= 2017 </a:t>
            </a:r>
            <a:r>
              <a:rPr lang="en-US" altLang="zh-CN" sz="2400" b="0" i="0" u="none" strike="noStrike" baseline="0" dirty="0">
                <a:solidFill>
                  <a:srgbClr val="0000FF"/>
                </a:solidFill>
                <a:latin typeface="+mn-lt"/>
              </a:rPr>
              <a:t>and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   </a:t>
            </a:r>
            <a:r>
              <a:rPr lang="en-US" altLang="zh-CN" sz="2400" b="0" i="0" u="none" strike="noStrike" baseline="0" dirty="0">
                <a:solidFill>
                  <a:srgbClr val="C00000"/>
                </a:solidFill>
                <a:latin typeface="+mn-lt"/>
              </a:rPr>
              <a:t>exists</a:t>
            </a:r>
            <a:r>
              <a:rPr lang="en-US" altLang="zh-CN" sz="2400" b="0" i="0" u="none" strike="noStrike" baseline="0" dirty="0">
                <a:latin typeface="+mn-lt"/>
              </a:rPr>
              <a:t> (select *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               from </a:t>
            </a:r>
            <a:r>
              <a:rPr lang="en-US" altLang="zh-CN" sz="2400" b="0" i="1" u="none" strike="noStrike" baseline="0" dirty="0">
                <a:latin typeface="+mn-lt"/>
              </a:rPr>
              <a:t>section </a:t>
            </a:r>
            <a:r>
              <a:rPr lang="en-US" altLang="zh-CN" sz="2400" b="0" i="0" u="none" strike="noStrike" baseline="0" dirty="0">
                <a:latin typeface="+mn-lt"/>
              </a:rPr>
              <a:t>as </a:t>
            </a:r>
            <a:r>
              <a:rPr lang="en-US" altLang="zh-CN" sz="2400" b="0" i="1" u="none" strike="noStrike" baseline="0" dirty="0">
                <a:solidFill>
                  <a:srgbClr val="FF0000"/>
                </a:solidFill>
                <a:latin typeface="+mn-lt"/>
              </a:rPr>
              <a:t>T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               where </a:t>
            </a:r>
            <a:r>
              <a:rPr lang="en-US" altLang="zh-CN" sz="2400" b="0" i="1" u="none" strike="noStrike" baseline="0" dirty="0">
                <a:latin typeface="+mn-lt"/>
              </a:rPr>
              <a:t>semester </a:t>
            </a:r>
            <a:r>
              <a:rPr lang="en-US" altLang="zh-CN" sz="2400" b="0" i="0" u="none" strike="noStrike" baseline="0" dirty="0">
                <a:latin typeface="+mn-lt"/>
              </a:rPr>
              <a:t>= 'Spring' and </a:t>
            </a:r>
          </a:p>
          <a:p>
            <a:pPr algn="l"/>
            <a:r>
              <a:rPr lang="en-US" altLang="zh-CN" sz="2400" b="0" i="1" u="none" strike="noStrike" baseline="0" dirty="0">
                <a:latin typeface="+mn-lt"/>
              </a:rPr>
              <a:t>                 year </a:t>
            </a:r>
            <a:r>
              <a:rPr lang="en-US" altLang="zh-CN" sz="2400" b="0" i="0" u="none" strike="noStrike" baseline="0" dirty="0">
                <a:latin typeface="+mn-lt"/>
              </a:rPr>
              <a:t>=2018 and </a:t>
            </a:r>
            <a:r>
              <a:rPr lang="en-US" altLang="zh-CN" sz="2400" b="0" i="1" u="none" strike="noStrike" baseline="0" dirty="0" err="1">
                <a:solidFill>
                  <a:srgbClr val="FF0000"/>
                </a:solidFill>
                <a:latin typeface="+mn-lt"/>
              </a:rPr>
              <a:t>T</a:t>
            </a:r>
            <a:r>
              <a:rPr lang="en-US" altLang="zh-CN" sz="2400" b="0" i="0" u="none" strike="noStrike" baseline="0" dirty="0" err="1">
                <a:solidFill>
                  <a:srgbClr val="FF0000"/>
                </a:solidFill>
                <a:latin typeface="+mn-lt"/>
              </a:rPr>
              <a:t>.</a:t>
            </a:r>
            <a:r>
              <a:rPr lang="en-US" altLang="zh-CN" sz="2400" b="0" i="1" u="none" strike="noStrike" baseline="0" dirty="0" err="1">
                <a:solidFill>
                  <a:srgbClr val="FF0000"/>
                </a:solidFill>
                <a:latin typeface="+mn-lt"/>
              </a:rPr>
              <a:t>course_id</a:t>
            </a:r>
            <a:r>
              <a:rPr lang="en-US" altLang="zh-CN" sz="2400" b="0" i="1" u="none" strike="noStrike" baseline="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CN" dirty="0">
                <a:latin typeface="+mn-lt"/>
              </a:rPr>
              <a:t>=</a:t>
            </a:r>
            <a:r>
              <a:rPr lang="en-US" altLang="zh-CN" sz="2400" b="0" i="1" u="none" strike="noStrike" baseline="0" dirty="0" err="1">
                <a:solidFill>
                  <a:srgbClr val="0000FF"/>
                </a:solidFill>
                <a:latin typeface="+mn-lt"/>
              </a:rPr>
              <a:t>S</a:t>
            </a:r>
            <a:r>
              <a:rPr lang="en-US" altLang="zh-CN" sz="2400" b="0" i="0" u="none" strike="noStrike" baseline="0" dirty="0" err="1">
                <a:solidFill>
                  <a:srgbClr val="0000FF"/>
                </a:solidFill>
                <a:latin typeface="+mn-lt"/>
              </a:rPr>
              <a:t>.</a:t>
            </a:r>
            <a:r>
              <a:rPr lang="en-US" altLang="zh-CN" sz="2400" b="0" i="1" u="none" strike="noStrike" baseline="0" dirty="0" err="1">
                <a:solidFill>
                  <a:srgbClr val="0000FF"/>
                </a:solidFill>
                <a:latin typeface="+mn-lt"/>
              </a:rPr>
              <a:t>course</a:t>
            </a:r>
            <a:r>
              <a:rPr lang="en-US" altLang="zh-CN" i="1" dirty="0" err="1">
                <a:solidFill>
                  <a:srgbClr val="0000FF"/>
                </a:solidFill>
                <a:latin typeface="+mn-lt"/>
              </a:rPr>
              <a:t>_</a:t>
            </a:r>
            <a:r>
              <a:rPr lang="en-US" altLang="zh-CN" sz="2400" b="0" i="1" u="none" strike="noStrike" baseline="0" dirty="0" err="1">
                <a:solidFill>
                  <a:srgbClr val="0000FF"/>
                </a:solidFill>
                <a:latin typeface="+mn-lt"/>
              </a:rPr>
              <a:t>id</a:t>
            </a:r>
            <a:r>
              <a:rPr lang="en-US" altLang="zh-CN" sz="2400" b="0" i="0" u="none" strike="noStrike" baseline="0" dirty="0">
                <a:latin typeface="+mn-lt"/>
              </a:rPr>
              <a:t>);</a:t>
            </a:r>
            <a:endParaRPr lang="zh-CN" altLang="en-US" dirty="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8441BA5-8DD6-3C9F-1E59-C9B5FCA059EC}"/>
              </a:ext>
            </a:extLst>
          </p:cNvPr>
          <p:cNvSpPr txBox="1"/>
          <p:nvPr/>
        </p:nvSpPr>
        <p:spPr>
          <a:xfrm>
            <a:off x="993635" y="4932592"/>
            <a:ext cx="74615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lt"/>
              </a:rPr>
              <a:t>是否存在</a:t>
            </a:r>
            <a:r>
              <a:rPr lang="en-US" altLang="zh-CN" sz="2400" b="0" u="none" strike="noStrike" baseline="0" dirty="0" err="1">
                <a:solidFill>
                  <a:srgbClr val="0000FF"/>
                </a:solidFill>
                <a:latin typeface="+mn-lt"/>
              </a:rPr>
              <a:t>S.course</a:t>
            </a:r>
            <a:r>
              <a:rPr lang="en-US" altLang="zh-CN" dirty="0" err="1">
                <a:solidFill>
                  <a:srgbClr val="0000FF"/>
                </a:solidFill>
                <a:latin typeface="+mn-lt"/>
              </a:rPr>
              <a:t>_</a:t>
            </a:r>
            <a:r>
              <a:rPr lang="en-US" altLang="zh-CN" sz="2400" b="0" u="none" strike="noStrike" baseline="0" dirty="0" err="1">
                <a:solidFill>
                  <a:srgbClr val="0000FF"/>
                </a:solidFill>
                <a:latin typeface="+mn-lt"/>
              </a:rPr>
              <a:t>id</a:t>
            </a:r>
            <a:r>
              <a:rPr lang="zh-CN" altLang="en-US" dirty="0">
                <a:latin typeface="+mn-lt"/>
              </a:rPr>
              <a:t>这个课程在</a:t>
            </a:r>
            <a:r>
              <a:rPr lang="en-US" altLang="zh-CN" dirty="0">
                <a:latin typeface="+mn-lt"/>
              </a:rPr>
              <a:t>2018</a:t>
            </a:r>
            <a:r>
              <a:rPr lang="zh-CN" altLang="en-US" dirty="0">
                <a:latin typeface="+mn-lt"/>
              </a:rPr>
              <a:t>春季开课的信息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0004779-75A9-037D-9850-C13A99749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130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6392015"/>
      </p:ext>
    </p:extLst>
  </p:cSld>
  <p:clrMapOvr>
    <a:masterClrMapping/>
  </p:clrMapOvr>
  <p:transition>
    <p:fade/>
  </p:transition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3BD918D-F975-4206-B537-F9B4F2EC6195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2390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239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chemeClr val="tx1"/>
                </a:solidFill>
              </a:rPr>
              <a:t>相关子查询</a:t>
            </a:r>
          </a:p>
        </p:txBody>
      </p:sp>
      <p:sp>
        <p:nvSpPr>
          <p:cNvPr id="123910" name="Rectangle 4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685800" y="14478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C00000"/>
                </a:solidFill>
              </a:rPr>
              <a:t>相关</a:t>
            </a:r>
            <a:r>
              <a:rPr lang="zh-CN" altLang="en-US" b="1" dirty="0"/>
              <a:t>子查询</a:t>
            </a:r>
            <a:endParaRPr lang="en-US" altLang="zh-CN" b="1" dirty="0"/>
          </a:p>
          <a:p>
            <a:pPr eaLnBrk="1" hangingPunct="1"/>
            <a:r>
              <a:rPr kumimoji="0" lang="zh-CN" altLang="en-US" dirty="0">
                <a:cs typeface="Arial" charset="0"/>
              </a:rPr>
              <a:t>补例</a:t>
            </a:r>
            <a:r>
              <a:rPr kumimoji="0" lang="en-US" altLang="zh-CN" dirty="0">
                <a:cs typeface="Arial" charset="0"/>
              </a:rPr>
              <a:t>40 </a:t>
            </a:r>
            <a:r>
              <a:rPr kumimoji="0" lang="zh-CN" altLang="en-US" dirty="0">
                <a:cs typeface="Arial" charset="0"/>
              </a:rPr>
              <a:t>找出</a:t>
            </a:r>
            <a:r>
              <a:rPr kumimoji="0" lang="zh-CN" altLang="en-US" dirty="0">
                <a:solidFill>
                  <a:srgbClr val="0000FF"/>
                </a:solidFill>
                <a:cs typeface="Arial" charset="0"/>
              </a:rPr>
              <a:t>每个学生</a:t>
            </a:r>
            <a:r>
              <a:rPr kumimoji="0" lang="zh-CN" altLang="en-US" dirty="0">
                <a:solidFill>
                  <a:srgbClr val="C00000"/>
                </a:solidFill>
                <a:cs typeface="Arial" charset="0"/>
              </a:rPr>
              <a:t>超过</a:t>
            </a:r>
            <a:r>
              <a:rPr kumimoji="0" lang="zh-CN" altLang="en-US" dirty="0">
                <a:solidFill>
                  <a:srgbClr val="0000FF"/>
                </a:solidFill>
                <a:cs typeface="Arial" charset="0"/>
              </a:rPr>
              <a:t>他</a:t>
            </a:r>
            <a:r>
              <a:rPr kumimoji="0" lang="zh-CN" altLang="en-US" u="sng" dirty="0">
                <a:solidFill>
                  <a:srgbClr val="0000FF"/>
                </a:solidFill>
                <a:cs typeface="Arial" charset="0"/>
              </a:rPr>
              <a:t>所选修</a:t>
            </a:r>
            <a:r>
              <a:rPr kumimoji="0" lang="zh-CN" altLang="en-US" u="sng" dirty="0">
                <a:cs typeface="Arial" charset="0"/>
              </a:rPr>
              <a:t>课程</a:t>
            </a:r>
            <a:r>
              <a:rPr kumimoji="0" lang="zh-CN" altLang="en-US" b="1" u="sng" dirty="0">
                <a:solidFill>
                  <a:srgbClr val="0000FF"/>
                </a:solidFill>
                <a:cs typeface="Arial" charset="0"/>
              </a:rPr>
              <a:t>平均成绩</a:t>
            </a:r>
            <a:r>
              <a:rPr kumimoji="0" lang="zh-CN" altLang="en-US" dirty="0">
                <a:cs typeface="Arial" charset="0"/>
              </a:rPr>
              <a:t>的课程号。</a:t>
            </a:r>
            <a:endParaRPr kumimoji="0" lang="en-US" altLang="zh-CN" dirty="0">
              <a:cs typeface="Arial" charset="0"/>
            </a:endParaRPr>
          </a:p>
          <a:p>
            <a:pPr marL="457200" lvl="1" indent="0" eaLnBrk="1" hangingPunct="1">
              <a:buNone/>
            </a:pPr>
            <a:r>
              <a:rPr kumimoji="0" lang="en-US" altLang="zh-CN" dirty="0">
                <a:cs typeface="Arial" charset="0"/>
              </a:rPr>
              <a:t>  SELECT </a:t>
            </a:r>
            <a:r>
              <a:rPr kumimoji="0" lang="en-US" altLang="zh-CN" dirty="0" err="1">
                <a:solidFill>
                  <a:srgbClr val="0000FF"/>
                </a:solidFill>
                <a:cs typeface="Arial" charset="0"/>
              </a:rPr>
              <a:t>Sno</a:t>
            </a:r>
            <a:r>
              <a:rPr kumimoji="0" lang="en-US" altLang="zh-CN" dirty="0">
                <a:solidFill>
                  <a:srgbClr val="0000FF"/>
                </a:solidFill>
                <a:cs typeface="Arial" charset="0"/>
              </a:rPr>
              <a:t>, </a:t>
            </a:r>
            <a:r>
              <a:rPr kumimoji="0" lang="en-US" altLang="zh-CN" dirty="0" err="1">
                <a:solidFill>
                  <a:srgbClr val="0000FF"/>
                </a:solidFill>
                <a:cs typeface="Arial" charset="0"/>
              </a:rPr>
              <a:t>Cno</a:t>
            </a:r>
            <a:endParaRPr kumimoji="0" lang="en-US" altLang="zh-CN" dirty="0">
              <a:solidFill>
                <a:srgbClr val="0000FF"/>
              </a:solidFill>
              <a:cs typeface="Arial" charset="0"/>
            </a:endParaRPr>
          </a:p>
          <a:p>
            <a:pPr marL="457200" lvl="1" indent="0" eaLnBrk="1" hangingPunct="1">
              <a:buNone/>
            </a:pPr>
            <a:r>
              <a:rPr kumimoji="0" lang="en-US" altLang="zh-CN" dirty="0">
                <a:cs typeface="Arial" charset="0"/>
              </a:rPr>
              <a:t>  From </a:t>
            </a:r>
            <a:r>
              <a:rPr kumimoji="0" lang="en-US" altLang="zh-CN" dirty="0">
                <a:solidFill>
                  <a:srgbClr val="0000FF"/>
                </a:solidFill>
                <a:cs typeface="Arial" charset="0"/>
              </a:rPr>
              <a:t>SC</a:t>
            </a:r>
          </a:p>
          <a:p>
            <a:pPr marL="457200" lvl="1" indent="0" eaLnBrk="1" hangingPunct="1">
              <a:buNone/>
            </a:pPr>
            <a:r>
              <a:rPr kumimoji="0" lang="en-US" altLang="zh-CN" dirty="0">
                <a:cs typeface="Arial" charset="0"/>
              </a:rPr>
              <a:t>  Where </a:t>
            </a:r>
            <a:r>
              <a:rPr kumimoji="0" lang="en-US" altLang="zh-CN" dirty="0">
                <a:solidFill>
                  <a:srgbClr val="0000FF"/>
                </a:solidFill>
                <a:cs typeface="Arial" charset="0"/>
              </a:rPr>
              <a:t>Grade</a:t>
            </a:r>
            <a:r>
              <a:rPr kumimoji="0" lang="en-US" altLang="zh-CN" dirty="0">
                <a:cs typeface="Arial" charset="0"/>
              </a:rPr>
              <a:t>&gt;  </a:t>
            </a:r>
            <a:r>
              <a:rPr kumimoji="0" lang="en-US" altLang="zh-CN" dirty="0">
                <a:solidFill>
                  <a:srgbClr val="0000FF"/>
                </a:solidFill>
                <a:cs typeface="Arial" charset="0"/>
              </a:rPr>
              <a:t>……</a:t>
            </a:r>
          </a:p>
          <a:p>
            <a:pPr lvl="1" eaLnBrk="1" hangingPunct="1"/>
            <a:endParaRPr kumimoji="0" lang="zh-CN" altLang="en-US" dirty="0">
              <a:cs typeface="Arial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343400" y="4009455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这个学生的平均成绩</a:t>
            </a:r>
          </a:p>
        </p:txBody>
      </p:sp>
      <p:sp>
        <p:nvSpPr>
          <p:cNvPr id="3" name="椭圆 2"/>
          <p:cNvSpPr/>
          <p:nvPr/>
        </p:nvSpPr>
        <p:spPr bwMode="auto">
          <a:xfrm>
            <a:off x="2667000" y="3030071"/>
            <a:ext cx="838200" cy="685800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724400" y="4720655"/>
            <a:ext cx="35814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eaLnBrk="1" hangingPunct="1">
              <a:buFont typeface="Wingdings" pitchFamily="2" charset="2"/>
              <a:buNone/>
            </a:pPr>
            <a:r>
              <a:rPr kumimoji="0" lang="en-US" altLang="zh-CN" sz="2800" dirty="0">
                <a:cs typeface="Arial" charset="0"/>
              </a:rPr>
              <a:t>SELECT </a:t>
            </a:r>
            <a:r>
              <a:rPr kumimoji="0" lang="en-US" altLang="zh-CN" sz="2800" dirty="0">
                <a:solidFill>
                  <a:srgbClr val="0000FF"/>
                </a:solidFill>
                <a:cs typeface="Arial" charset="0"/>
              </a:rPr>
              <a:t>AVG(Grade)</a:t>
            </a:r>
          </a:p>
          <a:p>
            <a:pPr algn="l" eaLnBrk="1" hangingPunct="1">
              <a:buFont typeface="Wingdings" pitchFamily="2" charset="2"/>
              <a:buNone/>
            </a:pPr>
            <a:r>
              <a:rPr kumimoji="0" lang="en-US" altLang="zh-CN" sz="2800" dirty="0">
                <a:cs typeface="Arial" charset="0"/>
              </a:rPr>
              <a:t>FROM </a:t>
            </a:r>
            <a:r>
              <a:rPr kumimoji="0" lang="en-US" altLang="zh-CN" sz="2800" dirty="0">
                <a:solidFill>
                  <a:srgbClr val="FF0000"/>
                </a:solidFill>
                <a:cs typeface="Arial" charset="0"/>
              </a:rPr>
              <a:t>SC</a:t>
            </a:r>
          </a:p>
          <a:p>
            <a:pPr algn="l" eaLnBrk="1" hangingPunct="1">
              <a:buFont typeface="Wingdings" pitchFamily="2" charset="2"/>
              <a:buNone/>
            </a:pPr>
            <a:r>
              <a:rPr kumimoji="0" lang="en-US" altLang="zh-CN" sz="2800" dirty="0">
                <a:cs typeface="Arial" charset="0"/>
              </a:rPr>
              <a:t>WHERE …</a:t>
            </a:r>
            <a:r>
              <a:rPr kumimoji="0" lang="en-US" altLang="zh-CN" sz="2800" dirty="0" err="1">
                <a:cs typeface="Arial" charset="0"/>
              </a:rPr>
              <a:t>Sno</a:t>
            </a:r>
            <a:r>
              <a:rPr kumimoji="0" lang="en-US" altLang="zh-CN" sz="2800" dirty="0">
                <a:cs typeface="Arial" charset="0"/>
              </a:rPr>
              <a:t>=</a:t>
            </a:r>
            <a:r>
              <a:rPr kumimoji="0" lang="en-US" altLang="zh-CN" sz="2800" dirty="0">
                <a:solidFill>
                  <a:srgbClr val="0000FF"/>
                </a:solidFill>
                <a:cs typeface="Arial" charset="0"/>
              </a:rPr>
              <a:t>???</a:t>
            </a:r>
            <a:r>
              <a:rPr kumimoji="0" lang="en-US" altLang="zh-CN" sz="2800" dirty="0">
                <a:cs typeface="Arial" charset="0"/>
              </a:rPr>
              <a:t>...</a:t>
            </a:r>
            <a:endParaRPr lang="zh-CN" altLang="en-US" sz="2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E7D5724-8204-B730-09E1-3AEC34F0506B}"/>
              </a:ext>
            </a:extLst>
          </p:cNvPr>
          <p:cNvSpPr txBox="1"/>
          <p:nvPr/>
        </p:nvSpPr>
        <p:spPr>
          <a:xfrm>
            <a:off x="4229100" y="64561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dirty="0"/>
              <a:t>选课表</a:t>
            </a:r>
            <a:r>
              <a:rPr lang="en-US" altLang="zh-CN" dirty="0"/>
              <a:t>: SC(</a:t>
            </a:r>
            <a:r>
              <a:rPr lang="en-US" altLang="zh-CN" u="sng" dirty="0" err="1">
                <a:solidFill>
                  <a:srgbClr val="0000FF"/>
                </a:solidFill>
              </a:rPr>
              <a:t>Sno</a:t>
            </a:r>
            <a:r>
              <a:rPr lang="en-US" altLang="zh-CN" u="sng" dirty="0"/>
              <a:t>, </a:t>
            </a:r>
            <a:r>
              <a:rPr lang="en-US" altLang="zh-CN" u="sng" dirty="0" err="1"/>
              <a:t>Cno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0000FF"/>
                </a:solidFill>
              </a:rPr>
              <a:t>Grade</a:t>
            </a:r>
            <a:r>
              <a:rPr lang="en-US" altLang="zh-CN" dirty="0"/>
              <a:t>)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5191E6-7ACE-7B7A-A345-CEEF878B0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131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049757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9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39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39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39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4F33AE22-EF1B-434E-B151-AE9F6285F8C6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2390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239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相关子查询</a:t>
            </a:r>
          </a:p>
        </p:txBody>
      </p:sp>
      <p:sp>
        <p:nvSpPr>
          <p:cNvPr id="123910" name="Rectangle 4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685800" y="14478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cs typeface="Arial" charset="0"/>
              </a:rPr>
              <a:t>例</a:t>
            </a:r>
            <a:r>
              <a:rPr kumimoji="0" lang="en-US" altLang="zh-CN" dirty="0">
                <a:cs typeface="Arial" charset="0"/>
              </a:rPr>
              <a:t>40 </a:t>
            </a:r>
            <a:r>
              <a:rPr kumimoji="0" lang="zh-CN" altLang="en-US" dirty="0">
                <a:cs typeface="Arial" charset="0"/>
              </a:rPr>
              <a:t>找出</a:t>
            </a:r>
            <a:r>
              <a:rPr kumimoji="0" lang="zh-CN" altLang="en-US" dirty="0">
                <a:solidFill>
                  <a:srgbClr val="0000FF"/>
                </a:solidFill>
                <a:cs typeface="Arial" charset="0"/>
              </a:rPr>
              <a:t>每个学生</a:t>
            </a:r>
            <a:r>
              <a:rPr kumimoji="0" lang="zh-CN" altLang="en-US" dirty="0">
                <a:solidFill>
                  <a:srgbClr val="C00000"/>
                </a:solidFill>
                <a:cs typeface="Arial" charset="0"/>
              </a:rPr>
              <a:t>超过</a:t>
            </a:r>
            <a:r>
              <a:rPr kumimoji="0" lang="zh-CN" altLang="en-US" dirty="0">
                <a:cs typeface="Arial" charset="0"/>
              </a:rPr>
              <a:t>他</a:t>
            </a:r>
            <a:r>
              <a:rPr kumimoji="0" lang="zh-CN" altLang="en-US" u="sng" dirty="0">
                <a:cs typeface="Arial" charset="0"/>
              </a:rPr>
              <a:t>所选修课程</a:t>
            </a:r>
            <a:r>
              <a:rPr kumimoji="0" lang="zh-CN" altLang="en-US" b="1" u="sng" dirty="0">
                <a:solidFill>
                  <a:srgbClr val="0000FF"/>
                </a:solidFill>
                <a:cs typeface="Arial" charset="0"/>
              </a:rPr>
              <a:t>平均成绩</a:t>
            </a:r>
            <a:r>
              <a:rPr kumimoji="0" lang="zh-CN" altLang="en-US" dirty="0">
                <a:cs typeface="Arial" charset="0"/>
              </a:rPr>
              <a:t>的课程号。</a:t>
            </a:r>
          </a:p>
          <a:p>
            <a:pPr eaLnBrk="1" hangingPunct="1">
              <a:buFont typeface="Wingdings" pitchFamily="2" charset="2"/>
              <a:buNone/>
            </a:pPr>
            <a:r>
              <a:rPr kumimoji="0" lang="en-US" altLang="zh-CN" sz="3000" dirty="0">
                <a:cs typeface="Arial" charset="0"/>
              </a:rPr>
              <a:t>  SELECT </a:t>
            </a:r>
            <a:r>
              <a:rPr kumimoji="0" lang="en-US" altLang="zh-CN" sz="3000" b="1" dirty="0" err="1">
                <a:solidFill>
                  <a:srgbClr val="FF0000"/>
                </a:solidFill>
                <a:cs typeface="Arial" charset="0"/>
              </a:rPr>
              <a:t>Sno</a:t>
            </a:r>
            <a:r>
              <a:rPr kumimoji="0" lang="en-US" altLang="zh-CN" sz="3000" dirty="0">
                <a:cs typeface="Arial" charset="0"/>
              </a:rPr>
              <a:t>, </a:t>
            </a:r>
            <a:r>
              <a:rPr kumimoji="0" lang="en-US" altLang="zh-CN" sz="3000" dirty="0" err="1">
                <a:cs typeface="Arial" charset="0"/>
              </a:rPr>
              <a:t>Cno</a:t>
            </a:r>
            <a:endParaRPr kumimoji="0" lang="en-US" altLang="zh-CN" sz="3000" dirty="0"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kumimoji="0" lang="en-US" altLang="zh-CN" sz="3000" dirty="0">
                <a:cs typeface="Arial" charset="0"/>
              </a:rPr>
              <a:t>  FROM SC as </a:t>
            </a:r>
            <a:r>
              <a:rPr kumimoji="0" lang="en-US" altLang="zh-CN" sz="3000" b="1" dirty="0">
                <a:solidFill>
                  <a:srgbClr val="FF0000"/>
                </a:solidFill>
                <a:cs typeface="Arial" charset="0"/>
              </a:rPr>
              <a:t>x</a:t>
            </a:r>
            <a:r>
              <a:rPr kumimoji="0" lang="en-US" altLang="zh-CN" sz="3000" dirty="0">
                <a:cs typeface="Arial" charset="0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kumimoji="0" lang="en-US" altLang="zh-CN" sz="3000" dirty="0">
                <a:cs typeface="Arial" charset="0"/>
              </a:rPr>
              <a:t>  WHERE </a:t>
            </a:r>
            <a:r>
              <a:rPr kumimoji="0" lang="en-US" altLang="zh-CN" sz="3000" dirty="0">
                <a:solidFill>
                  <a:srgbClr val="FF0000"/>
                </a:solidFill>
                <a:cs typeface="Arial" charset="0"/>
              </a:rPr>
              <a:t>Grade</a:t>
            </a:r>
            <a:r>
              <a:rPr kumimoji="0" lang="en-US" altLang="zh-CN" sz="3000" dirty="0">
                <a:cs typeface="Arial" charset="0"/>
              </a:rPr>
              <a:t>&gt;=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1616419-A517-1A64-526C-741B3FB4D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132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AB04F97-2066-4808-9C32-5DA0E03C9719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2390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239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相关子查询</a:t>
            </a:r>
          </a:p>
        </p:txBody>
      </p:sp>
      <p:sp>
        <p:nvSpPr>
          <p:cNvPr id="123910" name="Rectangle 4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685800" y="14478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cs typeface="Arial" charset="0"/>
              </a:rPr>
              <a:t>例</a:t>
            </a:r>
            <a:r>
              <a:rPr kumimoji="0" lang="en-US" altLang="zh-CN" dirty="0">
                <a:cs typeface="Arial" charset="0"/>
              </a:rPr>
              <a:t>40 </a:t>
            </a:r>
            <a:r>
              <a:rPr kumimoji="0" lang="zh-CN" altLang="en-US" dirty="0">
                <a:cs typeface="Arial" charset="0"/>
              </a:rPr>
              <a:t>找出</a:t>
            </a:r>
            <a:r>
              <a:rPr kumimoji="0" lang="zh-CN" altLang="en-US" dirty="0">
                <a:solidFill>
                  <a:srgbClr val="0000FF"/>
                </a:solidFill>
                <a:cs typeface="Arial" charset="0"/>
              </a:rPr>
              <a:t>每个学生</a:t>
            </a:r>
            <a:r>
              <a:rPr kumimoji="0" lang="zh-CN" altLang="en-US" dirty="0">
                <a:solidFill>
                  <a:srgbClr val="C00000"/>
                </a:solidFill>
                <a:cs typeface="Arial" charset="0"/>
              </a:rPr>
              <a:t>超过</a:t>
            </a:r>
            <a:r>
              <a:rPr kumimoji="0" lang="zh-CN" altLang="en-US" dirty="0">
                <a:cs typeface="Arial" charset="0"/>
              </a:rPr>
              <a:t>他</a:t>
            </a:r>
            <a:r>
              <a:rPr kumimoji="0" lang="zh-CN" altLang="en-US" u="sng" dirty="0">
                <a:cs typeface="Arial" charset="0"/>
              </a:rPr>
              <a:t>所选修课程</a:t>
            </a:r>
            <a:r>
              <a:rPr kumimoji="0" lang="zh-CN" altLang="en-US" b="1" u="sng" dirty="0">
                <a:solidFill>
                  <a:srgbClr val="0000FF"/>
                </a:solidFill>
                <a:cs typeface="Arial" charset="0"/>
              </a:rPr>
              <a:t>平均成绩</a:t>
            </a:r>
            <a:r>
              <a:rPr kumimoji="0" lang="zh-CN" altLang="en-US" dirty="0">
                <a:cs typeface="Arial" charset="0"/>
              </a:rPr>
              <a:t>的课程号。</a:t>
            </a:r>
          </a:p>
          <a:p>
            <a:pPr eaLnBrk="1" hangingPunct="1">
              <a:buFont typeface="Wingdings" pitchFamily="2" charset="2"/>
              <a:buNone/>
            </a:pPr>
            <a:r>
              <a:rPr kumimoji="0" lang="en-US" altLang="zh-CN" sz="3000" dirty="0">
                <a:cs typeface="Arial" charset="0"/>
              </a:rPr>
              <a:t>  SELECT </a:t>
            </a:r>
            <a:r>
              <a:rPr kumimoji="0" lang="en-US" altLang="zh-CN" sz="3000" b="1" dirty="0" err="1">
                <a:solidFill>
                  <a:srgbClr val="FF0000"/>
                </a:solidFill>
                <a:cs typeface="Arial" charset="0"/>
              </a:rPr>
              <a:t>Sno</a:t>
            </a:r>
            <a:r>
              <a:rPr kumimoji="0" lang="en-US" altLang="zh-CN" sz="3000" dirty="0">
                <a:cs typeface="Arial" charset="0"/>
              </a:rPr>
              <a:t>, </a:t>
            </a:r>
            <a:r>
              <a:rPr kumimoji="0" lang="en-US" altLang="zh-CN" sz="3000" dirty="0" err="1">
                <a:cs typeface="Arial" charset="0"/>
              </a:rPr>
              <a:t>Cno</a:t>
            </a:r>
            <a:endParaRPr kumimoji="0" lang="en-US" altLang="zh-CN" sz="3000" dirty="0"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kumimoji="0" lang="en-US" altLang="zh-CN" sz="3000" dirty="0">
                <a:cs typeface="Arial" charset="0"/>
              </a:rPr>
              <a:t>  FROM SC as </a:t>
            </a:r>
            <a:r>
              <a:rPr kumimoji="0" lang="en-US" altLang="zh-CN" sz="3000" dirty="0">
                <a:solidFill>
                  <a:srgbClr val="FF0000"/>
                </a:solidFill>
                <a:cs typeface="Arial" charset="0"/>
              </a:rPr>
              <a:t>x</a:t>
            </a:r>
            <a:r>
              <a:rPr kumimoji="0" lang="en-US" altLang="zh-CN" sz="3000" dirty="0">
                <a:cs typeface="Arial" charset="0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kumimoji="0" lang="en-US" altLang="zh-CN" sz="3000" dirty="0">
                <a:cs typeface="Arial" charset="0"/>
              </a:rPr>
              <a:t>  WHERE </a:t>
            </a:r>
            <a:r>
              <a:rPr kumimoji="0" lang="en-US" altLang="zh-CN" sz="3000" dirty="0">
                <a:solidFill>
                  <a:srgbClr val="FF0000"/>
                </a:solidFill>
                <a:cs typeface="Arial" charset="0"/>
              </a:rPr>
              <a:t>Grade</a:t>
            </a:r>
            <a:r>
              <a:rPr kumimoji="0" lang="en-US" altLang="zh-CN" sz="3000" dirty="0">
                <a:cs typeface="Arial" charset="0"/>
              </a:rPr>
              <a:t>&gt;=(SELECT </a:t>
            </a:r>
            <a:r>
              <a:rPr kumimoji="0" lang="en-US" altLang="zh-CN" sz="3000" dirty="0">
                <a:solidFill>
                  <a:srgbClr val="0000FF"/>
                </a:solidFill>
                <a:cs typeface="Arial" charset="0"/>
              </a:rPr>
              <a:t>AVG(Grade)</a:t>
            </a:r>
          </a:p>
          <a:p>
            <a:pPr eaLnBrk="1" hangingPunct="1">
              <a:buFont typeface="Wingdings" pitchFamily="2" charset="2"/>
              <a:buNone/>
            </a:pPr>
            <a:r>
              <a:rPr kumimoji="0" lang="en-US" altLang="zh-CN" sz="3000" dirty="0">
                <a:cs typeface="Arial" charset="0"/>
              </a:rPr>
              <a:t>                            FROM SC as </a:t>
            </a:r>
            <a:r>
              <a:rPr kumimoji="0" lang="en-US" altLang="zh-CN" sz="3000" dirty="0">
                <a:solidFill>
                  <a:srgbClr val="0000FF"/>
                </a:solidFill>
                <a:cs typeface="Arial" charset="0"/>
              </a:rPr>
              <a:t>y</a:t>
            </a:r>
          </a:p>
          <a:p>
            <a:pPr eaLnBrk="1" hangingPunct="1">
              <a:buFont typeface="Wingdings" pitchFamily="2" charset="2"/>
              <a:buNone/>
            </a:pPr>
            <a:r>
              <a:rPr kumimoji="0" lang="en-US" altLang="zh-CN" sz="3000" dirty="0">
                <a:cs typeface="Arial" charset="0"/>
              </a:rPr>
              <a:t>                            WHERE </a:t>
            </a:r>
            <a:r>
              <a:rPr kumimoji="0" lang="en-US" altLang="zh-CN" sz="3000" dirty="0" err="1">
                <a:solidFill>
                  <a:srgbClr val="0000FF"/>
                </a:solidFill>
                <a:cs typeface="Arial" charset="0"/>
              </a:rPr>
              <a:t>y.Sno</a:t>
            </a:r>
            <a:r>
              <a:rPr kumimoji="0" lang="en-US" altLang="zh-CN" sz="3000" dirty="0">
                <a:cs typeface="Arial" charset="0"/>
              </a:rPr>
              <a:t>=</a:t>
            </a:r>
            <a:r>
              <a:rPr kumimoji="0" lang="en-US" altLang="zh-CN" sz="3000" dirty="0" err="1">
                <a:solidFill>
                  <a:srgbClr val="FF0000"/>
                </a:solidFill>
                <a:cs typeface="Arial" charset="0"/>
              </a:rPr>
              <a:t>x</a:t>
            </a:r>
            <a:r>
              <a:rPr kumimoji="0" lang="en-US" altLang="zh-CN" sz="3000" dirty="0" err="1">
                <a:cs typeface="Arial" charset="0"/>
              </a:rPr>
              <a:t>.</a:t>
            </a:r>
            <a:r>
              <a:rPr kumimoji="0" lang="en-US" altLang="zh-CN" sz="3000" dirty="0" err="1">
                <a:solidFill>
                  <a:srgbClr val="FF0000"/>
                </a:solidFill>
                <a:cs typeface="Arial" charset="0"/>
              </a:rPr>
              <a:t>Sno</a:t>
            </a:r>
            <a:r>
              <a:rPr kumimoji="0" lang="en-US" altLang="zh-CN" sz="3000" dirty="0">
                <a:cs typeface="Arial" charset="0"/>
              </a:rPr>
              <a:t>);</a:t>
            </a:r>
          </a:p>
        </p:txBody>
      </p:sp>
      <p:sp>
        <p:nvSpPr>
          <p:cNvPr id="123911" name="AutoShape 5"/>
          <p:cNvSpPr>
            <a:spLocks/>
          </p:cNvSpPr>
          <p:nvPr/>
        </p:nvSpPr>
        <p:spPr bwMode="auto">
          <a:xfrm>
            <a:off x="1106488" y="4556125"/>
            <a:ext cx="1800225" cy="473075"/>
          </a:xfrm>
          <a:prstGeom prst="borderCallout1">
            <a:avLst>
              <a:gd name="adj1" fmla="val 20833"/>
              <a:gd name="adj2" fmla="val 100704"/>
              <a:gd name="adj3" fmla="val 72068"/>
              <a:gd name="adj4" fmla="val 330334"/>
            </a:avLst>
          </a:prstGeom>
          <a:solidFill>
            <a:schemeClr val="accent1"/>
          </a:solidFill>
          <a:ln w="25400">
            <a:solidFill>
              <a:srgbClr val="66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/>
              <a:t>同一学生</a:t>
            </a:r>
          </a:p>
        </p:txBody>
      </p:sp>
      <p:sp>
        <p:nvSpPr>
          <p:cNvPr id="123912" name="Line 6"/>
          <p:cNvSpPr>
            <a:spLocks noChangeShapeType="1"/>
          </p:cNvSpPr>
          <p:nvPr/>
        </p:nvSpPr>
        <p:spPr bwMode="auto">
          <a:xfrm flipV="1">
            <a:off x="2690813" y="3548063"/>
            <a:ext cx="72231" cy="1008062"/>
          </a:xfrm>
          <a:prstGeom prst="line">
            <a:avLst/>
          </a:prstGeom>
          <a:noFill/>
          <a:ln w="25400">
            <a:solidFill>
              <a:srgbClr val="66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6103677" y="2286000"/>
            <a:ext cx="2667000" cy="846137"/>
          </a:xfrm>
          <a:prstGeom prst="wedgeRectCallout">
            <a:avLst>
              <a:gd name="adj1" fmla="val -47735"/>
              <a:gd name="adj2" fmla="val 11416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/>
              <a:t>一个学生所有选修课程的平均成绩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8E3CFAD-0251-8A1D-5617-8B352F122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133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89678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3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3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11" grpId="0" animBg="1"/>
      <p:bldP spid="123912" grpId="0" animBg="1"/>
      <p:bldP spid="9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077ED82-486B-4CC0-AF47-28791FA27E49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2493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249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相关子查询</a:t>
            </a:r>
          </a:p>
        </p:txBody>
      </p:sp>
      <p:sp>
        <p:nvSpPr>
          <p:cNvPr id="124934" name="Rectangle 4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685800" y="14478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cs typeface="Arial" charset="0"/>
              </a:rPr>
              <a:t>例</a:t>
            </a:r>
            <a:r>
              <a:rPr kumimoji="0" lang="en-US" altLang="zh-CN" dirty="0">
                <a:cs typeface="Arial" charset="0"/>
              </a:rPr>
              <a:t>40 </a:t>
            </a:r>
            <a:r>
              <a:rPr kumimoji="0" lang="zh-CN" altLang="en-US" dirty="0">
                <a:cs typeface="Arial" charset="0"/>
              </a:rPr>
              <a:t>找出</a:t>
            </a:r>
            <a:r>
              <a:rPr kumimoji="0" lang="zh-CN" altLang="en-US" dirty="0">
                <a:solidFill>
                  <a:srgbClr val="0000FF"/>
                </a:solidFill>
                <a:cs typeface="Arial" charset="0"/>
              </a:rPr>
              <a:t>每个学生</a:t>
            </a:r>
            <a:r>
              <a:rPr kumimoji="0" lang="zh-CN" altLang="en-US" dirty="0">
                <a:solidFill>
                  <a:srgbClr val="C00000"/>
                </a:solidFill>
                <a:cs typeface="Arial" charset="0"/>
              </a:rPr>
              <a:t>超过</a:t>
            </a:r>
            <a:r>
              <a:rPr kumimoji="0" lang="zh-CN" altLang="en-US" dirty="0">
                <a:cs typeface="Arial" charset="0"/>
              </a:rPr>
              <a:t>他选修课程</a:t>
            </a:r>
            <a:r>
              <a:rPr kumimoji="0" lang="zh-CN" altLang="en-US" dirty="0">
                <a:solidFill>
                  <a:srgbClr val="0000FF"/>
                </a:solidFill>
                <a:cs typeface="Arial" charset="0"/>
              </a:rPr>
              <a:t>平均成绩</a:t>
            </a:r>
            <a:r>
              <a:rPr kumimoji="0" lang="zh-CN" altLang="en-US" dirty="0">
                <a:cs typeface="Arial" charset="0"/>
              </a:rPr>
              <a:t>的课程号。</a:t>
            </a:r>
          </a:p>
          <a:p>
            <a:pPr eaLnBrk="1" hangingPunct="1">
              <a:buFont typeface="Wingdings" pitchFamily="2" charset="2"/>
              <a:buNone/>
            </a:pPr>
            <a:r>
              <a:rPr kumimoji="0" lang="en-US" altLang="zh-CN" dirty="0">
                <a:cs typeface="Arial" charset="0"/>
              </a:rPr>
              <a:t>  </a:t>
            </a:r>
            <a:r>
              <a:rPr kumimoji="0" lang="en-US" altLang="zh-CN" sz="3000" dirty="0">
                <a:cs typeface="Arial" charset="0"/>
              </a:rPr>
              <a:t>SELECT </a:t>
            </a:r>
            <a:r>
              <a:rPr kumimoji="0" lang="en-US" altLang="zh-CN" sz="3000" dirty="0" err="1">
                <a:solidFill>
                  <a:srgbClr val="C00000"/>
                </a:solidFill>
                <a:cs typeface="Arial" charset="0"/>
              </a:rPr>
              <a:t>Sno</a:t>
            </a:r>
            <a:r>
              <a:rPr kumimoji="0" lang="en-US" altLang="zh-CN" sz="3000" dirty="0">
                <a:cs typeface="Arial" charset="0"/>
              </a:rPr>
              <a:t>, </a:t>
            </a:r>
            <a:r>
              <a:rPr kumimoji="0" lang="en-US" altLang="zh-CN" sz="3000" dirty="0" err="1">
                <a:cs typeface="Arial" charset="0"/>
              </a:rPr>
              <a:t>Cno</a:t>
            </a:r>
            <a:endParaRPr kumimoji="0" lang="en-US" altLang="zh-CN" sz="3000" dirty="0"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kumimoji="0" lang="en-US" altLang="zh-CN" sz="3000" dirty="0">
                <a:cs typeface="Arial" charset="0"/>
              </a:rPr>
              <a:t>  FROM SC </a:t>
            </a:r>
            <a:r>
              <a:rPr kumimoji="0" lang="en-US" altLang="zh-CN" sz="3000" dirty="0">
                <a:solidFill>
                  <a:srgbClr val="FF0000"/>
                </a:solidFill>
                <a:cs typeface="Arial" charset="0"/>
              </a:rPr>
              <a:t>x</a:t>
            </a:r>
            <a:r>
              <a:rPr kumimoji="0" lang="en-US" altLang="zh-CN" sz="3000" dirty="0">
                <a:cs typeface="Arial" charset="0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kumimoji="0" lang="en-US" altLang="zh-CN" sz="3000" dirty="0">
                <a:cs typeface="Arial" charset="0"/>
              </a:rPr>
              <a:t>  WHERE </a:t>
            </a:r>
            <a:r>
              <a:rPr kumimoji="0" lang="en-US" altLang="zh-CN" sz="3000" dirty="0">
                <a:solidFill>
                  <a:srgbClr val="FF0000"/>
                </a:solidFill>
                <a:cs typeface="Arial" charset="0"/>
              </a:rPr>
              <a:t>Grade</a:t>
            </a:r>
            <a:r>
              <a:rPr kumimoji="0" lang="en-US" altLang="zh-CN" sz="3000" dirty="0">
                <a:cs typeface="Arial" charset="0"/>
              </a:rPr>
              <a:t>&gt;=(SELECT </a:t>
            </a:r>
            <a:r>
              <a:rPr kumimoji="0" lang="en-US" altLang="zh-CN" sz="3000" dirty="0">
                <a:solidFill>
                  <a:srgbClr val="0000FF"/>
                </a:solidFill>
                <a:cs typeface="Arial" charset="0"/>
              </a:rPr>
              <a:t>AVG(Grade)</a:t>
            </a:r>
          </a:p>
          <a:p>
            <a:pPr eaLnBrk="1" hangingPunct="1">
              <a:buFont typeface="Wingdings" pitchFamily="2" charset="2"/>
              <a:buNone/>
            </a:pPr>
            <a:r>
              <a:rPr kumimoji="0" lang="en-US" altLang="zh-CN" sz="3000" dirty="0">
                <a:cs typeface="Arial" charset="0"/>
              </a:rPr>
              <a:t>                            FROM SC y</a:t>
            </a:r>
          </a:p>
          <a:p>
            <a:pPr eaLnBrk="1" hangingPunct="1">
              <a:buFont typeface="Wingdings" pitchFamily="2" charset="2"/>
              <a:buNone/>
            </a:pPr>
            <a:r>
              <a:rPr kumimoji="0" lang="en-US" altLang="zh-CN" sz="3000" dirty="0">
                <a:cs typeface="Arial" charset="0"/>
              </a:rPr>
              <a:t>                            WHERE </a:t>
            </a:r>
            <a:r>
              <a:rPr kumimoji="0" lang="en-US" altLang="zh-CN" sz="3000" dirty="0" err="1">
                <a:solidFill>
                  <a:srgbClr val="0000FF"/>
                </a:solidFill>
                <a:cs typeface="Arial" charset="0"/>
              </a:rPr>
              <a:t>y.Sno</a:t>
            </a:r>
            <a:r>
              <a:rPr kumimoji="0" lang="en-US" altLang="zh-CN" sz="3000" dirty="0">
                <a:cs typeface="Arial" charset="0"/>
              </a:rPr>
              <a:t>=</a:t>
            </a:r>
            <a:r>
              <a:rPr kumimoji="0" lang="en-US" altLang="zh-CN" sz="3000" dirty="0" err="1">
                <a:solidFill>
                  <a:srgbClr val="C00000"/>
                </a:solidFill>
                <a:cs typeface="Arial" charset="0"/>
              </a:rPr>
              <a:t>x.Sno</a:t>
            </a:r>
            <a:r>
              <a:rPr kumimoji="0" lang="en-US" altLang="zh-CN" sz="3000" dirty="0">
                <a:cs typeface="Arial" charset="0"/>
              </a:rPr>
              <a:t>);</a:t>
            </a:r>
          </a:p>
        </p:txBody>
      </p:sp>
      <p:sp>
        <p:nvSpPr>
          <p:cNvPr id="124935" name="AutoShape 5"/>
          <p:cNvSpPr>
            <a:spLocks noChangeArrowheads="1"/>
          </p:cNvSpPr>
          <p:nvPr/>
        </p:nvSpPr>
        <p:spPr bwMode="auto">
          <a:xfrm>
            <a:off x="4635500" y="2611438"/>
            <a:ext cx="2447925" cy="647700"/>
          </a:xfrm>
          <a:prstGeom prst="wedgeRectCallout">
            <a:avLst>
              <a:gd name="adj1" fmla="val -113815"/>
              <a:gd name="adj2" fmla="val 7965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/>
              <a:t>查这样的选课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0EE0BBC-726B-CC01-D8C8-4C2913251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134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47C329F7-54E5-4D71-AA27-B0E9C0AD5D1E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2595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259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相关子查询</a:t>
            </a:r>
          </a:p>
        </p:txBody>
      </p:sp>
      <p:sp>
        <p:nvSpPr>
          <p:cNvPr id="125958" name="Rectangle 3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685800" y="14478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cs typeface="Arial" charset="0"/>
              </a:rPr>
              <a:t>例</a:t>
            </a:r>
            <a:r>
              <a:rPr kumimoji="0" lang="en-US" altLang="zh-CN" dirty="0">
                <a:cs typeface="Arial" charset="0"/>
              </a:rPr>
              <a:t>40 </a:t>
            </a:r>
            <a:r>
              <a:rPr kumimoji="0" lang="zh-CN" altLang="en-US" dirty="0">
                <a:cs typeface="Arial" charset="0"/>
              </a:rPr>
              <a:t>找出</a:t>
            </a:r>
            <a:r>
              <a:rPr kumimoji="0" lang="zh-CN" altLang="en-US" dirty="0">
                <a:solidFill>
                  <a:srgbClr val="0000FF"/>
                </a:solidFill>
                <a:cs typeface="Arial" charset="0"/>
              </a:rPr>
              <a:t>每个学生</a:t>
            </a:r>
            <a:r>
              <a:rPr kumimoji="0" lang="zh-CN" altLang="en-US" dirty="0">
                <a:solidFill>
                  <a:srgbClr val="C00000"/>
                </a:solidFill>
                <a:cs typeface="Arial" charset="0"/>
              </a:rPr>
              <a:t>超过</a:t>
            </a:r>
            <a:r>
              <a:rPr kumimoji="0" lang="zh-CN" altLang="en-US" dirty="0">
                <a:cs typeface="Arial" charset="0"/>
              </a:rPr>
              <a:t>他选修课程平均成绩的课程号。</a:t>
            </a:r>
          </a:p>
          <a:p>
            <a:pPr eaLnBrk="1" hangingPunct="1">
              <a:buFont typeface="Wingdings" pitchFamily="2" charset="2"/>
              <a:buNone/>
            </a:pPr>
            <a:r>
              <a:rPr kumimoji="0" lang="en-US" altLang="zh-CN" dirty="0">
                <a:cs typeface="Arial" charset="0"/>
              </a:rPr>
              <a:t>  </a:t>
            </a:r>
            <a:r>
              <a:rPr kumimoji="0" lang="en-US" altLang="zh-CN" sz="3000" dirty="0">
                <a:cs typeface="Arial" charset="0"/>
              </a:rPr>
              <a:t>SELECT </a:t>
            </a:r>
            <a:r>
              <a:rPr kumimoji="0" lang="en-US" altLang="zh-CN" sz="3000" dirty="0" err="1">
                <a:solidFill>
                  <a:srgbClr val="FF0000"/>
                </a:solidFill>
                <a:cs typeface="Arial" charset="0"/>
              </a:rPr>
              <a:t>Sno</a:t>
            </a:r>
            <a:r>
              <a:rPr kumimoji="0" lang="en-US" altLang="zh-CN" sz="3000" dirty="0">
                <a:cs typeface="Arial" charset="0"/>
              </a:rPr>
              <a:t>, </a:t>
            </a:r>
            <a:r>
              <a:rPr kumimoji="0" lang="en-US" altLang="zh-CN" sz="3000" dirty="0" err="1">
                <a:cs typeface="Arial" charset="0"/>
              </a:rPr>
              <a:t>Cno</a:t>
            </a:r>
            <a:endParaRPr kumimoji="0" lang="en-US" altLang="zh-CN" sz="3000" dirty="0"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kumimoji="0" lang="en-US" altLang="zh-CN" sz="3000" dirty="0">
                <a:cs typeface="Arial" charset="0"/>
              </a:rPr>
              <a:t>  FROM SC </a:t>
            </a:r>
            <a:r>
              <a:rPr kumimoji="0" lang="en-US" altLang="zh-CN" sz="3000" dirty="0">
                <a:solidFill>
                  <a:srgbClr val="FF0000"/>
                </a:solidFill>
                <a:cs typeface="Arial" charset="0"/>
              </a:rPr>
              <a:t>x</a:t>
            </a:r>
            <a:r>
              <a:rPr kumimoji="0" lang="en-US" altLang="zh-CN" sz="3000" dirty="0">
                <a:cs typeface="Arial" charset="0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kumimoji="0" lang="en-US" altLang="zh-CN" sz="3000" dirty="0">
                <a:cs typeface="Arial" charset="0"/>
              </a:rPr>
              <a:t>  WHERE </a:t>
            </a:r>
            <a:r>
              <a:rPr kumimoji="0" lang="en-US" altLang="zh-CN" sz="3000" dirty="0">
                <a:solidFill>
                  <a:srgbClr val="FF0000"/>
                </a:solidFill>
                <a:cs typeface="Arial" charset="0"/>
              </a:rPr>
              <a:t>Grade</a:t>
            </a:r>
            <a:r>
              <a:rPr kumimoji="0" lang="en-US" altLang="zh-CN" sz="3000" dirty="0">
                <a:cs typeface="Arial" charset="0"/>
              </a:rPr>
              <a:t>&gt;=(SELECT </a:t>
            </a:r>
            <a:r>
              <a:rPr kumimoji="0" lang="en-US" altLang="zh-CN" sz="3000" dirty="0">
                <a:solidFill>
                  <a:srgbClr val="0000FF"/>
                </a:solidFill>
                <a:cs typeface="Arial" charset="0"/>
              </a:rPr>
              <a:t>AVG(Grade)</a:t>
            </a:r>
          </a:p>
          <a:p>
            <a:pPr eaLnBrk="1" hangingPunct="1">
              <a:buFont typeface="Wingdings" pitchFamily="2" charset="2"/>
              <a:buNone/>
            </a:pPr>
            <a:r>
              <a:rPr kumimoji="0" lang="en-US" altLang="zh-CN" sz="3000" dirty="0">
                <a:cs typeface="Arial" charset="0"/>
              </a:rPr>
              <a:t>                            FROM SC y</a:t>
            </a:r>
          </a:p>
          <a:p>
            <a:pPr eaLnBrk="1" hangingPunct="1">
              <a:buFont typeface="Wingdings" pitchFamily="2" charset="2"/>
              <a:buNone/>
            </a:pPr>
            <a:r>
              <a:rPr kumimoji="0" lang="en-US" altLang="zh-CN" sz="3000" dirty="0">
                <a:cs typeface="Arial" charset="0"/>
              </a:rPr>
              <a:t>                            WHERE </a:t>
            </a:r>
            <a:r>
              <a:rPr kumimoji="0" lang="en-US" altLang="zh-CN" sz="3000" dirty="0" err="1">
                <a:solidFill>
                  <a:srgbClr val="0000FF"/>
                </a:solidFill>
                <a:cs typeface="Arial" charset="0"/>
              </a:rPr>
              <a:t>y.Sno</a:t>
            </a:r>
            <a:r>
              <a:rPr kumimoji="0" lang="en-US" altLang="zh-CN" sz="3000" dirty="0">
                <a:cs typeface="Arial" charset="0"/>
              </a:rPr>
              <a:t>=</a:t>
            </a:r>
            <a:r>
              <a:rPr kumimoji="0" lang="en-US" altLang="zh-CN" sz="3000" dirty="0" err="1">
                <a:solidFill>
                  <a:srgbClr val="C00000"/>
                </a:solidFill>
                <a:cs typeface="Arial" charset="0"/>
              </a:rPr>
              <a:t>x.Sno</a:t>
            </a:r>
            <a:r>
              <a:rPr kumimoji="0" lang="en-US" altLang="zh-CN" sz="3000" dirty="0">
                <a:cs typeface="Arial" charset="0"/>
              </a:rPr>
              <a:t>);</a:t>
            </a:r>
          </a:p>
        </p:txBody>
      </p:sp>
      <p:sp>
        <p:nvSpPr>
          <p:cNvPr id="125959" name="AutoShape 4"/>
          <p:cNvSpPr>
            <a:spLocks noChangeArrowheads="1"/>
          </p:cNvSpPr>
          <p:nvPr/>
        </p:nvSpPr>
        <p:spPr bwMode="auto">
          <a:xfrm>
            <a:off x="4635500" y="2611438"/>
            <a:ext cx="2447925" cy="647700"/>
          </a:xfrm>
          <a:prstGeom prst="wedgeRectCallout">
            <a:avLst>
              <a:gd name="adj1" fmla="val -113815"/>
              <a:gd name="adj2" fmla="val 7965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/>
              <a:t>查这样的选课</a:t>
            </a:r>
          </a:p>
        </p:txBody>
      </p:sp>
      <p:sp>
        <p:nvSpPr>
          <p:cNvPr id="125960" name="AutoShape 5"/>
          <p:cNvSpPr>
            <a:spLocks noChangeArrowheads="1"/>
          </p:cNvSpPr>
          <p:nvPr/>
        </p:nvSpPr>
        <p:spPr bwMode="auto">
          <a:xfrm>
            <a:off x="1255713" y="4487863"/>
            <a:ext cx="2376487" cy="1150937"/>
          </a:xfrm>
          <a:prstGeom prst="wedgeRectCallout">
            <a:avLst>
              <a:gd name="adj1" fmla="val 54906"/>
              <a:gd name="adj2" fmla="val -8762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/>
              <a:t>该</a:t>
            </a:r>
            <a:r>
              <a:rPr lang="zh-CN" altLang="en-US" dirty="0">
                <a:solidFill>
                  <a:srgbClr val="0000FF"/>
                </a:solidFill>
              </a:rPr>
              <a:t>选课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00FF"/>
                </a:solidFill>
              </a:rPr>
              <a:t>成绩</a:t>
            </a:r>
            <a:r>
              <a:rPr lang="zh-CN" altLang="en-US" dirty="0"/>
              <a:t>比</a:t>
            </a:r>
            <a:r>
              <a:rPr lang="zh-CN" altLang="en-US" b="1" dirty="0">
                <a:solidFill>
                  <a:srgbClr val="FF0000"/>
                </a:solidFill>
              </a:rPr>
              <a:t>选课学生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00FF"/>
                </a:solidFill>
              </a:rPr>
              <a:t>平均成绩</a:t>
            </a:r>
            <a:r>
              <a:rPr lang="zh-CN" altLang="en-US" dirty="0"/>
              <a:t>要</a:t>
            </a:r>
            <a:r>
              <a:rPr lang="zh-CN" altLang="en-US" dirty="0">
                <a:solidFill>
                  <a:srgbClr val="0000FF"/>
                </a:solidFill>
              </a:rPr>
              <a:t>高</a:t>
            </a:r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6096000" y="5626100"/>
            <a:ext cx="2667000" cy="846137"/>
          </a:xfrm>
          <a:prstGeom prst="wedgeRectCallout">
            <a:avLst>
              <a:gd name="adj1" fmla="val -42660"/>
              <a:gd name="adj2" fmla="val -8002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FF0000"/>
                </a:solidFill>
              </a:rPr>
              <a:t>一个</a:t>
            </a:r>
            <a:r>
              <a:rPr lang="zh-CN" altLang="en-US" dirty="0"/>
              <a:t>学生所有选修课程的平均成绩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410200" y="4758531"/>
            <a:ext cx="2286000" cy="609600"/>
          </a:xfrm>
          <a:prstGeom prst="rect">
            <a:avLst/>
          </a:prstGeom>
          <a:noFill/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pitchFamily="34" charset="0"/>
            </a:endParaRPr>
          </a:p>
        </p:txBody>
      </p:sp>
      <p:sp>
        <p:nvSpPr>
          <p:cNvPr id="12" name="下箭头 11"/>
          <p:cNvSpPr/>
          <p:nvPr/>
        </p:nvSpPr>
        <p:spPr bwMode="auto">
          <a:xfrm>
            <a:off x="513557" y="3429000"/>
            <a:ext cx="457200" cy="1447800"/>
          </a:xfrm>
          <a:prstGeom prst="downArrow">
            <a:avLst>
              <a:gd name="adj1" fmla="val 50000"/>
              <a:gd name="adj2" fmla="val 88095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6EF2C54-151A-C12A-23A4-4ED5AC392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135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" grpId="0" animBg="1"/>
      <p:bldP spid="12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30DE684-F503-4EFF-89F9-1AD2DF179740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2697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269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相关子查询的一般</a:t>
            </a:r>
            <a:r>
              <a:rPr lang="zh-CN" altLang="en-US" b="1"/>
              <a:t>求解过程</a:t>
            </a:r>
            <a:endParaRPr lang="zh-CN" altLang="en-US" b="1" dirty="0"/>
          </a:p>
        </p:txBody>
      </p:sp>
      <p:sp>
        <p:nvSpPr>
          <p:cNvPr id="1269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C00000"/>
                </a:solidFill>
              </a:rPr>
              <a:t>外层</a:t>
            </a:r>
            <a:r>
              <a:rPr lang="zh-CN" altLang="en-US" dirty="0">
                <a:solidFill>
                  <a:srgbClr val="0000FF"/>
                </a:solidFill>
              </a:rPr>
              <a:t>每一元组</a:t>
            </a:r>
            <a:r>
              <a:rPr lang="zh-CN" altLang="en-US" dirty="0"/>
              <a:t>都被</a:t>
            </a:r>
            <a:r>
              <a:rPr lang="zh-CN" altLang="en-US" dirty="0">
                <a:solidFill>
                  <a:srgbClr val="FF0000"/>
                </a:solidFill>
              </a:rPr>
              <a:t>带入</a:t>
            </a:r>
            <a:r>
              <a:rPr lang="zh-CN" altLang="en-US" dirty="0"/>
              <a:t>内层。</a:t>
            </a:r>
          </a:p>
          <a:p>
            <a:pPr eaLnBrk="1" hangingPunct="1"/>
            <a:r>
              <a:rPr lang="zh-CN" altLang="en-US" dirty="0">
                <a:solidFill>
                  <a:srgbClr val="0000FF"/>
                </a:solidFill>
              </a:rPr>
              <a:t>内层得到结果</a:t>
            </a:r>
            <a:r>
              <a:rPr lang="zh-CN" altLang="en-US" dirty="0"/>
              <a:t>。</a:t>
            </a:r>
          </a:p>
          <a:p>
            <a:pPr eaLnBrk="1" hangingPunct="1"/>
            <a:r>
              <a:rPr lang="zh-CN" altLang="en-US" dirty="0">
                <a:solidFill>
                  <a:srgbClr val="C00000"/>
                </a:solidFill>
              </a:rPr>
              <a:t>外层</a:t>
            </a:r>
            <a:r>
              <a:rPr lang="en-US" altLang="zh-CN" dirty="0">
                <a:solidFill>
                  <a:srgbClr val="C00000"/>
                </a:solidFill>
              </a:rPr>
              <a:t>WHERE</a:t>
            </a:r>
            <a:r>
              <a:rPr lang="zh-CN" altLang="en-US" dirty="0">
                <a:solidFill>
                  <a:srgbClr val="C00000"/>
                </a:solidFill>
              </a:rPr>
              <a:t>条件判断</a:t>
            </a:r>
            <a:r>
              <a:rPr lang="zh-CN" altLang="en-US" dirty="0"/>
              <a:t>。</a:t>
            </a:r>
            <a:r>
              <a:rPr lang="zh-CN" altLang="en-US" u="sng" dirty="0"/>
              <a:t>如果为真，当前元组被选出；否则，不被选出</a:t>
            </a:r>
            <a:r>
              <a:rPr lang="zh-CN" altLang="en-US" dirty="0"/>
              <a:t>。</a:t>
            </a:r>
          </a:p>
          <a:p>
            <a:pPr eaLnBrk="1" hangingPunct="1"/>
            <a:r>
              <a:rPr lang="zh-CN" altLang="en-US" dirty="0">
                <a:solidFill>
                  <a:srgbClr val="0000FF"/>
                </a:solidFill>
              </a:rPr>
              <a:t>重复</a:t>
            </a:r>
            <a:r>
              <a:rPr lang="zh-CN" altLang="en-US" dirty="0"/>
              <a:t>，直到</a:t>
            </a:r>
            <a:r>
              <a:rPr lang="zh-CN" altLang="en-US" dirty="0">
                <a:solidFill>
                  <a:srgbClr val="0000FF"/>
                </a:solidFill>
              </a:rPr>
              <a:t>外层没有</a:t>
            </a:r>
            <a:r>
              <a:rPr lang="zh-CN" altLang="en-US" dirty="0"/>
              <a:t>元组为止。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1522689" y="4572000"/>
            <a:ext cx="551946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/>
              <a:t>查询过程是</a:t>
            </a:r>
            <a:r>
              <a:rPr lang="zh-CN" altLang="en-US" sz="3200" b="1" dirty="0">
                <a:solidFill>
                  <a:srgbClr val="FF0000"/>
                </a:solidFill>
              </a:rPr>
              <a:t>由外到里</a:t>
            </a:r>
            <a:r>
              <a:rPr lang="zh-CN" altLang="en-US" sz="3200" dirty="0"/>
              <a:t>处理的。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9FC86C9-4997-37DB-3218-0E06A22C7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136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479DFDC-ACFB-4082-8F57-D08D4396D349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3517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351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3.4.3. </a:t>
            </a:r>
            <a:r>
              <a:rPr lang="zh-CN" altLang="en-US"/>
              <a:t>嵌套查询</a:t>
            </a:r>
          </a:p>
        </p:txBody>
      </p:sp>
      <p:sp>
        <p:nvSpPr>
          <p:cNvPr id="135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8345488" cy="480060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例</a:t>
            </a:r>
            <a:r>
              <a:rPr lang="en-US" altLang="zh-CN" sz="2800" dirty="0"/>
              <a:t>44 </a:t>
            </a:r>
            <a:r>
              <a:rPr lang="zh-CN" altLang="en-US" sz="2800" dirty="0"/>
              <a:t>查询</a:t>
            </a:r>
            <a:r>
              <a:rPr lang="zh-CN" altLang="en-US" sz="2800" dirty="0">
                <a:solidFill>
                  <a:srgbClr val="0000FF"/>
                </a:solidFill>
              </a:rPr>
              <a:t>所有选修了</a:t>
            </a:r>
            <a:r>
              <a:rPr lang="en-US" altLang="zh-CN" sz="2800" dirty="0">
                <a:solidFill>
                  <a:srgbClr val="0000FF"/>
                </a:solidFill>
              </a:rPr>
              <a:t>1</a:t>
            </a:r>
            <a:r>
              <a:rPr lang="zh-CN" altLang="en-US" sz="2800" dirty="0">
                <a:solidFill>
                  <a:srgbClr val="0000FF"/>
                </a:solidFill>
              </a:rPr>
              <a:t>号</a:t>
            </a:r>
            <a:r>
              <a:rPr lang="zh-CN" altLang="en-US" sz="2800" dirty="0"/>
              <a:t>课程的学生</a:t>
            </a:r>
            <a:r>
              <a:rPr lang="zh-CN" altLang="en-US" sz="2800" dirty="0">
                <a:solidFill>
                  <a:srgbClr val="0000FF"/>
                </a:solidFill>
              </a:rPr>
              <a:t>姓名</a:t>
            </a:r>
          </a:p>
          <a:p>
            <a:pPr lvl="1" eaLnBrk="1" hangingPunct="1"/>
            <a:r>
              <a:rPr lang="zh-CN" altLang="en-US" sz="2400" dirty="0"/>
              <a:t>涉及</a:t>
            </a:r>
            <a:r>
              <a:rPr lang="en-US" altLang="zh-CN" sz="2400" dirty="0"/>
              <a:t>Student</a:t>
            </a:r>
            <a:r>
              <a:rPr lang="zh-CN" altLang="en-US" sz="2400" dirty="0"/>
              <a:t>关系和</a:t>
            </a:r>
            <a:r>
              <a:rPr lang="en-US" altLang="zh-CN" sz="2400" dirty="0"/>
              <a:t>SC</a:t>
            </a:r>
            <a:r>
              <a:rPr lang="zh-CN" altLang="en-US" sz="2400" dirty="0"/>
              <a:t>关系</a:t>
            </a:r>
            <a:endParaRPr lang="en-US" altLang="zh-CN" sz="2400" dirty="0"/>
          </a:p>
          <a:p>
            <a:pPr eaLnBrk="1" hangingPunct="1"/>
            <a:r>
              <a:rPr lang="zh-CN" altLang="en-US" sz="2800" dirty="0"/>
              <a:t>我们可以在</a:t>
            </a:r>
            <a:r>
              <a:rPr lang="en-US" altLang="zh-CN" sz="2800" dirty="0">
                <a:solidFill>
                  <a:schemeClr val="tx2"/>
                </a:solidFill>
              </a:rPr>
              <a:t>Student</a:t>
            </a:r>
            <a:r>
              <a:rPr lang="zh-CN" altLang="en-US" sz="2800" dirty="0"/>
              <a:t>关系中</a:t>
            </a:r>
            <a:r>
              <a:rPr lang="zh-CN" altLang="en-US" sz="2800" dirty="0">
                <a:solidFill>
                  <a:schemeClr val="tx2"/>
                </a:solidFill>
              </a:rPr>
              <a:t>依次取每个元组</a:t>
            </a:r>
            <a:r>
              <a:rPr lang="zh-CN" altLang="en-US" sz="2800" dirty="0"/>
              <a:t>的</a:t>
            </a:r>
            <a:r>
              <a:rPr lang="en-US" altLang="zh-CN" sz="2800" dirty="0" err="1"/>
              <a:t>Sno</a:t>
            </a:r>
            <a:r>
              <a:rPr lang="zh-CN" altLang="en-US" sz="2800" dirty="0"/>
              <a:t>值，用此</a:t>
            </a:r>
            <a:r>
              <a:rPr lang="en-US" altLang="zh-CN" sz="2800" dirty="0" err="1"/>
              <a:t>Student.Sno</a:t>
            </a:r>
            <a:r>
              <a:rPr lang="zh-CN" altLang="en-US" sz="2800" dirty="0"/>
              <a:t>值</a:t>
            </a:r>
            <a:r>
              <a:rPr lang="zh-CN" altLang="en-US" sz="2800" dirty="0">
                <a:solidFill>
                  <a:schemeClr val="tx2"/>
                </a:solidFill>
              </a:rPr>
              <a:t>去检查</a:t>
            </a:r>
            <a:r>
              <a:rPr lang="en-US" altLang="zh-CN" sz="2800" dirty="0">
                <a:solidFill>
                  <a:schemeClr val="tx2"/>
                </a:solidFill>
              </a:rPr>
              <a:t>SC</a:t>
            </a:r>
            <a:r>
              <a:rPr lang="zh-CN" altLang="en-US" sz="2800" dirty="0">
                <a:solidFill>
                  <a:schemeClr val="tx2"/>
                </a:solidFill>
              </a:rPr>
              <a:t>关系</a:t>
            </a:r>
            <a:r>
              <a:rPr lang="zh-CN" altLang="en-US" sz="2800" dirty="0"/>
              <a:t>，</a:t>
            </a:r>
            <a:r>
              <a:rPr lang="zh-CN" altLang="en-US" sz="2800" dirty="0">
                <a:solidFill>
                  <a:srgbClr val="FF0000"/>
                </a:solidFill>
              </a:rPr>
              <a:t>若</a:t>
            </a:r>
            <a:r>
              <a:rPr lang="en-US" altLang="zh-CN" sz="2800" dirty="0">
                <a:solidFill>
                  <a:srgbClr val="FF0000"/>
                </a:solidFill>
              </a:rPr>
              <a:t>SC</a:t>
            </a:r>
            <a:r>
              <a:rPr lang="zh-CN" altLang="en-US" sz="2800" dirty="0">
                <a:solidFill>
                  <a:srgbClr val="FF0000"/>
                </a:solidFill>
              </a:rPr>
              <a:t>中存在这样的元组</a:t>
            </a:r>
            <a:r>
              <a:rPr lang="zh-CN" altLang="en-US" sz="2800" dirty="0"/>
              <a:t>，其</a:t>
            </a:r>
            <a:r>
              <a:rPr lang="en-US" altLang="zh-CN" sz="2800" dirty="0" err="1">
                <a:solidFill>
                  <a:srgbClr val="0000FF"/>
                </a:solidFill>
              </a:rPr>
              <a:t>SC.Sno</a:t>
            </a:r>
            <a:r>
              <a:rPr lang="zh-CN" altLang="en-US" sz="2800" dirty="0"/>
              <a:t>值</a:t>
            </a:r>
            <a:r>
              <a:rPr lang="zh-CN" altLang="en-US" sz="2800" b="1" dirty="0"/>
              <a:t>等于</a:t>
            </a:r>
            <a:r>
              <a:rPr lang="zh-CN" altLang="en-US" sz="2800" dirty="0">
                <a:solidFill>
                  <a:srgbClr val="C00000"/>
                </a:solidFill>
              </a:rPr>
              <a:t>用来检查的</a:t>
            </a:r>
            <a:r>
              <a:rPr lang="en-US" altLang="zh-CN" sz="2800" dirty="0" err="1">
                <a:solidFill>
                  <a:srgbClr val="0000FF"/>
                </a:solidFill>
              </a:rPr>
              <a:t>Student.Sno</a:t>
            </a:r>
            <a:r>
              <a:rPr lang="zh-CN" altLang="en-US" sz="2800" dirty="0"/>
              <a:t>值，并且其</a:t>
            </a:r>
            <a:r>
              <a:rPr lang="en-US" altLang="zh-CN" sz="2800" dirty="0" err="1">
                <a:solidFill>
                  <a:srgbClr val="0000FF"/>
                </a:solidFill>
              </a:rPr>
              <a:t>SC.Cno</a:t>
            </a:r>
            <a:r>
              <a:rPr lang="en-US" altLang="zh-CN" sz="2800" dirty="0">
                <a:solidFill>
                  <a:srgbClr val="0000FF"/>
                </a:solidFill>
              </a:rPr>
              <a:t>='1'</a:t>
            </a:r>
            <a:r>
              <a:rPr lang="zh-CN" altLang="en-US" sz="2800" dirty="0"/>
              <a:t>，则取此</a:t>
            </a:r>
            <a:r>
              <a:rPr lang="en-US" altLang="zh-CN" sz="2800" dirty="0" err="1"/>
              <a:t>Student.Sname</a:t>
            </a:r>
            <a:r>
              <a:rPr lang="zh-CN" altLang="en-US" sz="2800" dirty="0"/>
              <a:t>送入结果关系。</a:t>
            </a:r>
            <a:endParaRPr lang="en-US" altLang="zh-CN" sz="2800" dirty="0"/>
          </a:p>
          <a:p>
            <a:pPr eaLnBrk="1" hangingPunct="1"/>
            <a:r>
              <a:rPr lang="zh-CN" altLang="en-US" sz="2800" dirty="0"/>
              <a:t>将此想法写成</a:t>
            </a:r>
            <a:r>
              <a:rPr lang="en-US" altLang="zh-CN" sz="2800" dirty="0"/>
              <a:t>SQL</a:t>
            </a:r>
            <a:r>
              <a:rPr lang="zh-CN" altLang="en-US" sz="2800" dirty="0"/>
              <a:t>语句就是： </a:t>
            </a:r>
            <a:br>
              <a:rPr lang="zh-CN" altLang="en-US" sz="2800" dirty="0"/>
            </a:br>
            <a:r>
              <a:rPr lang="en-US" altLang="zh-CN" sz="2800" dirty="0"/>
              <a:t> </a:t>
            </a:r>
            <a:endParaRPr lang="zh-CN" altLang="en-US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1676400" y="4800600"/>
            <a:ext cx="6447599" cy="193899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/>
            <a:r>
              <a:rPr lang="en-US" altLang="zh-CN" dirty="0"/>
              <a:t>SELECT </a:t>
            </a:r>
            <a:r>
              <a:rPr lang="en-US" altLang="zh-CN" dirty="0" err="1">
                <a:solidFill>
                  <a:srgbClr val="006600"/>
                </a:solidFill>
              </a:rPr>
              <a:t>Sname</a:t>
            </a:r>
            <a:br>
              <a:rPr lang="en-US" altLang="zh-CN" dirty="0"/>
            </a:br>
            <a:r>
              <a:rPr lang="en-US" altLang="zh-CN" dirty="0"/>
              <a:t>FROM </a:t>
            </a:r>
            <a:r>
              <a:rPr lang="en-US" altLang="zh-CN" dirty="0">
                <a:solidFill>
                  <a:srgbClr val="C00000"/>
                </a:solidFill>
              </a:rPr>
              <a:t>Student</a:t>
            </a:r>
            <a:r>
              <a:rPr lang="en-US" altLang="zh-CN" dirty="0"/>
              <a:t> </a:t>
            </a:r>
          </a:p>
          <a:p>
            <a:pPr algn="l"/>
            <a:r>
              <a:rPr lang="en-US" altLang="zh-CN" dirty="0"/>
              <a:t>WHERE </a:t>
            </a:r>
            <a:r>
              <a:rPr lang="en-US" altLang="zh-CN" i="1" dirty="0">
                <a:solidFill>
                  <a:srgbClr val="0000FF"/>
                </a:solidFill>
              </a:rPr>
              <a:t>EXISTS</a:t>
            </a:r>
            <a:r>
              <a:rPr lang="en-US" altLang="zh-CN" dirty="0"/>
              <a:t> </a:t>
            </a:r>
            <a:br>
              <a:rPr lang="en-US" altLang="zh-CN" dirty="0"/>
            </a:br>
            <a:r>
              <a:rPr lang="en-US" altLang="zh-CN" dirty="0">
                <a:latin typeface="Arial" charset="0"/>
              </a:rPr>
              <a:t>     </a:t>
            </a:r>
            <a:r>
              <a:rPr lang="en-US" altLang="zh-CN" dirty="0"/>
              <a:t> (</a:t>
            </a:r>
            <a:r>
              <a:rPr lang="en-US" altLang="zh-CN" dirty="0">
                <a:solidFill>
                  <a:srgbClr val="0000FF"/>
                </a:solidFill>
              </a:rPr>
              <a:t>SELECT * FROM SC </a:t>
            </a:r>
            <a:br>
              <a:rPr lang="en-US" altLang="zh-CN" dirty="0">
                <a:solidFill>
                  <a:srgbClr val="0000FF"/>
                </a:solidFill>
              </a:rPr>
            </a:br>
            <a:r>
              <a:rPr lang="en-US" altLang="zh-CN" dirty="0">
                <a:solidFill>
                  <a:srgbClr val="0000FF"/>
                </a:solidFill>
                <a:latin typeface="Arial" charset="0"/>
              </a:rPr>
              <a:t>       </a:t>
            </a:r>
            <a:r>
              <a:rPr lang="en-US" altLang="zh-CN" dirty="0">
                <a:solidFill>
                  <a:srgbClr val="0000FF"/>
                </a:solidFill>
              </a:rPr>
              <a:t> WHERE </a:t>
            </a:r>
            <a:r>
              <a:rPr lang="en-US" altLang="zh-CN" dirty="0" err="1">
                <a:solidFill>
                  <a:srgbClr val="0000FF"/>
                </a:solidFill>
              </a:rPr>
              <a:t>Sno</a:t>
            </a:r>
            <a:r>
              <a:rPr lang="en-US" altLang="zh-CN" dirty="0">
                <a:solidFill>
                  <a:srgbClr val="0000FF"/>
                </a:solidFill>
              </a:rPr>
              <a:t>=</a:t>
            </a:r>
            <a:r>
              <a:rPr lang="en-US" altLang="zh-CN" dirty="0" err="1">
                <a:solidFill>
                  <a:srgbClr val="C00000"/>
                </a:solidFill>
              </a:rPr>
              <a:t>Student.Sno</a:t>
            </a:r>
            <a:r>
              <a:rPr lang="en-US" altLang="zh-CN" dirty="0">
                <a:solidFill>
                  <a:srgbClr val="0000FF"/>
                </a:solidFill>
              </a:rPr>
              <a:t> AND </a:t>
            </a:r>
            <a:r>
              <a:rPr lang="en-US" altLang="zh-CN" dirty="0" err="1">
                <a:solidFill>
                  <a:srgbClr val="0000FF"/>
                </a:solidFill>
              </a:rPr>
              <a:t>Cno</a:t>
            </a:r>
            <a:r>
              <a:rPr lang="en-US" altLang="zh-CN" dirty="0">
                <a:solidFill>
                  <a:srgbClr val="0000FF"/>
                </a:solidFill>
              </a:rPr>
              <a:t>='1'</a:t>
            </a:r>
            <a:r>
              <a:rPr lang="en-US" altLang="zh-CN" dirty="0"/>
              <a:t>);</a:t>
            </a:r>
            <a:endParaRPr lang="zh-CN" altLang="en-US" dirty="0"/>
          </a:p>
        </p:txBody>
      </p:sp>
      <p:sp>
        <p:nvSpPr>
          <p:cNvPr id="8" name="下箭头 7"/>
          <p:cNvSpPr/>
          <p:nvPr/>
        </p:nvSpPr>
        <p:spPr bwMode="auto">
          <a:xfrm>
            <a:off x="5410200" y="5024717"/>
            <a:ext cx="457200" cy="1165412"/>
          </a:xfrm>
          <a:prstGeom prst="downArrow">
            <a:avLst>
              <a:gd name="adj1" fmla="val 50000"/>
              <a:gd name="adj2" fmla="val 88095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40C2D2D-85A0-D96D-2F90-28516550C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137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5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5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5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5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5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5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A42D0E5-1BD7-42F2-BB75-FA4437151F2E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3619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361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3.4.3. </a:t>
            </a:r>
            <a:r>
              <a:rPr lang="zh-CN" altLang="en-US"/>
              <a:t>嵌套查询</a:t>
            </a:r>
          </a:p>
        </p:txBody>
      </p:sp>
      <p:sp>
        <p:nvSpPr>
          <p:cNvPr id="1361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求解过程</a:t>
            </a:r>
          </a:p>
          <a:p>
            <a:pPr lvl="1" eaLnBrk="1" hangingPunct="1"/>
            <a:r>
              <a:rPr lang="zh-CN" altLang="en-US" dirty="0"/>
              <a:t>首先取</a:t>
            </a:r>
            <a:r>
              <a:rPr lang="zh-CN" altLang="en-US" u="sng" dirty="0">
                <a:solidFill>
                  <a:srgbClr val="C00000"/>
                </a:solidFill>
              </a:rPr>
              <a:t>外层查询</a:t>
            </a:r>
            <a:r>
              <a:rPr lang="zh-CN" altLang="en-US" u="sng" dirty="0"/>
              <a:t>中</a:t>
            </a:r>
            <a:r>
              <a:rPr lang="en-US" altLang="zh-CN" u="sng" dirty="0">
                <a:solidFill>
                  <a:srgbClr val="C00000"/>
                </a:solidFill>
              </a:rPr>
              <a:t>Student</a:t>
            </a:r>
            <a:r>
              <a:rPr lang="zh-CN" altLang="en-US" u="sng" dirty="0"/>
              <a:t>表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00FF"/>
                </a:solidFill>
              </a:rPr>
              <a:t>第一个</a:t>
            </a:r>
            <a:r>
              <a:rPr lang="zh-CN" altLang="en-US" dirty="0"/>
              <a:t>元组，根据</a:t>
            </a:r>
            <a:r>
              <a:rPr lang="zh-CN" altLang="en-US" u="sng" dirty="0"/>
              <a:t>它与</a:t>
            </a:r>
            <a:r>
              <a:rPr lang="zh-CN" altLang="en-US" u="sng" dirty="0">
                <a:solidFill>
                  <a:srgbClr val="0000FF"/>
                </a:solidFill>
              </a:rPr>
              <a:t>内层查询相关的属性值</a:t>
            </a:r>
            <a:r>
              <a:rPr lang="zh-CN" altLang="en-US" dirty="0"/>
              <a:t>（即</a:t>
            </a:r>
            <a:r>
              <a:rPr lang="en-US" altLang="zh-CN" dirty="0" err="1">
                <a:solidFill>
                  <a:srgbClr val="0000FF"/>
                </a:solidFill>
              </a:rPr>
              <a:t>Sno</a:t>
            </a:r>
            <a:r>
              <a:rPr lang="zh-CN" altLang="en-US" dirty="0">
                <a:solidFill>
                  <a:srgbClr val="0000FF"/>
                </a:solidFill>
              </a:rPr>
              <a:t>值</a:t>
            </a:r>
            <a:r>
              <a:rPr lang="zh-CN" altLang="en-US" dirty="0"/>
              <a:t>）处理内层查询，若</a:t>
            </a:r>
            <a:r>
              <a:rPr lang="en-US" altLang="zh-CN" dirty="0"/>
              <a:t>WHERE</a:t>
            </a:r>
            <a:r>
              <a:rPr lang="zh-CN" altLang="en-US" dirty="0"/>
              <a:t>子句返回值为</a:t>
            </a:r>
            <a:r>
              <a:rPr lang="zh-CN" altLang="en-US" dirty="0">
                <a:solidFill>
                  <a:srgbClr val="C00000"/>
                </a:solidFill>
              </a:rPr>
              <a:t>真</a:t>
            </a:r>
            <a:r>
              <a:rPr lang="zh-CN" altLang="en-US" dirty="0"/>
              <a:t>（即</a:t>
            </a:r>
            <a:r>
              <a:rPr lang="zh-CN" altLang="en-US" b="1" dirty="0">
                <a:solidFill>
                  <a:srgbClr val="0000FF"/>
                </a:solidFill>
              </a:rPr>
              <a:t>内层查询结果</a:t>
            </a:r>
            <a:r>
              <a:rPr lang="zh-CN" altLang="en-US" b="1" dirty="0">
                <a:solidFill>
                  <a:srgbClr val="FF0000"/>
                </a:solidFill>
              </a:rPr>
              <a:t>非空</a:t>
            </a:r>
            <a:r>
              <a:rPr lang="zh-CN" altLang="en-US" dirty="0"/>
              <a:t>），则取</a:t>
            </a:r>
            <a:r>
              <a:rPr lang="zh-CN" altLang="en-US" dirty="0">
                <a:solidFill>
                  <a:srgbClr val="0000FF"/>
                </a:solidFill>
              </a:rPr>
              <a:t>此元组放入结果表</a:t>
            </a:r>
            <a:r>
              <a:rPr lang="zh-CN" altLang="en-US" dirty="0"/>
              <a:t>；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然后再检查</a:t>
            </a:r>
            <a:r>
              <a:rPr lang="en-US" altLang="zh-CN" dirty="0">
                <a:solidFill>
                  <a:srgbClr val="C00000"/>
                </a:solidFill>
              </a:rPr>
              <a:t>Student</a:t>
            </a:r>
            <a:r>
              <a:rPr lang="zh-CN" altLang="en-US" dirty="0"/>
              <a:t>表的</a:t>
            </a:r>
            <a:r>
              <a:rPr lang="zh-CN" altLang="en-US" dirty="0">
                <a:solidFill>
                  <a:srgbClr val="0000FF"/>
                </a:solidFill>
              </a:rPr>
              <a:t>下一个</a:t>
            </a:r>
            <a:r>
              <a:rPr lang="zh-CN" altLang="en-US" dirty="0"/>
              <a:t>元组；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重复这一过程，直至</a:t>
            </a:r>
            <a:r>
              <a:rPr lang="en-US" altLang="zh-CN" dirty="0">
                <a:solidFill>
                  <a:srgbClr val="C00000"/>
                </a:solidFill>
              </a:rPr>
              <a:t>Student</a:t>
            </a:r>
            <a:r>
              <a:rPr lang="zh-CN" altLang="en-US" dirty="0"/>
              <a:t>表</a:t>
            </a:r>
            <a:r>
              <a:rPr lang="zh-CN" altLang="en-US" dirty="0">
                <a:solidFill>
                  <a:srgbClr val="0000FF"/>
                </a:solidFill>
              </a:rPr>
              <a:t>全部检查完毕</a:t>
            </a:r>
            <a:r>
              <a:rPr lang="zh-CN" altLang="en-US" dirty="0"/>
              <a:t>为止。 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3144321" y="5130225"/>
            <a:ext cx="2646879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CN" altLang="en-US" sz="3200" dirty="0"/>
              <a:t>由外到内处理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982A24B-2761-B6B4-632D-70C6034EA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138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F41FA3A-6996-42E1-B94A-DB4E6B7F32E2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3721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372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3.4.3. </a:t>
            </a:r>
            <a:r>
              <a:rPr lang="zh-CN" altLang="en-US"/>
              <a:t>嵌套查询</a:t>
            </a:r>
          </a:p>
        </p:txBody>
      </p:sp>
      <p:sp>
        <p:nvSpPr>
          <p:cNvPr id="1372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例</a:t>
            </a:r>
            <a:r>
              <a:rPr lang="en-US" altLang="zh-CN" dirty="0"/>
              <a:t>45 </a:t>
            </a:r>
            <a:r>
              <a:rPr lang="zh-CN" altLang="en-US" dirty="0"/>
              <a:t>查询所有未修</a:t>
            </a:r>
            <a:r>
              <a:rPr lang="en-US" altLang="zh-CN" dirty="0"/>
              <a:t>1</a:t>
            </a:r>
            <a:r>
              <a:rPr lang="zh-CN" altLang="en-US" dirty="0"/>
              <a:t>号课程的学生姓名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/>
              <a:t>	</a:t>
            </a:r>
            <a:r>
              <a:rPr lang="en-US" altLang="zh-CN" sz="2800" dirty="0"/>
              <a:t>SELECT </a:t>
            </a:r>
            <a:r>
              <a:rPr lang="en-US" altLang="zh-CN" sz="2800" dirty="0" err="1"/>
              <a:t>Sname</a:t>
            </a:r>
            <a:r>
              <a:rPr lang="en-US" altLang="zh-CN" sz="2800" dirty="0"/>
              <a:t> </a:t>
            </a:r>
            <a:br>
              <a:rPr lang="en-US" altLang="zh-CN" sz="2800" dirty="0"/>
            </a:br>
            <a:r>
              <a:rPr lang="en-US" altLang="zh-CN" sz="2800" dirty="0"/>
              <a:t>FROM Student </a:t>
            </a:r>
            <a:br>
              <a:rPr lang="en-US" altLang="zh-CN" sz="2800" dirty="0"/>
            </a:br>
            <a:r>
              <a:rPr lang="en-US" altLang="zh-CN" sz="2800" dirty="0"/>
              <a:t>WHERE </a:t>
            </a:r>
            <a:r>
              <a:rPr lang="en-US" altLang="zh-CN" sz="2800" dirty="0">
                <a:solidFill>
                  <a:srgbClr val="FF0000"/>
                </a:solidFill>
              </a:rPr>
              <a:t>NOT </a:t>
            </a:r>
            <a:r>
              <a:rPr lang="en-US" altLang="zh-CN" sz="2800" dirty="0">
                <a:solidFill>
                  <a:srgbClr val="0000FF"/>
                </a:solidFill>
              </a:rPr>
              <a:t>EXISTS</a:t>
            </a:r>
            <a:r>
              <a:rPr lang="en-US" altLang="zh-CN" sz="2800" dirty="0">
                <a:solidFill>
                  <a:srgbClr val="FF0000"/>
                </a:solidFill>
              </a:rPr>
              <a:t> </a:t>
            </a:r>
            <a:br>
              <a:rPr lang="en-US" altLang="zh-CN" sz="2800" dirty="0"/>
            </a:br>
            <a:r>
              <a:rPr lang="en-US" altLang="zh-CN" sz="2800" dirty="0">
                <a:latin typeface="Arial" charset="0"/>
              </a:rPr>
              <a:t>     </a:t>
            </a:r>
            <a:r>
              <a:rPr lang="en-US" altLang="zh-CN" sz="2800" dirty="0"/>
              <a:t> (SELECT * FROM SC </a:t>
            </a:r>
            <a:br>
              <a:rPr lang="en-US" altLang="zh-CN" sz="2800" dirty="0"/>
            </a:br>
            <a:r>
              <a:rPr lang="en-US" altLang="zh-CN" sz="2800" dirty="0">
                <a:solidFill>
                  <a:srgbClr val="0000FF"/>
                </a:solidFill>
                <a:latin typeface="Arial" charset="0"/>
              </a:rPr>
              <a:t>       </a:t>
            </a:r>
            <a:r>
              <a:rPr lang="en-US" altLang="zh-CN" sz="2800" dirty="0">
                <a:solidFill>
                  <a:srgbClr val="0000FF"/>
                </a:solidFill>
              </a:rPr>
              <a:t> </a:t>
            </a:r>
            <a:r>
              <a:rPr lang="en-US" altLang="zh-CN" sz="2800" dirty="0"/>
              <a:t>WHERE</a:t>
            </a:r>
            <a:r>
              <a:rPr lang="en-US" altLang="zh-CN" sz="2800" dirty="0">
                <a:solidFill>
                  <a:srgbClr val="0000FF"/>
                </a:solidFill>
              </a:rPr>
              <a:t> </a:t>
            </a:r>
            <a:r>
              <a:rPr lang="en-US" altLang="zh-CN" sz="2800" dirty="0" err="1">
                <a:solidFill>
                  <a:srgbClr val="0000FF"/>
                </a:solidFill>
              </a:rPr>
              <a:t>Sno</a:t>
            </a:r>
            <a:r>
              <a:rPr lang="en-US" altLang="zh-CN" sz="2800" dirty="0">
                <a:solidFill>
                  <a:srgbClr val="0000FF"/>
                </a:solidFill>
              </a:rPr>
              <a:t>=</a:t>
            </a:r>
            <a:r>
              <a:rPr lang="en-US" altLang="zh-CN" sz="2800" dirty="0" err="1">
                <a:solidFill>
                  <a:srgbClr val="C00000"/>
                </a:solidFill>
              </a:rPr>
              <a:t>Student.Sno</a:t>
            </a:r>
            <a:r>
              <a:rPr lang="en-US" altLang="zh-CN" sz="2800" dirty="0">
                <a:solidFill>
                  <a:srgbClr val="0000FF"/>
                </a:solidFill>
              </a:rPr>
              <a:t> AND </a:t>
            </a:r>
            <a:r>
              <a:rPr lang="en-US" altLang="zh-CN" sz="2800" dirty="0" err="1">
                <a:solidFill>
                  <a:srgbClr val="0000FF"/>
                </a:solidFill>
              </a:rPr>
              <a:t>Cno</a:t>
            </a:r>
            <a:r>
              <a:rPr lang="en-US" altLang="zh-CN" sz="2800" dirty="0">
                <a:solidFill>
                  <a:srgbClr val="0000FF"/>
                </a:solidFill>
              </a:rPr>
              <a:t>='1'</a:t>
            </a:r>
            <a:r>
              <a:rPr lang="en-US" altLang="zh-CN" sz="2800" dirty="0"/>
              <a:t>);</a:t>
            </a:r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(</a:t>
            </a:r>
            <a:r>
              <a:rPr lang="zh-CN" altLang="en-US" dirty="0">
                <a:solidFill>
                  <a:schemeClr val="hlink"/>
                </a:solidFill>
              </a:rPr>
              <a:t>要求的学生不存在</a:t>
            </a:r>
            <a:r>
              <a:rPr lang="en-US" altLang="zh-CN" dirty="0">
                <a:solidFill>
                  <a:schemeClr val="hlink"/>
                </a:solidFill>
              </a:rPr>
              <a:t>1</a:t>
            </a:r>
            <a:r>
              <a:rPr lang="zh-CN" altLang="en-US" dirty="0">
                <a:solidFill>
                  <a:schemeClr val="hlink"/>
                </a:solidFill>
              </a:rPr>
              <a:t>号课程的选课记录</a:t>
            </a:r>
            <a:r>
              <a:rPr lang="en-US" altLang="zh-CN" dirty="0"/>
              <a:t>) 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3429000" y="3048000"/>
            <a:ext cx="84350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en-US" altLang="zh-CN" sz="6600" i="1" dirty="0">
                <a:solidFill>
                  <a:srgbClr val="C00000"/>
                </a:solidFill>
                <a:latin typeface="Helvetica" pitchFamily="34" charset="0"/>
              </a:rPr>
              <a:t>Ø</a:t>
            </a:r>
            <a:endParaRPr lang="zh-CN" altLang="en-US" sz="66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C728DCA-D4AA-A818-FB38-470BA09DC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139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7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7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72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72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87BB36F-8109-4402-A912-9E696B03FAEC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3824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382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3.4.3. </a:t>
            </a:r>
            <a:r>
              <a:rPr lang="zh-CN" altLang="en-US"/>
              <a:t>嵌套查询</a:t>
            </a:r>
          </a:p>
        </p:txBody>
      </p:sp>
      <p:sp>
        <p:nvSpPr>
          <p:cNvPr id="1382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45488" cy="5181600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zh-CN" altLang="en-US" sz="2800" dirty="0"/>
              <a:t>一些带</a:t>
            </a:r>
            <a:r>
              <a:rPr lang="en-US" altLang="zh-CN" sz="2800" dirty="0"/>
              <a:t>EXISTS</a:t>
            </a:r>
            <a:r>
              <a:rPr lang="zh-CN" altLang="en-US" sz="2800" dirty="0"/>
              <a:t>或</a:t>
            </a:r>
            <a:r>
              <a:rPr lang="en-US" altLang="zh-CN" sz="2800" dirty="0"/>
              <a:t>NOT EXISTS</a:t>
            </a:r>
            <a:r>
              <a:rPr lang="zh-CN" altLang="en-US" sz="2800" dirty="0"/>
              <a:t>谓词的子查询不能被其他形式的子查询等价替换，但所有</a:t>
            </a:r>
            <a:r>
              <a:rPr lang="zh-CN" altLang="en-US" sz="2800" dirty="0">
                <a:solidFill>
                  <a:srgbClr val="0000FF"/>
                </a:solidFill>
              </a:rPr>
              <a:t>带</a:t>
            </a:r>
            <a:r>
              <a:rPr lang="en-US" altLang="zh-CN" sz="2800" dirty="0">
                <a:solidFill>
                  <a:srgbClr val="0000FF"/>
                </a:solidFill>
              </a:rPr>
              <a:t>IN</a:t>
            </a:r>
            <a:r>
              <a:rPr lang="zh-CN" altLang="en-US" sz="2800" dirty="0">
                <a:solidFill>
                  <a:srgbClr val="0000FF"/>
                </a:solidFill>
              </a:rPr>
              <a:t>谓词、比较运算符、</a:t>
            </a:r>
            <a:r>
              <a:rPr lang="en-US" altLang="zh-CN" sz="2800" dirty="0">
                <a:solidFill>
                  <a:srgbClr val="0000FF"/>
                </a:solidFill>
              </a:rPr>
              <a:t>ANY</a:t>
            </a:r>
            <a:r>
              <a:rPr lang="zh-CN" altLang="en-US" sz="2800" dirty="0">
                <a:solidFill>
                  <a:srgbClr val="0000FF"/>
                </a:solidFill>
              </a:rPr>
              <a:t>和</a:t>
            </a:r>
            <a:r>
              <a:rPr lang="en-US" altLang="zh-CN" sz="2800" dirty="0">
                <a:solidFill>
                  <a:srgbClr val="0000FF"/>
                </a:solidFill>
              </a:rPr>
              <a:t>ALL</a:t>
            </a:r>
            <a:r>
              <a:rPr lang="zh-CN" altLang="en-US" sz="2800" dirty="0">
                <a:solidFill>
                  <a:srgbClr val="0000FF"/>
                </a:solidFill>
              </a:rPr>
              <a:t>谓词的子查询</a:t>
            </a:r>
            <a:r>
              <a:rPr lang="zh-CN" altLang="en-US" sz="2800" dirty="0"/>
              <a:t>都能用带</a:t>
            </a:r>
            <a:r>
              <a:rPr lang="en-US" altLang="zh-CN" sz="2800" dirty="0">
                <a:solidFill>
                  <a:srgbClr val="FF0000"/>
                </a:solidFill>
              </a:rPr>
              <a:t>EXISTS</a:t>
            </a:r>
            <a:r>
              <a:rPr lang="zh-CN" altLang="en-US" sz="2800" dirty="0">
                <a:solidFill>
                  <a:srgbClr val="FF0000"/>
                </a:solidFill>
              </a:rPr>
              <a:t>谓词的子查询等价替换</a:t>
            </a:r>
            <a:r>
              <a:rPr lang="zh-CN" altLang="en-US" sz="2800" dirty="0"/>
              <a:t>。</a:t>
            </a:r>
            <a:br>
              <a:rPr lang="zh-CN" altLang="en-US" sz="2800" dirty="0"/>
            </a:br>
            <a:endParaRPr lang="en-US" altLang="zh-CN" sz="28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B161657-B3DF-ACEF-CDC4-7D9BC8E1E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140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F561A76-6BBE-4C13-B255-E79C1862DA09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3926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392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3.4.3. </a:t>
            </a:r>
            <a:r>
              <a:rPr lang="zh-CN" altLang="en-US"/>
              <a:t>嵌套查询</a:t>
            </a:r>
          </a:p>
        </p:txBody>
      </p:sp>
      <p:sp>
        <p:nvSpPr>
          <p:cNvPr id="1392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SQL</a:t>
            </a:r>
            <a:r>
              <a:rPr lang="zh-CN" altLang="en-US" dirty="0"/>
              <a:t>语言中</a:t>
            </a:r>
            <a:r>
              <a:rPr lang="zh-CN" altLang="en-US" b="1" dirty="0">
                <a:solidFill>
                  <a:srgbClr val="FF0000"/>
                </a:solidFill>
              </a:rPr>
              <a:t>没有</a:t>
            </a:r>
            <a:r>
              <a:rPr lang="zh-CN" altLang="en-US" dirty="0">
                <a:solidFill>
                  <a:srgbClr val="0000FF"/>
                </a:solidFill>
              </a:rPr>
              <a:t>全称量词</a:t>
            </a:r>
            <a:r>
              <a:rPr lang="en-US" altLang="zh-CN" dirty="0"/>
              <a:t>Ɐ</a:t>
            </a:r>
            <a:r>
              <a:rPr lang="zh-CN" altLang="en-US" dirty="0"/>
              <a:t>（</a:t>
            </a:r>
            <a:r>
              <a:rPr lang="en-US" altLang="zh-CN" dirty="0"/>
              <a:t>For all</a:t>
            </a:r>
            <a:r>
              <a:rPr lang="zh-CN" altLang="en-US" dirty="0"/>
              <a:t>）。因此可以利用</a:t>
            </a:r>
            <a:r>
              <a:rPr lang="zh-CN" altLang="en-US" dirty="0">
                <a:solidFill>
                  <a:srgbClr val="0000FF"/>
                </a:solidFill>
              </a:rPr>
              <a:t>谓词演算</a:t>
            </a:r>
            <a:r>
              <a:rPr lang="zh-CN" altLang="en-US" dirty="0"/>
              <a:t>将一个带有</a:t>
            </a:r>
            <a:r>
              <a:rPr lang="zh-CN" altLang="en-US" dirty="0">
                <a:solidFill>
                  <a:srgbClr val="0000FF"/>
                </a:solidFill>
              </a:rPr>
              <a:t>全称量词</a:t>
            </a:r>
            <a:r>
              <a:rPr lang="zh-CN" altLang="en-US" dirty="0"/>
              <a:t>的谓词转换为</a:t>
            </a:r>
            <a:r>
              <a:rPr lang="zh-CN" altLang="en-US" dirty="0">
                <a:solidFill>
                  <a:srgbClr val="0000FF"/>
                </a:solidFill>
              </a:rPr>
              <a:t>等价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00FF"/>
                </a:solidFill>
              </a:rPr>
              <a:t>带有存在量词</a:t>
            </a:r>
            <a:r>
              <a:rPr lang="zh-CN" altLang="en-US" dirty="0"/>
              <a:t>的谓词。</a:t>
            </a:r>
          </a:p>
          <a:p>
            <a:pPr eaLnBrk="1" hangingPunct="1"/>
            <a:endParaRPr lang="zh-CN" altLang="en-US" sz="1000" dirty="0"/>
          </a:p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46 </a:t>
            </a:r>
            <a:r>
              <a:rPr lang="zh-CN" altLang="en-US" dirty="0"/>
              <a:t>查询选修了全部课程的学生姓名</a:t>
            </a:r>
          </a:p>
          <a:p>
            <a:pPr lvl="1" eaLnBrk="1" hangingPunct="1"/>
            <a:r>
              <a:rPr lang="zh-CN" altLang="en-US" dirty="0"/>
              <a:t>由于没有全称量词，我们将题目的意思转换成等价的存在量词的形式：</a:t>
            </a:r>
            <a:r>
              <a:rPr lang="zh-CN" altLang="en-US" u="sng" dirty="0"/>
              <a:t>查询这样的学生姓名，</a:t>
            </a:r>
            <a:r>
              <a:rPr lang="zh-CN" altLang="en-US" u="sng" dirty="0">
                <a:solidFill>
                  <a:srgbClr val="0000FF"/>
                </a:solidFill>
              </a:rPr>
              <a:t>没有一门课程是他不选的</a:t>
            </a:r>
            <a:r>
              <a:rPr lang="zh-CN" altLang="en-US" dirty="0"/>
              <a:t>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1D98BC7-5214-4CC6-1E46-011D05EB1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141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92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92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92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92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C44A790-A9B8-4313-BD45-91F79D1CF9EF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4029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402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3.4.3. </a:t>
            </a:r>
            <a:r>
              <a:rPr lang="zh-CN" altLang="en-US"/>
              <a:t>嵌套查询</a:t>
            </a:r>
          </a:p>
        </p:txBody>
      </p:sp>
      <p:sp>
        <p:nvSpPr>
          <p:cNvPr id="140294" name="Rectangle 4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838200" y="1430338"/>
            <a:ext cx="7915835" cy="52752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/>
          <a:lstStyle>
            <a:lvl1pPr marL="342900" indent="-3429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CN" sz="2800" dirty="0">
                <a:latin typeface="+mn-lt"/>
                <a:cs typeface="Arial" charset="0"/>
              </a:rPr>
              <a:t>SELECT </a:t>
            </a:r>
            <a:r>
              <a:rPr kumimoji="0" lang="en-US" altLang="zh-CN" sz="2800" dirty="0" err="1">
                <a:latin typeface="+mn-lt"/>
                <a:cs typeface="Arial" charset="0"/>
              </a:rPr>
              <a:t>Sname</a:t>
            </a:r>
            <a:endParaRPr kumimoji="0" lang="en-US" altLang="zh-CN" sz="2800" dirty="0">
              <a:latin typeface="+mn-lt"/>
              <a:cs typeface="Arial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CN" sz="2800" dirty="0">
                <a:latin typeface="+mn-lt"/>
                <a:cs typeface="Arial" charset="0"/>
              </a:rPr>
              <a:t>FROM </a:t>
            </a:r>
            <a:r>
              <a:rPr kumimoji="0" lang="en-US" altLang="zh-CN" sz="2800" dirty="0">
                <a:solidFill>
                  <a:srgbClr val="C00000"/>
                </a:solidFill>
                <a:latin typeface="+mn-lt"/>
                <a:cs typeface="Arial" charset="0"/>
              </a:rPr>
              <a:t>Student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CN" sz="2800" dirty="0">
                <a:latin typeface="+mn-lt"/>
                <a:cs typeface="Arial" charset="0"/>
              </a:rPr>
              <a:t>WHERE</a:t>
            </a:r>
            <a:r>
              <a:rPr kumimoji="0" lang="en-US" altLang="zh-CN" sz="2800" dirty="0">
                <a:solidFill>
                  <a:srgbClr val="000080"/>
                </a:solidFill>
                <a:latin typeface="+mn-lt"/>
                <a:cs typeface="Arial" charset="0"/>
              </a:rPr>
              <a:t> </a:t>
            </a:r>
            <a:r>
              <a:rPr kumimoji="0" lang="en-US" altLang="zh-CN" sz="2800" dirty="0">
                <a:solidFill>
                  <a:srgbClr val="FF0000"/>
                </a:solidFill>
                <a:latin typeface="+mn-lt"/>
                <a:cs typeface="Arial" charset="0"/>
              </a:rPr>
              <a:t>NOT EXISTS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CN" sz="2800" dirty="0">
                <a:solidFill>
                  <a:srgbClr val="000080"/>
                </a:solidFill>
                <a:latin typeface="+mn-lt"/>
                <a:cs typeface="Arial" charset="0"/>
              </a:rPr>
              <a:t>      (</a:t>
            </a:r>
            <a:r>
              <a:rPr kumimoji="0" lang="en-US" altLang="zh-CN" sz="2800" dirty="0">
                <a:latin typeface="+mn-lt"/>
                <a:cs typeface="Arial" charset="0"/>
              </a:rPr>
              <a:t>SELECT * </a:t>
            </a:r>
            <a:br>
              <a:rPr kumimoji="0" lang="en-US" altLang="zh-CN" sz="2800" dirty="0">
                <a:latin typeface="+mn-lt"/>
                <a:cs typeface="Arial" charset="0"/>
              </a:rPr>
            </a:br>
            <a:r>
              <a:rPr kumimoji="0" lang="en-US" altLang="zh-CN" sz="2800" dirty="0">
                <a:latin typeface="+mn-lt"/>
                <a:cs typeface="Arial" charset="0"/>
              </a:rPr>
              <a:t>        FROM </a:t>
            </a:r>
            <a:r>
              <a:rPr kumimoji="0" lang="en-US" altLang="zh-CN" sz="2800" dirty="0">
                <a:solidFill>
                  <a:srgbClr val="0000FF"/>
                </a:solidFill>
                <a:latin typeface="+mn-lt"/>
                <a:cs typeface="Arial" charset="0"/>
              </a:rPr>
              <a:t>Course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CN" sz="2800" dirty="0">
                <a:solidFill>
                  <a:srgbClr val="000080"/>
                </a:solidFill>
                <a:latin typeface="+mn-lt"/>
                <a:cs typeface="Arial" charset="0"/>
              </a:rPr>
              <a:t>        </a:t>
            </a:r>
            <a:r>
              <a:rPr kumimoji="0" lang="en-US" altLang="zh-CN" sz="2800" dirty="0">
                <a:latin typeface="+mn-lt"/>
                <a:cs typeface="Arial" charset="0"/>
              </a:rPr>
              <a:t>WHERE</a:t>
            </a:r>
            <a:r>
              <a:rPr kumimoji="0" lang="en-US" altLang="zh-CN" sz="2800" dirty="0">
                <a:solidFill>
                  <a:srgbClr val="000080"/>
                </a:solidFill>
                <a:latin typeface="+mn-lt"/>
                <a:cs typeface="Arial" charset="0"/>
              </a:rPr>
              <a:t> </a:t>
            </a:r>
            <a:r>
              <a:rPr kumimoji="0" lang="en-US" altLang="zh-CN" sz="2800" dirty="0">
                <a:solidFill>
                  <a:srgbClr val="FF0000"/>
                </a:solidFill>
                <a:latin typeface="+mn-lt"/>
                <a:cs typeface="Arial" charset="0"/>
              </a:rPr>
              <a:t>NOT EXISTS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CN" sz="2800" dirty="0">
                <a:solidFill>
                  <a:srgbClr val="000080"/>
                </a:solidFill>
                <a:latin typeface="+mn-lt"/>
                <a:cs typeface="Arial" charset="0"/>
              </a:rPr>
              <a:t>              (</a:t>
            </a:r>
            <a:r>
              <a:rPr kumimoji="0" lang="en-US" altLang="zh-CN" sz="2800" dirty="0">
                <a:latin typeface="+mn-lt"/>
                <a:cs typeface="Arial" charset="0"/>
              </a:rPr>
              <a:t>SELECT * </a:t>
            </a:r>
            <a:br>
              <a:rPr kumimoji="0" lang="en-US" altLang="zh-CN" sz="2800" dirty="0">
                <a:latin typeface="+mn-lt"/>
                <a:cs typeface="Arial" charset="0"/>
              </a:rPr>
            </a:br>
            <a:r>
              <a:rPr kumimoji="0" lang="en-US" altLang="zh-CN" sz="2800" dirty="0">
                <a:latin typeface="+mn-lt"/>
                <a:cs typeface="Arial" charset="0"/>
              </a:rPr>
              <a:t>                FROM </a:t>
            </a:r>
            <a:r>
              <a:rPr kumimoji="0" lang="en-US" altLang="zh-CN" sz="2800" dirty="0">
                <a:solidFill>
                  <a:srgbClr val="006600"/>
                </a:solidFill>
                <a:latin typeface="+mn-lt"/>
                <a:cs typeface="Arial" charset="0"/>
              </a:rPr>
              <a:t>SC 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kumimoji="0" lang="en-US" altLang="zh-CN" sz="2800" dirty="0">
                <a:solidFill>
                  <a:srgbClr val="000080"/>
                </a:solidFill>
                <a:latin typeface="+mn-lt"/>
                <a:cs typeface="Arial" charset="0"/>
              </a:rPr>
              <a:t>                </a:t>
            </a:r>
            <a:r>
              <a:rPr kumimoji="0" lang="en-US" altLang="zh-CN" sz="2800" dirty="0">
                <a:latin typeface="+mn-lt"/>
                <a:cs typeface="Arial" charset="0"/>
              </a:rPr>
              <a:t>WHERE</a:t>
            </a:r>
            <a:r>
              <a:rPr kumimoji="0" lang="en-US" altLang="zh-CN" sz="2800" dirty="0">
                <a:solidFill>
                  <a:srgbClr val="000080"/>
                </a:solidFill>
                <a:latin typeface="+mn-lt"/>
                <a:cs typeface="Arial" charset="0"/>
              </a:rPr>
              <a:t> </a:t>
            </a:r>
            <a:r>
              <a:rPr kumimoji="0" lang="en-US" altLang="zh-CN" sz="2800" dirty="0" err="1">
                <a:solidFill>
                  <a:srgbClr val="006600"/>
                </a:solidFill>
                <a:latin typeface="+mn-lt"/>
                <a:cs typeface="Arial" charset="0"/>
              </a:rPr>
              <a:t>SC.Sno</a:t>
            </a:r>
            <a:r>
              <a:rPr kumimoji="0" lang="en-US" altLang="zh-CN" sz="2800" dirty="0">
                <a:latin typeface="+mn-lt"/>
                <a:cs typeface="Arial" charset="0"/>
              </a:rPr>
              <a:t> = </a:t>
            </a:r>
            <a:r>
              <a:rPr kumimoji="0" lang="en-US" altLang="zh-CN" sz="2800" dirty="0" err="1">
                <a:solidFill>
                  <a:srgbClr val="C00000"/>
                </a:solidFill>
                <a:latin typeface="+mn-lt"/>
                <a:cs typeface="Arial" charset="0"/>
              </a:rPr>
              <a:t>Student.Sno</a:t>
            </a:r>
            <a:r>
              <a:rPr kumimoji="0" lang="en-US" altLang="zh-CN" sz="2800" dirty="0">
                <a:solidFill>
                  <a:srgbClr val="000080"/>
                </a:solidFill>
                <a:latin typeface="+mn-lt"/>
                <a:cs typeface="Arial" charset="0"/>
              </a:rPr>
              <a:t> 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kumimoji="0" lang="en-US" altLang="zh-CN" sz="2800" dirty="0">
                <a:solidFill>
                  <a:srgbClr val="000080"/>
                </a:solidFill>
                <a:latin typeface="+mn-lt"/>
                <a:cs typeface="Arial" charset="0"/>
              </a:rPr>
              <a:t>                      </a:t>
            </a:r>
            <a:r>
              <a:rPr kumimoji="0" lang="en-US" altLang="zh-CN" sz="2800" dirty="0">
                <a:latin typeface="+mn-lt"/>
                <a:cs typeface="Arial" charset="0"/>
              </a:rPr>
              <a:t>AND</a:t>
            </a:r>
            <a:r>
              <a:rPr kumimoji="0" lang="en-US" altLang="zh-CN" sz="2800" dirty="0">
                <a:solidFill>
                  <a:srgbClr val="000080"/>
                </a:solidFill>
                <a:latin typeface="+mn-lt"/>
                <a:cs typeface="Arial" charset="0"/>
              </a:rPr>
              <a:t> </a:t>
            </a:r>
            <a:r>
              <a:rPr kumimoji="0" lang="en-US" altLang="zh-CN" sz="2800" dirty="0" err="1">
                <a:solidFill>
                  <a:srgbClr val="006600"/>
                </a:solidFill>
                <a:latin typeface="+mn-lt"/>
                <a:cs typeface="Arial" charset="0"/>
              </a:rPr>
              <a:t>SC.Cno</a:t>
            </a:r>
            <a:r>
              <a:rPr kumimoji="0" lang="en-US" altLang="zh-CN" sz="2800" dirty="0">
                <a:solidFill>
                  <a:srgbClr val="000080"/>
                </a:solidFill>
                <a:latin typeface="+mn-lt"/>
                <a:cs typeface="Arial" charset="0"/>
              </a:rPr>
              <a:t>=</a:t>
            </a:r>
            <a:r>
              <a:rPr kumimoji="0" lang="en-US" altLang="zh-CN" sz="2800" dirty="0">
                <a:solidFill>
                  <a:srgbClr val="0000FF"/>
                </a:solidFill>
                <a:latin typeface="+mn-lt"/>
                <a:cs typeface="Arial" charset="0"/>
              </a:rPr>
              <a:t> </a:t>
            </a:r>
            <a:r>
              <a:rPr kumimoji="0" lang="en-US" altLang="zh-CN" sz="2800" dirty="0" err="1">
                <a:solidFill>
                  <a:srgbClr val="0000FF"/>
                </a:solidFill>
                <a:latin typeface="+mn-lt"/>
                <a:cs typeface="Arial" charset="0"/>
              </a:rPr>
              <a:t>Course.Cno</a:t>
            </a:r>
            <a:r>
              <a:rPr kumimoji="0" lang="en-US" altLang="zh-CN" sz="2800" dirty="0">
                <a:latin typeface="+mn-lt"/>
                <a:cs typeface="Arial" charset="0"/>
              </a:rPr>
              <a:t>));</a:t>
            </a:r>
          </a:p>
        </p:txBody>
      </p:sp>
      <p:sp>
        <p:nvSpPr>
          <p:cNvPr id="140295" name="AutoShape 5"/>
          <p:cNvSpPr>
            <a:spLocks noChangeArrowheads="1"/>
          </p:cNvSpPr>
          <p:nvPr/>
        </p:nvSpPr>
        <p:spPr bwMode="auto">
          <a:xfrm>
            <a:off x="5219700" y="1430338"/>
            <a:ext cx="2665413" cy="719137"/>
          </a:xfrm>
          <a:prstGeom prst="wedgeRectCallout">
            <a:avLst>
              <a:gd name="adj1" fmla="val -111152"/>
              <a:gd name="adj2" fmla="val 4731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/>
              <a:t>查这样的学生</a:t>
            </a:r>
          </a:p>
        </p:txBody>
      </p:sp>
      <p:sp>
        <p:nvSpPr>
          <p:cNvPr id="140296" name="AutoShape 6"/>
          <p:cNvSpPr>
            <a:spLocks noChangeArrowheads="1"/>
          </p:cNvSpPr>
          <p:nvPr/>
        </p:nvSpPr>
        <p:spPr bwMode="auto">
          <a:xfrm>
            <a:off x="5257800" y="2590800"/>
            <a:ext cx="2881313" cy="1003300"/>
          </a:xfrm>
          <a:prstGeom prst="wedgeRectCallout">
            <a:avLst>
              <a:gd name="adj1" fmla="val -106514"/>
              <a:gd name="adj2" fmla="val -721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/>
              <a:t>不存在课程表中这样的课程</a:t>
            </a:r>
          </a:p>
        </p:txBody>
      </p:sp>
      <p:sp>
        <p:nvSpPr>
          <p:cNvPr id="140297" name="AutoShape 7"/>
          <p:cNvSpPr>
            <a:spLocks noChangeArrowheads="1"/>
          </p:cNvSpPr>
          <p:nvPr/>
        </p:nvSpPr>
        <p:spPr bwMode="auto">
          <a:xfrm>
            <a:off x="6300788" y="3949700"/>
            <a:ext cx="2159000" cy="936625"/>
          </a:xfrm>
          <a:prstGeom prst="wedgeRectCallout">
            <a:avLst>
              <a:gd name="adj1" fmla="val -127716"/>
              <a:gd name="adj2" fmla="val 2098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/>
              <a:t>这门课程该生没有选</a:t>
            </a:r>
          </a:p>
        </p:txBody>
      </p:sp>
      <p:sp>
        <p:nvSpPr>
          <p:cNvPr id="11" name="下箭头 10"/>
          <p:cNvSpPr/>
          <p:nvPr/>
        </p:nvSpPr>
        <p:spPr bwMode="auto">
          <a:xfrm>
            <a:off x="389965" y="2784288"/>
            <a:ext cx="457200" cy="2930712"/>
          </a:xfrm>
          <a:prstGeom prst="downArrow">
            <a:avLst>
              <a:gd name="adj1" fmla="val 50000"/>
              <a:gd name="adj2" fmla="val 88095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8AFE033-5B14-2FAA-E242-DD830164B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142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0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0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02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02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40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02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02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02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02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40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02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02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40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02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02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02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02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02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02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5" grpId="0" animBg="1"/>
      <p:bldP spid="140296" grpId="0" animBg="1"/>
      <p:bldP spid="140297" grpId="0" animBg="1"/>
      <p:bldP spid="11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5086D15-B1DE-4FA1-84AF-1DE58AEF04C5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4131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413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3.4.3. </a:t>
            </a:r>
            <a:r>
              <a:rPr lang="zh-CN" altLang="en-US"/>
              <a:t>嵌套查询</a:t>
            </a:r>
          </a:p>
        </p:txBody>
      </p:sp>
      <p:sp>
        <p:nvSpPr>
          <p:cNvPr id="1413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dirty="0"/>
              <a:t>方法</a:t>
            </a:r>
            <a:r>
              <a:rPr lang="en-US" altLang="zh-CN" dirty="0"/>
              <a:t>2</a:t>
            </a:r>
            <a:r>
              <a:rPr lang="zh-CN" altLang="en-US" dirty="0"/>
              <a:t>：用集函数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/>
              <a:t>SELECT </a:t>
            </a:r>
            <a:r>
              <a:rPr lang="en-US" altLang="zh-CN" sz="2800" dirty="0" err="1"/>
              <a:t>Sname</a:t>
            </a:r>
            <a:endParaRPr lang="en-US" altLang="zh-CN" sz="28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/>
              <a:t>  FROM Student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/>
              <a:t>  WHERE </a:t>
            </a:r>
            <a:r>
              <a:rPr lang="en-US" altLang="zh-CN" sz="2800" dirty="0" err="1">
                <a:solidFill>
                  <a:srgbClr val="006600"/>
                </a:solidFill>
              </a:rPr>
              <a:t>Sno</a:t>
            </a:r>
            <a:r>
              <a:rPr lang="en-US" altLang="zh-CN" sz="2800" dirty="0">
                <a:solidFill>
                  <a:srgbClr val="006600"/>
                </a:solidFill>
              </a:rPr>
              <a:t> </a:t>
            </a:r>
            <a:r>
              <a:rPr lang="en-US" altLang="zh-CN" sz="2800" dirty="0">
                <a:solidFill>
                  <a:srgbClr val="0000FF"/>
                </a:solidFill>
              </a:rPr>
              <a:t>IN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/>
              <a:t>      (SELECT </a:t>
            </a:r>
            <a:r>
              <a:rPr lang="en-US" altLang="zh-CN" sz="2800" dirty="0" err="1">
                <a:solidFill>
                  <a:srgbClr val="006600"/>
                </a:solidFill>
              </a:rPr>
              <a:t>Sno</a:t>
            </a:r>
            <a:endParaRPr lang="en-US" altLang="zh-CN" sz="2800" dirty="0">
              <a:solidFill>
                <a:srgbClr val="0066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/>
              <a:t>       FROM SC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/>
              <a:t>	    </a:t>
            </a:r>
            <a:r>
              <a:rPr lang="en-US" altLang="zh-CN" sz="2800" dirty="0">
                <a:solidFill>
                  <a:srgbClr val="0000FF"/>
                </a:solidFill>
              </a:rPr>
              <a:t>GROUP BY </a:t>
            </a:r>
            <a:r>
              <a:rPr lang="en-US" altLang="zh-CN" sz="2800" dirty="0" err="1">
                <a:solidFill>
                  <a:srgbClr val="006600"/>
                </a:solidFill>
              </a:rPr>
              <a:t>Sno</a:t>
            </a:r>
            <a:endParaRPr lang="en-US" altLang="zh-CN" sz="2800" dirty="0">
              <a:solidFill>
                <a:srgbClr val="0066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/>
              <a:t>	       </a:t>
            </a:r>
            <a:r>
              <a:rPr lang="en-US" altLang="zh-CN" sz="2600" dirty="0">
                <a:solidFill>
                  <a:srgbClr val="C00000"/>
                </a:solidFill>
              </a:rPr>
              <a:t>HAVING COUNT(*) =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600" dirty="0">
                <a:solidFill>
                  <a:srgbClr val="C00000"/>
                </a:solidFill>
              </a:rPr>
              <a:t>	          </a:t>
            </a:r>
            <a:r>
              <a:rPr lang="en-US" altLang="zh-CN" sz="2600" dirty="0"/>
              <a:t>(SELECT COUNT(*)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600" dirty="0"/>
              <a:t>      		FROM Course));</a:t>
            </a:r>
          </a:p>
          <a:p>
            <a:pPr eaLnBrk="1" hangingPunct="1">
              <a:lnSpc>
                <a:spcPct val="80000"/>
              </a:lnSpc>
            </a:pPr>
            <a:endParaRPr lang="zh-CN" altLang="en-US" sz="2800" dirty="0"/>
          </a:p>
        </p:txBody>
      </p:sp>
      <p:sp>
        <p:nvSpPr>
          <p:cNvPr id="2" name="矩形 1"/>
          <p:cNvSpPr/>
          <p:nvPr/>
        </p:nvSpPr>
        <p:spPr bwMode="auto">
          <a:xfrm>
            <a:off x="1295400" y="3200400"/>
            <a:ext cx="3886200" cy="2819400"/>
          </a:xfrm>
          <a:prstGeom prst="rect">
            <a:avLst/>
          </a:prstGeom>
          <a:noFill/>
          <a:ln w="3175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8BB0BFC-A313-2CA5-6FC6-8395FF51C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143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13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13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13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13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13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13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13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13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13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13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13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13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413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413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413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468400DB-EEDE-4525-9B77-7F7EE0A71890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4233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423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3.4.3. </a:t>
            </a:r>
            <a:r>
              <a:rPr lang="zh-CN" altLang="en-US"/>
              <a:t>嵌套查询</a:t>
            </a:r>
          </a:p>
        </p:txBody>
      </p:sp>
      <p:sp>
        <p:nvSpPr>
          <p:cNvPr id="1423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dirty="0"/>
              <a:t>思考：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SELECT </a:t>
            </a:r>
            <a:r>
              <a:rPr lang="en-US" altLang="zh-CN" sz="2800" dirty="0" err="1"/>
              <a:t>Sname</a:t>
            </a:r>
            <a:endParaRPr lang="en-US" altLang="zh-CN" sz="28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FROM Student, SC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WHERE </a:t>
            </a:r>
            <a:r>
              <a:rPr lang="en-US" altLang="zh-CN" sz="2800" dirty="0" err="1">
                <a:solidFill>
                  <a:srgbClr val="0000FF"/>
                </a:solidFill>
              </a:rPr>
              <a:t>Student.Sno</a:t>
            </a:r>
            <a:r>
              <a:rPr lang="en-US" altLang="zh-CN" sz="2800" dirty="0">
                <a:solidFill>
                  <a:srgbClr val="0000FF"/>
                </a:solidFill>
              </a:rPr>
              <a:t>=</a:t>
            </a:r>
            <a:r>
              <a:rPr lang="en-US" altLang="zh-CN" sz="2800" dirty="0" err="1">
                <a:solidFill>
                  <a:srgbClr val="0000FF"/>
                </a:solidFill>
              </a:rPr>
              <a:t>SC.Sno</a:t>
            </a:r>
            <a:endParaRPr lang="en-US" altLang="zh-CN" sz="2800" dirty="0">
              <a:solidFill>
                <a:srgbClr val="0000FF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	</a:t>
            </a:r>
            <a:r>
              <a:rPr lang="en-US" altLang="zh-CN" sz="2800" dirty="0">
                <a:solidFill>
                  <a:srgbClr val="0000FF"/>
                </a:solidFill>
              </a:rPr>
              <a:t>     </a:t>
            </a:r>
            <a:r>
              <a:rPr lang="en-US" altLang="zh-CN" sz="2800" dirty="0">
                <a:solidFill>
                  <a:srgbClr val="C00000"/>
                </a:solidFill>
              </a:rPr>
              <a:t>GROUP BY </a:t>
            </a:r>
            <a:r>
              <a:rPr lang="en-US" altLang="zh-CN" sz="2800" dirty="0" err="1"/>
              <a:t>SC.Sno</a:t>
            </a:r>
            <a:endParaRPr lang="en-US" altLang="zh-CN" sz="28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	     HAVING COUNT(*) =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	        (SELECT COUNT(*)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    		FROM Course));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/>
              <a:t>错在哪里？</a:t>
            </a:r>
          </a:p>
        </p:txBody>
      </p:sp>
      <p:sp>
        <p:nvSpPr>
          <p:cNvPr id="2" name="矩形 1"/>
          <p:cNvSpPr/>
          <p:nvPr/>
        </p:nvSpPr>
        <p:spPr>
          <a:xfrm>
            <a:off x="4800600" y="1371600"/>
            <a:ext cx="4191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eaLnBrk="1" hangingPunct="1">
              <a:buFontTx/>
              <a:buNone/>
            </a:pPr>
            <a:r>
              <a:rPr lang="zh-CN" altLang="en-US" dirty="0">
                <a:solidFill>
                  <a:srgbClr val="C00000"/>
                </a:solidFill>
              </a:rPr>
              <a:t>指定 </a:t>
            </a:r>
            <a:r>
              <a:rPr lang="en-US" altLang="zh-CN" dirty="0">
                <a:solidFill>
                  <a:srgbClr val="C00000"/>
                </a:solidFill>
              </a:rPr>
              <a:t>GROUP BY </a:t>
            </a:r>
            <a:r>
              <a:rPr lang="zh-CN" altLang="en-US" dirty="0">
                <a:solidFill>
                  <a:srgbClr val="C00000"/>
                </a:solidFill>
              </a:rPr>
              <a:t>时，</a:t>
            </a:r>
            <a:r>
              <a:rPr lang="en-US" altLang="zh-CN" dirty="0">
                <a:solidFill>
                  <a:srgbClr val="C00000"/>
                </a:solidFill>
              </a:rPr>
              <a:t>SELECT</a:t>
            </a:r>
            <a:r>
              <a:rPr lang="zh-CN" altLang="en-US" dirty="0">
                <a:solidFill>
                  <a:srgbClr val="C00000"/>
                </a:solidFill>
              </a:rPr>
              <a:t>选择列表中任一非聚合表达式内的所有列都应包含在 </a:t>
            </a:r>
            <a:r>
              <a:rPr lang="en-US" altLang="zh-CN" dirty="0">
                <a:solidFill>
                  <a:srgbClr val="C00000"/>
                </a:solidFill>
              </a:rPr>
              <a:t>GROUP BY </a:t>
            </a:r>
            <a:r>
              <a:rPr lang="zh-CN" altLang="en-US" dirty="0">
                <a:solidFill>
                  <a:srgbClr val="C00000"/>
                </a:solidFill>
              </a:rPr>
              <a:t>列表中。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6AAF0B5-19E0-C817-C877-F7E34FF2B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144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23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23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18D06C8-F82B-4DE8-B87F-9FCF0458A8D0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4336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433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3.4.3. </a:t>
            </a:r>
            <a:r>
              <a:rPr lang="zh-CN" altLang="en-US"/>
              <a:t>嵌套查询</a:t>
            </a:r>
          </a:p>
        </p:txBody>
      </p:sp>
      <p:sp>
        <p:nvSpPr>
          <p:cNvPr id="1433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例</a:t>
            </a:r>
            <a:r>
              <a:rPr lang="en-US" altLang="zh-CN" dirty="0"/>
              <a:t>47 </a:t>
            </a:r>
            <a:r>
              <a:rPr lang="zh-CN" altLang="en-US" dirty="0"/>
              <a:t>查询至少选修了学生</a:t>
            </a:r>
            <a:r>
              <a:rPr lang="en-US" altLang="zh-CN" dirty="0"/>
              <a:t>200215122</a:t>
            </a:r>
            <a:r>
              <a:rPr lang="zh-CN" altLang="en-US" dirty="0"/>
              <a:t>选修的全部课程的学生号码。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本题的查询要求可以做如下解释，查询这样的学生，每门</a:t>
            </a:r>
            <a:r>
              <a:rPr lang="en-US" altLang="zh-CN" dirty="0"/>
              <a:t>200215122</a:t>
            </a:r>
            <a:r>
              <a:rPr lang="zh-CN" altLang="en-US" dirty="0"/>
              <a:t>号学生选修的课，他都选修了。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换句话说，若有一个</a:t>
            </a:r>
            <a:r>
              <a:rPr lang="zh-CN" altLang="en-US" dirty="0">
                <a:solidFill>
                  <a:srgbClr val="0000FF"/>
                </a:solidFill>
              </a:rPr>
              <a:t>学号为</a:t>
            </a:r>
            <a:r>
              <a:rPr lang="en-US" altLang="zh-CN" dirty="0">
                <a:solidFill>
                  <a:srgbClr val="0000FF"/>
                </a:solidFill>
              </a:rPr>
              <a:t>x</a:t>
            </a:r>
            <a:r>
              <a:rPr lang="zh-CN" altLang="en-US" dirty="0"/>
              <a:t>的学生，对</a:t>
            </a:r>
            <a:r>
              <a:rPr lang="zh-CN" altLang="en-US" dirty="0">
                <a:solidFill>
                  <a:srgbClr val="0000FF"/>
                </a:solidFill>
              </a:rPr>
              <a:t>所有的课程</a:t>
            </a:r>
            <a:r>
              <a:rPr lang="en-US" altLang="zh-CN" dirty="0">
                <a:solidFill>
                  <a:srgbClr val="0000FF"/>
                </a:solidFill>
              </a:rPr>
              <a:t>y</a:t>
            </a:r>
            <a:r>
              <a:rPr lang="zh-CN" altLang="en-US" dirty="0"/>
              <a:t>，只要学号为</a:t>
            </a:r>
            <a:r>
              <a:rPr lang="en-US" altLang="zh-CN" dirty="0"/>
              <a:t>200215122</a:t>
            </a:r>
            <a:r>
              <a:rPr lang="zh-CN" altLang="en-US" dirty="0"/>
              <a:t>的学生选修了课程</a:t>
            </a:r>
            <a:r>
              <a:rPr lang="en-US" altLang="zh-CN" dirty="0"/>
              <a:t>y</a:t>
            </a:r>
            <a:r>
              <a:rPr lang="zh-CN" altLang="en-US" dirty="0"/>
              <a:t>，则</a:t>
            </a:r>
            <a:r>
              <a:rPr lang="en-US" altLang="zh-CN" dirty="0"/>
              <a:t>x</a:t>
            </a:r>
            <a:r>
              <a:rPr lang="zh-CN" altLang="en-US" dirty="0"/>
              <a:t>也选修了</a:t>
            </a:r>
            <a:r>
              <a:rPr lang="en-US" altLang="zh-CN" dirty="0"/>
              <a:t>y</a:t>
            </a:r>
            <a:r>
              <a:rPr lang="zh-CN" altLang="en-US" dirty="0"/>
              <a:t>；那么就将他的学号选出来。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它所表达的语义为：</a:t>
            </a:r>
            <a:r>
              <a:rPr lang="zh-CN" altLang="en-US" dirty="0">
                <a:solidFill>
                  <a:srgbClr val="C00000"/>
                </a:solidFill>
              </a:rPr>
              <a:t>不存在这样的课程</a:t>
            </a:r>
            <a:r>
              <a:rPr lang="en-US" altLang="zh-CN" dirty="0">
                <a:solidFill>
                  <a:srgbClr val="C00000"/>
                </a:solidFill>
              </a:rPr>
              <a:t>y</a:t>
            </a:r>
            <a:r>
              <a:rPr lang="zh-CN" altLang="en-US" dirty="0">
                <a:solidFill>
                  <a:srgbClr val="C00000"/>
                </a:solidFill>
              </a:rPr>
              <a:t>，学生</a:t>
            </a:r>
            <a:r>
              <a:rPr lang="en-US" altLang="zh-CN" dirty="0">
                <a:solidFill>
                  <a:srgbClr val="C00000"/>
                </a:solidFill>
              </a:rPr>
              <a:t>200215122</a:t>
            </a:r>
            <a:r>
              <a:rPr lang="zh-CN" altLang="en-US" dirty="0">
                <a:solidFill>
                  <a:srgbClr val="C00000"/>
                </a:solidFill>
              </a:rPr>
              <a:t>选修了</a:t>
            </a:r>
            <a:r>
              <a:rPr lang="en-US" altLang="zh-CN" dirty="0">
                <a:solidFill>
                  <a:srgbClr val="C00000"/>
                </a:solidFill>
              </a:rPr>
              <a:t>y</a:t>
            </a:r>
            <a:r>
              <a:rPr lang="zh-CN" altLang="en-US" dirty="0">
                <a:solidFill>
                  <a:srgbClr val="C00000"/>
                </a:solidFill>
              </a:rPr>
              <a:t>，而学生</a:t>
            </a:r>
            <a:r>
              <a:rPr lang="en-US" altLang="zh-CN" dirty="0">
                <a:solidFill>
                  <a:srgbClr val="C00000"/>
                </a:solidFill>
              </a:rPr>
              <a:t>x</a:t>
            </a:r>
            <a:r>
              <a:rPr lang="zh-CN" altLang="en-US" dirty="0">
                <a:solidFill>
                  <a:srgbClr val="C00000"/>
                </a:solidFill>
              </a:rPr>
              <a:t>没有选</a:t>
            </a:r>
            <a:r>
              <a:rPr lang="zh-CN" altLang="en-US" dirty="0"/>
              <a:t>。用</a:t>
            </a:r>
            <a:r>
              <a:rPr lang="en-US" altLang="zh-CN" dirty="0"/>
              <a:t>SQL</a:t>
            </a:r>
            <a:r>
              <a:rPr lang="zh-CN" altLang="en-US" dirty="0"/>
              <a:t>语言可表示如下：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5E14972-DC27-93CF-1270-8FB36ADFE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145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3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3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3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3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84381DB-5FFC-4A46-A884-122A06802802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4438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443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3.4.3. </a:t>
            </a:r>
            <a:r>
              <a:rPr lang="zh-CN" altLang="en-US"/>
              <a:t>嵌套查询</a:t>
            </a:r>
          </a:p>
        </p:txBody>
      </p:sp>
      <p:sp>
        <p:nvSpPr>
          <p:cNvPr id="144390" name="Rectangle 4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685800" y="1066800"/>
            <a:ext cx="7772400" cy="563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br>
              <a:rPr kumimoji="0" lang="zh-CN" altLang="en-US" dirty="0">
                <a:cs typeface="Arial" charset="0"/>
              </a:rPr>
            </a:br>
            <a:r>
              <a:rPr kumimoji="0" lang="en-US" altLang="zh-CN" sz="2800" dirty="0">
                <a:cs typeface="Arial" charset="0"/>
              </a:rPr>
              <a:t>SELECT DISTINCT </a:t>
            </a:r>
            <a:r>
              <a:rPr kumimoji="0" lang="en-US" altLang="zh-CN" sz="2800" dirty="0" err="1">
                <a:cs typeface="Arial" charset="0"/>
              </a:rPr>
              <a:t>Sno</a:t>
            </a:r>
            <a:r>
              <a:rPr kumimoji="0" lang="en-US" altLang="zh-CN" sz="2800" dirty="0">
                <a:cs typeface="Arial" charset="0"/>
              </a:rPr>
              <a:t> </a:t>
            </a:r>
            <a:br>
              <a:rPr kumimoji="0" lang="en-US" altLang="zh-CN" sz="2800" dirty="0">
                <a:cs typeface="Arial" charset="0"/>
              </a:rPr>
            </a:br>
            <a:r>
              <a:rPr kumimoji="0" lang="en-US" altLang="zh-CN" sz="2800" dirty="0">
                <a:cs typeface="Arial" charset="0"/>
              </a:rPr>
              <a:t>FROM SC </a:t>
            </a:r>
            <a:r>
              <a:rPr kumimoji="0" lang="en-US" altLang="zh-CN" sz="2800" dirty="0">
                <a:solidFill>
                  <a:srgbClr val="C00000"/>
                </a:solidFill>
                <a:cs typeface="Arial" charset="0"/>
              </a:rPr>
              <a:t>SCX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CN" sz="2800" dirty="0">
                <a:solidFill>
                  <a:srgbClr val="C00000"/>
                </a:solidFill>
                <a:cs typeface="Arial" charset="0"/>
              </a:rPr>
              <a:t>   </a:t>
            </a:r>
            <a:r>
              <a:rPr kumimoji="0" lang="en-US" altLang="zh-CN" sz="2800" dirty="0">
                <a:solidFill>
                  <a:srgbClr val="0000FF"/>
                </a:solidFill>
                <a:cs typeface="Arial" charset="0"/>
              </a:rPr>
              <a:t>WHERE NOT EXISTS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CN" sz="2800" dirty="0">
                <a:solidFill>
                  <a:srgbClr val="0000FF"/>
                </a:solidFill>
                <a:latin typeface="Arial" charset="0"/>
                <a:cs typeface="Arial" charset="0"/>
              </a:rPr>
              <a:t>   </a:t>
            </a:r>
            <a:r>
              <a:rPr kumimoji="0" lang="en-US" altLang="zh-CN" sz="2800" dirty="0">
                <a:latin typeface="Arial" charset="0"/>
                <a:cs typeface="Arial" charset="0"/>
              </a:rPr>
              <a:t>     </a:t>
            </a:r>
            <a:r>
              <a:rPr kumimoji="0" lang="en-US" altLang="zh-CN" sz="2800" dirty="0">
                <a:cs typeface="Arial" charset="0"/>
              </a:rPr>
              <a:t>(SELECT * </a:t>
            </a:r>
            <a:br>
              <a:rPr kumimoji="0" lang="en-US" altLang="zh-CN" sz="2800" dirty="0">
                <a:cs typeface="Arial" charset="0"/>
              </a:rPr>
            </a:br>
            <a:r>
              <a:rPr kumimoji="0" lang="en-US" altLang="zh-CN" sz="2800" dirty="0">
                <a:latin typeface="Arial" charset="0"/>
                <a:cs typeface="Arial" charset="0"/>
              </a:rPr>
              <a:t>     </a:t>
            </a:r>
            <a:r>
              <a:rPr kumimoji="0" lang="en-US" altLang="zh-CN" sz="2800" dirty="0">
                <a:cs typeface="Arial" charset="0"/>
              </a:rPr>
              <a:t> FROM </a:t>
            </a:r>
            <a:r>
              <a:rPr kumimoji="0" lang="en-US" altLang="zh-CN" sz="2800" dirty="0">
                <a:solidFill>
                  <a:srgbClr val="006600"/>
                </a:solidFill>
                <a:cs typeface="Arial" charset="0"/>
              </a:rPr>
              <a:t>SC SCY </a:t>
            </a:r>
            <a:br>
              <a:rPr kumimoji="0" lang="en-US" altLang="zh-CN" sz="2800" dirty="0">
                <a:cs typeface="Arial" charset="0"/>
              </a:rPr>
            </a:br>
            <a:r>
              <a:rPr kumimoji="0" lang="en-US" altLang="zh-CN" sz="2800" dirty="0">
                <a:latin typeface="Arial" charset="0"/>
                <a:cs typeface="Arial" charset="0"/>
              </a:rPr>
              <a:t>     </a:t>
            </a:r>
            <a:r>
              <a:rPr kumimoji="0" lang="en-US" altLang="zh-CN" sz="2800" dirty="0">
                <a:cs typeface="Arial" charset="0"/>
              </a:rPr>
              <a:t> WHERE </a:t>
            </a:r>
            <a:r>
              <a:rPr kumimoji="0" lang="en-US" altLang="zh-CN" sz="2800" dirty="0" err="1">
                <a:solidFill>
                  <a:srgbClr val="006600"/>
                </a:solidFill>
                <a:cs typeface="Arial" charset="0"/>
              </a:rPr>
              <a:t>SCY.Sno</a:t>
            </a:r>
            <a:r>
              <a:rPr kumimoji="0" lang="en-US" altLang="zh-CN" sz="2800" dirty="0">
                <a:solidFill>
                  <a:srgbClr val="006600"/>
                </a:solidFill>
                <a:cs typeface="Arial" charset="0"/>
              </a:rPr>
              <a:t>=</a:t>
            </a:r>
            <a:r>
              <a:rPr kumimoji="0" lang="en-US" altLang="zh-CN" sz="2800" dirty="0">
                <a:solidFill>
                  <a:srgbClr val="006600"/>
                </a:solidFill>
                <a:latin typeface="Arial" charset="0"/>
                <a:cs typeface="Arial" charset="0"/>
              </a:rPr>
              <a:t>‘</a:t>
            </a:r>
            <a:r>
              <a:rPr kumimoji="0" lang="en-US" altLang="zh-CN" sz="2800" dirty="0">
                <a:solidFill>
                  <a:srgbClr val="006600"/>
                </a:solidFill>
                <a:cs typeface="Arial" charset="0"/>
              </a:rPr>
              <a:t>200215122' </a:t>
            </a:r>
            <a:r>
              <a:rPr kumimoji="0" lang="en-US" altLang="zh-CN" sz="2800" dirty="0">
                <a:cs typeface="Arial" charset="0"/>
              </a:rPr>
              <a:t>AND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CN" sz="2800" dirty="0">
                <a:latin typeface="Arial" charset="0"/>
                <a:cs typeface="Arial" charset="0"/>
              </a:rPr>
              <a:t>       </a:t>
            </a:r>
            <a:r>
              <a:rPr kumimoji="0" lang="en-US" altLang="zh-CN" sz="2800" dirty="0">
                <a:cs typeface="Arial" charset="0"/>
              </a:rPr>
              <a:t> </a:t>
            </a:r>
            <a:r>
              <a:rPr kumimoji="0" lang="en-US" altLang="zh-CN" sz="2800" dirty="0">
                <a:latin typeface="Arial" charset="0"/>
                <a:cs typeface="Arial" charset="0"/>
              </a:rPr>
              <a:t>    </a:t>
            </a:r>
            <a:r>
              <a:rPr kumimoji="0" lang="en-US" altLang="zh-CN" sz="2800" dirty="0">
                <a:solidFill>
                  <a:srgbClr val="0000FF"/>
                </a:solidFill>
                <a:cs typeface="Arial" charset="0"/>
              </a:rPr>
              <a:t>NOT EXISTS </a:t>
            </a:r>
            <a:br>
              <a:rPr kumimoji="0" lang="en-US" altLang="zh-CN" sz="2800" dirty="0">
                <a:cs typeface="Arial" charset="0"/>
              </a:rPr>
            </a:br>
            <a:r>
              <a:rPr kumimoji="0" lang="en-US" altLang="zh-CN" sz="2800" dirty="0">
                <a:latin typeface="Arial" charset="0"/>
                <a:cs typeface="Arial" charset="0"/>
              </a:rPr>
              <a:t>       </a:t>
            </a:r>
            <a:r>
              <a:rPr kumimoji="0" lang="en-US" altLang="zh-CN" sz="2800" dirty="0">
                <a:cs typeface="Arial" charset="0"/>
              </a:rPr>
              <a:t> </a:t>
            </a:r>
            <a:r>
              <a:rPr kumimoji="0" lang="en-US" altLang="zh-CN" sz="2800" dirty="0">
                <a:latin typeface="Arial" charset="0"/>
                <a:cs typeface="Arial" charset="0"/>
              </a:rPr>
              <a:t>    </a:t>
            </a:r>
            <a:r>
              <a:rPr kumimoji="0" lang="en-US" altLang="zh-CN" sz="2800" dirty="0">
                <a:cs typeface="Arial" charset="0"/>
              </a:rPr>
              <a:t> </a:t>
            </a:r>
            <a:r>
              <a:rPr kumimoji="0" lang="en-US" altLang="zh-CN" sz="2800" dirty="0">
                <a:latin typeface="Arial" charset="0"/>
                <a:cs typeface="Arial" charset="0"/>
              </a:rPr>
              <a:t>    </a:t>
            </a:r>
            <a:r>
              <a:rPr kumimoji="0" lang="en-US" altLang="zh-CN" sz="2800" dirty="0">
                <a:cs typeface="Arial" charset="0"/>
              </a:rPr>
              <a:t>(SELECT * </a:t>
            </a:r>
            <a:br>
              <a:rPr kumimoji="0" lang="en-US" altLang="zh-CN" sz="2800" dirty="0">
                <a:cs typeface="Arial" charset="0"/>
              </a:rPr>
            </a:br>
            <a:r>
              <a:rPr kumimoji="0" lang="en-US" altLang="zh-CN" sz="2800" dirty="0">
                <a:latin typeface="Arial" charset="0"/>
                <a:cs typeface="Arial" charset="0"/>
              </a:rPr>
              <a:t>       </a:t>
            </a:r>
            <a:r>
              <a:rPr kumimoji="0" lang="en-US" altLang="zh-CN" sz="2800" dirty="0">
                <a:cs typeface="Arial" charset="0"/>
              </a:rPr>
              <a:t> </a:t>
            </a:r>
            <a:r>
              <a:rPr kumimoji="0" lang="en-US" altLang="zh-CN" sz="2800" dirty="0">
                <a:latin typeface="Arial" charset="0"/>
                <a:cs typeface="Arial" charset="0"/>
              </a:rPr>
              <a:t>    </a:t>
            </a:r>
            <a:r>
              <a:rPr kumimoji="0" lang="en-US" altLang="zh-CN" sz="2800" dirty="0">
                <a:cs typeface="Arial" charset="0"/>
              </a:rPr>
              <a:t> </a:t>
            </a:r>
            <a:r>
              <a:rPr kumimoji="0" lang="en-US" altLang="zh-CN" sz="2800" dirty="0">
                <a:latin typeface="Arial" charset="0"/>
                <a:cs typeface="Arial" charset="0"/>
              </a:rPr>
              <a:t>     </a:t>
            </a:r>
            <a:r>
              <a:rPr kumimoji="0" lang="en-US" altLang="zh-CN" sz="2800" dirty="0">
                <a:cs typeface="Arial" charset="0"/>
              </a:rPr>
              <a:t> FROM </a:t>
            </a:r>
            <a:r>
              <a:rPr kumimoji="0" lang="en-US" altLang="zh-CN" sz="2800" dirty="0">
                <a:solidFill>
                  <a:srgbClr val="0000FF"/>
                </a:solidFill>
                <a:cs typeface="Arial" charset="0"/>
              </a:rPr>
              <a:t>SC SCZ </a:t>
            </a:r>
            <a:br>
              <a:rPr kumimoji="0" lang="en-US" altLang="zh-CN" sz="2800" dirty="0">
                <a:cs typeface="Arial" charset="0"/>
              </a:rPr>
            </a:br>
            <a:r>
              <a:rPr kumimoji="0" lang="en-US" altLang="zh-CN" sz="2800" dirty="0">
                <a:latin typeface="Arial" charset="0"/>
                <a:cs typeface="Arial" charset="0"/>
              </a:rPr>
              <a:t>       </a:t>
            </a:r>
            <a:r>
              <a:rPr kumimoji="0" lang="en-US" altLang="zh-CN" sz="2800" dirty="0">
                <a:cs typeface="Arial" charset="0"/>
              </a:rPr>
              <a:t> </a:t>
            </a:r>
            <a:r>
              <a:rPr kumimoji="0" lang="en-US" altLang="zh-CN" sz="2800" dirty="0">
                <a:latin typeface="Arial" charset="0"/>
                <a:cs typeface="Arial" charset="0"/>
              </a:rPr>
              <a:t>    </a:t>
            </a:r>
            <a:r>
              <a:rPr kumimoji="0" lang="en-US" altLang="zh-CN" sz="2800" dirty="0">
                <a:cs typeface="Arial" charset="0"/>
              </a:rPr>
              <a:t> </a:t>
            </a:r>
            <a:r>
              <a:rPr kumimoji="0" lang="en-US" altLang="zh-CN" sz="2800" dirty="0">
                <a:latin typeface="Arial" charset="0"/>
                <a:cs typeface="Arial" charset="0"/>
              </a:rPr>
              <a:t>     </a:t>
            </a:r>
            <a:r>
              <a:rPr kumimoji="0" lang="en-US" altLang="zh-CN" sz="2800" dirty="0">
                <a:cs typeface="Arial" charset="0"/>
              </a:rPr>
              <a:t> WHERE </a:t>
            </a:r>
            <a:r>
              <a:rPr kumimoji="0" lang="en-US" altLang="zh-CN" sz="2800" dirty="0" err="1">
                <a:solidFill>
                  <a:srgbClr val="0000FF"/>
                </a:solidFill>
                <a:cs typeface="Arial" charset="0"/>
              </a:rPr>
              <a:t>SCZ.Sno</a:t>
            </a:r>
            <a:r>
              <a:rPr kumimoji="0" lang="en-US" altLang="zh-CN" sz="2800" dirty="0">
                <a:cs typeface="Arial" charset="0"/>
              </a:rPr>
              <a:t>=</a:t>
            </a:r>
            <a:r>
              <a:rPr kumimoji="0" lang="en-US" altLang="zh-CN" sz="2800" dirty="0" err="1">
                <a:solidFill>
                  <a:srgbClr val="C00000"/>
                </a:solidFill>
                <a:cs typeface="Arial" charset="0"/>
              </a:rPr>
              <a:t>SCX.Sno</a:t>
            </a:r>
            <a:r>
              <a:rPr kumimoji="0" lang="en-US" altLang="zh-CN" sz="2800" dirty="0">
                <a:cs typeface="Arial" charset="0"/>
              </a:rPr>
              <a:t> 				AND </a:t>
            </a:r>
            <a:r>
              <a:rPr kumimoji="0" lang="en-US" altLang="zh-CN" sz="2800" dirty="0" err="1">
                <a:solidFill>
                  <a:srgbClr val="0000FF"/>
                </a:solidFill>
                <a:cs typeface="Arial" charset="0"/>
              </a:rPr>
              <a:t>SCZ.Cno</a:t>
            </a:r>
            <a:r>
              <a:rPr kumimoji="0" lang="en-US" altLang="zh-CN" sz="2800" dirty="0">
                <a:cs typeface="Arial" charset="0"/>
              </a:rPr>
              <a:t>=</a:t>
            </a:r>
            <a:r>
              <a:rPr kumimoji="0" lang="en-US" altLang="zh-CN" sz="2800" dirty="0" err="1">
                <a:solidFill>
                  <a:srgbClr val="006600"/>
                </a:solidFill>
                <a:cs typeface="Arial" charset="0"/>
              </a:rPr>
              <a:t>SCY.Cno</a:t>
            </a:r>
            <a:r>
              <a:rPr kumimoji="0" lang="en-US" altLang="zh-CN" sz="2800" dirty="0">
                <a:cs typeface="Arial" charset="0"/>
              </a:rPr>
              <a:t>));</a:t>
            </a:r>
            <a:endParaRPr kumimoji="0" lang="zh-CN" altLang="en-US" sz="2800" dirty="0">
              <a:cs typeface="Arial" charset="0"/>
            </a:endParaRPr>
          </a:p>
        </p:txBody>
      </p:sp>
      <p:sp>
        <p:nvSpPr>
          <p:cNvPr id="144391" name="AutoShape 5"/>
          <p:cNvSpPr>
            <a:spLocks noChangeArrowheads="1"/>
          </p:cNvSpPr>
          <p:nvPr/>
        </p:nvSpPr>
        <p:spPr bwMode="auto">
          <a:xfrm>
            <a:off x="5486400" y="457200"/>
            <a:ext cx="2232025" cy="576263"/>
          </a:xfrm>
          <a:prstGeom prst="wedgeRectCallout">
            <a:avLst>
              <a:gd name="adj1" fmla="val -88104"/>
              <a:gd name="adj2" fmla="val 14827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/>
              <a:t>求这样的学生</a:t>
            </a:r>
          </a:p>
        </p:txBody>
      </p:sp>
      <p:sp>
        <p:nvSpPr>
          <p:cNvPr id="144392" name="AutoShape 6"/>
          <p:cNvSpPr>
            <a:spLocks noChangeArrowheads="1"/>
          </p:cNvSpPr>
          <p:nvPr/>
        </p:nvSpPr>
        <p:spPr bwMode="auto">
          <a:xfrm>
            <a:off x="5715000" y="1339850"/>
            <a:ext cx="2808288" cy="576263"/>
          </a:xfrm>
          <a:prstGeom prst="wedgeRectCallout">
            <a:avLst>
              <a:gd name="adj1" fmla="val -97854"/>
              <a:gd name="adj2" fmla="val 15064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/>
              <a:t>不存在这样的课程</a:t>
            </a:r>
          </a:p>
        </p:txBody>
      </p:sp>
      <p:sp>
        <p:nvSpPr>
          <p:cNvPr id="144393" name="AutoShape 7"/>
          <p:cNvSpPr>
            <a:spLocks noChangeArrowheads="1"/>
          </p:cNvSpPr>
          <p:nvPr/>
        </p:nvSpPr>
        <p:spPr bwMode="auto">
          <a:xfrm>
            <a:off x="5334000" y="2438400"/>
            <a:ext cx="3429000" cy="647700"/>
          </a:xfrm>
          <a:prstGeom prst="wedgeRectCallout">
            <a:avLst>
              <a:gd name="adj1" fmla="val -42310"/>
              <a:gd name="adj2" fmla="val 12159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/>
              <a:t>这是</a:t>
            </a:r>
            <a:r>
              <a:rPr lang="zh-CN" altLang="en-US" dirty="0">
                <a:latin typeface="Times New Roman" pitchFamily="18" charset="0"/>
              </a:rPr>
              <a:t>“</a:t>
            </a:r>
            <a:r>
              <a:rPr lang="en-US" altLang="zh-CN" dirty="0"/>
              <a:t>122</a:t>
            </a:r>
            <a:r>
              <a:rPr lang="en-US" altLang="zh-CN" dirty="0">
                <a:latin typeface="Times New Roman" pitchFamily="18" charset="0"/>
              </a:rPr>
              <a:t>”</a:t>
            </a:r>
            <a:r>
              <a:rPr lang="zh-CN" altLang="en-US" dirty="0"/>
              <a:t>学生选的课</a:t>
            </a:r>
            <a:endParaRPr lang="en-US" altLang="zh-CN" dirty="0"/>
          </a:p>
        </p:txBody>
      </p:sp>
      <p:sp>
        <p:nvSpPr>
          <p:cNvPr id="144394" name="AutoShape 8"/>
          <p:cNvSpPr>
            <a:spLocks noChangeArrowheads="1"/>
          </p:cNvSpPr>
          <p:nvPr/>
        </p:nvSpPr>
        <p:spPr bwMode="auto">
          <a:xfrm>
            <a:off x="468313" y="4857750"/>
            <a:ext cx="1439862" cy="1009650"/>
          </a:xfrm>
          <a:prstGeom prst="wedgeRectCallout">
            <a:avLst>
              <a:gd name="adj1" fmla="val 91454"/>
              <a:gd name="adj2" fmla="val -8962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/>
              <a:t>而该生没有选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2926081" y="4474370"/>
            <a:ext cx="4389119" cy="1752600"/>
          </a:xfrm>
          <a:prstGeom prst="rect">
            <a:avLst/>
          </a:prstGeom>
          <a:noFill/>
          <a:ln w="41275" cap="flat" cmpd="sng" algn="ctr">
            <a:solidFill>
              <a:srgbClr val="7030A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CAB2381-159E-F4D8-F5A9-C79473FF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146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4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4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4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4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4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4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44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43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43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44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91" grpId="0" animBg="1"/>
      <p:bldP spid="144392" grpId="0" animBg="1"/>
      <p:bldP spid="144393" grpId="0" animBg="1"/>
      <p:bldP spid="144394" grpId="0" animBg="1"/>
      <p:bldP spid="2" grpId="0" animBg="1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E1A90D3-DE84-4F0F-9ADB-ED13CD964690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454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45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3.4.3. </a:t>
            </a:r>
            <a:r>
              <a:rPr lang="zh-CN" altLang="en-US"/>
              <a:t>嵌套查询</a:t>
            </a:r>
          </a:p>
        </p:txBody>
      </p:sp>
      <p:sp>
        <p:nvSpPr>
          <p:cNvPr id="1454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使用</a:t>
            </a:r>
            <a:r>
              <a:rPr lang="en-US" altLang="zh-CN" dirty="0"/>
              <a:t>EXISTS</a:t>
            </a:r>
            <a:r>
              <a:rPr lang="zh-CN" altLang="en-US" dirty="0"/>
              <a:t>更一般的形式</a:t>
            </a:r>
          </a:p>
          <a:p>
            <a:pPr lvl="1" eaLnBrk="1" hangingPunct="1"/>
            <a:r>
              <a:rPr lang="en-US" altLang="zh-CN" b="1" dirty="0"/>
              <a:t>exists </a:t>
            </a:r>
            <a:r>
              <a:rPr lang="en-US" altLang="zh-CN" i="1" dirty="0"/>
              <a:t> r </a:t>
            </a:r>
            <a:r>
              <a:rPr lang="en-US" altLang="zh-CN" dirty="0">
                <a:sym typeface="Symbol" pitchFamily="18" charset="2"/>
              </a:rPr>
              <a:t> </a:t>
            </a:r>
            <a:r>
              <a:rPr lang="en-US" altLang="zh-CN" i="1" dirty="0">
                <a:solidFill>
                  <a:srgbClr val="C00000"/>
                </a:solidFill>
                <a:sym typeface="Symbol" pitchFamily="18" charset="2"/>
              </a:rPr>
              <a:t>r </a:t>
            </a:r>
            <a:r>
              <a:rPr lang="en-US" altLang="zh-CN" dirty="0">
                <a:solidFill>
                  <a:srgbClr val="C00000"/>
                </a:solidFill>
                <a:sym typeface="Symbol" pitchFamily="18" charset="2"/>
              </a:rPr>
              <a:t> </a:t>
            </a:r>
            <a:r>
              <a:rPr lang="en-US" altLang="zh-CN" i="1" dirty="0">
                <a:solidFill>
                  <a:srgbClr val="C00000"/>
                </a:solidFill>
                <a:latin typeface="Helvetica" pitchFamily="34" charset="0"/>
              </a:rPr>
              <a:t>Ø</a:t>
            </a:r>
            <a:endParaRPr lang="en-US" altLang="zh-CN" dirty="0">
              <a:solidFill>
                <a:srgbClr val="C00000"/>
              </a:solidFill>
              <a:sym typeface="Symbol" pitchFamily="18" charset="2"/>
            </a:endParaRPr>
          </a:p>
          <a:p>
            <a:pPr lvl="1" eaLnBrk="1" hangingPunct="1"/>
            <a:r>
              <a:rPr lang="en-US" altLang="zh-CN" b="1" dirty="0">
                <a:sym typeface="Symbol" pitchFamily="18" charset="2"/>
              </a:rPr>
              <a:t>not exists </a:t>
            </a:r>
            <a:r>
              <a:rPr lang="en-US" altLang="zh-CN" i="1" dirty="0"/>
              <a:t>r </a:t>
            </a:r>
            <a:r>
              <a:rPr lang="en-US" altLang="zh-CN" dirty="0">
                <a:sym typeface="Symbol" pitchFamily="18" charset="2"/>
              </a:rPr>
              <a:t> </a:t>
            </a:r>
            <a:r>
              <a:rPr lang="en-US" altLang="zh-CN" i="1" dirty="0">
                <a:solidFill>
                  <a:srgbClr val="C00000"/>
                </a:solidFill>
                <a:sym typeface="Symbol" pitchFamily="18" charset="2"/>
              </a:rPr>
              <a:t>r </a:t>
            </a:r>
            <a:r>
              <a:rPr lang="en-US" altLang="zh-CN" dirty="0">
                <a:solidFill>
                  <a:srgbClr val="C00000"/>
                </a:solidFill>
                <a:sym typeface="Symbol" pitchFamily="18" charset="2"/>
              </a:rPr>
              <a:t>= </a:t>
            </a:r>
            <a:r>
              <a:rPr lang="en-US" altLang="zh-CN" i="1" dirty="0">
                <a:solidFill>
                  <a:srgbClr val="C00000"/>
                </a:solidFill>
                <a:latin typeface="Helvetica" pitchFamily="34" charset="0"/>
              </a:rPr>
              <a:t>Ø</a:t>
            </a:r>
            <a:endParaRPr lang="en-US" altLang="zh-CN" i="1" dirty="0">
              <a:solidFill>
                <a:srgbClr val="C00000"/>
              </a:solidFill>
            </a:endParaRPr>
          </a:p>
          <a:p>
            <a:pPr eaLnBrk="1" hangingPunct="1"/>
            <a:endParaRPr lang="en-US" altLang="zh-CN" i="1" dirty="0"/>
          </a:p>
          <a:p>
            <a:pPr lvl="1" eaLnBrk="1" hangingPunct="1"/>
            <a:r>
              <a:rPr lang="zh-CN" altLang="en-US" dirty="0">
                <a:solidFill>
                  <a:srgbClr val="CC00FF"/>
                </a:solidFill>
              </a:rPr>
              <a:t>用于检查包含关系</a:t>
            </a:r>
          </a:p>
          <a:p>
            <a:pPr lvl="1" eaLnBrk="1" hangingPunct="1"/>
            <a:r>
              <a:rPr lang="en-US" altLang="zh-CN" dirty="0">
                <a:solidFill>
                  <a:srgbClr val="FF0000"/>
                </a:solidFill>
              </a:rPr>
              <a:t>A  </a:t>
            </a:r>
            <a:r>
              <a:rPr lang="zh-CN" altLang="en-US" dirty="0">
                <a:solidFill>
                  <a:srgbClr val="FF0000"/>
                </a:solidFill>
              </a:rPr>
              <a:t>包含 </a:t>
            </a:r>
            <a:r>
              <a:rPr lang="en-US" altLang="zh-CN" dirty="0">
                <a:solidFill>
                  <a:srgbClr val="FF0000"/>
                </a:solidFill>
              </a:rPr>
              <a:t>B</a:t>
            </a:r>
            <a:r>
              <a:rPr lang="en-US" altLang="zh-CN" dirty="0"/>
              <a:t>  </a:t>
            </a:r>
            <a:r>
              <a:rPr lang="en-US" altLang="zh-CN" dirty="0">
                <a:sym typeface="Symbol" pitchFamily="18" charset="2"/>
              </a:rPr>
              <a:t>  B-A = </a:t>
            </a:r>
            <a:r>
              <a:rPr lang="en-US" altLang="zh-CN" i="1" dirty="0">
                <a:latin typeface="Helvetica" pitchFamily="34" charset="0"/>
              </a:rPr>
              <a:t>Ø</a:t>
            </a:r>
            <a:endParaRPr lang="en-US" altLang="zh-CN" dirty="0">
              <a:sym typeface="Symbol" pitchFamily="18" charset="2"/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dirty="0">
                <a:sym typeface="Symbol" pitchFamily="18" charset="2"/>
              </a:rPr>
              <a:t>                   </a:t>
            </a:r>
            <a:r>
              <a:rPr lang="en-US" altLang="zh-CN" b="1" dirty="0">
                <a:sym typeface="Symbol" pitchFamily="18" charset="2"/>
              </a:rPr>
              <a:t>not exists </a:t>
            </a:r>
            <a:r>
              <a:rPr lang="zh-CN" altLang="en-US" b="1" dirty="0">
                <a:sym typeface="Symbol" pitchFamily="18" charset="2"/>
              </a:rPr>
              <a:t>（</a:t>
            </a:r>
            <a:r>
              <a:rPr lang="en-US" altLang="zh-CN" b="1" dirty="0">
                <a:sym typeface="Symbol" pitchFamily="18" charset="2"/>
              </a:rPr>
              <a:t>B except A)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145415" name="Oval 4"/>
          <p:cNvSpPr>
            <a:spLocks noChangeArrowheads="1"/>
          </p:cNvSpPr>
          <p:nvPr/>
        </p:nvSpPr>
        <p:spPr bwMode="auto">
          <a:xfrm>
            <a:off x="6470650" y="2833688"/>
            <a:ext cx="2286000" cy="1662112"/>
          </a:xfrm>
          <a:prstGeom prst="ellipse">
            <a:avLst/>
          </a:prstGeom>
          <a:noFill/>
          <a:ln w="12700" algn="ctr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35000"/>
              </a:spcBef>
              <a:buClr>
                <a:schemeClr val="bg1"/>
              </a:buClr>
            </a:pPr>
            <a:r>
              <a:rPr lang="en-US" altLang="zh-CN">
                <a:solidFill>
                  <a:srgbClr val="0000FF"/>
                </a:solidFill>
                <a:latin typeface="Helvetica" pitchFamily="34" charset="0"/>
              </a:rPr>
              <a:t>A</a:t>
            </a:r>
          </a:p>
        </p:txBody>
      </p:sp>
      <p:sp>
        <p:nvSpPr>
          <p:cNvPr id="145416" name="Oval 5"/>
          <p:cNvSpPr>
            <a:spLocks noChangeArrowheads="1"/>
          </p:cNvSpPr>
          <p:nvPr/>
        </p:nvSpPr>
        <p:spPr bwMode="auto">
          <a:xfrm>
            <a:off x="5599113" y="3179763"/>
            <a:ext cx="1231900" cy="774700"/>
          </a:xfrm>
          <a:prstGeom prst="ellipse">
            <a:avLst/>
          </a:prstGeom>
          <a:noFill/>
          <a:ln w="12700" algn="ctr">
            <a:solidFill>
              <a:srgbClr val="CC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35000"/>
              </a:spcBef>
              <a:buClr>
                <a:schemeClr val="bg1"/>
              </a:buClr>
              <a:buFontTx/>
              <a:buChar char="•"/>
            </a:pPr>
            <a:r>
              <a:rPr lang="en-US" altLang="zh-CN" sz="1600">
                <a:solidFill>
                  <a:srgbClr val="0000FF"/>
                </a:solidFill>
                <a:latin typeface="Helvetica" pitchFamily="34" charset="0"/>
              </a:rPr>
              <a:t>B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F5DE4B7-AFAD-4307-0F3B-A74DCA904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147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54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54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5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5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5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5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1.11111E-6 L 0.10364 0.00208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454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74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54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54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54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54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5" grpId="0" animBg="1"/>
      <p:bldP spid="145416" grpId="0" animBg="1"/>
      <p:bldP spid="145416" grpId="1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678A15D-4602-439D-99D4-8D078BB9D699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4643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46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3.4.3. </a:t>
            </a:r>
            <a:r>
              <a:rPr lang="zh-CN" altLang="en-US"/>
              <a:t>嵌套查询</a:t>
            </a:r>
          </a:p>
        </p:txBody>
      </p:sp>
      <p:sp>
        <p:nvSpPr>
          <p:cNvPr id="146438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39775" y="1447800"/>
            <a:ext cx="7848600" cy="4876800"/>
          </a:xfrm>
          <a:noFill/>
        </p:spPr>
        <p:txBody>
          <a:bodyPr/>
          <a:lstStyle/>
          <a:p>
            <a:pPr eaLnBrk="1" hangingPunct="1"/>
            <a:r>
              <a:rPr lang="zh-CN" altLang="en-US" dirty="0"/>
              <a:t>解决例</a:t>
            </a:r>
            <a:r>
              <a:rPr lang="en-US" altLang="zh-CN" dirty="0"/>
              <a:t>47</a:t>
            </a:r>
            <a:r>
              <a:rPr lang="zh-CN" altLang="en-US" dirty="0"/>
              <a:t>类问题的一般方法</a:t>
            </a:r>
          </a:p>
          <a:p>
            <a:pPr eaLnBrk="1" hangingPunct="1"/>
            <a:endParaRPr lang="zh-CN" altLang="en-US" i="1" dirty="0"/>
          </a:p>
          <a:p>
            <a:pPr eaLnBrk="1" hangingPunct="1"/>
            <a:endParaRPr lang="zh-CN" altLang="en-US" i="1" dirty="0"/>
          </a:p>
          <a:p>
            <a:pPr eaLnBrk="1" hangingPunct="1"/>
            <a:endParaRPr lang="zh-CN" altLang="en-US" i="1" dirty="0"/>
          </a:p>
          <a:p>
            <a:pPr eaLnBrk="1" hangingPunct="1"/>
            <a:endParaRPr lang="zh-CN" altLang="en-US" i="1" dirty="0"/>
          </a:p>
          <a:p>
            <a:pPr lvl="1" eaLnBrk="1" hangingPunct="1"/>
            <a:r>
              <a:rPr lang="zh-CN" altLang="en-US" dirty="0"/>
              <a:t>用于检查包含关系</a:t>
            </a:r>
          </a:p>
          <a:p>
            <a:pPr lvl="1" eaLnBrk="1" hangingPunct="1"/>
            <a:r>
              <a:rPr lang="en-US" altLang="zh-CN" dirty="0"/>
              <a:t>A  </a:t>
            </a:r>
            <a:r>
              <a:rPr lang="zh-CN" altLang="en-US" dirty="0"/>
              <a:t>包含 </a:t>
            </a:r>
            <a:r>
              <a:rPr lang="en-US" altLang="zh-CN" dirty="0"/>
              <a:t>B  </a:t>
            </a:r>
            <a:r>
              <a:rPr lang="en-US" altLang="zh-CN" dirty="0">
                <a:sym typeface="Symbol" pitchFamily="18" charset="2"/>
              </a:rPr>
              <a:t>  B-A = </a:t>
            </a:r>
            <a:r>
              <a:rPr lang="en-US" altLang="zh-CN" i="1" dirty="0">
                <a:latin typeface="Arial" charset="0"/>
              </a:rPr>
              <a:t>Ø</a:t>
            </a:r>
            <a:endParaRPr lang="en-US" altLang="zh-CN" dirty="0">
              <a:sym typeface="Symbol" pitchFamily="18" charset="2"/>
            </a:endParaRPr>
          </a:p>
          <a:p>
            <a:pPr lvl="1" eaLnBrk="1" hangingPunct="1">
              <a:buNone/>
            </a:pPr>
            <a:r>
              <a:rPr lang="en-US" altLang="zh-CN" dirty="0">
                <a:sym typeface="Symbol" pitchFamily="18" charset="2"/>
              </a:rPr>
              <a:t>                   </a:t>
            </a:r>
            <a:r>
              <a:rPr lang="en-US" altLang="zh-CN" b="1" dirty="0">
                <a:sym typeface="Symbol" pitchFamily="18" charset="2"/>
              </a:rPr>
              <a:t>not exists </a:t>
            </a:r>
            <a:r>
              <a:rPr lang="zh-CN" altLang="en-US" b="1" dirty="0">
                <a:sym typeface="Symbol" pitchFamily="18" charset="2"/>
              </a:rPr>
              <a:t>（</a:t>
            </a:r>
            <a:r>
              <a:rPr lang="en-US" altLang="zh-CN" b="1" dirty="0">
                <a:sym typeface="Symbol" pitchFamily="18" charset="2"/>
              </a:rPr>
              <a:t>B except A)</a:t>
            </a:r>
          </a:p>
        </p:txBody>
      </p:sp>
      <p:sp>
        <p:nvSpPr>
          <p:cNvPr id="146441" name="AutoShape 7"/>
          <p:cNvSpPr>
            <a:spLocks noChangeArrowheads="1"/>
          </p:cNvSpPr>
          <p:nvPr/>
        </p:nvSpPr>
        <p:spPr bwMode="auto">
          <a:xfrm>
            <a:off x="3276600" y="2185988"/>
            <a:ext cx="2303463" cy="1079500"/>
          </a:xfrm>
          <a:prstGeom prst="wedgeRoundRectCallout">
            <a:avLst>
              <a:gd name="adj1" fmla="val 115750"/>
              <a:gd name="adj2" fmla="val 23236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dirty="0"/>
              <a:t>要求的学生选的课程</a:t>
            </a:r>
          </a:p>
        </p:txBody>
      </p:sp>
      <p:sp>
        <p:nvSpPr>
          <p:cNvPr id="146442" name="AutoShape 8"/>
          <p:cNvSpPr>
            <a:spLocks noChangeArrowheads="1"/>
          </p:cNvSpPr>
          <p:nvPr/>
        </p:nvSpPr>
        <p:spPr bwMode="auto">
          <a:xfrm>
            <a:off x="1116013" y="3267075"/>
            <a:ext cx="2303462" cy="1079500"/>
          </a:xfrm>
          <a:prstGeom prst="wedgeRoundRectCallout">
            <a:avLst>
              <a:gd name="adj1" fmla="val 144556"/>
              <a:gd name="adj2" fmla="val -22060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itchFamily="18" charset="0"/>
              </a:rPr>
              <a:t>“</a:t>
            </a:r>
            <a:r>
              <a:rPr lang="en-US" altLang="zh-CN" sz="2800"/>
              <a:t>122</a:t>
            </a:r>
            <a:r>
              <a:rPr lang="en-US" altLang="zh-CN" sz="2800">
                <a:latin typeface="Times New Roman" pitchFamily="18" charset="0"/>
              </a:rPr>
              <a:t>”</a:t>
            </a:r>
            <a:r>
              <a:rPr lang="zh-CN" altLang="en-US" sz="2800"/>
              <a:t>号学生选的课程</a:t>
            </a:r>
          </a:p>
        </p:txBody>
      </p:sp>
      <p:sp>
        <p:nvSpPr>
          <p:cNvPr id="11" name="Oval 4"/>
          <p:cNvSpPr>
            <a:spLocks noChangeArrowheads="1"/>
          </p:cNvSpPr>
          <p:nvPr/>
        </p:nvSpPr>
        <p:spPr bwMode="auto">
          <a:xfrm>
            <a:off x="6470650" y="2833688"/>
            <a:ext cx="2286000" cy="1662112"/>
          </a:xfrm>
          <a:prstGeom prst="ellipse">
            <a:avLst/>
          </a:prstGeom>
          <a:noFill/>
          <a:ln w="12700" algn="ctr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35000"/>
              </a:spcBef>
              <a:buClr>
                <a:schemeClr val="bg1"/>
              </a:buClr>
            </a:pPr>
            <a:r>
              <a:rPr lang="en-US" altLang="zh-CN">
                <a:solidFill>
                  <a:srgbClr val="0000FF"/>
                </a:solidFill>
                <a:latin typeface="Helvetica" pitchFamily="34" charset="0"/>
              </a:rPr>
              <a:t>A</a:t>
            </a:r>
          </a:p>
        </p:txBody>
      </p:sp>
      <p:sp>
        <p:nvSpPr>
          <p:cNvPr id="12" name="Oval 5"/>
          <p:cNvSpPr>
            <a:spLocks noChangeArrowheads="1"/>
          </p:cNvSpPr>
          <p:nvPr/>
        </p:nvSpPr>
        <p:spPr bwMode="auto">
          <a:xfrm>
            <a:off x="5599113" y="3179763"/>
            <a:ext cx="1231900" cy="774700"/>
          </a:xfrm>
          <a:prstGeom prst="ellipse">
            <a:avLst/>
          </a:prstGeom>
          <a:noFill/>
          <a:ln w="12700" algn="ctr">
            <a:solidFill>
              <a:srgbClr val="CC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35000"/>
              </a:spcBef>
              <a:buClr>
                <a:schemeClr val="bg1"/>
              </a:buClr>
              <a:buFontTx/>
              <a:buChar char="•"/>
            </a:pPr>
            <a:r>
              <a:rPr lang="en-US" altLang="zh-CN" sz="1600">
                <a:solidFill>
                  <a:srgbClr val="0000FF"/>
                </a:solidFill>
                <a:latin typeface="Helvetica" pitchFamily="34" charset="0"/>
              </a:rPr>
              <a:t>B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AD5D2B5-F3F5-FE6D-A49C-4B15B2CE6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148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6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6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6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6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1.11111E-6 L 0.10364 0.00208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74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41" grpId="0" animBg="1"/>
      <p:bldP spid="146442" grpId="0" animBg="1"/>
      <p:bldP spid="12" grpId="1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62EC932-CE0C-4279-91FB-3DAF2C428A2D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4745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47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3.4.3. </a:t>
            </a:r>
            <a:r>
              <a:rPr lang="zh-CN" altLang="en-US"/>
              <a:t>嵌套查询</a:t>
            </a:r>
          </a:p>
        </p:txBody>
      </p:sp>
      <p:sp>
        <p:nvSpPr>
          <p:cNvPr id="1474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/>
              <a:t>SELECT </a:t>
            </a:r>
            <a:r>
              <a:rPr lang="en-US" altLang="zh-CN" sz="2800" dirty="0" err="1"/>
              <a:t>Sno</a:t>
            </a:r>
            <a:r>
              <a:rPr lang="en-US" altLang="zh-CN" sz="2800" dirty="0"/>
              <a:t> </a:t>
            </a:r>
            <a:br>
              <a:rPr lang="en-US" altLang="zh-CN" sz="2800" dirty="0"/>
            </a:br>
            <a:r>
              <a:rPr lang="en-US" altLang="zh-CN" sz="2800" dirty="0"/>
              <a:t>FROM </a:t>
            </a:r>
            <a:r>
              <a:rPr lang="en-US" altLang="zh-CN" sz="2800" dirty="0">
                <a:solidFill>
                  <a:srgbClr val="0000FF"/>
                </a:solidFill>
              </a:rPr>
              <a:t>Student</a:t>
            </a:r>
            <a:r>
              <a:rPr lang="en-US" altLang="zh-CN" sz="2800" dirty="0"/>
              <a:t> </a:t>
            </a:r>
            <a:br>
              <a:rPr lang="en-US" altLang="zh-CN" sz="2800" dirty="0"/>
            </a:br>
            <a:r>
              <a:rPr lang="en-US" altLang="zh-CN" sz="2800" dirty="0"/>
              <a:t>WHERE </a:t>
            </a:r>
            <a:r>
              <a:rPr lang="en-US" altLang="zh-CN" sz="2800" dirty="0">
                <a:solidFill>
                  <a:srgbClr val="C00000"/>
                </a:solidFill>
              </a:rPr>
              <a:t>NOT EXISTS (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80"/>
                </a:solidFill>
                <a:latin typeface="Arial" charset="0"/>
              </a:rPr>
              <a:t>     </a:t>
            </a:r>
            <a:r>
              <a:rPr lang="en-US" altLang="zh-CN" sz="2800" dirty="0">
                <a:solidFill>
                  <a:srgbClr val="000080"/>
                </a:solidFill>
              </a:rPr>
              <a:t>(SELECT </a:t>
            </a:r>
            <a:r>
              <a:rPr lang="en-US" altLang="zh-CN" sz="2800" dirty="0" err="1">
                <a:solidFill>
                  <a:srgbClr val="000080"/>
                </a:solidFill>
              </a:rPr>
              <a:t>Cno</a:t>
            </a:r>
            <a:r>
              <a:rPr lang="en-US" altLang="zh-CN" sz="2800" dirty="0">
                <a:solidFill>
                  <a:srgbClr val="000080"/>
                </a:solidFill>
              </a:rPr>
              <a:t> </a:t>
            </a:r>
            <a:br>
              <a:rPr lang="en-US" altLang="zh-CN" sz="2800" dirty="0">
                <a:solidFill>
                  <a:srgbClr val="000080"/>
                </a:solidFill>
              </a:rPr>
            </a:br>
            <a:r>
              <a:rPr lang="en-US" altLang="zh-CN" sz="2800" dirty="0">
                <a:solidFill>
                  <a:srgbClr val="000080"/>
                </a:solidFill>
                <a:latin typeface="Arial" charset="0"/>
              </a:rPr>
              <a:t>     </a:t>
            </a:r>
            <a:r>
              <a:rPr lang="en-US" altLang="zh-CN" sz="2800" dirty="0">
                <a:solidFill>
                  <a:srgbClr val="000080"/>
                </a:solidFill>
              </a:rPr>
              <a:t> FROM SC </a:t>
            </a:r>
            <a:br>
              <a:rPr lang="en-US" altLang="zh-CN" sz="2800" dirty="0">
                <a:solidFill>
                  <a:srgbClr val="000080"/>
                </a:solidFill>
              </a:rPr>
            </a:br>
            <a:r>
              <a:rPr lang="en-US" altLang="zh-CN" sz="2800" dirty="0">
                <a:solidFill>
                  <a:srgbClr val="000080"/>
                </a:solidFill>
                <a:latin typeface="Arial" charset="0"/>
              </a:rPr>
              <a:t>     </a:t>
            </a:r>
            <a:r>
              <a:rPr lang="en-US" altLang="zh-CN" sz="2800" dirty="0">
                <a:solidFill>
                  <a:srgbClr val="000080"/>
                </a:solidFill>
              </a:rPr>
              <a:t> WHERE </a:t>
            </a:r>
            <a:r>
              <a:rPr lang="en-US" altLang="zh-CN" sz="2800" dirty="0" err="1">
                <a:solidFill>
                  <a:srgbClr val="000080"/>
                </a:solidFill>
              </a:rPr>
              <a:t>Sno</a:t>
            </a:r>
            <a:r>
              <a:rPr lang="en-US" altLang="zh-CN" sz="2800" dirty="0">
                <a:solidFill>
                  <a:srgbClr val="000080"/>
                </a:solidFill>
              </a:rPr>
              <a:t>=</a:t>
            </a:r>
            <a:r>
              <a:rPr lang="en-US" altLang="zh-CN" sz="2800" dirty="0">
                <a:solidFill>
                  <a:srgbClr val="000080"/>
                </a:solidFill>
                <a:latin typeface="Arial" charset="0"/>
              </a:rPr>
              <a:t>‘</a:t>
            </a:r>
            <a:r>
              <a:rPr lang="en-US" altLang="zh-CN" sz="2800" dirty="0">
                <a:solidFill>
                  <a:srgbClr val="006600"/>
                </a:solidFill>
              </a:rPr>
              <a:t>200215122</a:t>
            </a:r>
            <a:r>
              <a:rPr lang="en-US" altLang="zh-CN" sz="2800" dirty="0">
                <a:solidFill>
                  <a:srgbClr val="000080"/>
                </a:solidFill>
                <a:latin typeface="Arial" charset="0"/>
              </a:rPr>
              <a:t>‘</a:t>
            </a:r>
            <a:r>
              <a:rPr lang="en-US" altLang="zh-CN" sz="2800" dirty="0">
                <a:solidFill>
                  <a:srgbClr val="000080"/>
                </a:solidFill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80"/>
                </a:solidFill>
              </a:rPr>
              <a:t>     </a:t>
            </a:r>
            <a:r>
              <a:rPr lang="en-US" altLang="zh-CN" sz="2800" dirty="0">
                <a:solidFill>
                  <a:srgbClr val="FF0000"/>
                </a:solidFill>
              </a:rPr>
              <a:t>EXCEPT</a:t>
            </a:r>
            <a:r>
              <a:rPr lang="en-US" altLang="zh-CN" sz="2800" dirty="0">
                <a:solidFill>
                  <a:srgbClr val="000080"/>
                </a:solidFill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80"/>
                </a:solidFill>
                <a:latin typeface="Arial" charset="0"/>
              </a:rPr>
              <a:t>   </a:t>
            </a:r>
            <a:r>
              <a:rPr lang="en-US" altLang="zh-CN" sz="2800" dirty="0">
                <a:solidFill>
                  <a:srgbClr val="000080"/>
                </a:solidFill>
              </a:rPr>
              <a:t>(SELECT </a:t>
            </a:r>
            <a:r>
              <a:rPr lang="en-US" altLang="zh-CN" sz="2800" dirty="0" err="1">
                <a:solidFill>
                  <a:srgbClr val="000080"/>
                </a:solidFill>
              </a:rPr>
              <a:t>Cno</a:t>
            </a:r>
            <a:endParaRPr lang="en-US" altLang="zh-CN" sz="2800" dirty="0">
              <a:solidFill>
                <a:srgbClr val="000080"/>
              </a:solidFill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80"/>
                </a:solidFill>
              </a:rPr>
              <a:t>        FROM SC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80"/>
                </a:solidFill>
              </a:rPr>
              <a:t>        WHERE </a:t>
            </a:r>
            <a:r>
              <a:rPr lang="en-US" altLang="zh-CN" sz="2800" dirty="0" err="1">
                <a:solidFill>
                  <a:srgbClr val="000080"/>
                </a:solidFill>
              </a:rPr>
              <a:t>SC.Sno</a:t>
            </a:r>
            <a:r>
              <a:rPr lang="en-US" altLang="zh-CN" sz="2800" dirty="0">
                <a:solidFill>
                  <a:srgbClr val="000080"/>
                </a:solidFill>
              </a:rPr>
              <a:t>=</a:t>
            </a:r>
            <a:r>
              <a:rPr lang="en-US" altLang="zh-CN" sz="2800" dirty="0" err="1">
                <a:solidFill>
                  <a:srgbClr val="0000FF"/>
                </a:solidFill>
              </a:rPr>
              <a:t>Student.Sno</a:t>
            </a:r>
            <a:r>
              <a:rPr lang="en-US" altLang="zh-CN" sz="2800" dirty="0">
                <a:solidFill>
                  <a:srgbClr val="000080"/>
                </a:solidFill>
              </a:rPr>
              <a:t>)</a:t>
            </a:r>
            <a:r>
              <a:rPr lang="en-US" altLang="zh-CN" sz="2800" dirty="0">
                <a:solidFill>
                  <a:srgbClr val="C00000"/>
                </a:solidFill>
              </a:rPr>
              <a:t>)</a:t>
            </a:r>
            <a:r>
              <a:rPr lang="en-US" altLang="zh-CN" sz="2800" dirty="0">
                <a:solidFill>
                  <a:srgbClr val="000080"/>
                </a:solidFill>
              </a:rPr>
              <a:t>;</a:t>
            </a:r>
          </a:p>
          <a:p>
            <a:pPr eaLnBrk="1" hangingPunct="1">
              <a:lnSpc>
                <a:spcPct val="90000"/>
              </a:lnSpc>
            </a:pPr>
            <a:endParaRPr lang="zh-CN" altLang="en-US" sz="2800" dirty="0"/>
          </a:p>
        </p:txBody>
      </p:sp>
      <p:sp>
        <p:nvSpPr>
          <p:cNvPr id="147463" name="AutoShape 7"/>
          <p:cNvSpPr>
            <a:spLocks noChangeArrowheads="1"/>
          </p:cNvSpPr>
          <p:nvPr/>
        </p:nvSpPr>
        <p:spPr bwMode="auto">
          <a:xfrm>
            <a:off x="6172200" y="4267200"/>
            <a:ext cx="2303463" cy="1079500"/>
          </a:xfrm>
          <a:prstGeom prst="wedgeRoundRectCallout">
            <a:avLst>
              <a:gd name="adj1" fmla="val -132704"/>
              <a:gd name="adj2" fmla="val -26324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dirty="0"/>
              <a:t>要求的学生选的课程</a:t>
            </a:r>
          </a:p>
        </p:txBody>
      </p:sp>
      <p:sp>
        <p:nvSpPr>
          <p:cNvPr id="147464" name="AutoShape 8"/>
          <p:cNvSpPr>
            <a:spLocks noChangeArrowheads="1"/>
          </p:cNvSpPr>
          <p:nvPr/>
        </p:nvSpPr>
        <p:spPr bwMode="auto">
          <a:xfrm>
            <a:off x="6019800" y="2057400"/>
            <a:ext cx="2303463" cy="1079500"/>
          </a:xfrm>
          <a:prstGeom prst="wedgeRoundRectCallout">
            <a:avLst>
              <a:gd name="adj1" fmla="val -126704"/>
              <a:gd name="adj2" fmla="val 30296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>
                <a:latin typeface="Times New Roman" pitchFamily="18" charset="0"/>
              </a:rPr>
              <a:t>“</a:t>
            </a:r>
            <a:r>
              <a:rPr lang="en-US" altLang="zh-CN" sz="2800"/>
              <a:t>122</a:t>
            </a:r>
            <a:r>
              <a:rPr lang="en-US" altLang="zh-CN" sz="2800">
                <a:latin typeface="Times New Roman" pitchFamily="18" charset="0"/>
              </a:rPr>
              <a:t>”</a:t>
            </a:r>
            <a:r>
              <a:rPr lang="zh-CN" altLang="en-US" sz="2800"/>
              <a:t>号学生选的课程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145515" y="2570256"/>
            <a:ext cx="2169185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en-US" altLang="zh-CN" sz="19900" i="1" dirty="0">
                <a:solidFill>
                  <a:srgbClr val="C00000"/>
                </a:solidFill>
                <a:latin typeface="Helvetica" pitchFamily="34" charset="0"/>
              </a:rPr>
              <a:t>Ø</a:t>
            </a:r>
            <a:endParaRPr lang="zh-CN" altLang="en-US" sz="199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435ADA2-3B48-DDBB-205C-0826042D8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149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74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47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474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474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474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47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474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63" grpId="0" animBg="1"/>
      <p:bldP spid="147464" grpId="0" animBg="1"/>
      <p:bldP spid="9" grpId="0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0FF11CF-AE31-40A1-AA78-B85C6690A8A2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454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45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3.4.3. </a:t>
            </a:r>
            <a:r>
              <a:rPr lang="zh-CN" altLang="en-US"/>
              <a:t>嵌套查询</a:t>
            </a:r>
          </a:p>
        </p:txBody>
      </p:sp>
      <p:sp>
        <p:nvSpPr>
          <p:cNvPr id="1454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1"/>
            <a:ext cx="8345488" cy="1600199"/>
          </a:xfrm>
        </p:spPr>
        <p:txBody>
          <a:bodyPr/>
          <a:lstStyle/>
          <a:p>
            <a:pPr eaLnBrk="1" hangingPunct="1"/>
            <a:r>
              <a:rPr lang="zh-CN" altLang="en-US" dirty="0"/>
              <a:t>重复元组（了解）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SQL</a:t>
            </a:r>
            <a:r>
              <a:rPr lang="zh-CN" altLang="en-US" dirty="0"/>
              <a:t>提供了</a:t>
            </a:r>
            <a:r>
              <a:rPr lang="en-US" altLang="zh-CN" dirty="0"/>
              <a:t>Unique</a:t>
            </a:r>
            <a:r>
              <a:rPr lang="zh-CN" altLang="en-US" dirty="0"/>
              <a:t>函数，用于测试子查询结果中是否存在重复元组，返回逻辑值</a:t>
            </a:r>
            <a:endParaRPr lang="en-US" altLang="zh-CN" dirty="0"/>
          </a:p>
          <a:p>
            <a:pPr lvl="1" eaLnBrk="1" hangingPunct="1"/>
            <a:endParaRPr lang="en-US" altLang="zh-CN" dirty="0"/>
          </a:p>
          <a:p>
            <a:pPr marL="0" indent="0" eaLnBrk="1" hangingPunct="1">
              <a:buNone/>
            </a:pPr>
            <a:r>
              <a:rPr lang="zh-CN" altLang="en-US" sz="2800" dirty="0"/>
              <a:t>查询在</a:t>
            </a:r>
            <a:r>
              <a:rPr lang="en-US" altLang="zh-CN" sz="2800" dirty="0"/>
              <a:t>2017</a:t>
            </a:r>
            <a:r>
              <a:rPr lang="zh-CN" altLang="en-US" sz="2800" dirty="0"/>
              <a:t>年</a:t>
            </a:r>
            <a:r>
              <a:rPr lang="zh-CN" altLang="en-US" sz="2800" dirty="0">
                <a:solidFill>
                  <a:srgbClr val="0000FF"/>
                </a:solidFill>
              </a:rPr>
              <a:t>最多开设一次</a:t>
            </a:r>
            <a:r>
              <a:rPr lang="zh-CN" altLang="en-US" sz="2800" dirty="0"/>
              <a:t>的所有课程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DC3A62B-0C59-2A01-B6D2-CBC35912ED06}"/>
              </a:ext>
            </a:extLst>
          </p:cNvPr>
          <p:cNvSpPr txBox="1"/>
          <p:nvPr/>
        </p:nvSpPr>
        <p:spPr>
          <a:xfrm>
            <a:off x="1219200" y="4110273"/>
            <a:ext cx="7239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0" i="0" u="none" strike="noStrike" baseline="0" dirty="0">
                <a:latin typeface="+mn-lt"/>
              </a:rPr>
              <a:t>select </a:t>
            </a:r>
            <a:r>
              <a:rPr lang="en-US" altLang="zh-CN" sz="2400" b="0" i="1" u="none" strike="noStrike" baseline="0" dirty="0" err="1">
                <a:latin typeface="+mn-lt"/>
              </a:rPr>
              <a:t>T</a:t>
            </a:r>
            <a:r>
              <a:rPr lang="en-US" altLang="zh-CN" sz="2400" b="0" i="0" u="none" strike="noStrike" baseline="0" dirty="0" err="1">
                <a:latin typeface="+mn-lt"/>
              </a:rPr>
              <a:t>.</a:t>
            </a:r>
            <a:r>
              <a:rPr lang="en-US" altLang="zh-CN" sz="2400" b="0" i="1" u="none" strike="noStrike" baseline="0" dirty="0" err="1">
                <a:latin typeface="+mn-lt"/>
              </a:rPr>
              <a:t>course</a:t>
            </a:r>
            <a:r>
              <a:rPr lang="en-US" altLang="zh-CN" i="1" dirty="0" err="1">
                <a:latin typeface="+mn-lt"/>
              </a:rPr>
              <a:t>_</a:t>
            </a:r>
            <a:r>
              <a:rPr lang="en-US" altLang="zh-CN" sz="2400" b="0" i="1" u="none" strike="noStrike" baseline="0" dirty="0" err="1">
                <a:latin typeface="+mn-lt"/>
              </a:rPr>
              <a:t>id</a:t>
            </a:r>
            <a:endParaRPr lang="en-US" altLang="zh-CN" sz="2400" b="0" i="1" u="none" strike="noStrike" baseline="0" dirty="0">
              <a:latin typeface="+mn-lt"/>
            </a:endParaRP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from </a:t>
            </a:r>
            <a:r>
              <a:rPr lang="en-US" altLang="zh-CN" sz="2400" b="0" i="1" u="none" strike="noStrike" baseline="0" dirty="0">
                <a:latin typeface="+mn-lt"/>
              </a:rPr>
              <a:t>course </a:t>
            </a:r>
            <a:r>
              <a:rPr lang="en-US" altLang="zh-CN" sz="2400" b="0" i="0" u="none" strike="noStrike" baseline="0" dirty="0">
                <a:latin typeface="+mn-lt"/>
              </a:rPr>
              <a:t>as </a:t>
            </a:r>
            <a:r>
              <a:rPr lang="en-US" altLang="zh-CN" sz="2400" b="0" i="1" u="none" strike="noStrike" baseline="0" dirty="0">
                <a:latin typeface="+mn-lt"/>
              </a:rPr>
              <a:t>T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where </a:t>
            </a:r>
            <a:r>
              <a:rPr lang="en-US" altLang="zh-CN" sz="2400" b="0" i="0" u="none" strike="noStrike" baseline="0" dirty="0">
                <a:solidFill>
                  <a:srgbClr val="0000FF"/>
                </a:solidFill>
                <a:latin typeface="+mn-lt"/>
              </a:rPr>
              <a:t>unique</a:t>
            </a:r>
            <a:r>
              <a:rPr lang="en-US" altLang="zh-CN" sz="2400" b="0" i="0" u="none" strike="noStrike" baseline="0" dirty="0">
                <a:latin typeface="+mn-lt"/>
              </a:rPr>
              <a:t> (select </a:t>
            </a:r>
            <a:r>
              <a:rPr lang="en-US" altLang="zh-CN" sz="2400" b="0" i="1" u="none" strike="noStrike" baseline="0" dirty="0" err="1">
                <a:latin typeface="+mn-lt"/>
              </a:rPr>
              <a:t>R</a:t>
            </a:r>
            <a:r>
              <a:rPr lang="en-US" altLang="zh-CN" sz="2400" b="0" i="0" u="none" strike="noStrike" baseline="0" dirty="0" err="1">
                <a:latin typeface="+mn-lt"/>
              </a:rPr>
              <a:t>.</a:t>
            </a:r>
            <a:r>
              <a:rPr lang="en-US" altLang="zh-CN" sz="2400" b="0" i="1" u="none" strike="noStrike" baseline="0" dirty="0" err="1">
                <a:latin typeface="+mn-lt"/>
              </a:rPr>
              <a:t>course</a:t>
            </a:r>
            <a:r>
              <a:rPr lang="en-US" altLang="zh-CN" i="1" dirty="0" err="1">
                <a:latin typeface="+mn-lt"/>
              </a:rPr>
              <a:t>_</a:t>
            </a:r>
            <a:r>
              <a:rPr lang="en-US" altLang="zh-CN" sz="2400" b="0" i="1" u="none" strike="noStrike" baseline="0" dirty="0" err="1">
                <a:latin typeface="+mn-lt"/>
              </a:rPr>
              <a:t>id</a:t>
            </a:r>
            <a:endParaRPr lang="en-US" altLang="zh-CN" sz="2400" b="0" i="1" u="none" strike="noStrike" baseline="0" dirty="0">
              <a:latin typeface="+mn-lt"/>
            </a:endParaRP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                      from </a:t>
            </a:r>
            <a:r>
              <a:rPr lang="en-US" altLang="zh-CN" sz="2400" b="0" i="1" u="none" strike="noStrike" baseline="0" dirty="0">
                <a:latin typeface="+mn-lt"/>
              </a:rPr>
              <a:t>section </a:t>
            </a:r>
            <a:r>
              <a:rPr lang="en-US" altLang="zh-CN" sz="2400" b="0" i="0" u="none" strike="noStrike" baseline="0" dirty="0">
                <a:latin typeface="+mn-lt"/>
              </a:rPr>
              <a:t>as </a:t>
            </a:r>
            <a:r>
              <a:rPr lang="en-US" altLang="zh-CN" sz="2400" b="0" i="1" u="none" strike="noStrike" baseline="0" dirty="0">
                <a:latin typeface="+mn-lt"/>
              </a:rPr>
              <a:t>R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                      where </a:t>
            </a:r>
            <a:r>
              <a:rPr lang="en-US" altLang="zh-CN" sz="2400" b="0" i="1" u="none" strike="noStrike" baseline="0" dirty="0" err="1">
                <a:solidFill>
                  <a:srgbClr val="0000FF"/>
                </a:solidFill>
                <a:latin typeface="+mn-lt"/>
              </a:rPr>
              <a:t>T</a:t>
            </a:r>
            <a:r>
              <a:rPr lang="en-US" altLang="zh-CN" sz="2400" b="0" i="0" u="none" strike="noStrike" baseline="0" dirty="0" err="1">
                <a:solidFill>
                  <a:srgbClr val="0000FF"/>
                </a:solidFill>
                <a:latin typeface="+mn-lt"/>
              </a:rPr>
              <a:t>.</a:t>
            </a:r>
            <a:r>
              <a:rPr lang="en-US" altLang="zh-CN" sz="2400" b="0" i="1" u="none" strike="noStrike" baseline="0" dirty="0" err="1">
                <a:solidFill>
                  <a:srgbClr val="0000FF"/>
                </a:solidFill>
                <a:latin typeface="+mn-lt"/>
              </a:rPr>
              <a:t>course</a:t>
            </a:r>
            <a:r>
              <a:rPr lang="en-US" altLang="zh-CN" sz="2400" b="0" i="1" u="none" strike="noStrike" baseline="0" dirty="0">
                <a:solidFill>
                  <a:srgbClr val="0000FF"/>
                </a:solidFill>
                <a:latin typeface="+mn-lt"/>
              </a:rPr>
              <a:t> id</a:t>
            </a:r>
            <a:r>
              <a:rPr lang="en-US" altLang="zh-CN" sz="2400" b="0" i="0" u="none" strike="noStrike" baseline="0" dirty="0">
                <a:solidFill>
                  <a:srgbClr val="0000FF"/>
                </a:solidFill>
                <a:latin typeface="+mn-lt"/>
              </a:rPr>
              <a:t>=</a:t>
            </a:r>
            <a:r>
              <a:rPr lang="en-US" altLang="zh-CN" sz="2400" b="0" i="1" u="none" strike="noStrike" baseline="0" dirty="0">
                <a:solidFill>
                  <a:srgbClr val="0000FF"/>
                </a:solidFill>
                <a:latin typeface="+mn-lt"/>
              </a:rPr>
              <a:t>R</a:t>
            </a:r>
            <a:r>
              <a:rPr lang="en-US" altLang="zh-CN" sz="2400" b="0" i="0" u="none" strike="noStrike" baseline="0" dirty="0">
                <a:solidFill>
                  <a:srgbClr val="0000FF"/>
                </a:solidFill>
                <a:latin typeface="+mn-lt"/>
              </a:rPr>
              <a:t>.</a:t>
            </a:r>
            <a:r>
              <a:rPr lang="en-US" altLang="zh-CN" sz="2400" b="0" i="1" u="none" strike="noStrike" baseline="0" dirty="0">
                <a:solidFill>
                  <a:srgbClr val="0000FF"/>
                </a:solidFill>
                <a:latin typeface="+mn-lt"/>
              </a:rPr>
              <a:t> </a:t>
            </a:r>
            <a:r>
              <a:rPr lang="en-US" altLang="zh-CN" sz="2400" b="0" i="1" u="none" strike="noStrike" baseline="0" dirty="0" err="1">
                <a:solidFill>
                  <a:srgbClr val="0000FF"/>
                </a:solidFill>
                <a:latin typeface="+mn-lt"/>
              </a:rPr>
              <a:t>course</a:t>
            </a:r>
            <a:r>
              <a:rPr lang="en-US" altLang="zh-CN" i="1" dirty="0" err="1">
                <a:solidFill>
                  <a:srgbClr val="0000FF"/>
                </a:solidFill>
                <a:latin typeface="+mn-lt"/>
              </a:rPr>
              <a:t>_</a:t>
            </a:r>
            <a:r>
              <a:rPr lang="en-US" altLang="zh-CN" sz="2400" b="0" i="1" u="none" strike="noStrike" baseline="0" dirty="0" err="1">
                <a:solidFill>
                  <a:srgbClr val="0000FF"/>
                </a:solidFill>
                <a:latin typeface="+mn-lt"/>
              </a:rPr>
              <a:t>id</a:t>
            </a:r>
            <a:r>
              <a:rPr lang="en-US" altLang="zh-CN" sz="2400" b="0" i="1" u="none" strike="noStrike" baseline="0" dirty="0">
                <a:solidFill>
                  <a:srgbClr val="0000FF"/>
                </a:solidFill>
                <a:latin typeface="+mn-lt"/>
              </a:rPr>
              <a:t> </a:t>
            </a:r>
          </a:p>
          <a:p>
            <a:pPr algn="l"/>
            <a:r>
              <a:rPr lang="en-US" altLang="zh-CN" i="1" dirty="0">
                <a:solidFill>
                  <a:srgbClr val="0000FF"/>
                </a:solidFill>
                <a:latin typeface="+mn-lt"/>
              </a:rPr>
              <a:t>                               </a:t>
            </a:r>
            <a:r>
              <a:rPr lang="en-US" altLang="zh-CN" sz="2400" b="0" i="0" u="none" strike="noStrike" baseline="0" dirty="0">
                <a:latin typeface="+mn-lt"/>
              </a:rPr>
              <a:t>and </a:t>
            </a:r>
            <a:r>
              <a:rPr lang="en-US" altLang="zh-CN" sz="2400" b="0" i="1" u="none" strike="noStrike" baseline="0" dirty="0" err="1">
                <a:latin typeface="+mn-lt"/>
              </a:rPr>
              <a:t>R</a:t>
            </a:r>
            <a:r>
              <a:rPr lang="en-US" altLang="zh-CN" sz="2400" b="0" i="0" u="none" strike="noStrike" baseline="0" dirty="0" err="1">
                <a:latin typeface="+mn-lt"/>
              </a:rPr>
              <a:t>.</a:t>
            </a:r>
            <a:r>
              <a:rPr lang="en-US" altLang="zh-CN" sz="2400" b="0" i="1" u="none" strike="noStrike" baseline="0" dirty="0" err="1">
                <a:latin typeface="+mn-lt"/>
              </a:rPr>
              <a:t>year</a:t>
            </a:r>
            <a:r>
              <a:rPr lang="en-US" altLang="zh-CN" sz="2400" b="0" i="1" u="none" strike="noStrike" baseline="0" dirty="0">
                <a:latin typeface="+mn-lt"/>
              </a:rPr>
              <a:t> </a:t>
            </a:r>
            <a:r>
              <a:rPr lang="en-US" altLang="zh-CN" sz="2400" b="0" i="0" u="none" strike="noStrike" baseline="0" dirty="0">
                <a:latin typeface="+mn-lt"/>
              </a:rPr>
              <a:t>= 2017)</a:t>
            </a:r>
            <a:endParaRPr lang="zh-CN" altLang="en-US" dirty="0">
              <a:latin typeface="+mn-lt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4CDE11-C27F-3EBD-CE7C-60D4DB46E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150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8909373"/>
      </p:ext>
    </p:extLst>
  </p:cSld>
  <p:clrMapOvr>
    <a:masterClrMapping/>
  </p:clrMapOvr>
  <p:transition>
    <p:fade/>
  </p:transition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E242A59-1246-4AD1-8610-DB8B35ECA201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454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45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3.4.3. </a:t>
            </a:r>
            <a:r>
              <a:rPr lang="zh-CN" altLang="en-US"/>
              <a:t>嵌套查询</a:t>
            </a:r>
          </a:p>
        </p:txBody>
      </p:sp>
      <p:sp>
        <p:nvSpPr>
          <p:cNvPr id="1454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45488" cy="2514599"/>
          </a:xfrm>
        </p:spPr>
        <p:txBody>
          <a:bodyPr/>
          <a:lstStyle/>
          <a:p>
            <a:pPr eaLnBrk="1" hangingPunct="1"/>
            <a:r>
              <a:rPr lang="en-US" altLang="zh-CN" dirty="0"/>
              <a:t>From</a:t>
            </a:r>
            <a:r>
              <a:rPr lang="zh-CN" altLang="en-US" dirty="0"/>
              <a:t>子句中的子查询（了解）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SQL</a:t>
            </a:r>
            <a:r>
              <a:rPr lang="zh-CN" altLang="en-US" dirty="0"/>
              <a:t>允许在</a:t>
            </a:r>
            <a:r>
              <a:rPr lang="en-US" altLang="zh-CN" dirty="0"/>
              <a:t>from</a:t>
            </a:r>
            <a:r>
              <a:rPr lang="zh-CN" altLang="en-US" dirty="0"/>
              <a:t>子句中使用子查询表达式。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任何</a:t>
            </a:r>
            <a:r>
              <a:rPr lang="en-US" altLang="zh-CN" dirty="0"/>
              <a:t>SFW</a:t>
            </a:r>
            <a:r>
              <a:rPr lang="zh-CN" altLang="en-US" dirty="0"/>
              <a:t>块返回的都是关系，因此可以被嵌入</a:t>
            </a:r>
            <a:r>
              <a:rPr lang="en-US" altLang="zh-CN" dirty="0"/>
              <a:t>select-from-where</a:t>
            </a:r>
            <a:r>
              <a:rPr lang="zh-CN" altLang="en-US" dirty="0"/>
              <a:t>中关系可以出现的任何位置</a:t>
            </a:r>
            <a:endParaRPr lang="en-US" altLang="zh-CN" dirty="0"/>
          </a:p>
          <a:p>
            <a:pPr lvl="1" eaLnBrk="1" hangingPunct="1"/>
            <a:r>
              <a:rPr lang="zh-CN" altLang="en-US" u="sng" dirty="0"/>
              <a:t>仅被</a:t>
            </a:r>
            <a:r>
              <a:rPr lang="en-US" altLang="zh-CN" u="sng" dirty="0">
                <a:solidFill>
                  <a:srgbClr val="0000FF"/>
                </a:solidFill>
              </a:rPr>
              <a:t>SQL2003</a:t>
            </a:r>
            <a:r>
              <a:rPr lang="zh-CN" altLang="en-US" u="sng" dirty="0"/>
              <a:t>及之后的版本支持</a:t>
            </a:r>
            <a:endParaRPr lang="en-US" altLang="zh-CN" u="sng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11D428-8644-6042-AA67-B3D4B04B8C91}"/>
              </a:ext>
            </a:extLst>
          </p:cNvPr>
          <p:cNvSpPr txBox="1"/>
          <p:nvPr/>
        </p:nvSpPr>
        <p:spPr>
          <a:xfrm>
            <a:off x="1219200" y="5486400"/>
            <a:ext cx="685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/>
              <a:t>instructor(</a:t>
            </a:r>
            <a:r>
              <a:rPr lang="zh-CN" altLang="en-US" sz="2400" u="sng" dirty="0"/>
              <a:t>ID</a:t>
            </a:r>
            <a:r>
              <a:rPr lang="zh-CN" altLang="en-US" sz="2400" dirty="0"/>
              <a:t>, name, </a:t>
            </a:r>
            <a:r>
              <a:rPr lang="zh-CN" altLang="en-US" sz="2400" dirty="0">
                <a:solidFill>
                  <a:srgbClr val="0000FF"/>
                </a:solidFill>
              </a:rPr>
              <a:t>dept</a:t>
            </a:r>
            <a:r>
              <a:rPr lang="en-US" altLang="zh-CN" sz="2400" dirty="0">
                <a:solidFill>
                  <a:srgbClr val="0000FF"/>
                </a:solidFill>
              </a:rPr>
              <a:t>_</a:t>
            </a:r>
            <a:r>
              <a:rPr lang="zh-CN" altLang="en-US" sz="2400" dirty="0">
                <a:solidFill>
                  <a:srgbClr val="0000FF"/>
                </a:solidFill>
              </a:rPr>
              <a:t>name</a:t>
            </a:r>
            <a:r>
              <a:rPr lang="zh-CN" altLang="en-US" sz="2400" dirty="0"/>
              <a:t>, salary)   </a:t>
            </a:r>
            <a:r>
              <a:rPr lang="en-US" altLang="zh-CN" sz="2400" dirty="0"/>
              <a:t>//</a:t>
            </a:r>
            <a:r>
              <a:rPr lang="zh-CN" altLang="en-US" sz="2400" dirty="0"/>
              <a:t>讲师</a:t>
            </a:r>
            <a:endParaRPr lang="en-US" altLang="zh-CN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8E744B-4F51-0BF8-E336-D2021DF68DA5}"/>
              </a:ext>
            </a:extLst>
          </p:cNvPr>
          <p:cNvSpPr txBox="1"/>
          <p:nvPr/>
        </p:nvSpPr>
        <p:spPr>
          <a:xfrm>
            <a:off x="694977" y="4437657"/>
            <a:ext cx="77540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查询系</a:t>
            </a:r>
            <a:r>
              <a:rPr lang="zh-CN" altLang="en-US" dirty="0">
                <a:solidFill>
                  <a:srgbClr val="0000FF"/>
                </a:solidFill>
              </a:rPr>
              <a:t>平均工资</a:t>
            </a:r>
            <a:r>
              <a:rPr lang="zh-CN" altLang="en-US" dirty="0"/>
              <a:t>超过</a:t>
            </a:r>
            <a:r>
              <a:rPr lang="en-US" altLang="zh-CN" dirty="0"/>
              <a:t>42000</a:t>
            </a:r>
            <a:r>
              <a:rPr lang="zh-CN" altLang="en-US" dirty="0"/>
              <a:t>元的那些系的教师平均工资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515DB2E-5DA5-74B8-B063-A1DBB06FB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151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1826380"/>
      </p:ext>
    </p:extLst>
  </p:cSld>
  <p:clrMapOvr>
    <a:masterClrMapping/>
  </p:clrMapOvr>
  <p:transition>
    <p:fade/>
  </p:transition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65BA9CB-0ECC-4F57-B122-BF9F5A0C9CC0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454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45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3.4.3. </a:t>
            </a:r>
            <a:r>
              <a:rPr lang="zh-CN" altLang="en-US"/>
              <a:t>嵌套查询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11D428-8644-6042-AA67-B3D4B04B8C91}"/>
              </a:ext>
            </a:extLst>
          </p:cNvPr>
          <p:cNvSpPr txBox="1"/>
          <p:nvPr/>
        </p:nvSpPr>
        <p:spPr>
          <a:xfrm>
            <a:off x="1286223" y="5781973"/>
            <a:ext cx="685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/>
              <a:t>instructor(</a:t>
            </a:r>
            <a:r>
              <a:rPr lang="zh-CN" altLang="en-US" sz="2400" u="sng" dirty="0"/>
              <a:t>ID</a:t>
            </a:r>
            <a:r>
              <a:rPr lang="zh-CN" altLang="en-US" sz="2400" dirty="0"/>
              <a:t>, name, </a:t>
            </a:r>
            <a:r>
              <a:rPr lang="zh-CN" altLang="en-US" sz="2400" dirty="0">
                <a:solidFill>
                  <a:srgbClr val="0000FF"/>
                </a:solidFill>
              </a:rPr>
              <a:t>dept</a:t>
            </a:r>
            <a:r>
              <a:rPr lang="en-US" altLang="zh-CN" sz="2400" dirty="0">
                <a:solidFill>
                  <a:srgbClr val="0000FF"/>
                </a:solidFill>
              </a:rPr>
              <a:t>_</a:t>
            </a:r>
            <a:r>
              <a:rPr lang="zh-CN" altLang="en-US" sz="2400" dirty="0">
                <a:solidFill>
                  <a:srgbClr val="0000FF"/>
                </a:solidFill>
              </a:rPr>
              <a:t>name</a:t>
            </a:r>
            <a:r>
              <a:rPr lang="zh-CN" altLang="en-US" sz="2400" dirty="0"/>
              <a:t>, salary)   </a:t>
            </a:r>
            <a:r>
              <a:rPr lang="en-US" altLang="zh-CN" sz="2400" dirty="0"/>
              <a:t>//</a:t>
            </a:r>
            <a:r>
              <a:rPr lang="zh-CN" altLang="en-US" sz="2400" dirty="0"/>
              <a:t>讲师</a:t>
            </a:r>
            <a:endParaRPr lang="en-US" altLang="zh-CN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8E744B-4F51-0BF8-E336-D2021DF68DA5}"/>
              </a:ext>
            </a:extLst>
          </p:cNvPr>
          <p:cNvSpPr txBox="1"/>
          <p:nvPr/>
        </p:nvSpPr>
        <p:spPr>
          <a:xfrm>
            <a:off x="838200" y="1524000"/>
            <a:ext cx="77540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查询系</a:t>
            </a:r>
            <a:r>
              <a:rPr lang="zh-CN" altLang="en-US" dirty="0">
                <a:solidFill>
                  <a:srgbClr val="0000FF"/>
                </a:solidFill>
              </a:rPr>
              <a:t>平均工资</a:t>
            </a:r>
            <a:r>
              <a:rPr lang="zh-CN" altLang="en-US" dirty="0"/>
              <a:t>超过</a:t>
            </a:r>
            <a:r>
              <a:rPr lang="en-US" altLang="zh-CN" dirty="0"/>
              <a:t>42000</a:t>
            </a:r>
            <a:r>
              <a:rPr lang="zh-CN" altLang="en-US" dirty="0"/>
              <a:t>元的那些系的教师平均工资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8715BD9-7499-CA59-F24E-68933A05D1F3}"/>
              </a:ext>
            </a:extLst>
          </p:cNvPr>
          <p:cNvSpPr txBox="1"/>
          <p:nvPr/>
        </p:nvSpPr>
        <p:spPr>
          <a:xfrm>
            <a:off x="1752600" y="2108537"/>
            <a:ext cx="48734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>
              <a:buAutoNum type="arabicPeriod"/>
            </a:pPr>
            <a:r>
              <a:rPr lang="zh-CN" altLang="en-US" dirty="0"/>
              <a:t>每个系的平均工资；</a:t>
            </a:r>
            <a:endParaRPr lang="en-US" altLang="zh-CN" dirty="0"/>
          </a:p>
          <a:p>
            <a:pPr marL="457200" indent="-457200" algn="l">
              <a:buAutoNum type="arabicPeriod"/>
            </a:pPr>
            <a:r>
              <a:rPr lang="zh-CN" altLang="en-US" dirty="0"/>
              <a:t>看哪个系的平均工资超过</a:t>
            </a:r>
            <a:r>
              <a:rPr lang="en-US" altLang="zh-CN" dirty="0"/>
              <a:t>42000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FC469B9-8689-1559-739F-9702E7DB010C}"/>
              </a:ext>
            </a:extLst>
          </p:cNvPr>
          <p:cNvSpPr txBox="1"/>
          <p:nvPr/>
        </p:nvSpPr>
        <p:spPr>
          <a:xfrm>
            <a:off x="2362200" y="3627775"/>
            <a:ext cx="6477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dirty="0">
                <a:latin typeface="+mn-lt"/>
              </a:rPr>
              <a:t>(</a:t>
            </a:r>
            <a:r>
              <a:rPr lang="en-US" altLang="zh-CN" sz="2400" b="0" i="0" u="none" strike="noStrike" baseline="0" dirty="0">
                <a:latin typeface="+mn-lt"/>
              </a:rPr>
              <a:t>select </a:t>
            </a:r>
            <a:r>
              <a:rPr lang="en-US" altLang="zh-CN" sz="2400" b="0" i="1" u="none" strike="noStrike" baseline="0" dirty="0" err="1">
                <a:latin typeface="+mn-lt"/>
              </a:rPr>
              <a:t>dept_name</a:t>
            </a:r>
            <a:r>
              <a:rPr lang="en-US" altLang="zh-CN" sz="2400" b="0" i="0" u="none" strike="noStrike" baseline="0" dirty="0">
                <a:latin typeface="+mn-lt"/>
              </a:rPr>
              <a:t>, avg (</a:t>
            </a:r>
            <a:r>
              <a:rPr lang="en-US" altLang="zh-CN" sz="2400" b="0" i="1" u="none" strike="noStrike" baseline="0" dirty="0">
                <a:latin typeface="+mn-lt"/>
              </a:rPr>
              <a:t>salary</a:t>
            </a:r>
            <a:r>
              <a:rPr lang="en-US" altLang="zh-CN" sz="2400" b="0" i="0" u="none" strike="noStrike" baseline="0" dirty="0">
                <a:latin typeface="+mn-lt"/>
              </a:rPr>
              <a:t>) as </a:t>
            </a:r>
            <a:r>
              <a:rPr lang="en-US" altLang="zh-CN" sz="2400" b="0" i="1" u="none" strike="noStrike" baseline="0" dirty="0" err="1">
                <a:latin typeface="+mn-lt"/>
              </a:rPr>
              <a:t>avg_salary</a:t>
            </a:r>
            <a:endParaRPr lang="en-US" altLang="zh-CN" sz="2400" b="0" i="1" u="none" strike="noStrike" baseline="0" dirty="0">
              <a:latin typeface="+mn-lt"/>
            </a:endParaRP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from </a:t>
            </a:r>
            <a:r>
              <a:rPr lang="en-US" altLang="zh-CN" sz="2400" b="0" i="1" u="none" strike="noStrike" baseline="0" dirty="0">
                <a:latin typeface="+mn-lt"/>
              </a:rPr>
              <a:t>instructor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group by </a:t>
            </a:r>
            <a:r>
              <a:rPr lang="en-US" altLang="zh-CN" sz="2400" b="0" i="1" u="none" strike="noStrike" baseline="0" dirty="0" err="1">
                <a:latin typeface="+mn-lt"/>
              </a:rPr>
              <a:t>dept_name</a:t>
            </a:r>
            <a:r>
              <a:rPr lang="en-US" altLang="zh-CN" sz="2400" b="0" i="1" u="none" strike="noStrike" baseline="0" dirty="0">
                <a:latin typeface="+mn-lt"/>
              </a:rPr>
              <a:t>)</a:t>
            </a:r>
            <a:endParaRPr lang="zh-CN" altLang="en-US" dirty="0">
              <a:latin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623BA66-C292-5857-6D3C-0B9A60B82741}"/>
              </a:ext>
            </a:extLst>
          </p:cNvPr>
          <p:cNvSpPr txBox="1"/>
          <p:nvPr/>
        </p:nvSpPr>
        <p:spPr>
          <a:xfrm>
            <a:off x="1676400" y="3230225"/>
            <a:ext cx="25069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i="1" dirty="0">
                <a:solidFill>
                  <a:srgbClr val="0000FF"/>
                </a:solidFill>
                <a:latin typeface="+mn-lt"/>
              </a:rPr>
              <a:t>select</a:t>
            </a:r>
            <a:r>
              <a:rPr lang="en-US" altLang="zh-CN" dirty="0">
                <a:solidFill>
                  <a:srgbClr val="0000FF"/>
                </a:solidFill>
                <a:latin typeface="+mn-lt"/>
              </a:rPr>
              <a:t> </a:t>
            </a:r>
            <a:r>
              <a:rPr lang="en-US" altLang="zh-CN" sz="2400" b="0" i="1" u="none" strike="noStrike" baseline="0" dirty="0" err="1">
                <a:solidFill>
                  <a:srgbClr val="0000FF"/>
                </a:solidFill>
                <a:latin typeface="+mn-lt"/>
              </a:rPr>
              <a:t>avg_salary</a:t>
            </a:r>
            <a:endParaRPr lang="en-US" altLang="zh-CN" sz="2400" b="0" i="1" u="none" strike="noStrike" baseline="0" dirty="0">
              <a:solidFill>
                <a:srgbClr val="0000FF"/>
              </a:solidFill>
              <a:latin typeface="+mn-lt"/>
            </a:endParaRPr>
          </a:p>
          <a:p>
            <a:pPr algn="l"/>
            <a:r>
              <a:rPr lang="en-US" altLang="zh-CN" i="1" dirty="0">
                <a:solidFill>
                  <a:srgbClr val="0000FF"/>
                </a:solidFill>
                <a:latin typeface="+mn-lt"/>
              </a:rPr>
              <a:t>from </a:t>
            </a:r>
            <a:r>
              <a:rPr lang="en-US" altLang="zh-CN" dirty="0">
                <a:solidFill>
                  <a:srgbClr val="0000FF"/>
                </a:solidFill>
                <a:latin typeface="+mn-lt"/>
              </a:rPr>
              <a:t> </a:t>
            </a:r>
            <a:endParaRPr lang="zh-CN" altLang="en-US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468A14C-E2B9-9785-54E4-639C228293DA}"/>
              </a:ext>
            </a:extLst>
          </p:cNvPr>
          <p:cNvSpPr txBox="1"/>
          <p:nvPr/>
        </p:nvSpPr>
        <p:spPr>
          <a:xfrm>
            <a:off x="1647340" y="4784258"/>
            <a:ext cx="39305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solidFill>
                  <a:srgbClr val="0000FF"/>
                </a:solidFill>
                <a:latin typeface="+mn-lt"/>
              </a:rPr>
              <a:t>where </a:t>
            </a:r>
            <a:r>
              <a:rPr lang="en-US" altLang="zh-CN" i="1" dirty="0" err="1">
                <a:solidFill>
                  <a:srgbClr val="0000FF"/>
                </a:solidFill>
                <a:latin typeface="+mn-lt"/>
              </a:rPr>
              <a:t>avg_</a:t>
            </a:r>
            <a:r>
              <a:rPr lang="en-US" altLang="zh-CN" b="0" i="1" u="none" strike="noStrike" baseline="0" dirty="0" err="1">
                <a:solidFill>
                  <a:srgbClr val="0000FF"/>
                </a:solidFill>
                <a:latin typeface="+mn-lt"/>
              </a:rPr>
              <a:t>salary</a:t>
            </a:r>
            <a:r>
              <a:rPr lang="en-US" altLang="zh-CN" b="0" i="1" u="none" strike="noStrike" baseline="0" dirty="0">
                <a:solidFill>
                  <a:srgbClr val="0000FF"/>
                </a:solidFill>
                <a:latin typeface="+mn-lt"/>
              </a:rPr>
              <a:t> &gt; </a:t>
            </a:r>
            <a:r>
              <a:rPr lang="en-US" altLang="zh-CN" b="0" i="0" u="none" strike="noStrike" baseline="0" dirty="0">
                <a:solidFill>
                  <a:srgbClr val="0000FF"/>
                </a:solidFill>
                <a:latin typeface="+mn-lt"/>
              </a:rPr>
              <a:t>42000;</a:t>
            </a:r>
            <a:endParaRPr lang="zh-CN" altLang="en-US" sz="320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12D6960-12BC-FB5A-2CD9-8AED9C262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152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04097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E2B9792-9B16-4BA0-9179-FF9E092D0003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454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45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3.4.3. </a:t>
            </a:r>
            <a:r>
              <a:rPr lang="zh-CN" altLang="en-US"/>
              <a:t>嵌套查询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11D428-8644-6042-AA67-B3D4B04B8C91}"/>
              </a:ext>
            </a:extLst>
          </p:cNvPr>
          <p:cNvSpPr txBox="1"/>
          <p:nvPr/>
        </p:nvSpPr>
        <p:spPr>
          <a:xfrm>
            <a:off x="1286223" y="5781973"/>
            <a:ext cx="685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/>
              <a:t>instructor(</a:t>
            </a:r>
            <a:r>
              <a:rPr lang="zh-CN" altLang="en-US" sz="2400" u="sng" dirty="0"/>
              <a:t>ID</a:t>
            </a:r>
            <a:r>
              <a:rPr lang="zh-CN" altLang="en-US" sz="2400" dirty="0"/>
              <a:t>, name, </a:t>
            </a:r>
            <a:r>
              <a:rPr lang="zh-CN" altLang="en-US" sz="2400" dirty="0">
                <a:solidFill>
                  <a:srgbClr val="0000FF"/>
                </a:solidFill>
              </a:rPr>
              <a:t>dept</a:t>
            </a:r>
            <a:r>
              <a:rPr lang="en-US" altLang="zh-CN" sz="2400" dirty="0">
                <a:solidFill>
                  <a:srgbClr val="0000FF"/>
                </a:solidFill>
              </a:rPr>
              <a:t>_</a:t>
            </a:r>
            <a:r>
              <a:rPr lang="zh-CN" altLang="en-US" sz="2400" dirty="0">
                <a:solidFill>
                  <a:srgbClr val="0000FF"/>
                </a:solidFill>
              </a:rPr>
              <a:t>name</a:t>
            </a:r>
            <a:r>
              <a:rPr lang="zh-CN" altLang="en-US" sz="2400" dirty="0"/>
              <a:t>, salary)   </a:t>
            </a:r>
            <a:r>
              <a:rPr lang="en-US" altLang="zh-CN" sz="2400" dirty="0"/>
              <a:t>//</a:t>
            </a:r>
            <a:r>
              <a:rPr lang="zh-CN" altLang="en-US" sz="2400" dirty="0"/>
              <a:t>讲师</a:t>
            </a:r>
            <a:endParaRPr lang="en-US" altLang="zh-CN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8E744B-4F51-0BF8-E336-D2021DF68DA5}"/>
              </a:ext>
            </a:extLst>
          </p:cNvPr>
          <p:cNvSpPr txBox="1"/>
          <p:nvPr/>
        </p:nvSpPr>
        <p:spPr>
          <a:xfrm>
            <a:off x="838200" y="1524000"/>
            <a:ext cx="77540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查询系</a:t>
            </a:r>
            <a:r>
              <a:rPr lang="zh-CN" altLang="en-US" dirty="0">
                <a:solidFill>
                  <a:srgbClr val="0000FF"/>
                </a:solidFill>
              </a:rPr>
              <a:t>平均工资</a:t>
            </a:r>
            <a:r>
              <a:rPr lang="zh-CN" altLang="en-US" dirty="0"/>
              <a:t>超过</a:t>
            </a:r>
            <a:r>
              <a:rPr lang="en-US" altLang="zh-CN" dirty="0"/>
              <a:t>42000</a:t>
            </a:r>
            <a:r>
              <a:rPr lang="zh-CN" altLang="en-US" dirty="0"/>
              <a:t>元的那些系的教师平均工资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8715BD9-7499-CA59-F24E-68933A05D1F3}"/>
              </a:ext>
            </a:extLst>
          </p:cNvPr>
          <p:cNvSpPr txBox="1"/>
          <p:nvPr/>
        </p:nvSpPr>
        <p:spPr>
          <a:xfrm>
            <a:off x="1219200" y="2108537"/>
            <a:ext cx="48734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>
              <a:buAutoNum type="arabicPeriod"/>
            </a:pPr>
            <a:r>
              <a:rPr lang="zh-CN" altLang="en-US" dirty="0"/>
              <a:t>每个系的平均工资；</a:t>
            </a:r>
            <a:endParaRPr lang="en-US" altLang="zh-CN" dirty="0"/>
          </a:p>
          <a:p>
            <a:pPr marL="457200" indent="-457200" algn="l">
              <a:buAutoNum type="arabicPeriod"/>
            </a:pPr>
            <a:r>
              <a:rPr lang="zh-CN" altLang="en-US" dirty="0"/>
              <a:t>看哪个系的平均工资超过</a:t>
            </a:r>
            <a:r>
              <a:rPr lang="en-US" altLang="zh-CN" dirty="0"/>
              <a:t>42000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1CF9AB-53F8-4AB6-A6BA-E3FACC6EA375}"/>
              </a:ext>
            </a:extLst>
          </p:cNvPr>
          <p:cNvSpPr txBox="1"/>
          <p:nvPr/>
        </p:nvSpPr>
        <p:spPr>
          <a:xfrm>
            <a:off x="1520650" y="3009752"/>
            <a:ext cx="67089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0" i="0" u="none" strike="noStrike" baseline="0" dirty="0">
                <a:latin typeface="+mn-lt"/>
              </a:rPr>
              <a:t>select </a:t>
            </a:r>
            <a:r>
              <a:rPr lang="en-US" altLang="zh-CN" sz="2400" b="0" i="1" u="none" strike="noStrike" baseline="0" dirty="0" err="1">
                <a:latin typeface="+mn-lt"/>
              </a:rPr>
              <a:t>dept_name</a:t>
            </a:r>
            <a:r>
              <a:rPr lang="en-US" altLang="zh-CN" sz="2400" b="0" i="0" u="none" strike="noStrike" baseline="0" dirty="0">
                <a:latin typeface="+mn-lt"/>
              </a:rPr>
              <a:t>, </a:t>
            </a:r>
            <a:r>
              <a:rPr lang="en-US" altLang="zh-CN" sz="2400" b="0" i="1" u="none" strike="noStrike" baseline="0" dirty="0" err="1">
                <a:latin typeface="+mn-lt"/>
              </a:rPr>
              <a:t>avg_salary</a:t>
            </a:r>
            <a:endParaRPr lang="en-US" altLang="zh-CN" sz="2400" b="0" i="1" u="none" strike="noStrike" baseline="0" dirty="0">
              <a:latin typeface="+mn-lt"/>
            </a:endParaRP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from (select </a:t>
            </a:r>
            <a:r>
              <a:rPr lang="en-US" altLang="zh-CN" sz="2400" b="0" i="1" u="none" strike="noStrike" baseline="0" dirty="0" err="1">
                <a:latin typeface="+mn-lt"/>
              </a:rPr>
              <a:t>dept_name</a:t>
            </a:r>
            <a:r>
              <a:rPr lang="en-US" altLang="zh-CN" sz="2400" b="0" i="0" u="none" strike="noStrike" baseline="0" dirty="0">
                <a:latin typeface="+mn-lt"/>
              </a:rPr>
              <a:t>, avg (</a:t>
            </a:r>
            <a:r>
              <a:rPr lang="en-US" altLang="zh-CN" sz="2400" b="0" i="1" u="none" strike="noStrike" baseline="0" dirty="0">
                <a:latin typeface="+mn-lt"/>
              </a:rPr>
              <a:t>salary</a:t>
            </a:r>
            <a:r>
              <a:rPr lang="en-US" altLang="zh-CN" sz="2400" b="0" i="0" u="none" strike="noStrike" baseline="0" dirty="0">
                <a:latin typeface="+mn-lt"/>
              </a:rPr>
              <a:t>)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           from </a:t>
            </a:r>
            <a:r>
              <a:rPr lang="en-US" altLang="zh-CN" sz="2400" b="0" i="1" u="none" strike="noStrike" baseline="0" dirty="0">
                <a:latin typeface="+mn-lt"/>
              </a:rPr>
              <a:t>instructor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           group by </a:t>
            </a:r>
            <a:r>
              <a:rPr lang="en-US" altLang="zh-CN" sz="2400" b="0" i="1" u="none" strike="noStrike" baseline="0" dirty="0" err="1">
                <a:latin typeface="+mn-lt"/>
              </a:rPr>
              <a:t>dept_name</a:t>
            </a:r>
            <a:r>
              <a:rPr lang="en-US" altLang="zh-CN" sz="2400" b="0" i="0" u="none" strike="noStrike" baseline="0" dirty="0">
                <a:latin typeface="+mn-lt"/>
              </a:rPr>
              <a:t>)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           </a:t>
            </a:r>
            <a:r>
              <a:rPr lang="en-US" altLang="zh-CN" sz="2400" b="0" i="0" u="none" strike="noStrike" baseline="0" dirty="0">
                <a:solidFill>
                  <a:srgbClr val="C00000"/>
                </a:solidFill>
                <a:latin typeface="+mn-lt"/>
              </a:rPr>
              <a:t>as</a:t>
            </a:r>
            <a:r>
              <a:rPr lang="en-US" altLang="zh-CN" sz="2400" b="0" i="0" u="none" strike="noStrike" baseline="0" dirty="0">
                <a:latin typeface="+mn-lt"/>
              </a:rPr>
              <a:t> </a:t>
            </a:r>
            <a:r>
              <a:rPr lang="en-US" altLang="zh-CN" sz="2400" b="0" i="1" u="none" strike="noStrike" baseline="0" dirty="0" err="1">
                <a:solidFill>
                  <a:srgbClr val="0000FF"/>
                </a:solidFill>
                <a:latin typeface="+mn-lt"/>
              </a:rPr>
              <a:t>dept_avg</a:t>
            </a:r>
            <a:r>
              <a:rPr lang="en-US" altLang="zh-CN" sz="2400" b="0" i="1" u="none" strike="noStrike" baseline="0" dirty="0">
                <a:solidFill>
                  <a:srgbClr val="0000FF"/>
                </a:solidFill>
                <a:latin typeface="+mn-lt"/>
              </a:rPr>
              <a:t> </a:t>
            </a:r>
            <a:r>
              <a:rPr lang="en-US" altLang="zh-CN" sz="2400" b="0" i="0" u="none" strike="noStrike" baseline="0" dirty="0">
                <a:solidFill>
                  <a:srgbClr val="0000FF"/>
                </a:solidFill>
                <a:latin typeface="+mn-lt"/>
              </a:rPr>
              <a:t>(</a:t>
            </a:r>
            <a:r>
              <a:rPr lang="en-US" altLang="zh-CN" sz="2400" b="0" i="1" u="none" strike="noStrike" baseline="0" dirty="0" err="1">
                <a:solidFill>
                  <a:srgbClr val="0000FF"/>
                </a:solidFill>
                <a:latin typeface="+mn-lt"/>
              </a:rPr>
              <a:t>dept_name</a:t>
            </a:r>
            <a:r>
              <a:rPr lang="en-US" altLang="zh-CN" sz="2400" b="0" i="0" u="none" strike="noStrike" baseline="0" dirty="0">
                <a:solidFill>
                  <a:srgbClr val="0000FF"/>
                </a:solidFill>
                <a:latin typeface="+mn-lt"/>
              </a:rPr>
              <a:t>, </a:t>
            </a:r>
            <a:r>
              <a:rPr lang="en-US" altLang="zh-CN" sz="2400" b="0" i="1" u="none" strike="noStrike" baseline="0" dirty="0" err="1">
                <a:solidFill>
                  <a:srgbClr val="0000FF"/>
                </a:solidFill>
                <a:latin typeface="+mn-lt"/>
              </a:rPr>
              <a:t>avg_salary</a:t>
            </a:r>
            <a:r>
              <a:rPr lang="en-US" altLang="zh-CN" sz="2400" b="0" i="0" u="none" strike="noStrike" baseline="0" dirty="0">
                <a:solidFill>
                  <a:srgbClr val="0000FF"/>
                </a:solidFill>
                <a:latin typeface="+mn-lt"/>
              </a:rPr>
              <a:t>)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where </a:t>
            </a:r>
            <a:r>
              <a:rPr lang="en-US" altLang="zh-CN" sz="2400" b="0" i="1" u="none" strike="noStrike" baseline="0" dirty="0" err="1">
                <a:latin typeface="+mn-lt"/>
              </a:rPr>
              <a:t>avg</a:t>
            </a:r>
            <a:r>
              <a:rPr lang="en-US" altLang="zh-CN" i="1" dirty="0" err="1">
                <a:latin typeface="+mn-lt"/>
              </a:rPr>
              <a:t>_</a:t>
            </a:r>
            <a:r>
              <a:rPr lang="en-US" altLang="zh-CN" sz="2400" b="0" i="1" u="none" strike="noStrike" baseline="0" dirty="0" err="1">
                <a:latin typeface="+mn-lt"/>
              </a:rPr>
              <a:t>salary</a:t>
            </a:r>
            <a:r>
              <a:rPr lang="en-US" altLang="zh-CN" sz="2400" b="0" i="1" u="none" strike="noStrike" baseline="0" dirty="0">
                <a:latin typeface="+mn-lt"/>
              </a:rPr>
              <a:t> &gt; </a:t>
            </a:r>
            <a:r>
              <a:rPr lang="en-US" altLang="zh-CN" sz="2400" b="0" i="0" u="none" strike="noStrike" baseline="0" dirty="0">
                <a:latin typeface="+mn-lt"/>
              </a:rPr>
              <a:t>42000;</a:t>
            </a:r>
            <a:endParaRPr lang="zh-CN" altLang="en-US" dirty="0">
              <a:latin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A890446-5D4C-FB3F-845D-6ABFC765E738}"/>
              </a:ext>
            </a:extLst>
          </p:cNvPr>
          <p:cNvSpPr txBox="1"/>
          <p:nvPr/>
        </p:nvSpPr>
        <p:spPr>
          <a:xfrm>
            <a:off x="6934200" y="3352800"/>
            <a:ext cx="1948125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dirty="0"/>
              <a:t>给子查询定义一个关系，并重命名属性名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1DD200C-FF8D-3A74-D4BA-F66BCC332D4D}"/>
              </a:ext>
            </a:extLst>
          </p:cNvPr>
          <p:cNvSpPr txBox="1"/>
          <p:nvPr/>
        </p:nvSpPr>
        <p:spPr>
          <a:xfrm>
            <a:off x="1447800" y="5334000"/>
            <a:ext cx="6032421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本质上，建立</a:t>
            </a:r>
            <a:r>
              <a:rPr lang="zh-CN" altLang="en-US" b="1" dirty="0">
                <a:solidFill>
                  <a:srgbClr val="0000FF"/>
                </a:solidFill>
              </a:rPr>
              <a:t>临时关系</a:t>
            </a:r>
            <a:r>
              <a:rPr lang="zh-CN" altLang="en-US" dirty="0"/>
              <a:t>把复杂查询简单化。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C0883B4-EF7D-C6C5-D5FA-990644DBE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153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698709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847BFBE-87C8-4B13-8FB9-E2342008E7E2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454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45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3.4.3. </a:t>
            </a:r>
            <a:r>
              <a:rPr lang="zh-CN" altLang="en-US"/>
              <a:t>嵌套查询</a:t>
            </a:r>
          </a:p>
        </p:txBody>
      </p:sp>
      <p:sp>
        <p:nvSpPr>
          <p:cNvPr id="1454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8345488" cy="1600200"/>
          </a:xfrm>
        </p:spPr>
        <p:txBody>
          <a:bodyPr/>
          <a:lstStyle/>
          <a:p>
            <a:pPr eaLnBrk="1" hangingPunct="1"/>
            <a:r>
              <a:rPr lang="en-US" altLang="zh-CN" dirty="0"/>
              <a:t>With</a:t>
            </a:r>
            <a:r>
              <a:rPr lang="zh-CN" altLang="en-US" dirty="0"/>
              <a:t>子句（了解）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提供了一种</a:t>
            </a:r>
            <a:r>
              <a:rPr lang="zh-CN" altLang="en-US" dirty="0">
                <a:solidFill>
                  <a:srgbClr val="0000FF"/>
                </a:solidFill>
              </a:rPr>
              <a:t>定义临时关系</a:t>
            </a:r>
            <a:r>
              <a:rPr lang="zh-CN" altLang="en-US" dirty="0"/>
              <a:t>的方式，这个定义只对包含</a:t>
            </a:r>
            <a:r>
              <a:rPr lang="en-US" altLang="zh-CN" dirty="0"/>
              <a:t>with</a:t>
            </a:r>
            <a:r>
              <a:rPr lang="zh-CN" altLang="en-US" dirty="0"/>
              <a:t>子句的查询有效（</a:t>
            </a:r>
            <a:r>
              <a:rPr lang="en-US" altLang="zh-CN" dirty="0">
                <a:solidFill>
                  <a:srgbClr val="0000FF"/>
                </a:solidFill>
              </a:rPr>
              <a:t>SQL1999</a:t>
            </a:r>
            <a:r>
              <a:rPr lang="zh-CN" altLang="en-US" dirty="0"/>
              <a:t>引入）。</a:t>
            </a:r>
            <a:endParaRPr lang="en-US" altLang="zh-CN" u="sng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11D428-8644-6042-AA67-B3D4B04B8C91}"/>
              </a:ext>
            </a:extLst>
          </p:cNvPr>
          <p:cNvSpPr txBox="1"/>
          <p:nvPr/>
        </p:nvSpPr>
        <p:spPr>
          <a:xfrm>
            <a:off x="609600" y="6234411"/>
            <a:ext cx="739140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zh-CN" altLang="en-US" sz="2400" dirty="0"/>
              <a:t>department(</a:t>
            </a:r>
            <a:r>
              <a:rPr lang="zh-CN" altLang="en-US" sz="2400" u="sng" dirty="0"/>
              <a:t>dept</a:t>
            </a:r>
            <a:r>
              <a:rPr lang="en-US" altLang="zh-CN" sz="2400" u="sng" dirty="0"/>
              <a:t>_</a:t>
            </a:r>
            <a:r>
              <a:rPr lang="zh-CN" altLang="en-US" sz="2400" u="sng" dirty="0"/>
              <a:t>name</a:t>
            </a:r>
            <a:r>
              <a:rPr lang="zh-CN" altLang="en-US" sz="2400" dirty="0"/>
              <a:t>, building, </a:t>
            </a:r>
            <a:r>
              <a:rPr lang="zh-CN" altLang="en-US" sz="2400" dirty="0">
                <a:solidFill>
                  <a:srgbClr val="0000FF"/>
                </a:solidFill>
              </a:rPr>
              <a:t>budget</a:t>
            </a:r>
            <a:r>
              <a:rPr lang="zh-CN" altLang="en-US" sz="2400" dirty="0"/>
              <a:t>)</a:t>
            </a:r>
            <a:r>
              <a:rPr lang="en-US" altLang="zh-CN" sz="2400" dirty="0"/>
              <a:t>  //</a:t>
            </a:r>
            <a:r>
              <a:rPr lang="zh-CN" altLang="en-US" sz="2400" dirty="0"/>
              <a:t>系别</a:t>
            </a:r>
            <a:endParaRPr lang="en-US" altLang="zh-CN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8B4F9CA-18BB-02B7-383D-F3AEC45B6670}"/>
              </a:ext>
            </a:extLst>
          </p:cNvPr>
          <p:cNvSpPr txBox="1"/>
          <p:nvPr/>
        </p:nvSpPr>
        <p:spPr>
          <a:xfrm>
            <a:off x="1172713" y="3030833"/>
            <a:ext cx="39709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查询具有</a:t>
            </a:r>
            <a:r>
              <a:rPr lang="zh-CN" altLang="en-US" dirty="0">
                <a:solidFill>
                  <a:srgbClr val="0000FF"/>
                </a:solidFill>
              </a:rPr>
              <a:t>最大预算</a:t>
            </a:r>
            <a:r>
              <a:rPr lang="zh-CN" altLang="en-US" dirty="0"/>
              <a:t>的那些系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9DAF3E3-2D06-8E4D-7427-879FAD2C9F0D}"/>
              </a:ext>
            </a:extLst>
          </p:cNvPr>
          <p:cNvSpPr txBox="1"/>
          <p:nvPr/>
        </p:nvSpPr>
        <p:spPr>
          <a:xfrm>
            <a:off x="2133600" y="3480554"/>
            <a:ext cx="6324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0" i="0" u="none" strike="noStrike" baseline="0" dirty="0">
                <a:solidFill>
                  <a:srgbClr val="FF0000"/>
                </a:solidFill>
                <a:latin typeface="+mn-lt"/>
              </a:rPr>
              <a:t>with</a:t>
            </a:r>
            <a:r>
              <a:rPr lang="en-US" altLang="zh-CN" sz="2400" b="0" i="0" u="none" strike="noStrike" baseline="0" dirty="0">
                <a:latin typeface="+mn-lt"/>
              </a:rPr>
              <a:t> </a:t>
            </a:r>
            <a:r>
              <a:rPr lang="en-US" altLang="zh-CN" sz="2400" b="0" u="none" strike="noStrike" baseline="0" dirty="0" err="1">
                <a:solidFill>
                  <a:srgbClr val="0000FF"/>
                </a:solidFill>
                <a:latin typeface="+mn-lt"/>
              </a:rPr>
              <a:t>max_budget</a:t>
            </a:r>
            <a:r>
              <a:rPr lang="en-US" altLang="zh-CN" sz="2400" b="0" u="none" strike="noStrike" baseline="0" dirty="0">
                <a:solidFill>
                  <a:srgbClr val="0000FF"/>
                </a:solidFill>
                <a:latin typeface="+mn-lt"/>
              </a:rPr>
              <a:t> </a:t>
            </a:r>
            <a:r>
              <a:rPr lang="en-US" altLang="zh-CN" sz="2400" b="0" i="0" u="none" strike="noStrike" baseline="0" dirty="0">
                <a:latin typeface="+mn-lt"/>
              </a:rPr>
              <a:t>(</a:t>
            </a:r>
            <a:r>
              <a:rPr lang="en-US" altLang="zh-CN" sz="2400" b="0" i="1" u="none" strike="noStrike" baseline="0" dirty="0">
                <a:latin typeface="+mn-lt"/>
              </a:rPr>
              <a:t>value</a:t>
            </a:r>
            <a:r>
              <a:rPr lang="en-US" altLang="zh-CN" sz="2400" b="0" i="0" u="none" strike="noStrike" baseline="0" dirty="0">
                <a:latin typeface="+mn-lt"/>
              </a:rPr>
              <a:t>) </a:t>
            </a:r>
            <a:r>
              <a:rPr lang="en-US" altLang="zh-CN" sz="2400" b="0" i="0" u="none" strike="noStrike" baseline="0" dirty="0">
                <a:solidFill>
                  <a:srgbClr val="FF0000"/>
                </a:solidFill>
                <a:latin typeface="+mn-lt"/>
              </a:rPr>
              <a:t>as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       (select max(</a:t>
            </a:r>
            <a:r>
              <a:rPr lang="en-US" altLang="zh-CN" sz="2400" b="0" i="1" u="none" strike="noStrike" baseline="0" dirty="0">
                <a:latin typeface="+mn-lt"/>
              </a:rPr>
              <a:t>budget</a:t>
            </a:r>
            <a:r>
              <a:rPr lang="en-US" altLang="zh-CN" sz="2400" b="0" i="0" u="none" strike="noStrike" baseline="0" dirty="0">
                <a:latin typeface="+mn-lt"/>
              </a:rPr>
              <a:t>)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         from </a:t>
            </a:r>
            <a:r>
              <a:rPr lang="en-US" altLang="zh-CN" sz="2400" b="0" i="1" u="none" strike="noStrike" baseline="0" dirty="0">
                <a:latin typeface="+mn-lt"/>
              </a:rPr>
              <a:t>department</a:t>
            </a:r>
            <a:r>
              <a:rPr lang="en-US" altLang="zh-CN" sz="2400" b="0" i="0" u="none" strike="noStrike" baseline="0" dirty="0">
                <a:latin typeface="+mn-lt"/>
              </a:rPr>
              <a:t>)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select </a:t>
            </a:r>
            <a:r>
              <a:rPr lang="zh-CN" altLang="en-US" i="1" dirty="0">
                <a:latin typeface="+mn-lt"/>
              </a:rPr>
              <a:t>dept</a:t>
            </a:r>
            <a:r>
              <a:rPr lang="en-US" altLang="zh-CN" i="1" dirty="0">
                <a:latin typeface="+mn-lt"/>
              </a:rPr>
              <a:t>_</a:t>
            </a:r>
            <a:r>
              <a:rPr lang="zh-CN" altLang="en-US" i="1" dirty="0">
                <a:latin typeface="+mn-lt"/>
              </a:rPr>
              <a:t>name</a:t>
            </a:r>
            <a:endParaRPr lang="en-US" altLang="zh-CN" i="1" dirty="0">
              <a:latin typeface="+mn-lt"/>
            </a:endParaRP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from </a:t>
            </a:r>
            <a:r>
              <a:rPr lang="en-US" altLang="zh-CN" sz="2400" b="0" i="1" u="none" strike="noStrike" baseline="0" dirty="0">
                <a:latin typeface="+mn-lt"/>
              </a:rPr>
              <a:t>department</a:t>
            </a:r>
            <a:r>
              <a:rPr lang="en-US" altLang="zh-CN" sz="2400" b="0" i="0" u="none" strike="noStrike" baseline="0" dirty="0">
                <a:latin typeface="+mn-lt"/>
              </a:rPr>
              <a:t>, </a:t>
            </a:r>
            <a:r>
              <a:rPr lang="en-US" altLang="zh-CN" sz="2400" b="0" u="none" strike="noStrike" baseline="0" dirty="0" err="1">
                <a:solidFill>
                  <a:srgbClr val="0000FF"/>
                </a:solidFill>
                <a:latin typeface="+mn-lt"/>
              </a:rPr>
              <a:t>max_budget</a:t>
            </a:r>
            <a:endParaRPr lang="en-US" altLang="zh-CN" sz="2400" b="0" u="none" strike="noStrike" baseline="0" dirty="0">
              <a:solidFill>
                <a:srgbClr val="0000FF"/>
              </a:solidFill>
              <a:latin typeface="+mn-lt"/>
            </a:endParaRP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where </a:t>
            </a:r>
            <a:r>
              <a:rPr lang="en-US" altLang="zh-CN" sz="2400" b="0" i="1" u="none" strike="noStrike" baseline="0" dirty="0" err="1">
                <a:latin typeface="+mn-lt"/>
              </a:rPr>
              <a:t>department</a:t>
            </a:r>
            <a:r>
              <a:rPr lang="en-US" altLang="zh-CN" sz="2400" b="0" i="0" u="none" strike="noStrike" baseline="0" dirty="0" err="1">
                <a:latin typeface="+mn-lt"/>
              </a:rPr>
              <a:t>.</a:t>
            </a:r>
            <a:r>
              <a:rPr lang="en-US" altLang="zh-CN" sz="2400" b="0" i="1" u="none" strike="noStrike" baseline="0" dirty="0" err="1">
                <a:latin typeface="+mn-lt"/>
              </a:rPr>
              <a:t>budget</a:t>
            </a:r>
            <a:r>
              <a:rPr lang="en-US" altLang="zh-CN" sz="2400" b="0" i="1" u="none" strike="noStrike" baseline="0" dirty="0">
                <a:latin typeface="+mn-lt"/>
              </a:rPr>
              <a:t> </a:t>
            </a:r>
            <a:r>
              <a:rPr lang="en-US" altLang="zh-CN" sz="2400" b="0" i="0" u="none" strike="noStrike" baseline="0" dirty="0">
                <a:latin typeface="+mn-lt"/>
              </a:rPr>
              <a:t>= </a:t>
            </a:r>
            <a:r>
              <a:rPr lang="en-US" altLang="zh-CN" sz="2400" b="0" i="1" u="none" strike="noStrike" baseline="0" dirty="0">
                <a:latin typeface="+mn-lt"/>
              </a:rPr>
              <a:t>max </a:t>
            </a:r>
            <a:r>
              <a:rPr lang="en-US" altLang="zh-CN" sz="2400" b="0" i="1" u="none" strike="noStrike" baseline="0" dirty="0" err="1">
                <a:latin typeface="+mn-lt"/>
              </a:rPr>
              <a:t>budget.value</a:t>
            </a:r>
            <a:r>
              <a:rPr lang="en-US" altLang="zh-CN" sz="2400" b="0" i="0" u="none" strike="noStrike" baseline="0" dirty="0">
                <a:latin typeface="+mn-lt"/>
              </a:rPr>
              <a:t>;</a:t>
            </a:r>
            <a:endParaRPr lang="zh-CN" altLang="en-US" dirty="0">
              <a:latin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A046400-7BB2-1F3D-840D-F7E58D6909CB}"/>
              </a:ext>
            </a:extLst>
          </p:cNvPr>
          <p:cNvSpPr txBox="1"/>
          <p:nvPr/>
        </p:nvSpPr>
        <p:spPr>
          <a:xfrm>
            <a:off x="6172200" y="4033926"/>
            <a:ext cx="2577163" cy="83099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定义了临时关系</a:t>
            </a:r>
            <a:r>
              <a:rPr lang="en-US" altLang="zh-CN" sz="2400" b="0" i="1" u="none" strike="noStrike" baseline="0" dirty="0" err="1">
                <a:solidFill>
                  <a:srgbClr val="0000FF"/>
                </a:solidFill>
              </a:rPr>
              <a:t>max_budget</a:t>
            </a:r>
            <a:r>
              <a:rPr lang="en-US" altLang="zh-CN" sz="2400" b="0" i="1" u="none" strike="noStrike" baseline="0" dirty="0">
                <a:solidFill>
                  <a:srgbClr val="0000FF"/>
                </a:solidFill>
              </a:rPr>
              <a:t>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3B2059-07A5-1A04-EB90-2DA9B46AB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154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60793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17A87C5-30C2-47EC-8791-1AC24543878D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454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45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3.4.3. </a:t>
            </a:r>
            <a:r>
              <a:rPr lang="zh-CN" altLang="en-US"/>
              <a:t>嵌套查询</a:t>
            </a:r>
          </a:p>
        </p:txBody>
      </p:sp>
      <p:sp>
        <p:nvSpPr>
          <p:cNvPr id="1454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1"/>
            <a:ext cx="8345488" cy="609599"/>
          </a:xfrm>
        </p:spPr>
        <p:txBody>
          <a:bodyPr/>
          <a:lstStyle/>
          <a:p>
            <a:pPr eaLnBrk="1" hangingPunct="1"/>
            <a:r>
              <a:rPr lang="en-US" altLang="zh-CN" dirty="0"/>
              <a:t>With</a:t>
            </a:r>
            <a:r>
              <a:rPr lang="zh-CN" altLang="en-US" dirty="0"/>
              <a:t>子句（了解）</a:t>
            </a:r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11D428-8644-6042-AA67-B3D4B04B8C91}"/>
              </a:ext>
            </a:extLst>
          </p:cNvPr>
          <p:cNvSpPr txBox="1"/>
          <p:nvPr/>
        </p:nvSpPr>
        <p:spPr>
          <a:xfrm>
            <a:off x="685800" y="6172200"/>
            <a:ext cx="739140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zh-CN" altLang="en-US" dirty="0"/>
              <a:t>instructor(</a:t>
            </a:r>
            <a:r>
              <a:rPr lang="zh-CN" altLang="en-US" u="sng" dirty="0"/>
              <a:t>ID</a:t>
            </a:r>
            <a:r>
              <a:rPr lang="zh-CN" altLang="en-US" dirty="0"/>
              <a:t>, name, </a:t>
            </a:r>
            <a:r>
              <a:rPr lang="zh-CN" altLang="en-US" dirty="0">
                <a:solidFill>
                  <a:srgbClr val="0000FF"/>
                </a:solidFill>
              </a:rPr>
              <a:t>dept</a:t>
            </a:r>
            <a:r>
              <a:rPr lang="en-US" altLang="zh-CN" dirty="0">
                <a:solidFill>
                  <a:srgbClr val="0000FF"/>
                </a:solidFill>
              </a:rPr>
              <a:t>_</a:t>
            </a:r>
            <a:r>
              <a:rPr lang="zh-CN" altLang="en-US" dirty="0">
                <a:solidFill>
                  <a:srgbClr val="0000FF"/>
                </a:solidFill>
              </a:rPr>
              <a:t>name</a:t>
            </a:r>
            <a:r>
              <a:rPr lang="zh-CN" altLang="en-US" dirty="0"/>
              <a:t>, salary)   </a:t>
            </a:r>
            <a:r>
              <a:rPr lang="en-US" altLang="zh-CN" dirty="0"/>
              <a:t>//</a:t>
            </a:r>
            <a:r>
              <a:rPr lang="zh-CN" altLang="en-US" dirty="0"/>
              <a:t>讲师</a:t>
            </a:r>
            <a:endParaRPr lang="en-US" altLang="zh-CN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8B4F9CA-18BB-02B7-383D-F3AEC45B6670}"/>
              </a:ext>
            </a:extLst>
          </p:cNvPr>
          <p:cNvSpPr txBox="1"/>
          <p:nvPr/>
        </p:nvSpPr>
        <p:spPr>
          <a:xfrm>
            <a:off x="903625" y="2076443"/>
            <a:ext cx="6955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查询</a:t>
            </a:r>
            <a:r>
              <a:rPr lang="zh-CN" altLang="en-US" dirty="0">
                <a:solidFill>
                  <a:srgbClr val="0000FF"/>
                </a:solidFill>
              </a:rPr>
              <a:t>工资</a:t>
            </a:r>
            <a:r>
              <a:rPr lang="zh-CN" altLang="en-US" b="1" dirty="0">
                <a:solidFill>
                  <a:srgbClr val="0000FF"/>
                </a:solidFill>
              </a:rPr>
              <a:t>总额</a:t>
            </a:r>
            <a:r>
              <a:rPr lang="zh-CN" altLang="en-US" dirty="0"/>
              <a:t>大于</a:t>
            </a:r>
            <a:r>
              <a:rPr lang="zh-CN" altLang="en-US" dirty="0">
                <a:solidFill>
                  <a:srgbClr val="0000FF"/>
                </a:solidFill>
              </a:rPr>
              <a:t>所有系平均工资</a:t>
            </a:r>
            <a:r>
              <a:rPr lang="zh-CN" altLang="en-US" b="1" dirty="0">
                <a:solidFill>
                  <a:srgbClr val="0000FF"/>
                </a:solidFill>
              </a:rPr>
              <a:t>总额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00000"/>
                </a:solidFill>
              </a:rPr>
              <a:t>那些系。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A3F92C9-D553-A8AD-77F2-481E13527A72}"/>
              </a:ext>
            </a:extLst>
          </p:cNvPr>
          <p:cNvSpPr txBox="1"/>
          <p:nvPr/>
        </p:nvSpPr>
        <p:spPr>
          <a:xfrm>
            <a:off x="1752600" y="2506358"/>
            <a:ext cx="66294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200" b="0" i="0" u="none" strike="noStrike" baseline="0" dirty="0">
                <a:latin typeface="+mn-lt"/>
              </a:rPr>
              <a:t>with </a:t>
            </a:r>
            <a:r>
              <a:rPr lang="en-US" altLang="zh-CN" sz="2200" b="0" i="1" u="none" strike="noStrike" baseline="0" dirty="0" err="1">
                <a:solidFill>
                  <a:srgbClr val="0000FF"/>
                </a:solidFill>
                <a:latin typeface="+mn-lt"/>
              </a:rPr>
              <a:t>dept_total</a:t>
            </a:r>
            <a:r>
              <a:rPr lang="en-US" altLang="zh-CN" sz="2200" b="0" i="1" u="none" strike="noStrike" baseline="0" dirty="0">
                <a:solidFill>
                  <a:srgbClr val="0000FF"/>
                </a:solidFill>
                <a:latin typeface="+mn-lt"/>
              </a:rPr>
              <a:t> </a:t>
            </a:r>
            <a:r>
              <a:rPr lang="en-US" altLang="zh-CN" sz="2200" b="0" i="0" u="none" strike="noStrike" baseline="0" dirty="0">
                <a:solidFill>
                  <a:srgbClr val="006600"/>
                </a:solidFill>
                <a:latin typeface="+mn-lt"/>
              </a:rPr>
              <a:t>(</a:t>
            </a:r>
            <a:r>
              <a:rPr lang="en-US" altLang="zh-CN" sz="2200" b="0" i="1" u="none" strike="noStrike" baseline="0" dirty="0" err="1">
                <a:solidFill>
                  <a:srgbClr val="006600"/>
                </a:solidFill>
                <a:latin typeface="+mn-lt"/>
              </a:rPr>
              <a:t>dept_name</a:t>
            </a:r>
            <a:r>
              <a:rPr lang="en-US" altLang="zh-CN" sz="2200" b="0" i="0" u="none" strike="noStrike" baseline="0" dirty="0">
                <a:solidFill>
                  <a:srgbClr val="006600"/>
                </a:solidFill>
                <a:latin typeface="+mn-lt"/>
              </a:rPr>
              <a:t>, </a:t>
            </a:r>
            <a:r>
              <a:rPr lang="en-US" altLang="zh-CN" sz="2200" b="0" i="1" u="none" strike="noStrike" baseline="0" dirty="0">
                <a:solidFill>
                  <a:srgbClr val="006600"/>
                </a:solidFill>
                <a:latin typeface="+mn-lt"/>
              </a:rPr>
              <a:t>value</a:t>
            </a:r>
            <a:r>
              <a:rPr lang="en-US" altLang="zh-CN" sz="2200" b="0" i="0" u="none" strike="noStrike" baseline="0" dirty="0">
                <a:solidFill>
                  <a:srgbClr val="006600"/>
                </a:solidFill>
                <a:latin typeface="+mn-lt"/>
              </a:rPr>
              <a:t>) as</a:t>
            </a:r>
          </a:p>
          <a:p>
            <a:pPr algn="l"/>
            <a:r>
              <a:rPr lang="en-US" altLang="zh-CN" sz="2200" b="0" i="0" u="none" strike="noStrike" baseline="0" dirty="0">
                <a:latin typeface="+mn-lt"/>
              </a:rPr>
              <a:t>       (</a:t>
            </a:r>
            <a:r>
              <a:rPr lang="en-US" altLang="zh-CN" dirty="0">
                <a:solidFill>
                  <a:srgbClr val="006600"/>
                </a:solidFill>
                <a:latin typeface="+mn-lt"/>
                <a:ea typeface="+mn-ea"/>
              </a:rPr>
              <a:t>select</a:t>
            </a:r>
            <a:r>
              <a:rPr lang="en-US" altLang="zh-CN" sz="2200" b="0" i="0" u="none" strike="noStrike" baseline="0" dirty="0">
                <a:solidFill>
                  <a:srgbClr val="006600"/>
                </a:solidFill>
                <a:latin typeface="+mn-lt"/>
              </a:rPr>
              <a:t> </a:t>
            </a:r>
            <a:r>
              <a:rPr lang="en-US" altLang="zh-CN" sz="2200" b="0" i="1" u="none" strike="noStrike" baseline="0" dirty="0" err="1">
                <a:solidFill>
                  <a:srgbClr val="006600"/>
                </a:solidFill>
                <a:latin typeface="+mn-lt"/>
              </a:rPr>
              <a:t>dept_name</a:t>
            </a:r>
            <a:r>
              <a:rPr lang="en-US" altLang="zh-CN" sz="2200" b="0" i="0" u="none" strike="noStrike" baseline="0" dirty="0">
                <a:solidFill>
                  <a:srgbClr val="006600"/>
                </a:solidFill>
                <a:latin typeface="+mn-lt"/>
              </a:rPr>
              <a:t>, </a:t>
            </a:r>
            <a:r>
              <a:rPr lang="en-US" altLang="zh-CN" sz="2200" b="0" i="0" u="none" strike="noStrike" baseline="0" dirty="0">
                <a:solidFill>
                  <a:srgbClr val="0000FF"/>
                </a:solidFill>
                <a:latin typeface="+mn-lt"/>
              </a:rPr>
              <a:t>sum(</a:t>
            </a:r>
            <a:r>
              <a:rPr lang="en-US" altLang="zh-CN" sz="2200" b="0" i="1" u="none" strike="noStrike" baseline="0" dirty="0">
                <a:solidFill>
                  <a:srgbClr val="0000FF"/>
                </a:solidFill>
                <a:latin typeface="+mn-lt"/>
              </a:rPr>
              <a:t>salary</a:t>
            </a:r>
            <a:r>
              <a:rPr lang="en-US" altLang="zh-CN" sz="2200" b="0" i="0" u="none" strike="noStrike" baseline="0" dirty="0">
                <a:solidFill>
                  <a:srgbClr val="0000FF"/>
                </a:solidFill>
                <a:latin typeface="+mn-lt"/>
              </a:rPr>
              <a:t>)</a:t>
            </a:r>
          </a:p>
          <a:p>
            <a:pPr algn="l"/>
            <a:r>
              <a:rPr lang="en-US" altLang="zh-CN" sz="2200" b="0" i="0" u="none" strike="noStrike" baseline="0" dirty="0">
                <a:solidFill>
                  <a:srgbClr val="006600"/>
                </a:solidFill>
                <a:latin typeface="+mn-lt"/>
              </a:rPr>
              <a:t>       from </a:t>
            </a:r>
            <a:r>
              <a:rPr lang="en-US" altLang="zh-CN" sz="2200" b="0" i="1" u="none" strike="noStrike" baseline="0" dirty="0">
                <a:solidFill>
                  <a:srgbClr val="006600"/>
                </a:solidFill>
                <a:latin typeface="+mn-lt"/>
              </a:rPr>
              <a:t>instructor</a:t>
            </a:r>
          </a:p>
          <a:p>
            <a:pPr algn="l"/>
            <a:r>
              <a:rPr lang="en-US" altLang="zh-CN" sz="2200" b="0" i="0" u="none" strike="noStrike" baseline="0" dirty="0">
                <a:solidFill>
                  <a:srgbClr val="006600"/>
                </a:solidFill>
                <a:latin typeface="+mn-lt"/>
              </a:rPr>
              <a:t>       group by </a:t>
            </a:r>
            <a:r>
              <a:rPr lang="en-US" altLang="zh-CN" sz="2200" b="0" i="1" u="none" strike="noStrike" baseline="0" dirty="0" err="1">
                <a:solidFill>
                  <a:srgbClr val="006600"/>
                </a:solidFill>
                <a:latin typeface="+mn-lt"/>
              </a:rPr>
              <a:t>dept_name</a:t>
            </a:r>
            <a:r>
              <a:rPr lang="en-US" altLang="zh-CN" sz="2200" b="0" i="0" u="none" strike="noStrike" baseline="0" dirty="0">
                <a:latin typeface="+mn-lt"/>
              </a:rPr>
              <a:t>)</a:t>
            </a:r>
            <a:r>
              <a:rPr lang="en-US" altLang="zh-CN" sz="2200" b="0" i="0" u="none" strike="noStrike" baseline="0" dirty="0">
                <a:solidFill>
                  <a:srgbClr val="FF0000"/>
                </a:solidFill>
                <a:latin typeface="+mn-lt"/>
              </a:rPr>
              <a:t>,</a:t>
            </a:r>
          </a:p>
          <a:p>
            <a:pPr algn="l"/>
            <a:r>
              <a:rPr lang="en-US" altLang="zh-CN" sz="2200" b="0" i="1" u="none" strike="noStrike" baseline="0" dirty="0">
                <a:solidFill>
                  <a:srgbClr val="0000FF"/>
                </a:solidFill>
                <a:latin typeface="+mn-lt"/>
              </a:rPr>
              <a:t>       </a:t>
            </a:r>
            <a:r>
              <a:rPr lang="en-US" altLang="zh-CN" sz="2200" b="0" i="1" u="none" strike="noStrike" baseline="0" dirty="0" err="1">
                <a:solidFill>
                  <a:srgbClr val="0000FF"/>
                </a:solidFill>
                <a:latin typeface="+mn-lt"/>
              </a:rPr>
              <a:t>dept_total_avg</a:t>
            </a:r>
            <a:r>
              <a:rPr lang="en-US" altLang="zh-CN" sz="2200" b="0" i="1" u="none" strike="noStrike" baseline="0" dirty="0">
                <a:solidFill>
                  <a:srgbClr val="0000FF"/>
                </a:solidFill>
                <a:latin typeface="+mn-lt"/>
              </a:rPr>
              <a:t> </a:t>
            </a:r>
            <a:r>
              <a:rPr lang="en-US" altLang="zh-CN" sz="2200" b="0" i="0" u="none" strike="noStrike" baseline="0" dirty="0">
                <a:solidFill>
                  <a:srgbClr val="660066"/>
                </a:solidFill>
                <a:latin typeface="+mn-lt"/>
              </a:rPr>
              <a:t>(</a:t>
            </a:r>
            <a:r>
              <a:rPr lang="en-US" altLang="zh-CN" sz="2200" b="0" i="1" u="none" strike="noStrike" baseline="0" dirty="0">
                <a:solidFill>
                  <a:srgbClr val="660066"/>
                </a:solidFill>
                <a:latin typeface="+mn-lt"/>
              </a:rPr>
              <a:t>value</a:t>
            </a:r>
            <a:r>
              <a:rPr lang="en-US" altLang="zh-CN" sz="2200" b="0" i="0" u="none" strike="noStrike" baseline="0" dirty="0">
                <a:solidFill>
                  <a:srgbClr val="660066"/>
                </a:solidFill>
                <a:latin typeface="+mn-lt"/>
              </a:rPr>
              <a:t>) as</a:t>
            </a:r>
          </a:p>
          <a:p>
            <a:pPr algn="l"/>
            <a:r>
              <a:rPr lang="en-US" altLang="zh-CN" sz="2200" b="0" i="0" u="none" strike="noStrike" baseline="0" dirty="0">
                <a:solidFill>
                  <a:srgbClr val="660066"/>
                </a:solidFill>
                <a:latin typeface="+mn-lt"/>
              </a:rPr>
              <a:t>       (select </a:t>
            </a:r>
            <a:r>
              <a:rPr lang="en-US" altLang="zh-CN" sz="2200" b="0" i="0" u="none" strike="noStrike" baseline="0" dirty="0">
                <a:solidFill>
                  <a:srgbClr val="0000FF"/>
                </a:solidFill>
                <a:latin typeface="+mn-lt"/>
              </a:rPr>
              <a:t>avg(</a:t>
            </a:r>
            <a:r>
              <a:rPr lang="en-US" altLang="zh-CN" sz="2200" b="0" i="1" u="none" strike="noStrike" baseline="0" dirty="0">
                <a:solidFill>
                  <a:srgbClr val="0000FF"/>
                </a:solidFill>
                <a:latin typeface="+mn-lt"/>
              </a:rPr>
              <a:t>value</a:t>
            </a:r>
            <a:r>
              <a:rPr lang="en-US" altLang="zh-CN" sz="2200" b="0" i="0" u="none" strike="noStrike" baseline="0" dirty="0">
                <a:solidFill>
                  <a:srgbClr val="0000FF"/>
                </a:solidFill>
                <a:latin typeface="+mn-lt"/>
              </a:rPr>
              <a:t>)</a:t>
            </a:r>
          </a:p>
          <a:p>
            <a:pPr algn="l"/>
            <a:r>
              <a:rPr lang="en-US" altLang="zh-CN" sz="2200" b="0" i="0" u="none" strike="noStrike" baseline="0" dirty="0">
                <a:solidFill>
                  <a:srgbClr val="660066"/>
                </a:solidFill>
                <a:latin typeface="+mn-lt"/>
              </a:rPr>
              <a:t>       from </a:t>
            </a:r>
            <a:r>
              <a:rPr lang="en-US" altLang="zh-CN" sz="2200" b="0" i="1" u="none" strike="noStrike" baseline="0" dirty="0" err="1">
                <a:solidFill>
                  <a:srgbClr val="0000FF"/>
                </a:solidFill>
                <a:latin typeface="+mn-lt"/>
              </a:rPr>
              <a:t>dept_total</a:t>
            </a:r>
            <a:r>
              <a:rPr lang="en-US" altLang="zh-CN" sz="2200" b="0" i="0" u="none" strike="noStrike" baseline="0" dirty="0">
                <a:solidFill>
                  <a:srgbClr val="660066"/>
                </a:solidFill>
                <a:latin typeface="+mn-lt"/>
              </a:rPr>
              <a:t>)</a:t>
            </a:r>
          </a:p>
          <a:p>
            <a:pPr algn="l"/>
            <a:r>
              <a:rPr lang="en-US" altLang="zh-CN" sz="2200" b="0" i="0" u="none" strike="noStrike" baseline="0" dirty="0">
                <a:latin typeface="+mn-lt"/>
              </a:rPr>
              <a:t>select </a:t>
            </a:r>
            <a:r>
              <a:rPr lang="en-US" altLang="zh-CN" sz="2200" b="0" i="1" u="none" strike="noStrike" baseline="0" dirty="0" err="1">
                <a:latin typeface="+mn-lt"/>
              </a:rPr>
              <a:t>dept_name</a:t>
            </a:r>
            <a:endParaRPr lang="en-US" altLang="zh-CN" sz="2200" b="0" i="1" u="none" strike="noStrike" baseline="0" dirty="0">
              <a:latin typeface="+mn-lt"/>
            </a:endParaRPr>
          </a:p>
          <a:p>
            <a:pPr algn="l"/>
            <a:r>
              <a:rPr lang="en-US" altLang="zh-CN" sz="2200" b="0" i="0" u="none" strike="noStrike" baseline="0" dirty="0">
                <a:latin typeface="+mn-lt"/>
              </a:rPr>
              <a:t>from </a:t>
            </a:r>
            <a:r>
              <a:rPr lang="en-US" altLang="zh-CN" sz="2200" b="0" i="1" u="none" strike="noStrike" baseline="0" dirty="0" err="1">
                <a:latin typeface="+mn-lt"/>
              </a:rPr>
              <a:t>dept_total</a:t>
            </a:r>
            <a:r>
              <a:rPr lang="en-US" altLang="zh-CN" sz="2200" b="0" i="0" u="none" strike="noStrike" baseline="0" dirty="0">
                <a:latin typeface="+mn-lt"/>
              </a:rPr>
              <a:t>, </a:t>
            </a:r>
            <a:r>
              <a:rPr lang="en-US" altLang="zh-CN" sz="2200" b="0" i="1" u="none" strike="noStrike" baseline="0" dirty="0" err="1">
                <a:latin typeface="+mn-lt"/>
              </a:rPr>
              <a:t>dept_total_avg</a:t>
            </a:r>
            <a:endParaRPr lang="en-US" altLang="zh-CN" sz="2200" b="0" i="1" u="none" strike="noStrike" baseline="0" dirty="0">
              <a:latin typeface="+mn-lt"/>
            </a:endParaRPr>
          </a:p>
          <a:p>
            <a:pPr algn="l"/>
            <a:r>
              <a:rPr lang="en-US" altLang="zh-CN" sz="2200" b="0" i="0" u="none" strike="noStrike" baseline="0" dirty="0">
                <a:latin typeface="+mn-lt"/>
              </a:rPr>
              <a:t>where </a:t>
            </a:r>
            <a:r>
              <a:rPr lang="en-US" altLang="zh-CN" sz="2200" b="0" i="1" u="none" strike="noStrike" baseline="0" dirty="0" err="1">
                <a:latin typeface="+mn-lt"/>
              </a:rPr>
              <a:t>dept_total.value</a:t>
            </a:r>
            <a:r>
              <a:rPr lang="en-US" altLang="zh-CN" sz="2200" b="0" i="1" u="none" strike="noStrike" baseline="0" dirty="0">
                <a:latin typeface="+mn-lt"/>
              </a:rPr>
              <a:t> </a:t>
            </a:r>
            <a:r>
              <a:rPr lang="en-US" altLang="zh-CN" sz="2200" b="0" i="1" u="none" strike="noStrike" baseline="0" dirty="0">
                <a:solidFill>
                  <a:srgbClr val="FF0000"/>
                </a:solidFill>
                <a:latin typeface="+mn-lt"/>
              </a:rPr>
              <a:t>&gt;</a:t>
            </a:r>
            <a:r>
              <a:rPr lang="en-US" altLang="zh-CN" sz="2200" b="0" i="1" u="none" strike="noStrike" baseline="0" dirty="0">
                <a:latin typeface="+mn-lt"/>
              </a:rPr>
              <a:t> </a:t>
            </a:r>
            <a:r>
              <a:rPr lang="en-US" altLang="zh-CN" sz="2200" b="0" i="1" u="none" strike="noStrike" baseline="0" dirty="0" err="1">
                <a:latin typeface="+mn-lt"/>
              </a:rPr>
              <a:t>dept_total_avg.value</a:t>
            </a:r>
            <a:r>
              <a:rPr lang="en-US" altLang="zh-CN" sz="2200" b="0" i="0" u="none" strike="noStrike" baseline="0" dirty="0">
                <a:latin typeface="+mn-lt"/>
              </a:rPr>
              <a:t>;</a:t>
            </a:r>
            <a:endParaRPr lang="zh-CN" altLang="en-US" sz="2200" dirty="0">
              <a:latin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BEC9D95-1BEC-C20E-7DDE-D6CA62D10EF4}"/>
              </a:ext>
            </a:extLst>
          </p:cNvPr>
          <p:cNvSpPr txBox="1"/>
          <p:nvPr/>
        </p:nvSpPr>
        <p:spPr>
          <a:xfrm>
            <a:off x="5889010" y="3228945"/>
            <a:ext cx="2492990" cy="40011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000" dirty="0"/>
              <a:t>每个系的工资总额表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6B74CCB-221B-0FD3-D30D-0E2924273DB7}"/>
              </a:ext>
            </a:extLst>
          </p:cNvPr>
          <p:cNvCxnSpPr/>
          <p:nvPr/>
        </p:nvCxnSpPr>
        <p:spPr bwMode="auto">
          <a:xfrm flipH="1" flipV="1">
            <a:off x="4782344" y="2895600"/>
            <a:ext cx="1085056" cy="5334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DDFA36F5-4589-B41E-1325-2087184DC468}"/>
              </a:ext>
            </a:extLst>
          </p:cNvPr>
          <p:cNvSpPr txBox="1"/>
          <p:nvPr/>
        </p:nvSpPr>
        <p:spPr>
          <a:xfrm>
            <a:off x="5749965" y="4245295"/>
            <a:ext cx="2749471" cy="40011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000" dirty="0"/>
              <a:t>所有系平均工资总额表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1967E35E-15BE-88ED-8EF2-5562D91A3EFF}"/>
              </a:ext>
            </a:extLst>
          </p:cNvPr>
          <p:cNvCxnSpPr>
            <a:stCxn id="14" idx="1"/>
          </p:cNvCxnSpPr>
          <p:nvPr/>
        </p:nvCxnSpPr>
        <p:spPr bwMode="auto">
          <a:xfrm flipH="1" flipV="1">
            <a:off x="4572000" y="4245295"/>
            <a:ext cx="1177965" cy="20005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3A3572-9258-CFE0-01EA-C6FD1EA96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155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315911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C39CC40-B2B0-4B99-9718-9143A66527F0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454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45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3.4.3. </a:t>
            </a:r>
            <a:r>
              <a:rPr lang="zh-CN" altLang="en-US"/>
              <a:t>嵌套查询</a:t>
            </a:r>
          </a:p>
        </p:txBody>
      </p:sp>
      <p:sp>
        <p:nvSpPr>
          <p:cNvPr id="1454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1"/>
            <a:ext cx="8345488" cy="1981199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0000FF"/>
                </a:solidFill>
              </a:rPr>
              <a:t>标量</a:t>
            </a:r>
            <a:r>
              <a:rPr lang="zh-CN" altLang="en-US" dirty="0"/>
              <a:t>子查询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SQL</a:t>
            </a:r>
            <a:r>
              <a:rPr lang="zh-CN" altLang="en-US" dirty="0"/>
              <a:t>允许</a:t>
            </a:r>
            <a:r>
              <a:rPr lang="zh-CN" altLang="en-US" dirty="0">
                <a:solidFill>
                  <a:srgbClr val="FF0000"/>
                </a:solidFill>
              </a:rPr>
              <a:t>子查询</a:t>
            </a:r>
            <a:r>
              <a:rPr lang="zh-CN" altLang="en-US" dirty="0"/>
              <a:t>出现在</a:t>
            </a:r>
            <a:r>
              <a:rPr lang="zh-CN" altLang="en-US" dirty="0">
                <a:solidFill>
                  <a:srgbClr val="800080"/>
                </a:solidFill>
              </a:rPr>
              <a:t>返回单个值的表达式能够出现的任何地方</a:t>
            </a:r>
            <a:r>
              <a:rPr lang="zh-CN" altLang="en-US" dirty="0"/>
              <a:t>，只要该子查询</a:t>
            </a:r>
            <a:r>
              <a:rPr lang="zh-CN" altLang="en-US" b="1" dirty="0"/>
              <a:t>返回</a:t>
            </a:r>
            <a:r>
              <a:rPr lang="zh-CN" altLang="en-US" dirty="0"/>
              <a:t>一个包含单个属性的元组。</a:t>
            </a:r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11D428-8644-6042-AA67-B3D4B04B8C91}"/>
              </a:ext>
            </a:extLst>
          </p:cNvPr>
          <p:cNvSpPr txBox="1"/>
          <p:nvPr/>
        </p:nvSpPr>
        <p:spPr>
          <a:xfrm>
            <a:off x="685800" y="6032500"/>
            <a:ext cx="7391400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zh-CN" altLang="en-US" sz="2000" dirty="0"/>
              <a:t>department(</a:t>
            </a:r>
            <a:r>
              <a:rPr lang="zh-CN" altLang="en-US" sz="2000" u="sng" dirty="0"/>
              <a:t>dept</a:t>
            </a:r>
            <a:r>
              <a:rPr lang="en-US" altLang="zh-CN" sz="2000" u="sng" dirty="0"/>
              <a:t>_</a:t>
            </a:r>
            <a:r>
              <a:rPr lang="zh-CN" altLang="en-US" sz="2000" u="sng" dirty="0"/>
              <a:t>name</a:t>
            </a:r>
            <a:r>
              <a:rPr lang="zh-CN" altLang="en-US" sz="2000" dirty="0"/>
              <a:t>, building, budget)</a:t>
            </a:r>
            <a:r>
              <a:rPr lang="en-US" altLang="zh-CN" sz="2000" dirty="0"/>
              <a:t>  //</a:t>
            </a:r>
            <a:r>
              <a:rPr lang="zh-CN" altLang="en-US" sz="2000" dirty="0"/>
              <a:t>系</a:t>
            </a:r>
            <a:endParaRPr lang="en-US" altLang="zh-CN" sz="2000" dirty="0"/>
          </a:p>
          <a:p>
            <a:pPr algn="l"/>
            <a:r>
              <a:rPr lang="zh-CN" altLang="en-US" sz="2000" dirty="0"/>
              <a:t>instructor(</a:t>
            </a:r>
            <a:r>
              <a:rPr lang="zh-CN" altLang="en-US" sz="2000" u="sng" dirty="0"/>
              <a:t>ID</a:t>
            </a:r>
            <a:r>
              <a:rPr lang="zh-CN" altLang="en-US" sz="2000" dirty="0"/>
              <a:t>, name, </a:t>
            </a:r>
            <a:r>
              <a:rPr lang="zh-CN" altLang="en-US" sz="2000" dirty="0">
                <a:solidFill>
                  <a:srgbClr val="0000FF"/>
                </a:solidFill>
              </a:rPr>
              <a:t>dept</a:t>
            </a:r>
            <a:r>
              <a:rPr lang="en-US" altLang="zh-CN" sz="2000" dirty="0">
                <a:solidFill>
                  <a:srgbClr val="0000FF"/>
                </a:solidFill>
              </a:rPr>
              <a:t>_</a:t>
            </a:r>
            <a:r>
              <a:rPr lang="zh-CN" altLang="en-US" sz="2000" dirty="0">
                <a:solidFill>
                  <a:srgbClr val="0000FF"/>
                </a:solidFill>
              </a:rPr>
              <a:t>name</a:t>
            </a:r>
            <a:r>
              <a:rPr lang="zh-CN" altLang="en-US" sz="2000" dirty="0"/>
              <a:t>, salary)   </a:t>
            </a:r>
            <a:r>
              <a:rPr lang="en-US" altLang="zh-CN" sz="2000" dirty="0"/>
              <a:t>//</a:t>
            </a:r>
            <a:r>
              <a:rPr lang="zh-CN" altLang="en-US" sz="2000" dirty="0"/>
              <a:t>讲师</a:t>
            </a:r>
            <a:endParaRPr lang="en-US" altLang="zh-CN" sz="20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987D1BD-6308-E208-4FD2-9C34F1B1DAF3}"/>
              </a:ext>
            </a:extLst>
          </p:cNvPr>
          <p:cNvSpPr txBox="1"/>
          <p:nvPr/>
        </p:nvSpPr>
        <p:spPr>
          <a:xfrm>
            <a:off x="685800" y="3505200"/>
            <a:ext cx="84582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0" i="0" u="none" strike="noStrike" baseline="0" dirty="0">
                <a:latin typeface="+mn-lt"/>
              </a:rPr>
              <a:t>select </a:t>
            </a:r>
            <a:r>
              <a:rPr lang="en-US" altLang="zh-CN" sz="2400" b="0" i="1" u="none" strike="noStrike" baseline="0" dirty="0" err="1">
                <a:latin typeface="+mn-lt"/>
              </a:rPr>
              <a:t>dept_name</a:t>
            </a:r>
            <a:r>
              <a:rPr lang="en-US" altLang="zh-CN" sz="2400" b="0" i="0" u="none" strike="noStrike" baseline="0" dirty="0">
                <a:latin typeface="+mn-lt"/>
              </a:rPr>
              <a:t>,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     </a:t>
            </a:r>
            <a:r>
              <a:rPr lang="en-US" altLang="zh-CN" sz="2400" b="0" i="0" u="none" strike="noStrike" baseline="0" dirty="0">
                <a:solidFill>
                  <a:srgbClr val="0000FF"/>
                </a:solidFill>
                <a:latin typeface="+mn-lt"/>
              </a:rPr>
              <a:t>(</a:t>
            </a:r>
            <a:r>
              <a:rPr lang="en-US" altLang="zh-CN" sz="2400" b="0" i="0" u="none" strike="noStrike" baseline="0" dirty="0">
                <a:latin typeface="+mn-lt"/>
              </a:rPr>
              <a:t>select </a:t>
            </a:r>
            <a:r>
              <a:rPr lang="en-US" altLang="zh-CN" sz="2400" b="0" i="0" u="none" strike="noStrike" baseline="0" dirty="0">
                <a:solidFill>
                  <a:srgbClr val="0000FF"/>
                </a:solidFill>
                <a:latin typeface="+mn-lt"/>
              </a:rPr>
              <a:t>count(*)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      from </a:t>
            </a:r>
            <a:r>
              <a:rPr lang="en-US" altLang="zh-CN" sz="2400" b="0" i="1" u="none" strike="noStrike" baseline="0" dirty="0">
                <a:latin typeface="+mn-lt"/>
              </a:rPr>
              <a:t>instructor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      where </a:t>
            </a:r>
            <a:r>
              <a:rPr lang="en-US" altLang="zh-CN" sz="2400" b="0" i="1" u="none" strike="noStrike" baseline="0" dirty="0">
                <a:solidFill>
                  <a:srgbClr val="FF0000"/>
                </a:solidFill>
                <a:latin typeface="+mn-lt"/>
              </a:rPr>
              <a:t>department</a:t>
            </a:r>
            <a:r>
              <a:rPr lang="en-US" altLang="zh-CN" sz="2400" b="0" i="0" u="none" strike="noStrike" baseline="0" dirty="0">
                <a:solidFill>
                  <a:srgbClr val="FF0000"/>
                </a:solidFill>
                <a:latin typeface="+mn-lt"/>
              </a:rPr>
              <a:t>.</a:t>
            </a:r>
            <a:r>
              <a:rPr lang="en-US" altLang="zh-CN" sz="2400" b="0" i="1" u="none" strike="noStrike" baseline="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CN" sz="2400" b="0" i="1" u="none" strike="noStrike" baseline="0" dirty="0" err="1">
                <a:solidFill>
                  <a:srgbClr val="FF0000"/>
                </a:solidFill>
                <a:latin typeface="+mn-lt"/>
              </a:rPr>
              <a:t>dept_name</a:t>
            </a:r>
            <a:r>
              <a:rPr lang="en-US" altLang="zh-CN" sz="2400" b="0" i="1" u="none" strike="noStrike" baseline="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CN" sz="2400" b="0" i="0" u="none" strike="noStrike" baseline="0" dirty="0">
                <a:latin typeface="+mn-lt"/>
              </a:rPr>
              <a:t>= </a:t>
            </a:r>
            <a:r>
              <a:rPr lang="en-US" altLang="zh-CN" sz="2400" b="0" i="1" u="none" strike="noStrike" baseline="0" dirty="0">
                <a:solidFill>
                  <a:srgbClr val="0000FF"/>
                </a:solidFill>
                <a:latin typeface="+mn-lt"/>
              </a:rPr>
              <a:t>instructor</a:t>
            </a:r>
            <a:r>
              <a:rPr lang="en-US" altLang="zh-CN" sz="2400" b="0" i="0" u="none" strike="noStrike" baseline="0" dirty="0">
                <a:solidFill>
                  <a:srgbClr val="0000FF"/>
                </a:solidFill>
                <a:latin typeface="+mn-lt"/>
              </a:rPr>
              <a:t>.</a:t>
            </a:r>
            <a:r>
              <a:rPr lang="en-US" altLang="zh-CN" sz="2400" b="0" i="1" u="none" strike="noStrike" baseline="0" dirty="0">
                <a:solidFill>
                  <a:srgbClr val="0000FF"/>
                </a:solidFill>
                <a:latin typeface="+mn-lt"/>
              </a:rPr>
              <a:t> </a:t>
            </a:r>
            <a:r>
              <a:rPr lang="en-US" altLang="zh-CN" sz="2400" b="0" i="1" u="none" strike="noStrike" baseline="0" dirty="0" err="1">
                <a:solidFill>
                  <a:srgbClr val="0000FF"/>
                </a:solidFill>
                <a:latin typeface="+mn-lt"/>
              </a:rPr>
              <a:t>dept_name</a:t>
            </a:r>
            <a:r>
              <a:rPr lang="en-US" altLang="zh-CN" sz="2400" b="0" i="0" u="none" strike="noStrike" baseline="0" dirty="0">
                <a:solidFill>
                  <a:srgbClr val="0000FF"/>
                </a:solidFill>
                <a:latin typeface="+mn-lt"/>
              </a:rPr>
              <a:t>)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      </a:t>
            </a:r>
            <a:r>
              <a:rPr lang="en-US" altLang="zh-CN" sz="2400" b="0" i="0" u="none" strike="noStrike" baseline="0" dirty="0">
                <a:solidFill>
                  <a:srgbClr val="FF0000"/>
                </a:solidFill>
                <a:latin typeface="+mn-lt"/>
              </a:rPr>
              <a:t>as</a:t>
            </a:r>
            <a:r>
              <a:rPr lang="en-US" altLang="zh-CN" sz="2400" b="0" i="0" u="none" strike="noStrike" baseline="0" dirty="0">
                <a:latin typeface="+mn-lt"/>
              </a:rPr>
              <a:t> </a:t>
            </a:r>
            <a:r>
              <a:rPr lang="en-US" altLang="zh-CN" sz="2400" b="0" i="1" u="none" strike="noStrike" baseline="0" dirty="0" err="1">
                <a:solidFill>
                  <a:srgbClr val="006600"/>
                </a:solidFill>
                <a:latin typeface="+mn-lt"/>
              </a:rPr>
              <a:t>num_instructors</a:t>
            </a:r>
            <a:endParaRPr lang="en-US" altLang="zh-CN" sz="2400" b="0" i="1" u="none" strike="noStrike" baseline="0" dirty="0">
              <a:solidFill>
                <a:srgbClr val="006600"/>
              </a:solidFill>
              <a:latin typeface="+mn-lt"/>
            </a:endParaRP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from </a:t>
            </a:r>
            <a:r>
              <a:rPr lang="en-US" altLang="zh-CN" sz="2400" b="0" i="1" u="none" strike="noStrike" baseline="0" dirty="0">
                <a:latin typeface="+mn-lt"/>
              </a:rPr>
              <a:t>department</a:t>
            </a:r>
            <a:r>
              <a:rPr lang="en-US" altLang="zh-CN" sz="2400" b="0" i="0" u="none" strike="noStrike" baseline="0" dirty="0">
                <a:latin typeface="+mn-lt"/>
              </a:rPr>
              <a:t>;</a:t>
            </a:r>
            <a:endParaRPr lang="zh-CN" altLang="en-US" dirty="0">
              <a:latin typeface="+mn-lt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7D5BDBE-7A97-CDE1-E746-38A28B0814EE}"/>
              </a:ext>
            </a:extLst>
          </p:cNvPr>
          <p:cNvSpPr txBox="1"/>
          <p:nvPr/>
        </p:nvSpPr>
        <p:spPr>
          <a:xfrm>
            <a:off x="3929936" y="3383881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查询所有系以及每个系的教师总数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ECB4A7F-E985-4499-8CC9-5261CF99F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156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7265233"/>
      </p:ext>
    </p:extLst>
  </p:cSld>
  <p:clrMapOvr>
    <a:masterClrMapping/>
  </p:clrMapOvr>
  <p:transition>
    <p:fade/>
  </p:transition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1EE2194-330D-4FB3-8FC7-B7D922987117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4848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484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本章目录</a:t>
            </a:r>
          </a:p>
        </p:txBody>
      </p:sp>
      <p:sp>
        <p:nvSpPr>
          <p:cNvPr id="1484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00200"/>
            <a:ext cx="7583488" cy="4532313"/>
          </a:xfrm>
        </p:spPr>
        <p:txBody>
          <a:bodyPr/>
          <a:lstStyle/>
          <a:p>
            <a:pPr eaLnBrk="1" hangingPunct="1"/>
            <a:r>
              <a:rPr lang="en-US" altLang="zh-CN" dirty="0"/>
              <a:t>3.1 SQL</a:t>
            </a:r>
            <a:r>
              <a:rPr lang="zh-CN" altLang="en-US" dirty="0"/>
              <a:t>概述</a:t>
            </a:r>
          </a:p>
          <a:p>
            <a:pPr eaLnBrk="1" hangingPunct="1"/>
            <a:r>
              <a:rPr lang="en-US" altLang="zh-CN" dirty="0"/>
              <a:t>3.2 </a:t>
            </a:r>
            <a:r>
              <a:rPr lang="zh-CN" altLang="en-US" dirty="0"/>
              <a:t>示例数据库</a:t>
            </a:r>
          </a:p>
          <a:p>
            <a:pPr eaLnBrk="1" hangingPunct="1"/>
            <a:r>
              <a:rPr lang="en-US" altLang="zh-CN" dirty="0"/>
              <a:t>3.3 </a:t>
            </a:r>
            <a:r>
              <a:rPr lang="zh-CN" altLang="en-US" dirty="0"/>
              <a:t>数据定义</a:t>
            </a:r>
          </a:p>
          <a:p>
            <a:pPr eaLnBrk="1" hangingPunct="1"/>
            <a:r>
              <a:rPr lang="en-US" altLang="zh-CN" dirty="0"/>
              <a:t>3.4 SQL</a:t>
            </a:r>
            <a:r>
              <a:rPr lang="zh-CN" altLang="en-US" dirty="0"/>
              <a:t>查询</a:t>
            </a:r>
            <a:endParaRPr lang="zh-CN" altLang="en-US" dirty="0">
              <a:solidFill>
                <a:srgbClr val="CC0000"/>
              </a:solidFill>
            </a:endParaRPr>
          </a:p>
          <a:p>
            <a:pPr eaLnBrk="1" hangingPunct="1"/>
            <a:r>
              <a:rPr lang="en-US" altLang="zh-CN" dirty="0"/>
              <a:t>3.5 </a:t>
            </a:r>
            <a:r>
              <a:rPr lang="zh-CN" altLang="en-US" dirty="0"/>
              <a:t>数据更新</a:t>
            </a:r>
            <a:endParaRPr lang="zh-CN" altLang="en-US" dirty="0">
              <a:solidFill>
                <a:srgbClr val="CC0000"/>
              </a:solidFill>
            </a:endParaRPr>
          </a:p>
          <a:p>
            <a:pPr eaLnBrk="1" hangingPunct="1"/>
            <a:endParaRPr lang="zh-CN" altLang="en-US" dirty="0"/>
          </a:p>
        </p:txBody>
      </p:sp>
      <p:sp>
        <p:nvSpPr>
          <p:cNvPr id="199684" name="AutoShape 4"/>
          <p:cNvSpPr>
            <a:spLocks noChangeArrowheads="1"/>
          </p:cNvSpPr>
          <p:nvPr/>
        </p:nvSpPr>
        <p:spPr bwMode="auto">
          <a:xfrm>
            <a:off x="838200" y="4038600"/>
            <a:ext cx="457200" cy="457200"/>
          </a:xfrm>
          <a:prstGeom prst="rightArrow">
            <a:avLst>
              <a:gd name="adj1" fmla="val 50000"/>
              <a:gd name="adj2" fmla="val 40278"/>
            </a:avLst>
          </a:prstGeom>
          <a:solidFill>
            <a:srgbClr val="FFCC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C636F21-2366-B09B-2D76-481BA0A1C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157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9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9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4" grpId="0" animBg="1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056C986-6C73-4CDD-875D-550AD3884B4C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4950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495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 </a:t>
            </a:r>
            <a:r>
              <a:rPr lang="zh-CN" altLang="en-US" dirty="0"/>
              <a:t>数据更新</a:t>
            </a:r>
            <a:r>
              <a:rPr lang="en-US" altLang="zh-CN" dirty="0"/>
              <a:t>(</a:t>
            </a:r>
            <a:r>
              <a:rPr lang="zh-CN" altLang="en-US" dirty="0"/>
              <a:t>教材</a:t>
            </a:r>
            <a:r>
              <a:rPr lang="en-US" altLang="zh-CN" dirty="0"/>
              <a:t>3.9)</a:t>
            </a:r>
            <a:endParaRPr lang="zh-CN" altLang="en-US" dirty="0"/>
          </a:p>
        </p:txBody>
      </p:sp>
      <p:sp>
        <p:nvSpPr>
          <p:cNvPr id="1495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删除数据</a:t>
            </a:r>
          </a:p>
          <a:p>
            <a:pPr lvl="1" eaLnBrk="1" hangingPunct="1"/>
            <a:r>
              <a:rPr lang="en-US" altLang="zh-CN" dirty="0"/>
              <a:t>DELETE</a:t>
            </a:r>
          </a:p>
          <a:p>
            <a:pPr eaLnBrk="1" hangingPunct="1"/>
            <a:r>
              <a:rPr lang="zh-CN" altLang="en-US" dirty="0"/>
              <a:t>插入数据</a:t>
            </a:r>
          </a:p>
          <a:p>
            <a:pPr lvl="1" eaLnBrk="1" hangingPunct="1"/>
            <a:r>
              <a:rPr lang="en-US" altLang="zh-CN" dirty="0"/>
              <a:t>INSERT</a:t>
            </a:r>
          </a:p>
          <a:p>
            <a:pPr eaLnBrk="1" hangingPunct="1"/>
            <a:r>
              <a:rPr lang="zh-CN" altLang="en-US" dirty="0"/>
              <a:t>修改数据</a:t>
            </a:r>
          </a:p>
          <a:p>
            <a:pPr lvl="1" eaLnBrk="1" hangingPunct="1"/>
            <a:r>
              <a:rPr lang="en-US" altLang="zh-CN" dirty="0"/>
              <a:t>UPDATE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58797AB-A44E-A3C5-9DDE-B5C884372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158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C0076CF-F9E7-41B0-B0DF-CD958FAEC1F9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6179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617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3.5.1 </a:t>
            </a:r>
            <a:r>
              <a:rPr lang="zh-CN" altLang="en-US" dirty="0"/>
              <a:t>删除数据</a:t>
            </a:r>
          </a:p>
        </p:txBody>
      </p:sp>
      <p:sp>
        <p:nvSpPr>
          <p:cNvPr id="1617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0000FF"/>
                </a:solidFill>
              </a:rPr>
              <a:t>删除元组 </a:t>
            </a:r>
            <a:r>
              <a:rPr lang="en-US" altLang="zh-CN" dirty="0">
                <a:solidFill>
                  <a:srgbClr val="0000FF"/>
                </a:solidFill>
              </a:rPr>
              <a:t>DELETE</a:t>
            </a:r>
            <a:r>
              <a:rPr lang="zh-CN" altLang="en-US" dirty="0">
                <a:solidFill>
                  <a:srgbClr val="0000FF"/>
                </a:solidFill>
              </a:rPr>
              <a:t>语句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格式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FF0000"/>
                </a:solidFill>
              </a:rPr>
              <a:t>	DELETE FROM</a:t>
            </a:r>
            <a:r>
              <a:rPr lang="en-US" altLang="zh-CN" dirty="0"/>
              <a:t> &lt;</a:t>
            </a:r>
            <a:r>
              <a:rPr lang="zh-CN" altLang="en-US" dirty="0">
                <a:solidFill>
                  <a:schemeClr val="tx2"/>
                </a:solidFill>
              </a:rPr>
              <a:t>表名</a:t>
            </a:r>
            <a:r>
              <a:rPr lang="en-US" altLang="zh-CN" dirty="0"/>
              <a:t>&gt;</a:t>
            </a:r>
            <a:br>
              <a:rPr lang="en-US" altLang="zh-CN" dirty="0"/>
            </a:br>
            <a:r>
              <a:rPr lang="en-US" altLang="zh-CN" dirty="0"/>
              <a:t>[</a:t>
            </a:r>
            <a:r>
              <a:rPr lang="en-US" altLang="zh-CN" dirty="0">
                <a:solidFill>
                  <a:srgbClr val="FF0000"/>
                </a:solidFill>
              </a:rPr>
              <a:t>WHERE</a:t>
            </a:r>
            <a:r>
              <a:rPr lang="en-US" altLang="zh-CN" dirty="0"/>
              <a:t> &lt;</a:t>
            </a:r>
            <a:r>
              <a:rPr lang="zh-CN" altLang="en-US" dirty="0">
                <a:solidFill>
                  <a:srgbClr val="006600"/>
                </a:solidFill>
              </a:rPr>
              <a:t>条件</a:t>
            </a:r>
            <a:r>
              <a:rPr lang="en-US" altLang="zh-CN" dirty="0"/>
              <a:t>&gt;];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DELETE</a:t>
            </a:r>
            <a:r>
              <a:rPr lang="zh-CN" altLang="en-US" dirty="0"/>
              <a:t>语句的功能是从</a:t>
            </a:r>
            <a:r>
              <a:rPr lang="zh-CN" altLang="en-US" b="1" dirty="0">
                <a:solidFill>
                  <a:schemeClr val="tx2"/>
                </a:solidFill>
              </a:rPr>
              <a:t>指定表</a:t>
            </a:r>
            <a:r>
              <a:rPr lang="zh-CN" altLang="en-US" b="1" dirty="0"/>
              <a:t>中</a:t>
            </a:r>
            <a:r>
              <a:rPr lang="zh-CN" altLang="en-US" b="1" dirty="0">
                <a:solidFill>
                  <a:srgbClr val="C00000"/>
                </a:solidFill>
              </a:rPr>
              <a:t>删除</a:t>
            </a:r>
            <a:r>
              <a:rPr lang="zh-CN" altLang="en-US" b="1" dirty="0">
                <a:solidFill>
                  <a:srgbClr val="006600"/>
                </a:solidFill>
              </a:rPr>
              <a:t>满足</a:t>
            </a:r>
            <a:r>
              <a:rPr lang="en-US" altLang="zh-CN" b="1" dirty="0">
                <a:solidFill>
                  <a:srgbClr val="006600"/>
                </a:solidFill>
              </a:rPr>
              <a:t>WHERE</a:t>
            </a:r>
            <a:r>
              <a:rPr lang="zh-CN" altLang="en-US" b="1" dirty="0">
                <a:solidFill>
                  <a:srgbClr val="006600"/>
                </a:solidFill>
              </a:rPr>
              <a:t>子句条件的</a:t>
            </a:r>
            <a:r>
              <a:rPr lang="zh-CN" altLang="en-US" b="1" dirty="0">
                <a:solidFill>
                  <a:srgbClr val="C00000"/>
                </a:solidFill>
              </a:rPr>
              <a:t>所有元组</a:t>
            </a:r>
            <a:r>
              <a:rPr lang="zh-CN" altLang="en-US" dirty="0"/>
              <a:t>。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DELETE</a:t>
            </a:r>
            <a:r>
              <a:rPr lang="zh-CN" altLang="en-US" dirty="0"/>
              <a:t>语句</a:t>
            </a:r>
            <a:r>
              <a:rPr lang="zh-CN" altLang="en-US" b="1" dirty="0">
                <a:solidFill>
                  <a:srgbClr val="C00000"/>
                </a:solidFill>
              </a:rPr>
              <a:t>删除</a:t>
            </a:r>
            <a:r>
              <a:rPr lang="zh-CN" altLang="en-US" dirty="0"/>
              <a:t>的是</a:t>
            </a:r>
            <a:r>
              <a:rPr lang="zh-CN" altLang="en-US" u="sng" dirty="0"/>
              <a:t>表中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00000"/>
                </a:solidFill>
              </a:rPr>
              <a:t>数据</a:t>
            </a:r>
            <a:r>
              <a:rPr lang="zh-CN" altLang="en-US" dirty="0"/>
              <a:t>，而</a:t>
            </a:r>
            <a:r>
              <a:rPr lang="zh-CN" altLang="en-US" dirty="0">
                <a:solidFill>
                  <a:srgbClr val="0000FF"/>
                </a:solidFill>
              </a:rPr>
              <a:t>不是关于表的定义</a:t>
            </a:r>
            <a:r>
              <a:rPr lang="zh-CN" altLang="en-US" dirty="0"/>
              <a:t>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3CB5E85-0ABC-3A06-57B4-049F61BE3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159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677086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1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1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1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1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1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1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17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17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091AB7DC-55EC-4324-8444-ABA5278F20F0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6281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628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3.5.1 </a:t>
            </a:r>
            <a:r>
              <a:rPr lang="zh-CN" altLang="en-US" dirty="0"/>
              <a:t>删除数据</a:t>
            </a:r>
          </a:p>
        </p:txBody>
      </p:sp>
      <p:sp>
        <p:nvSpPr>
          <p:cNvPr id="1628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0000FF"/>
                </a:solidFill>
              </a:rPr>
              <a:t>删除元组 </a:t>
            </a:r>
            <a:r>
              <a:rPr lang="en-US" altLang="zh-CN" dirty="0">
                <a:solidFill>
                  <a:srgbClr val="0000FF"/>
                </a:solidFill>
              </a:rPr>
              <a:t>DELETE</a:t>
            </a:r>
            <a:r>
              <a:rPr lang="zh-CN" altLang="en-US" dirty="0">
                <a:solidFill>
                  <a:srgbClr val="0000FF"/>
                </a:solidFill>
              </a:rPr>
              <a:t>语句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格式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FF0000"/>
                </a:solidFill>
              </a:rPr>
              <a:t>	DELETE FROM</a:t>
            </a:r>
            <a:r>
              <a:rPr lang="en-US" altLang="zh-CN" dirty="0"/>
              <a:t> &lt;</a:t>
            </a:r>
            <a:r>
              <a:rPr lang="zh-CN" altLang="en-US" dirty="0"/>
              <a:t>表名</a:t>
            </a:r>
            <a:r>
              <a:rPr lang="en-US" altLang="zh-CN" dirty="0"/>
              <a:t>&gt;</a:t>
            </a:r>
            <a:br>
              <a:rPr lang="en-US" altLang="zh-CN" dirty="0"/>
            </a:br>
            <a:r>
              <a:rPr lang="en-US" altLang="zh-CN" dirty="0"/>
              <a:t>[</a:t>
            </a:r>
            <a:r>
              <a:rPr lang="en-US" altLang="zh-CN" dirty="0">
                <a:solidFill>
                  <a:srgbClr val="FF0000"/>
                </a:solidFill>
              </a:rPr>
              <a:t>WHERE</a:t>
            </a:r>
            <a:r>
              <a:rPr lang="en-US" altLang="zh-CN" dirty="0"/>
              <a:t> &lt;</a:t>
            </a:r>
            <a:r>
              <a:rPr lang="zh-CN" altLang="en-US" dirty="0"/>
              <a:t>条件</a:t>
            </a:r>
            <a:r>
              <a:rPr lang="en-US" altLang="zh-CN" dirty="0"/>
              <a:t>&gt;];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DELETE</a:t>
            </a:r>
            <a:r>
              <a:rPr lang="zh-CN" altLang="en-US" dirty="0"/>
              <a:t>语句的功能是从</a:t>
            </a:r>
            <a:r>
              <a:rPr lang="zh-CN" altLang="en-US" b="1" dirty="0">
                <a:solidFill>
                  <a:srgbClr val="006600"/>
                </a:solidFill>
              </a:rPr>
              <a:t>指定表中删除满足</a:t>
            </a:r>
            <a:r>
              <a:rPr lang="en-US" altLang="zh-CN" b="1" dirty="0">
                <a:solidFill>
                  <a:srgbClr val="006600"/>
                </a:solidFill>
              </a:rPr>
              <a:t>WHERE</a:t>
            </a:r>
            <a:r>
              <a:rPr lang="zh-CN" altLang="en-US" b="1" dirty="0">
                <a:solidFill>
                  <a:srgbClr val="006600"/>
                </a:solidFill>
              </a:rPr>
              <a:t>子句条件的所有元组</a:t>
            </a:r>
            <a:r>
              <a:rPr lang="zh-CN" altLang="en-US" dirty="0"/>
              <a:t>。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DELETE</a:t>
            </a:r>
            <a:r>
              <a:rPr lang="zh-CN" altLang="en-US" dirty="0"/>
              <a:t>语句</a:t>
            </a:r>
            <a:r>
              <a:rPr lang="zh-CN" altLang="en-US" b="1" dirty="0">
                <a:solidFill>
                  <a:srgbClr val="C00000"/>
                </a:solidFill>
              </a:rPr>
              <a:t>删除</a:t>
            </a:r>
            <a:r>
              <a:rPr lang="zh-CN" altLang="en-US" dirty="0"/>
              <a:t>的是表中的</a:t>
            </a:r>
            <a:r>
              <a:rPr lang="zh-CN" altLang="en-US" dirty="0">
                <a:solidFill>
                  <a:srgbClr val="C00000"/>
                </a:solidFill>
              </a:rPr>
              <a:t>数据</a:t>
            </a:r>
            <a:r>
              <a:rPr lang="zh-CN" altLang="en-US" dirty="0"/>
              <a:t>，而</a:t>
            </a:r>
            <a:r>
              <a:rPr lang="zh-CN" altLang="en-US" dirty="0">
                <a:solidFill>
                  <a:srgbClr val="0000FF"/>
                </a:solidFill>
              </a:rPr>
              <a:t>不是关于表的定义</a:t>
            </a:r>
            <a:r>
              <a:rPr lang="zh-CN" altLang="en-US" dirty="0"/>
              <a:t>。</a:t>
            </a:r>
          </a:p>
        </p:txBody>
      </p:sp>
      <p:sp>
        <p:nvSpPr>
          <p:cNvPr id="162823" name="AutoShape 4"/>
          <p:cNvSpPr>
            <a:spLocks noChangeArrowheads="1"/>
          </p:cNvSpPr>
          <p:nvPr/>
        </p:nvSpPr>
        <p:spPr bwMode="auto">
          <a:xfrm>
            <a:off x="4038600" y="5486400"/>
            <a:ext cx="4751388" cy="936625"/>
          </a:xfrm>
          <a:prstGeom prst="wedgeRectCallout">
            <a:avLst>
              <a:gd name="adj1" fmla="val -59657"/>
              <a:gd name="adj2" fmla="val -5593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dirty="0"/>
              <a:t>要删除表的定义，还记得吗？ </a:t>
            </a:r>
            <a:r>
              <a:rPr lang="en-US" altLang="zh-CN" sz="2800" dirty="0">
                <a:solidFill>
                  <a:srgbClr val="FF0000"/>
                </a:solidFill>
              </a:rPr>
              <a:t>DROP TABLE … </a:t>
            </a:r>
            <a:r>
              <a:rPr lang="zh-CN" altLang="en-US" sz="2800" dirty="0">
                <a:solidFill>
                  <a:srgbClr val="FF0000"/>
                </a:solidFill>
              </a:rPr>
              <a:t>语句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14663FC-D60B-5B11-A03D-C312D3DD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160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2507787"/>
      </p:ext>
    </p:extLst>
  </p:cSld>
  <p:clrMapOvr>
    <a:masterClrMapping/>
  </p:clrMapOvr>
  <p:transition>
    <p:fade/>
  </p:transition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4601A350-00B6-4B4C-8FB2-689AD2E4C551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6384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638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3.5.1 </a:t>
            </a:r>
            <a:r>
              <a:rPr lang="zh-CN" altLang="en-US" dirty="0"/>
              <a:t>删除数据</a:t>
            </a:r>
          </a:p>
        </p:txBody>
      </p:sp>
      <p:sp>
        <p:nvSpPr>
          <p:cNvPr id="1638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0000FF"/>
                </a:solidFill>
              </a:rPr>
              <a:t>一、删除某一个元组的值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800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/>
              <a:t>例</a:t>
            </a:r>
            <a:r>
              <a:rPr lang="en-US" altLang="zh-CN" sz="2800" dirty="0"/>
              <a:t>8 </a:t>
            </a:r>
            <a:r>
              <a:rPr lang="zh-CN" altLang="en-US" sz="2800" dirty="0"/>
              <a:t>删除学号为</a:t>
            </a:r>
            <a:r>
              <a:rPr lang="en-US" altLang="zh-CN" sz="2800" dirty="0"/>
              <a:t>200215128</a:t>
            </a:r>
            <a:r>
              <a:rPr lang="zh-CN" altLang="en-US" sz="2800" dirty="0"/>
              <a:t>的学生记录</a:t>
            </a:r>
            <a:endParaRPr lang="en-US" altLang="zh-CN" sz="2800" dirty="0"/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80"/>
                </a:solidFill>
              </a:rPr>
              <a:t>       </a:t>
            </a:r>
            <a:r>
              <a:rPr lang="en-US" altLang="zh-CN" sz="2800" dirty="0">
                <a:solidFill>
                  <a:srgbClr val="0000FF"/>
                </a:solidFill>
              </a:rPr>
              <a:t>DELETE FROM </a:t>
            </a:r>
            <a:r>
              <a:rPr lang="en-US" altLang="zh-CN" sz="2800" dirty="0"/>
              <a:t>Student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80"/>
                </a:solidFill>
              </a:rPr>
              <a:t>       </a:t>
            </a:r>
            <a:r>
              <a:rPr lang="en-US" altLang="zh-CN" sz="2800" dirty="0">
                <a:solidFill>
                  <a:srgbClr val="0000FF"/>
                </a:solidFill>
              </a:rPr>
              <a:t>WHERE</a:t>
            </a:r>
            <a:r>
              <a:rPr lang="en-US" altLang="zh-CN" sz="2800" dirty="0">
                <a:solidFill>
                  <a:srgbClr val="000080"/>
                </a:solidFill>
              </a:rPr>
              <a:t> </a:t>
            </a:r>
            <a:r>
              <a:rPr lang="en-US" altLang="zh-CN" sz="2800" dirty="0" err="1">
                <a:solidFill>
                  <a:srgbClr val="006600"/>
                </a:solidFill>
              </a:rPr>
              <a:t>Sno</a:t>
            </a:r>
            <a:r>
              <a:rPr lang="en-US" altLang="zh-CN" sz="2800" dirty="0"/>
              <a:t>=</a:t>
            </a:r>
            <a:r>
              <a:rPr lang="en-US" altLang="zh-CN" sz="2800" dirty="0">
                <a:solidFill>
                  <a:srgbClr val="006600"/>
                </a:solidFill>
                <a:latin typeface="Arial" charset="0"/>
              </a:rPr>
              <a:t>‘</a:t>
            </a:r>
            <a:r>
              <a:rPr lang="en-US" altLang="zh-CN" sz="2800" dirty="0">
                <a:solidFill>
                  <a:srgbClr val="006600"/>
                </a:solidFill>
              </a:rPr>
              <a:t>200215128</a:t>
            </a:r>
            <a:r>
              <a:rPr lang="en-US" altLang="zh-CN" sz="2800" dirty="0">
                <a:solidFill>
                  <a:srgbClr val="006600"/>
                </a:solidFill>
                <a:latin typeface="Arial" charset="0"/>
              </a:rPr>
              <a:t>’</a:t>
            </a:r>
            <a:r>
              <a:rPr lang="en-US" altLang="zh-CN" sz="2800" dirty="0">
                <a:solidFill>
                  <a:srgbClr val="006600"/>
                </a:solidFill>
              </a:rPr>
              <a:t>;</a:t>
            </a:r>
            <a:endParaRPr lang="zh-CN" altLang="en-US" sz="2800" dirty="0">
              <a:solidFill>
                <a:srgbClr val="006600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43D249-CA19-8181-92A8-732051C1B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161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1022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38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38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18DF231-ACF6-4B4C-979A-DB3E4210E019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6486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648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3.5.1 </a:t>
            </a:r>
            <a:r>
              <a:rPr lang="zh-CN" altLang="en-US" dirty="0"/>
              <a:t>删除数据</a:t>
            </a:r>
          </a:p>
        </p:txBody>
      </p:sp>
      <p:sp>
        <p:nvSpPr>
          <p:cNvPr id="1648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0000FF"/>
                </a:solidFill>
              </a:rPr>
              <a:t>二、删除多个元组的值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/>
              <a:t>例</a:t>
            </a:r>
            <a:r>
              <a:rPr lang="en-US" altLang="zh-CN" sz="2800" dirty="0"/>
              <a:t>9 </a:t>
            </a:r>
            <a:r>
              <a:rPr lang="zh-CN" altLang="en-US" sz="2800" dirty="0"/>
              <a:t>删除所有的学生选课记录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80"/>
                </a:solidFill>
              </a:rPr>
              <a:t>	</a:t>
            </a:r>
            <a:r>
              <a:rPr lang="en-US" altLang="zh-CN" sz="2800" dirty="0">
                <a:solidFill>
                  <a:srgbClr val="0000FF"/>
                </a:solidFill>
              </a:rPr>
              <a:t>       DELETE FROM </a:t>
            </a:r>
            <a:r>
              <a:rPr lang="en-US" altLang="zh-CN" sz="2800" dirty="0">
                <a:solidFill>
                  <a:srgbClr val="000080"/>
                </a:solidFill>
              </a:rPr>
              <a:t>SC; </a:t>
            </a:r>
            <a:br>
              <a:rPr lang="en-US" altLang="zh-CN" sz="2800" dirty="0">
                <a:solidFill>
                  <a:srgbClr val="000080"/>
                </a:solidFill>
              </a:rPr>
            </a:br>
            <a:endParaRPr lang="en-US" altLang="zh-CN" sz="2800" dirty="0">
              <a:solidFill>
                <a:srgbClr val="000080"/>
              </a:solidFill>
            </a:endParaRPr>
          </a:p>
          <a:p>
            <a:pPr eaLnBrk="1" hangingPunct="1"/>
            <a:r>
              <a:rPr lang="zh-CN" altLang="en-US" sz="2800" dirty="0">
                <a:solidFill>
                  <a:srgbClr val="000080"/>
                </a:solidFill>
              </a:rPr>
              <a:t>这条</a:t>
            </a:r>
            <a:r>
              <a:rPr lang="en-US" altLang="zh-CN" sz="2800" dirty="0">
                <a:solidFill>
                  <a:srgbClr val="000080"/>
                </a:solidFill>
              </a:rPr>
              <a:t>DELETE</a:t>
            </a:r>
            <a:r>
              <a:rPr lang="zh-CN" altLang="en-US" sz="2800" dirty="0">
                <a:solidFill>
                  <a:srgbClr val="000080"/>
                </a:solidFill>
              </a:rPr>
              <a:t>语句将使</a:t>
            </a:r>
            <a:r>
              <a:rPr lang="en-US" altLang="zh-CN" sz="2800" dirty="0">
                <a:solidFill>
                  <a:srgbClr val="000080"/>
                </a:solidFill>
              </a:rPr>
              <a:t>SC</a:t>
            </a:r>
            <a:r>
              <a:rPr lang="zh-CN" altLang="en-US" sz="2800" dirty="0">
                <a:solidFill>
                  <a:srgbClr val="000080"/>
                </a:solidFill>
              </a:rPr>
              <a:t>成为</a:t>
            </a:r>
            <a:r>
              <a:rPr lang="zh-CN" altLang="en-US" sz="2800" b="1" dirty="0">
                <a:solidFill>
                  <a:srgbClr val="C00000"/>
                </a:solidFill>
              </a:rPr>
              <a:t>空表</a:t>
            </a:r>
            <a:r>
              <a:rPr lang="zh-CN" altLang="en-US" sz="2800" dirty="0">
                <a:solidFill>
                  <a:srgbClr val="000080"/>
                </a:solidFill>
              </a:rPr>
              <a:t>，它删除了</a:t>
            </a:r>
            <a:r>
              <a:rPr lang="en-US" altLang="zh-CN" sz="2800" dirty="0">
                <a:solidFill>
                  <a:srgbClr val="000080"/>
                </a:solidFill>
              </a:rPr>
              <a:t>SC</a:t>
            </a:r>
            <a:r>
              <a:rPr lang="zh-CN" altLang="en-US" sz="2800" dirty="0">
                <a:solidFill>
                  <a:srgbClr val="000080"/>
                </a:solidFill>
              </a:rPr>
              <a:t>的所有元组。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F22DADA-B6F4-83FF-4F58-0A09068CD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162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67985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48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48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48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48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ECFB309-262E-4611-B057-553E2666A421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6589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658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3.5.1 </a:t>
            </a:r>
            <a:r>
              <a:rPr lang="zh-CN" altLang="en-US" dirty="0"/>
              <a:t>删除数据</a:t>
            </a:r>
          </a:p>
        </p:txBody>
      </p:sp>
      <p:sp>
        <p:nvSpPr>
          <p:cNvPr id="1658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三、带子查询的删除语句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solidFill>
                  <a:srgbClr val="0000FF"/>
                </a:solidFill>
              </a:rPr>
              <a:t>子查询</a:t>
            </a:r>
            <a:r>
              <a:rPr lang="zh-CN" altLang="en-US" sz="2800" dirty="0"/>
              <a:t>同样也可以</a:t>
            </a:r>
            <a:r>
              <a:rPr lang="zh-CN" altLang="en-US" sz="2800" dirty="0">
                <a:solidFill>
                  <a:srgbClr val="0000FF"/>
                </a:solidFill>
              </a:rPr>
              <a:t>嵌套在</a:t>
            </a:r>
            <a:r>
              <a:rPr lang="en-US" altLang="zh-CN" sz="2800" dirty="0">
                <a:solidFill>
                  <a:srgbClr val="0000FF"/>
                </a:solidFill>
              </a:rPr>
              <a:t>DELETE</a:t>
            </a:r>
            <a:r>
              <a:rPr lang="zh-CN" altLang="en-US" sz="2800" dirty="0">
                <a:solidFill>
                  <a:srgbClr val="0000FF"/>
                </a:solidFill>
              </a:rPr>
              <a:t>语句</a:t>
            </a:r>
            <a:r>
              <a:rPr lang="zh-CN" altLang="en-US" sz="2800" dirty="0"/>
              <a:t>中，用以</a:t>
            </a:r>
            <a:r>
              <a:rPr lang="zh-CN" altLang="en-US" sz="2800" b="1" u="sng" dirty="0">
                <a:solidFill>
                  <a:srgbClr val="C00000"/>
                </a:solidFill>
              </a:rPr>
              <a:t>构造执行删除操作的条件</a:t>
            </a:r>
            <a:r>
              <a:rPr lang="zh-CN" altLang="en-US" sz="2800" u="sng" dirty="0"/>
              <a:t>。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9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/>
              <a:t>例</a:t>
            </a:r>
            <a:r>
              <a:rPr lang="en-US" altLang="zh-CN" sz="2800" dirty="0"/>
              <a:t>10 </a:t>
            </a:r>
            <a:r>
              <a:rPr lang="zh-CN" altLang="en-US" sz="2800" dirty="0"/>
              <a:t>删除</a:t>
            </a:r>
            <a:r>
              <a:rPr lang="zh-CN" altLang="en-US" sz="2800" u="sng" dirty="0"/>
              <a:t>计算机科学系所有学生</a:t>
            </a:r>
            <a:r>
              <a:rPr lang="zh-CN" altLang="en-US" sz="2800" dirty="0"/>
              <a:t>的</a:t>
            </a:r>
            <a:r>
              <a:rPr lang="zh-CN" altLang="en-US" sz="2800" dirty="0">
                <a:solidFill>
                  <a:srgbClr val="0000FF"/>
                </a:solidFill>
              </a:rPr>
              <a:t>选课记录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80"/>
                </a:solidFill>
              </a:rPr>
              <a:t>	DELETE FROM </a:t>
            </a:r>
            <a:r>
              <a:rPr lang="en-US" altLang="zh-CN" sz="2800" dirty="0">
                <a:solidFill>
                  <a:srgbClr val="C00000"/>
                </a:solidFill>
              </a:rPr>
              <a:t>SC</a:t>
            </a:r>
            <a:r>
              <a:rPr lang="en-US" altLang="zh-CN" sz="2800" dirty="0">
                <a:solidFill>
                  <a:srgbClr val="000080"/>
                </a:solidFill>
              </a:rPr>
              <a:t> </a:t>
            </a:r>
            <a:br>
              <a:rPr lang="en-US" altLang="zh-CN" sz="2800" dirty="0">
                <a:solidFill>
                  <a:srgbClr val="000080"/>
                </a:solidFill>
              </a:rPr>
            </a:br>
            <a:r>
              <a:rPr lang="en-US" altLang="zh-CN" sz="2800" dirty="0">
                <a:solidFill>
                  <a:srgbClr val="000080"/>
                </a:solidFill>
              </a:rPr>
              <a:t>WHERE </a:t>
            </a:r>
            <a:r>
              <a:rPr lang="en-US" altLang="zh-CN" sz="2800" dirty="0">
                <a:solidFill>
                  <a:srgbClr val="006600"/>
                </a:solidFill>
              </a:rPr>
              <a:t>'CS'</a:t>
            </a:r>
            <a:r>
              <a:rPr lang="en-US" altLang="zh-CN" sz="2800" dirty="0">
                <a:solidFill>
                  <a:srgbClr val="000080"/>
                </a:solidFill>
              </a:rPr>
              <a:t>= </a:t>
            </a:r>
            <a:r>
              <a:rPr lang="en-US" altLang="zh-CN" sz="2800" dirty="0">
                <a:solidFill>
                  <a:srgbClr val="000080"/>
                </a:solidFill>
                <a:latin typeface="Arial" charset="0"/>
              </a:rPr>
              <a:t>    </a:t>
            </a:r>
            <a:r>
              <a:rPr lang="en-US" altLang="zh-CN" sz="2800" dirty="0">
                <a:solidFill>
                  <a:srgbClr val="000080"/>
                </a:solidFill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80"/>
                </a:solidFill>
              </a:rPr>
              <a:t>        (</a:t>
            </a:r>
            <a:r>
              <a:rPr lang="en-US" altLang="zh-CN" sz="2800" dirty="0"/>
              <a:t>SELETE </a:t>
            </a:r>
            <a:r>
              <a:rPr lang="en-US" altLang="zh-CN" sz="2800" dirty="0" err="1">
                <a:solidFill>
                  <a:srgbClr val="006600"/>
                </a:solidFill>
              </a:rPr>
              <a:t>Sdept</a:t>
            </a:r>
            <a:r>
              <a:rPr lang="en-US" altLang="zh-CN" sz="2800" dirty="0">
                <a:solidFill>
                  <a:srgbClr val="006600"/>
                </a:solidFill>
              </a:rPr>
              <a:t> </a:t>
            </a:r>
            <a:br>
              <a:rPr lang="en-US" altLang="zh-CN" sz="2800" dirty="0"/>
            </a:br>
            <a:r>
              <a:rPr lang="en-US" altLang="zh-CN" sz="2800" dirty="0">
                <a:latin typeface="Arial" charset="0"/>
              </a:rPr>
              <a:t>      </a:t>
            </a:r>
            <a:r>
              <a:rPr lang="en-US" altLang="zh-CN" sz="2800" dirty="0"/>
              <a:t> FROM Student </a:t>
            </a:r>
            <a:br>
              <a:rPr lang="en-US" altLang="zh-CN" sz="2800" dirty="0"/>
            </a:br>
            <a:r>
              <a:rPr lang="en-US" altLang="zh-CN" sz="2800" dirty="0">
                <a:latin typeface="Arial" charset="0"/>
              </a:rPr>
              <a:t>      </a:t>
            </a:r>
            <a:r>
              <a:rPr lang="en-US" altLang="zh-CN" sz="2800" dirty="0"/>
              <a:t> WHERE </a:t>
            </a:r>
            <a:r>
              <a:rPr lang="en-US" altLang="zh-CN" sz="2800" dirty="0" err="1"/>
              <a:t>Student.Sno</a:t>
            </a:r>
            <a:r>
              <a:rPr lang="en-US" altLang="zh-CN" sz="2800" dirty="0">
                <a:solidFill>
                  <a:srgbClr val="006600"/>
                </a:solidFill>
              </a:rPr>
              <a:t>=</a:t>
            </a:r>
            <a:r>
              <a:rPr lang="en-US" altLang="zh-CN" sz="2800" dirty="0" err="1">
                <a:solidFill>
                  <a:srgbClr val="C00000"/>
                </a:solidFill>
              </a:rPr>
              <a:t>SC.Sno</a:t>
            </a:r>
            <a:r>
              <a:rPr lang="en-US" altLang="zh-CN" sz="2800" dirty="0">
                <a:solidFill>
                  <a:srgbClr val="000080"/>
                </a:solidFill>
              </a:rPr>
              <a:t>);</a:t>
            </a:r>
            <a:endParaRPr lang="zh-CN" altLang="en-US" sz="2800" dirty="0">
              <a:solidFill>
                <a:srgbClr val="000080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B03176B-047D-27F9-732E-838E12AC8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163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57299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58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58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58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58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58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58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4AC1AB78-B5EF-479E-AC14-A7B285938519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6691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669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3.5.1 </a:t>
            </a:r>
            <a:r>
              <a:rPr lang="zh-CN" altLang="en-US" dirty="0"/>
              <a:t>删除数据</a:t>
            </a:r>
          </a:p>
        </p:txBody>
      </p:sp>
      <p:sp>
        <p:nvSpPr>
          <p:cNvPr id="1669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45488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</a:rPr>
              <a:t>三、带子查询的删除语句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>
                <a:solidFill>
                  <a:srgbClr val="0000FF"/>
                </a:solidFill>
              </a:rPr>
              <a:t>子查询</a:t>
            </a:r>
            <a:r>
              <a:rPr lang="zh-CN" altLang="en-US" sz="2800" dirty="0"/>
              <a:t>同样也可以</a:t>
            </a:r>
            <a:r>
              <a:rPr lang="zh-CN" altLang="en-US" sz="2800" dirty="0">
                <a:solidFill>
                  <a:srgbClr val="0000FF"/>
                </a:solidFill>
              </a:rPr>
              <a:t>嵌套在</a:t>
            </a:r>
            <a:r>
              <a:rPr lang="en-US" altLang="zh-CN" sz="2800" dirty="0">
                <a:solidFill>
                  <a:srgbClr val="0000FF"/>
                </a:solidFill>
              </a:rPr>
              <a:t>DELETE</a:t>
            </a:r>
            <a:r>
              <a:rPr lang="zh-CN" altLang="en-US" sz="2800" dirty="0">
                <a:solidFill>
                  <a:srgbClr val="0000FF"/>
                </a:solidFill>
              </a:rPr>
              <a:t>语句</a:t>
            </a:r>
            <a:r>
              <a:rPr lang="zh-CN" altLang="en-US" sz="2800" dirty="0"/>
              <a:t>中，用以</a:t>
            </a:r>
            <a:r>
              <a:rPr lang="zh-CN" altLang="en-US" sz="2800" b="1" u="sng" dirty="0">
                <a:solidFill>
                  <a:srgbClr val="C00000"/>
                </a:solidFill>
              </a:rPr>
              <a:t>构造执行删除操作的条件，</a:t>
            </a:r>
            <a:r>
              <a:rPr lang="zh-CN" altLang="en-US" sz="2800" u="sng" dirty="0">
                <a:solidFill>
                  <a:srgbClr val="C00000"/>
                </a:solidFill>
              </a:rPr>
              <a:t>与在</a:t>
            </a:r>
            <a:r>
              <a:rPr lang="en-US" altLang="zh-CN" sz="2800" u="sng" dirty="0">
                <a:solidFill>
                  <a:srgbClr val="C00000"/>
                </a:solidFill>
              </a:rPr>
              <a:t>SFW</a:t>
            </a:r>
            <a:r>
              <a:rPr lang="zh-CN" altLang="en-US" sz="2800" u="sng" dirty="0">
                <a:solidFill>
                  <a:srgbClr val="C00000"/>
                </a:solidFill>
              </a:rPr>
              <a:t>中</a:t>
            </a:r>
            <a:r>
              <a:rPr lang="en-US" altLang="zh-CN" sz="2800" u="sng" dirty="0">
                <a:solidFill>
                  <a:srgbClr val="C00000"/>
                </a:solidFill>
              </a:rPr>
              <a:t>where</a:t>
            </a:r>
            <a:r>
              <a:rPr lang="zh-CN" altLang="en-US" sz="2800" u="sng" dirty="0">
                <a:solidFill>
                  <a:srgbClr val="C00000"/>
                </a:solidFill>
              </a:rPr>
              <a:t>子句使用一样</a:t>
            </a:r>
            <a:r>
              <a:rPr lang="zh-CN" altLang="en-US" sz="2800" u="sng" dirty="0"/>
              <a:t>。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9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/>
              <a:t>例</a:t>
            </a:r>
            <a:r>
              <a:rPr lang="en-US" altLang="zh-CN" sz="2800" dirty="0"/>
              <a:t>10 </a:t>
            </a:r>
            <a:r>
              <a:rPr lang="zh-CN" altLang="en-US" sz="2800" dirty="0"/>
              <a:t>删除计算机科学系所有学生的选课记录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80"/>
                </a:solidFill>
              </a:rPr>
              <a:t>	</a:t>
            </a:r>
            <a:r>
              <a:rPr lang="en-US" altLang="zh-CN" sz="2800" dirty="0"/>
              <a:t>DELETE FROM SC </a:t>
            </a:r>
            <a:br>
              <a:rPr lang="en-US" altLang="zh-CN" sz="2800" dirty="0"/>
            </a:br>
            <a:r>
              <a:rPr lang="en-US" altLang="zh-CN" sz="2800" dirty="0"/>
              <a:t>WHERE 'CS'=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latin typeface="Arial" charset="0"/>
              </a:rPr>
              <a:t>     </a:t>
            </a:r>
            <a:r>
              <a:rPr lang="en-US" altLang="zh-CN" sz="2800" dirty="0"/>
              <a:t>    (SELETE </a:t>
            </a:r>
            <a:r>
              <a:rPr lang="en-US" altLang="zh-CN" sz="2800" dirty="0" err="1"/>
              <a:t>Sdept</a:t>
            </a:r>
            <a:r>
              <a:rPr lang="en-US" altLang="zh-CN" sz="2800" dirty="0"/>
              <a:t> </a:t>
            </a:r>
            <a:br>
              <a:rPr lang="en-US" altLang="zh-CN" sz="2800" dirty="0"/>
            </a:br>
            <a:r>
              <a:rPr lang="en-US" altLang="zh-CN" sz="2800" dirty="0">
                <a:latin typeface="Arial" charset="0"/>
              </a:rPr>
              <a:t>      </a:t>
            </a:r>
            <a:r>
              <a:rPr lang="en-US" altLang="zh-CN" sz="2800" dirty="0"/>
              <a:t> FROM Student </a:t>
            </a:r>
            <a:br>
              <a:rPr lang="en-US" altLang="zh-CN" sz="2800" dirty="0"/>
            </a:br>
            <a:r>
              <a:rPr lang="en-US" altLang="zh-CN" sz="2800" dirty="0">
                <a:latin typeface="Arial" charset="0"/>
              </a:rPr>
              <a:t>      </a:t>
            </a:r>
            <a:r>
              <a:rPr lang="en-US" altLang="zh-CN" sz="2800" dirty="0"/>
              <a:t> WHERE </a:t>
            </a:r>
            <a:r>
              <a:rPr lang="en-US" altLang="zh-CN" sz="2800" dirty="0" err="1"/>
              <a:t>Student.Sno</a:t>
            </a:r>
            <a:r>
              <a:rPr lang="en-US" altLang="zh-CN" sz="2800" dirty="0"/>
              <a:t>=</a:t>
            </a:r>
            <a:r>
              <a:rPr lang="en-US" altLang="zh-CN" sz="2800" dirty="0" err="1">
                <a:solidFill>
                  <a:srgbClr val="FF0000"/>
                </a:solidFill>
              </a:rPr>
              <a:t>SC.Sno</a:t>
            </a:r>
            <a:r>
              <a:rPr lang="en-US" altLang="zh-CN" sz="2800" dirty="0"/>
              <a:t>);</a:t>
            </a:r>
            <a:endParaRPr lang="en-US" altLang="zh-CN" sz="2800" dirty="0">
              <a:solidFill>
                <a:srgbClr val="00008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请同学们自己思考</a:t>
            </a:r>
            <a:r>
              <a:rPr lang="en-US" altLang="zh-CN" sz="2800" dirty="0"/>
              <a:t>WHERE</a:t>
            </a:r>
            <a:r>
              <a:rPr lang="zh-CN" altLang="en-US" sz="2800" dirty="0"/>
              <a:t>子句中</a:t>
            </a:r>
            <a:r>
              <a:rPr lang="zh-CN" altLang="en-US" sz="2800" dirty="0">
                <a:solidFill>
                  <a:srgbClr val="0000FF"/>
                </a:solidFill>
              </a:rPr>
              <a:t>使用</a:t>
            </a:r>
            <a:r>
              <a:rPr lang="en-US" altLang="zh-CN" sz="2800" dirty="0">
                <a:solidFill>
                  <a:srgbClr val="0000FF"/>
                </a:solidFill>
              </a:rPr>
              <a:t>IN</a:t>
            </a:r>
            <a:r>
              <a:rPr lang="zh-CN" altLang="en-US" sz="2800" dirty="0">
                <a:solidFill>
                  <a:srgbClr val="0000FF"/>
                </a:solidFill>
              </a:rPr>
              <a:t>的删除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pic>
        <p:nvPicPr>
          <p:cNvPr id="209921" name="Picture 1" descr="C:\Users\Jixiang\AppData\Local\Temp\_A~_C_F`%IP6P74Q9KE%$%5.gif"/>
          <p:cNvPicPr>
            <a:picLocks noChangeAspect="1" noChangeArrowheads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8674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3A66731-7999-5769-312A-253668C03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164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413300"/>
      </p:ext>
    </p:extLst>
  </p:cSld>
  <p:clrMapOvr>
    <a:masterClrMapping/>
  </p:clrMapOvr>
  <p:transition>
    <p:fade/>
  </p:transition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E649355-E06A-46CD-8517-62C2DF9DFF5C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5053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505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3.5.2 </a:t>
            </a:r>
            <a:r>
              <a:rPr lang="zh-CN" altLang="en-US" dirty="0"/>
              <a:t>插入数据</a:t>
            </a:r>
          </a:p>
        </p:txBody>
      </p:sp>
      <p:sp>
        <p:nvSpPr>
          <p:cNvPr id="1505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1"/>
            <a:ext cx="8345488" cy="1600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</a:rPr>
              <a:t>一、插入单个元组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插入单个元组的</a:t>
            </a:r>
            <a:r>
              <a:rPr lang="en-US" altLang="zh-CN" dirty="0"/>
              <a:t>INSERT</a:t>
            </a:r>
            <a:r>
              <a:rPr lang="zh-CN" altLang="en-US" dirty="0"/>
              <a:t>语句的格式为：</a:t>
            </a:r>
            <a:br>
              <a:rPr lang="zh-CN" altLang="en-US" dirty="0"/>
            </a:br>
            <a:endParaRPr lang="en-US" altLang="zh-CN" dirty="0"/>
          </a:p>
          <a:p>
            <a:pPr eaLnBrk="1" hangingPunct="1">
              <a:buFont typeface="Wingdings" pitchFamily="2" charset="2"/>
              <a:buNone/>
            </a:pPr>
            <a:br>
              <a:rPr lang="en-US" altLang="zh-CN" dirty="0"/>
            </a:b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76200" y="2971800"/>
            <a:ext cx="893686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3000" dirty="0">
                <a:solidFill>
                  <a:srgbClr val="FF0000"/>
                </a:solidFill>
              </a:rPr>
              <a:t>INSERT INTO</a:t>
            </a:r>
            <a:r>
              <a:rPr lang="en-US" altLang="zh-CN" sz="3000" dirty="0"/>
              <a:t> &lt;</a:t>
            </a:r>
            <a:r>
              <a:rPr lang="zh-CN" altLang="en-US" sz="3000" b="1" dirty="0">
                <a:solidFill>
                  <a:srgbClr val="FF0000"/>
                </a:solidFill>
              </a:rPr>
              <a:t>表名</a:t>
            </a:r>
            <a:r>
              <a:rPr lang="en-US" altLang="zh-CN" sz="3000" dirty="0"/>
              <a:t>&gt; (</a:t>
            </a:r>
            <a:r>
              <a:rPr lang="en-US" altLang="zh-CN" sz="3000" i="1" dirty="0"/>
              <a:t>&lt;</a:t>
            </a:r>
            <a:r>
              <a:rPr lang="zh-CN" altLang="en-US" sz="3000" i="1" dirty="0">
                <a:solidFill>
                  <a:srgbClr val="0000FF"/>
                </a:solidFill>
              </a:rPr>
              <a:t>属性列</a:t>
            </a:r>
            <a:r>
              <a:rPr lang="en-US" altLang="zh-CN" sz="3000" i="1" dirty="0">
                <a:solidFill>
                  <a:srgbClr val="0000FF"/>
                </a:solidFill>
              </a:rPr>
              <a:t>1</a:t>
            </a:r>
            <a:r>
              <a:rPr lang="en-US" altLang="zh-CN" sz="3000" i="1" dirty="0"/>
              <a:t>&gt;</a:t>
            </a:r>
            <a:r>
              <a:rPr lang="en-US" altLang="zh-CN" sz="3000" i="1" dirty="0">
                <a:solidFill>
                  <a:srgbClr val="0000FF"/>
                </a:solidFill>
              </a:rPr>
              <a:t>[</a:t>
            </a:r>
            <a:r>
              <a:rPr lang="en-US" altLang="zh-CN" sz="3000" i="1" dirty="0"/>
              <a:t>,&lt;</a:t>
            </a:r>
            <a:r>
              <a:rPr lang="zh-CN" altLang="en-US" sz="3000" i="1" dirty="0"/>
              <a:t>属性列</a:t>
            </a:r>
            <a:r>
              <a:rPr lang="en-US" altLang="zh-CN" sz="3000" i="1" dirty="0"/>
              <a:t>2&gt;</a:t>
            </a:r>
            <a:r>
              <a:rPr lang="en-US" altLang="zh-CN" sz="3000" dirty="0"/>
              <a:t>...</a:t>
            </a:r>
            <a:r>
              <a:rPr lang="en-US" altLang="zh-CN" sz="3000" i="1" dirty="0">
                <a:solidFill>
                  <a:srgbClr val="0000FF"/>
                </a:solidFill>
              </a:rPr>
              <a:t>]</a:t>
            </a:r>
            <a:r>
              <a:rPr lang="en-US" altLang="zh-CN" sz="3000" dirty="0"/>
              <a:t> </a:t>
            </a:r>
            <a:br>
              <a:rPr lang="en-US" altLang="zh-CN" sz="3000" dirty="0"/>
            </a:br>
            <a:r>
              <a:rPr lang="en-US" altLang="zh-CN" sz="3000" dirty="0"/>
              <a:t>               </a:t>
            </a:r>
            <a:r>
              <a:rPr lang="en-US" altLang="zh-CN" sz="3000" dirty="0">
                <a:solidFill>
                  <a:srgbClr val="FF0000"/>
                </a:solidFill>
              </a:rPr>
              <a:t>VALUES</a:t>
            </a:r>
            <a:r>
              <a:rPr lang="en-US" altLang="zh-CN" sz="3000" dirty="0"/>
              <a:t>      (</a:t>
            </a:r>
            <a:r>
              <a:rPr lang="en-US" altLang="zh-CN" sz="3000" i="1" dirty="0"/>
              <a:t>&lt;</a:t>
            </a:r>
            <a:r>
              <a:rPr lang="zh-CN" altLang="en-US" sz="3000" i="1" dirty="0">
                <a:solidFill>
                  <a:srgbClr val="0000FF"/>
                </a:solidFill>
              </a:rPr>
              <a:t>常量</a:t>
            </a:r>
            <a:r>
              <a:rPr lang="en-US" altLang="zh-CN" sz="3000" i="1" dirty="0">
                <a:solidFill>
                  <a:srgbClr val="0000FF"/>
                </a:solidFill>
              </a:rPr>
              <a:t>1</a:t>
            </a:r>
            <a:r>
              <a:rPr lang="en-US" altLang="zh-CN" sz="3000" i="1" dirty="0"/>
              <a:t>&gt; </a:t>
            </a:r>
            <a:r>
              <a:rPr lang="en-US" altLang="zh-CN" sz="3000" i="1" dirty="0">
                <a:solidFill>
                  <a:srgbClr val="0000FF"/>
                </a:solidFill>
              </a:rPr>
              <a:t>[</a:t>
            </a:r>
            <a:r>
              <a:rPr lang="en-US" altLang="zh-CN" sz="3000" i="1" dirty="0"/>
              <a:t>,&lt;</a:t>
            </a:r>
            <a:r>
              <a:rPr lang="zh-CN" altLang="en-US" sz="3000" i="1" dirty="0"/>
              <a:t>常量</a:t>
            </a:r>
            <a:r>
              <a:rPr lang="en-US" altLang="zh-CN" sz="3000" i="1" dirty="0"/>
              <a:t>2&gt;</a:t>
            </a:r>
            <a:r>
              <a:rPr lang="en-US" altLang="zh-CN" sz="3000" i="1" dirty="0">
                <a:solidFill>
                  <a:srgbClr val="0000FF"/>
                </a:solidFill>
              </a:rPr>
              <a:t>]</a:t>
            </a:r>
            <a:r>
              <a:rPr lang="en-US" altLang="zh-CN" sz="3000" dirty="0"/>
              <a:t>...) </a:t>
            </a:r>
            <a:endParaRPr lang="zh-CN" altLang="en-US" sz="3000" dirty="0"/>
          </a:p>
        </p:txBody>
      </p:sp>
      <p:sp>
        <p:nvSpPr>
          <p:cNvPr id="3" name="矩形 2"/>
          <p:cNvSpPr/>
          <p:nvPr/>
        </p:nvSpPr>
        <p:spPr>
          <a:xfrm>
            <a:off x="8709781" y="3036243"/>
            <a:ext cx="3032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048000" y="5511462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注：方括号表示可选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658EB48-E6D6-27C1-3EFD-C54241F5F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165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4BB441C5-A74A-4BE5-96C1-FCAFBBDFDCA5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5155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515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3.5.2 </a:t>
            </a:r>
            <a:r>
              <a:rPr lang="zh-CN" altLang="en-US" dirty="0"/>
              <a:t>插入数据</a:t>
            </a:r>
          </a:p>
        </p:txBody>
      </p:sp>
      <p:sp>
        <p:nvSpPr>
          <p:cNvPr id="1515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如果</a:t>
            </a:r>
            <a:r>
              <a:rPr lang="zh-CN" altLang="en-US" dirty="0">
                <a:solidFill>
                  <a:srgbClr val="0000FF"/>
                </a:solidFill>
              </a:rPr>
              <a:t>某些属性列</a:t>
            </a:r>
            <a:r>
              <a:rPr lang="zh-CN" altLang="en-US" dirty="0"/>
              <a:t>在</a:t>
            </a:r>
            <a:r>
              <a:rPr lang="en-US" altLang="zh-CN" dirty="0"/>
              <a:t>INTO</a:t>
            </a:r>
            <a:r>
              <a:rPr lang="zh-CN" altLang="en-US" dirty="0"/>
              <a:t>子句中</a:t>
            </a:r>
            <a:r>
              <a:rPr lang="zh-CN" altLang="en-US" b="1" dirty="0">
                <a:solidFill>
                  <a:srgbClr val="FF0000"/>
                </a:solidFill>
              </a:rPr>
              <a:t>没有</a:t>
            </a:r>
            <a:r>
              <a:rPr lang="zh-CN" altLang="en-US" b="1" dirty="0">
                <a:solidFill>
                  <a:srgbClr val="0000FF"/>
                </a:solidFill>
              </a:rPr>
              <a:t>出现</a:t>
            </a:r>
          </a:p>
          <a:p>
            <a:pPr lvl="1" eaLnBrk="1" hangingPunct="1"/>
            <a:r>
              <a:rPr lang="zh-CN" altLang="en-US" dirty="0"/>
              <a:t>一般，</a:t>
            </a:r>
            <a:r>
              <a:rPr lang="zh-CN" altLang="en-US" dirty="0">
                <a:solidFill>
                  <a:srgbClr val="C00000"/>
                </a:solidFill>
              </a:rPr>
              <a:t>新记录</a:t>
            </a:r>
            <a:r>
              <a:rPr lang="zh-CN" altLang="en-US" dirty="0"/>
              <a:t>在这些列上将取</a:t>
            </a:r>
            <a:r>
              <a:rPr lang="zh-CN" altLang="en-US" b="1" dirty="0">
                <a:solidFill>
                  <a:srgbClr val="FF0000"/>
                </a:solidFill>
              </a:rPr>
              <a:t>空值</a:t>
            </a:r>
            <a:r>
              <a:rPr lang="zh-CN" altLang="en-US" dirty="0"/>
              <a:t>。</a:t>
            </a:r>
          </a:p>
          <a:p>
            <a:pPr lvl="1" eaLnBrk="1" hangingPunct="1"/>
            <a:r>
              <a:rPr lang="zh-CN" altLang="en-US" dirty="0"/>
              <a:t>但，在表定义时说明为</a:t>
            </a:r>
            <a:r>
              <a:rPr lang="en-US" altLang="zh-CN" dirty="0">
                <a:solidFill>
                  <a:srgbClr val="C00000"/>
                </a:solidFill>
              </a:rPr>
              <a:t>NOT NULL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00FF"/>
                </a:solidFill>
              </a:rPr>
              <a:t>属性列不能取空值</a:t>
            </a:r>
            <a:r>
              <a:rPr lang="zh-CN" altLang="en-US" dirty="0"/>
              <a:t>。</a:t>
            </a:r>
          </a:p>
          <a:p>
            <a:pPr lvl="1" eaLnBrk="1" hangingPunct="1"/>
            <a:r>
              <a:rPr lang="zh-CN" altLang="en-US" dirty="0">
                <a:solidFill>
                  <a:srgbClr val="C00000"/>
                </a:solidFill>
              </a:rPr>
              <a:t>主码属性不能取空值。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1000" dirty="0"/>
          </a:p>
          <a:p>
            <a:pPr eaLnBrk="1" hangingPunct="1"/>
            <a:r>
              <a:rPr lang="zh-CN" altLang="en-US" dirty="0"/>
              <a:t>如果</a:t>
            </a:r>
            <a:r>
              <a:rPr lang="en-US" altLang="zh-CN" dirty="0"/>
              <a:t>INTO</a:t>
            </a:r>
            <a:r>
              <a:rPr lang="zh-CN" altLang="en-US" dirty="0"/>
              <a:t>子句中</a:t>
            </a:r>
            <a:r>
              <a:rPr lang="zh-CN" altLang="en-US" dirty="0">
                <a:solidFill>
                  <a:srgbClr val="FF0000"/>
                </a:solidFill>
              </a:rPr>
              <a:t>没有</a:t>
            </a:r>
            <a:r>
              <a:rPr lang="zh-CN" altLang="en-US" dirty="0">
                <a:solidFill>
                  <a:srgbClr val="0000FF"/>
                </a:solidFill>
              </a:rPr>
              <a:t>指明任何</a:t>
            </a:r>
            <a:r>
              <a:rPr lang="zh-CN" altLang="en-US" b="1" dirty="0">
                <a:solidFill>
                  <a:srgbClr val="0000FF"/>
                </a:solidFill>
              </a:rPr>
              <a:t>列名</a:t>
            </a:r>
          </a:p>
          <a:p>
            <a:pPr lvl="1" eaLnBrk="1" hangingPunct="1"/>
            <a:r>
              <a:rPr lang="zh-CN" altLang="en-US" dirty="0">
                <a:solidFill>
                  <a:schemeClr val="tx2"/>
                </a:solidFill>
              </a:rPr>
              <a:t>新插入的记录</a:t>
            </a:r>
            <a:r>
              <a:rPr lang="zh-CN" altLang="en-US" dirty="0"/>
              <a:t>必须在</a:t>
            </a:r>
            <a:r>
              <a:rPr lang="zh-CN" altLang="en-US" b="1" dirty="0">
                <a:solidFill>
                  <a:srgbClr val="C00000"/>
                </a:solidFill>
              </a:rPr>
              <a:t>每个</a:t>
            </a:r>
            <a:r>
              <a:rPr lang="zh-CN" altLang="en-US" dirty="0">
                <a:solidFill>
                  <a:srgbClr val="0000FF"/>
                </a:solidFill>
              </a:rPr>
              <a:t>属性列上</a:t>
            </a:r>
            <a:r>
              <a:rPr lang="zh-CN" altLang="en-US" b="1" dirty="0">
                <a:solidFill>
                  <a:srgbClr val="C00000"/>
                </a:solidFill>
              </a:rPr>
              <a:t>均有值</a:t>
            </a:r>
            <a:r>
              <a:rPr lang="zh-CN" altLang="en-US" dirty="0"/>
              <a:t>。</a:t>
            </a:r>
          </a:p>
          <a:p>
            <a:pPr lvl="1" eaLnBrk="1" hangingPunct="1"/>
            <a:r>
              <a:rPr lang="en-US" altLang="zh-CN" dirty="0"/>
              <a:t>VALUES</a:t>
            </a:r>
            <a:r>
              <a:rPr lang="zh-CN" altLang="en-US" dirty="0"/>
              <a:t>子句后</a:t>
            </a:r>
            <a:r>
              <a:rPr lang="zh-CN" altLang="en-US" dirty="0">
                <a:solidFill>
                  <a:srgbClr val="C00000"/>
                </a:solidFill>
              </a:rPr>
              <a:t>值</a:t>
            </a:r>
            <a:r>
              <a:rPr lang="zh-CN" altLang="en-US" dirty="0"/>
              <a:t>与关系模式中</a:t>
            </a:r>
            <a:r>
              <a:rPr lang="zh-CN" altLang="en-US" dirty="0">
                <a:solidFill>
                  <a:srgbClr val="0000FF"/>
                </a:solidFill>
              </a:rPr>
              <a:t>属性列的</a:t>
            </a:r>
            <a:r>
              <a:rPr lang="zh-CN" altLang="en-US" b="1" dirty="0">
                <a:solidFill>
                  <a:srgbClr val="C00000"/>
                </a:solidFill>
              </a:rPr>
              <a:t>顺序一致</a:t>
            </a:r>
            <a:r>
              <a:rPr lang="zh-CN" altLang="en-US" dirty="0"/>
              <a:t>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9EAC430-6B5A-EF39-DF4A-0E4C1FA8B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166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15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15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15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15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15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15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15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15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15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15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15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15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044E6B6F-EE09-4C66-8FD7-8933328BE149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5257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525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3.5.2 </a:t>
            </a:r>
            <a:r>
              <a:rPr lang="zh-CN" altLang="en-US" dirty="0"/>
              <a:t>插入数据</a:t>
            </a:r>
          </a:p>
        </p:txBody>
      </p:sp>
      <p:sp>
        <p:nvSpPr>
          <p:cNvPr id="1525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3  </a:t>
            </a:r>
            <a:r>
              <a:rPr lang="zh-CN" altLang="en-US" dirty="0"/>
              <a:t>插入一条选课记录</a:t>
            </a:r>
            <a:r>
              <a:rPr lang="en-US" altLang="zh-CN" dirty="0"/>
              <a:t>(’200215128’</a:t>
            </a:r>
            <a:r>
              <a:rPr lang="zh-CN" altLang="en-US" dirty="0"/>
              <a:t>，</a:t>
            </a:r>
            <a:r>
              <a:rPr lang="en-US" altLang="zh-CN" dirty="0"/>
              <a:t>’1’)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INSERT INTO SC (</a:t>
            </a:r>
            <a:r>
              <a:rPr lang="en-US" altLang="zh-CN" dirty="0" err="1">
                <a:solidFill>
                  <a:srgbClr val="C00000"/>
                </a:solidFill>
              </a:rPr>
              <a:t>Sno</a:t>
            </a:r>
            <a:r>
              <a:rPr lang="en-US" altLang="zh-CN" dirty="0">
                <a:solidFill>
                  <a:srgbClr val="C00000"/>
                </a:solidFill>
              </a:rPr>
              <a:t>, </a:t>
            </a:r>
            <a:r>
              <a:rPr lang="en-US" altLang="zh-CN" dirty="0" err="1">
                <a:solidFill>
                  <a:srgbClr val="C00000"/>
                </a:solidFill>
              </a:rPr>
              <a:t>Cno</a:t>
            </a:r>
            <a:r>
              <a:rPr lang="en-US" altLang="zh-CN" dirty="0"/>
              <a:t>) </a:t>
            </a:r>
            <a:br>
              <a:rPr lang="en-US" altLang="zh-CN" dirty="0"/>
            </a:br>
            <a:r>
              <a:rPr lang="en-US" altLang="zh-CN" dirty="0"/>
              <a:t>          VALUES </a:t>
            </a:r>
            <a:r>
              <a:rPr lang="en-US" altLang="zh-CN" dirty="0">
                <a:solidFill>
                  <a:srgbClr val="0000FF"/>
                </a:solidFill>
              </a:rPr>
              <a:t>(</a:t>
            </a:r>
            <a:r>
              <a:rPr lang="en-US" altLang="zh-CN" dirty="0">
                <a:solidFill>
                  <a:srgbClr val="0000FF"/>
                </a:solidFill>
                <a:latin typeface="Arial" charset="0"/>
              </a:rPr>
              <a:t>‘</a:t>
            </a:r>
            <a:r>
              <a:rPr lang="en-US" altLang="zh-CN" dirty="0">
                <a:solidFill>
                  <a:srgbClr val="0000FF"/>
                </a:solidFill>
              </a:rPr>
              <a:t>200215128', '1'); 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/>
              <a:t>或</a:t>
            </a:r>
          </a:p>
          <a:p>
            <a:pPr eaLnBrk="1" hangingPunct="1">
              <a:buNone/>
            </a:pPr>
            <a:r>
              <a:rPr lang="en-US" altLang="zh-CN" dirty="0"/>
              <a:t>INSERT INTO SC     </a:t>
            </a:r>
            <a:r>
              <a:rPr lang="en-US" altLang="zh-CN" dirty="0">
                <a:solidFill>
                  <a:srgbClr val="006600"/>
                </a:solidFill>
              </a:rPr>
              <a:t>//</a:t>
            </a:r>
            <a:r>
              <a:rPr lang="zh-CN" altLang="en-US" b="1" dirty="0">
                <a:solidFill>
                  <a:srgbClr val="006600"/>
                </a:solidFill>
              </a:rPr>
              <a:t>只有表名无属性列名</a:t>
            </a:r>
            <a:br>
              <a:rPr lang="en-US" altLang="zh-CN" b="1" dirty="0">
                <a:solidFill>
                  <a:srgbClr val="006600"/>
                </a:solidFill>
              </a:rPr>
            </a:br>
            <a:r>
              <a:rPr lang="en-US" altLang="zh-CN" b="1" dirty="0">
                <a:solidFill>
                  <a:srgbClr val="006600"/>
                </a:solidFill>
              </a:rPr>
              <a:t>          </a:t>
            </a:r>
            <a:r>
              <a:rPr lang="en-US" altLang="zh-CN" dirty="0"/>
              <a:t>VALUES (</a:t>
            </a:r>
            <a:r>
              <a:rPr lang="en-US" altLang="zh-CN" dirty="0">
                <a:latin typeface="Arial" charset="0"/>
              </a:rPr>
              <a:t>‘</a:t>
            </a:r>
            <a:r>
              <a:rPr lang="en-US" altLang="zh-CN" dirty="0"/>
              <a:t>200215128</a:t>
            </a:r>
            <a:r>
              <a:rPr lang="en-US" altLang="zh-CN" dirty="0">
                <a:latin typeface="Arial" charset="0"/>
              </a:rPr>
              <a:t>’</a:t>
            </a:r>
            <a:r>
              <a:rPr lang="en-US" altLang="zh-CN" dirty="0"/>
              <a:t>, </a:t>
            </a:r>
            <a:r>
              <a:rPr lang="en-US" altLang="zh-CN" dirty="0">
                <a:latin typeface="Arial" charset="0"/>
              </a:rPr>
              <a:t>‘</a:t>
            </a:r>
            <a:r>
              <a:rPr lang="en-US" altLang="zh-CN" dirty="0"/>
              <a:t>1</a:t>
            </a:r>
            <a:r>
              <a:rPr lang="en-US" altLang="zh-CN" dirty="0">
                <a:latin typeface="Arial" charset="0"/>
              </a:rPr>
              <a:t>’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0000FF"/>
                </a:solidFill>
              </a:rPr>
              <a:t>NULL</a:t>
            </a:r>
            <a:r>
              <a:rPr lang="en-US" altLang="zh-CN" dirty="0"/>
              <a:t>);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0450B4A-D570-E201-942E-82A3F85A2640}"/>
              </a:ext>
            </a:extLst>
          </p:cNvPr>
          <p:cNvSpPr txBox="1"/>
          <p:nvPr/>
        </p:nvSpPr>
        <p:spPr>
          <a:xfrm>
            <a:off x="2286000" y="5105400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VALUES</a:t>
            </a:r>
            <a:r>
              <a:rPr lang="zh-CN" altLang="en-US" dirty="0"/>
              <a:t>子句后</a:t>
            </a:r>
            <a:r>
              <a:rPr lang="zh-CN" altLang="en-US" dirty="0">
                <a:solidFill>
                  <a:srgbClr val="C00000"/>
                </a:solidFill>
              </a:rPr>
              <a:t>值</a:t>
            </a:r>
            <a:r>
              <a:rPr lang="zh-CN" altLang="en-US" dirty="0"/>
              <a:t>与关系</a:t>
            </a:r>
            <a:r>
              <a:rPr lang="en-US" altLang="zh-CN" dirty="0"/>
              <a:t>SC</a:t>
            </a:r>
            <a:r>
              <a:rPr lang="zh-CN" altLang="en-US" dirty="0"/>
              <a:t>中</a:t>
            </a:r>
            <a:r>
              <a:rPr lang="zh-CN" altLang="en-US" dirty="0">
                <a:solidFill>
                  <a:srgbClr val="0000FF"/>
                </a:solidFill>
              </a:rPr>
              <a:t>属性列的</a:t>
            </a:r>
            <a:r>
              <a:rPr lang="zh-CN" altLang="en-US" b="1" dirty="0">
                <a:solidFill>
                  <a:srgbClr val="C00000"/>
                </a:solidFill>
              </a:rPr>
              <a:t>顺序一致</a:t>
            </a:r>
            <a:endParaRPr lang="zh-CN" altLang="en-US" dirty="0"/>
          </a:p>
        </p:txBody>
      </p:sp>
      <p:sp>
        <p:nvSpPr>
          <p:cNvPr id="5" name="箭头: 上 4">
            <a:extLst>
              <a:ext uri="{FF2B5EF4-FFF2-40B4-BE49-F238E27FC236}">
                <a16:creationId xmlns:a16="http://schemas.microsoft.com/office/drawing/2014/main" id="{0D1E9231-76C7-6F43-842E-D914D739AE1E}"/>
              </a:ext>
            </a:extLst>
          </p:cNvPr>
          <p:cNvSpPr/>
          <p:nvPr/>
        </p:nvSpPr>
        <p:spPr bwMode="auto">
          <a:xfrm>
            <a:off x="4419600" y="4685447"/>
            <a:ext cx="609600" cy="304800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pitchFamily="34" charset="0"/>
            </a:endParaRP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F980CA0C-DAA0-1065-8A78-D0A0F7CD8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6769" y="3048000"/>
            <a:ext cx="1655762" cy="576263"/>
          </a:xfrm>
          <a:prstGeom prst="wedgeRectCallout">
            <a:avLst>
              <a:gd name="adj1" fmla="val -53782"/>
              <a:gd name="adj2" fmla="val -11073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dirty="0"/>
              <a:t>推荐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5B5C0D9-38C2-25BC-04DA-BF66C6453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167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25761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25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25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25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25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25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25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BD2F83D-6C6A-4CAC-A71B-5CB9564036F0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5462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54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3.5.2 </a:t>
            </a:r>
            <a:r>
              <a:rPr lang="zh-CN" altLang="en-US" dirty="0"/>
              <a:t>插入数据</a:t>
            </a:r>
          </a:p>
        </p:txBody>
      </p:sp>
      <p:sp>
        <p:nvSpPr>
          <p:cNvPr id="1546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dirty="0"/>
              <a:t>二、插入子查询结果</a:t>
            </a:r>
          </a:p>
          <a:p>
            <a:pPr eaLnBrk="1" hangingPunct="1"/>
            <a:r>
              <a:rPr lang="zh-CN" altLang="en-US" sz="2800" dirty="0">
                <a:solidFill>
                  <a:srgbClr val="0000FF"/>
                </a:solidFill>
              </a:rPr>
              <a:t>子查询</a:t>
            </a:r>
            <a:r>
              <a:rPr lang="zh-CN" altLang="en-US" sz="2800" dirty="0"/>
              <a:t>嵌套在</a:t>
            </a:r>
            <a:r>
              <a:rPr lang="en-US" altLang="zh-CN" sz="2800" dirty="0">
                <a:solidFill>
                  <a:srgbClr val="0000FF"/>
                </a:solidFill>
              </a:rPr>
              <a:t>INSERT</a:t>
            </a:r>
            <a:r>
              <a:rPr lang="zh-CN" altLang="en-US" sz="2800" dirty="0">
                <a:solidFill>
                  <a:srgbClr val="0000FF"/>
                </a:solidFill>
              </a:rPr>
              <a:t>语句</a:t>
            </a:r>
            <a:r>
              <a:rPr lang="zh-CN" altLang="en-US" sz="2800" dirty="0"/>
              <a:t>中，用以</a:t>
            </a:r>
            <a:r>
              <a:rPr lang="zh-CN" altLang="en-US" sz="2800" b="1" u="sng" dirty="0">
                <a:solidFill>
                  <a:srgbClr val="C00000"/>
                </a:solidFill>
              </a:rPr>
              <a:t>生成要插入的数据</a:t>
            </a:r>
            <a:r>
              <a:rPr lang="zh-CN" altLang="en-US" sz="2800" u="sng" dirty="0"/>
              <a:t>。</a:t>
            </a:r>
          </a:p>
          <a:p>
            <a:pPr eaLnBrk="1" hangingPunct="1"/>
            <a:r>
              <a:rPr lang="zh-CN" altLang="en-US" sz="2800" dirty="0"/>
              <a:t>插入子查询结果的</a:t>
            </a:r>
            <a:r>
              <a:rPr lang="en-US" altLang="zh-CN" sz="2800" dirty="0"/>
              <a:t>INSERT</a:t>
            </a:r>
            <a:r>
              <a:rPr lang="zh-CN" altLang="en-US" sz="2800" dirty="0"/>
              <a:t>语句的格式 </a:t>
            </a:r>
            <a:endParaRPr lang="en-US" altLang="zh-CN" sz="2800" dirty="0"/>
          </a:p>
          <a:p>
            <a:pPr marL="0" indent="0" eaLnBrk="1" hangingPunct="1">
              <a:buNone/>
            </a:pPr>
            <a:r>
              <a:rPr lang="en-US" altLang="zh-CN" sz="2800" dirty="0">
                <a:solidFill>
                  <a:srgbClr val="0000FF"/>
                </a:solidFill>
              </a:rPr>
              <a:t>INSERT INTO </a:t>
            </a:r>
            <a:r>
              <a:rPr lang="en-US" altLang="zh-CN" sz="2800" dirty="0"/>
              <a:t>&lt;</a:t>
            </a:r>
            <a:r>
              <a:rPr lang="zh-CN" altLang="en-US" sz="2800" dirty="0">
                <a:solidFill>
                  <a:srgbClr val="C00000"/>
                </a:solidFill>
              </a:rPr>
              <a:t>表名</a:t>
            </a:r>
            <a:r>
              <a:rPr lang="en-US" altLang="zh-CN" sz="2800" dirty="0"/>
              <a:t>&gt; (&lt;</a:t>
            </a:r>
            <a:r>
              <a:rPr lang="zh-CN" altLang="en-US" sz="2800" dirty="0"/>
              <a:t>属性列</a:t>
            </a:r>
            <a:r>
              <a:rPr lang="en-US" altLang="zh-CN" sz="2800" dirty="0"/>
              <a:t>1&gt; [,&lt;</a:t>
            </a:r>
            <a:r>
              <a:rPr lang="zh-CN" altLang="en-US" sz="2800" dirty="0"/>
              <a:t>属性列</a:t>
            </a:r>
            <a:r>
              <a:rPr lang="en-US" altLang="zh-CN" sz="2800" dirty="0"/>
              <a:t>2&gt;...]) </a:t>
            </a:r>
            <a:br>
              <a:rPr lang="en-US" altLang="zh-CN" sz="2800" dirty="0"/>
            </a:br>
            <a:r>
              <a:rPr lang="en-US" altLang="zh-CN" sz="2800" dirty="0"/>
              <a:t>	</a:t>
            </a:r>
            <a:r>
              <a:rPr lang="zh-CN" altLang="en-US" sz="2800" b="1" dirty="0">
                <a:solidFill>
                  <a:srgbClr val="FF0000"/>
                </a:solidFill>
              </a:rPr>
              <a:t>子查询</a:t>
            </a:r>
            <a:r>
              <a:rPr lang="en-US" altLang="zh-CN" sz="2800" dirty="0"/>
              <a:t>;</a:t>
            </a:r>
          </a:p>
          <a:p>
            <a:pPr eaLnBrk="1" hangingPunct="1"/>
            <a:r>
              <a:rPr lang="zh-CN" altLang="en-US" sz="2800" dirty="0"/>
              <a:t>实现</a:t>
            </a:r>
            <a:r>
              <a:rPr lang="zh-CN" altLang="en-US" sz="2800" b="1" dirty="0">
                <a:solidFill>
                  <a:srgbClr val="0000FF"/>
                </a:solidFill>
              </a:rPr>
              <a:t>批量插入  </a:t>
            </a:r>
            <a:r>
              <a:rPr lang="zh-CN" altLang="en-US" sz="2800" dirty="0"/>
              <a:t>一次将子查询的结果全部插入指定表中。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28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3FA6859-A0DF-9B90-662D-EEB8CFE54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168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4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4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46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46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46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46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FA9B8E4-DBF0-4C12-903F-C5458983B6BB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5565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556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3.5.2 </a:t>
            </a:r>
            <a:r>
              <a:rPr lang="zh-CN" altLang="en-US" dirty="0"/>
              <a:t>插入数据</a:t>
            </a:r>
          </a:p>
        </p:txBody>
      </p:sp>
      <p:sp>
        <p:nvSpPr>
          <p:cNvPr id="1556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u="sng" dirty="0"/>
              <a:t>例</a:t>
            </a:r>
            <a:r>
              <a:rPr lang="en-US" altLang="zh-CN" sz="2800" u="sng" dirty="0"/>
              <a:t>4 </a:t>
            </a:r>
            <a:r>
              <a:rPr lang="zh-CN" altLang="en-US" sz="2800" u="sng" dirty="0"/>
              <a:t>对</a:t>
            </a:r>
            <a:r>
              <a:rPr lang="zh-CN" altLang="en-US" sz="2800" u="sng" dirty="0">
                <a:solidFill>
                  <a:srgbClr val="0000FF"/>
                </a:solidFill>
              </a:rPr>
              <a:t>每一个系</a:t>
            </a:r>
            <a:r>
              <a:rPr lang="zh-CN" altLang="en-US" sz="2800" u="sng" dirty="0"/>
              <a:t>，</a:t>
            </a:r>
            <a:r>
              <a:rPr lang="zh-CN" altLang="en-US" sz="2800" u="sng" dirty="0">
                <a:solidFill>
                  <a:srgbClr val="0000FF"/>
                </a:solidFill>
              </a:rPr>
              <a:t>求学生人数</a:t>
            </a:r>
            <a:r>
              <a:rPr lang="zh-CN" altLang="en-US" sz="2800" u="sng" dirty="0"/>
              <a:t>及</a:t>
            </a:r>
            <a:r>
              <a:rPr lang="zh-CN" altLang="en-US" sz="2800" u="sng" dirty="0">
                <a:solidFill>
                  <a:srgbClr val="0000FF"/>
                </a:solidFill>
              </a:rPr>
              <a:t>平均年龄</a:t>
            </a:r>
            <a:r>
              <a:rPr lang="zh-CN" altLang="en-US" sz="2800" u="sng" dirty="0"/>
              <a:t>，并把结果</a:t>
            </a:r>
            <a:r>
              <a:rPr lang="zh-CN" altLang="en-US" sz="2800" u="sng" dirty="0">
                <a:solidFill>
                  <a:srgbClr val="0000FF"/>
                </a:solidFill>
              </a:rPr>
              <a:t>存入</a:t>
            </a:r>
            <a:r>
              <a:rPr lang="zh-CN" altLang="en-US" sz="2800" u="sng" dirty="0"/>
              <a:t>数据库。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8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对于这道题，首先要在数据库中</a:t>
            </a:r>
            <a:r>
              <a:rPr lang="zh-CN" altLang="en-US" sz="2800" dirty="0">
                <a:solidFill>
                  <a:srgbClr val="FF0000"/>
                </a:solidFill>
              </a:rPr>
              <a:t>建立</a:t>
            </a:r>
            <a:r>
              <a:rPr lang="zh-CN" altLang="en-US" sz="2800" dirty="0"/>
              <a:t>一个</a:t>
            </a:r>
            <a:r>
              <a:rPr lang="zh-CN" altLang="en-US" sz="2800" dirty="0">
                <a:solidFill>
                  <a:srgbClr val="0000FF"/>
                </a:solidFill>
              </a:rPr>
              <a:t>新表</a:t>
            </a:r>
            <a:r>
              <a:rPr lang="zh-CN" altLang="en-US" sz="2800" dirty="0">
                <a:solidFill>
                  <a:srgbClr val="000080"/>
                </a:solidFill>
              </a:rPr>
              <a:t>，</a:t>
            </a:r>
            <a:r>
              <a:rPr lang="zh-CN" altLang="en-US" sz="2800" dirty="0"/>
              <a:t>其中一列存放</a:t>
            </a:r>
            <a:r>
              <a:rPr lang="zh-CN" altLang="en-US" sz="2800" dirty="0">
                <a:solidFill>
                  <a:srgbClr val="FF0000"/>
                </a:solidFill>
              </a:rPr>
              <a:t>系名</a:t>
            </a:r>
            <a:r>
              <a:rPr lang="zh-CN" altLang="en-US" sz="2800" dirty="0">
                <a:solidFill>
                  <a:srgbClr val="000080"/>
                </a:solidFill>
              </a:rPr>
              <a:t>，</a:t>
            </a:r>
            <a:r>
              <a:rPr lang="zh-CN" altLang="en-US" sz="2800" dirty="0"/>
              <a:t>一列存放相应系的</a:t>
            </a:r>
            <a:r>
              <a:rPr lang="zh-CN" altLang="en-US" sz="2800" dirty="0">
                <a:solidFill>
                  <a:srgbClr val="FF0000"/>
                </a:solidFill>
              </a:rPr>
              <a:t>学生人数</a:t>
            </a:r>
            <a:r>
              <a:rPr lang="zh-CN" altLang="en-US" sz="2800" dirty="0">
                <a:solidFill>
                  <a:srgbClr val="000080"/>
                </a:solidFill>
              </a:rPr>
              <a:t>，</a:t>
            </a:r>
            <a:r>
              <a:rPr lang="zh-CN" altLang="en-US" sz="2800" dirty="0"/>
              <a:t>一列存放学生的</a:t>
            </a:r>
            <a:r>
              <a:rPr lang="zh-CN" altLang="en-US" sz="2800" dirty="0">
                <a:solidFill>
                  <a:srgbClr val="FF0000"/>
                </a:solidFill>
              </a:rPr>
              <a:t>平均年龄</a:t>
            </a:r>
            <a:r>
              <a:rPr lang="zh-CN" altLang="en-US" sz="2800" dirty="0">
                <a:solidFill>
                  <a:srgbClr val="000080"/>
                </a:solidFill>
              </a:rPr>
              <a:t>。 </a:t>
            </a:r>
            <a:br>
              <a:rPr lang="zh-CN" altLang="en-US" sz="2800" dirty="0">
                <a:solidFill>
                  <a:srgbClr val="000080"/>
                </a:solidFill>
              </a:rPr>
            </a:br>
            <a:endParaRPr lang="zh-CN" altLang="en-US" sz="2800" dirty="0">
              <a:solidFill>
                <a:srgbClr val="000080"/>
              </a:solidFill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>
                <a:solidFill>
                  <a:srgbClr val="000080"/>
                </a:solidFill>
              </a:rPr>
              <a:t>   </a:t>
            </a:r>
            <a:r>
              <a:rPr lang="en-US" altLang="zh-CN" sz="2800" dirty="0">
                <a:solidFill>
                  <a:srgbClr val="000080"/>
                </a:solidFill>
              </a:rPr>
              <a:t>CREATE TABLE </a:t>
            </a:r>
            <a:r>
              <a:rPr lang="en-US" altLang="zh-CN" sz="2800" dirty="0" err="1">
                <a:solidFill>
                  <a:srgbClr val="000080"/>
                </a:solidFill>
              </a:rPr>
              <a:t>Deptage</a:t>
            </a:r>
            <a:r>
              <a:rPr lang="en-US" altLang="zh-CN" sz="2800" dirty="0">
                <a:solidFill>
                  <a:srgbClr val="000080"/>
                </a:solidFill>
              </a:rPr>
              <a:t> </a:t>
            </a:r>
            <a:br>
              <a:rPr lang="en-US" altLang="zh-CN" sz="2800" dirty="0">
                <a:solidFill>
                  <a:srgbClr val="000080"/>
                </a:solidFill>
              </a:rPr>
            </a:br>
            <a:r>
              <a:rPr lang="en-US" altLang="zh-CN" sz="2800" dirty="0">
                <a:solidFill>
                  <a:srgbClr val="000080"/>
                </a:solidFill>
                <a:latin typeface="Arial" charset="0"/>
              </a:rPr>
              <a:t>     </a:t>
            </a:r>
            <a:r>
              <a:rPr lang="en-US" altLang="zh-CN" sz="2800" dirty="0">
                <a:solidFill>
                  <a:srgbClr val="000080"/>
                </a:solidFill>
              </a:rPr>
              <a:t> (</a:t>
            </a:r>
            <a:r>
              <a:rPr lang="en-US" altLang="zh-CN" sz="2800" dirty="0" err="1">
                <a:solidFill>
                  <a:srgbClr val="000080"/>
                </a:solidFill>
              </a:rPr>
              <a:t>Sdept</a:t>
            </a:r>
            <a:r>
              <a:rPr lang="en-US" altLang="zh-CN" sz="2800" dirty="0">
                <a:solidFill>
                  <a:srgbClr val="000080"/>
                </a:solidFill>
              </a:rPr>
              <a:t> CHAR(15),</a:t>
            </a:r>
            <a:endParaRPr lang="zh-CN" altLang="en-US" sz="2800" dirty="0">
              <a:solidFill>
                <a:srgbClr val="000080"/>
              </a:solidFill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>
                <a:solidFill>
                  <a:srgbClr val="000080"/>
                </a:solidFill>
              </a:rPr>
              <a:t>    	 </a:t>
            </a:r>
            <a:r>
              <a:rPr lang="en-US" altLang="zh-CN" sz="2800" dirty="0" err="1">
                <a:solidFill>
                  <a:srgbClr val="000080"/>
                </a:solidFill>
              </a:rPr>
              <a:t>Num</a:t>
            </a:r>
            <a:r>
              <a:rPr lang="en-US" altLang="zh-CN" sz="2800" dirty="0">
                <a:solidFill>
                  <a:srgbClr val="000080"/>
                </a:solidFill>
              </a:rPr>
              <a:t> INT, </a:t>
            </a:r>
            <a:br>
              <a:rPr lang="en-US" altLang="zh-CN" sz="2800" dirty="0">
                <a:solidFill>
                  <a:srgbClr val="000080"/>
                </a:solidFill>
              </a:rPr>
            </a:br>
            <a:r>
              <a:rPr lang="en-US" altLang="zh-CN" sz="2800" dirty="0">
                <a:solidFill>
                  <a:srgbClr val="000080"/>
                </a:solidFill>
                <a:latin typeface="Arial" charset="0"/>
              </a:rPr>
              <a:t>      </a:t>
            </a:r>
            <a:r>
              <a:rPr lang="en-US" altLang="zh-CN" sz="2800" dirty="0">
                <a:solidFill>
                  <a:srgbClr val="000080"/>
                </a:solidFill>
              </a:rPr>
              <a:t> </a:t>
            </a:r>
            <a:r>
              <a:rPr lang="en-US" altLang="zh-CN" sz="2800" dirty="0" err="1">
                <a:solidFill>
                  <a:srgbClr val="000080"/>
                </a:solidFill>
              </a:rPr>
              <a:t>Avgage</a:t>
            </a:r>
            <a:r>
              <a:rPr lang="en-US" altLang="zh-CN" sz="2800" dirty="0">
                <a:solidFill>
                  <a:srgbClr val="000080"/>
                </a:solidFill>
              </a:rPr>
              <a:t> INT); </a:t>
            </a:r>
            <a:endParaRPr lang="zh-CN" altLang="en-US" sz="28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8861551-DD32-FB67-FEF5-76ED997F5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169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56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56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56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56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56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56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1C8A4C9-FBD7-455E-B1EA-B2EFDF3B9EA6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5667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566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3.5.2 </a:t>
            </a:r>
            <a:r>
              <a:rPr lang="zh-CN" altLang="en-US" dirty="0"/>
              <a:t>插入数据</a:t>
            </a:r>
          </a:p>
        </p:txBody>
      </p:sp>
      <p:sp>
        <p:nvSpPr>
          <p:cNvPr id="1566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u="sng" dirty="0"/>
              <a:t>例</a:t>
            </a:r>
            <a:r>
              <a:rPr lang="en-US" altLang="zh-CN" sz="2800" u="sng" dirty="0"/>
              <a:t>4 </a:t>
            </a:r>
            <a:r>
              <a:rPr lang="zh-CN" altLang="en-US" sz="2800" u="sng" dirty="0"/>
              <a:t>对</a:t>
            </a:r>
            <a:r>
              <a:rPr lang="zh-CN" altLang="en-US" sz="2800" u="sng" dirty="0">
                <a:solidFill>
                  <a:srgbClr val="0000FF"/>
                </a:solidFill>
              </a:rPr>
              <a:t>每一个系</a:t>
            </a:r>
            <a:r>
              <a:rPr lang="zh-CN" altLang="en-US" sz="2800" u="sng" dirty="0"/>
              <a:t>，</a:t>
            </a:r>
            <a:r>
              <a:rPr lang="zh-CN" altLang="en-US" sz="2800" u="sng" dirty="0">
                <a:solidFill>
                  <a:srgbClr val="0000FF"/>
                </a:solidFill>
              </a:rPr>
              <a:t>求学生人数</a:t>
            </a:r>
            <a:r>
              <a:rPr lang="zh-CN" altLang="en-US" sz="2800" u="sng" dirty="0"/>
              <a:t>及</a:t>
            </a:r>
            <a:r>
              <a:rPr lang="zh-CN" altLang="en-US" sz="2800" u="sng" dirty="0">
                <a:solidFill>
                  <a:srgbClr val="0000FF"/>
                </a:solidFill>
              </a:rPr>
              <a:t>平均年龄</a:t>
            </a:r>
            <a:r>
              <a:rPr lang="zh-CN" altLang="en-US" sz="2800" u="sng" dirty="0"/>
              <a:t>，并把结果</a:t>
            </a:r>
            <a:r>
              <a:rPr lang="zh-CN" altLang="en-US" sz="2800" u="sng" dirty="0">
                <a:solidFill>
                  <a:srgbClr val="0000FF"/>
                </a:solidFill>
              </a:rPr>
              <a:t>存入</a:t>
            </a:r>
            <a:r>
              <a:rPr lang="zh-CN" altLang="en-US" sz="2800" u="sng" dirty="0"/>
              <a:t>数据库。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9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然后对数据库的</a:t>
            </a:r>
            <a:r>
              <a:rPr lang="en-US" altLang="zh-CN" sz="2800" dirty="0">
                <a:solidFill>
                  <a:srgbClr val="0000FF"/>
                </a:solidFill>
              </a:rPr>
              <a:t>Student</a:t>
            </a:r>
            <a:r>
              <a:rPr lang="zh-CN" altLang="en-US" sz="2800" dirty="0">
                <a:solidFill>
                  <a:srgbClr val="0000FF"/>
                </a:solidFill>
              </a:rPr>
              <a:t>表</a:t>
            </a:r>
            <a:r>
              <a:rPr lang="zh-CN" altLang="en-US" sz="2800" dirty="0"/>
              <a:t>按</a:t>
            </a:r>
            <a:r>
              <a:rPr lang="zh-CN" altLang="en-US" sz="2800" dirty="0">
                <a:solidFill>
                  <a:srgbClr val="C00000"/>
                </a:solidFill>
              </a:rPr>
              <a:t>系</a:t>
            </a:r>
            <a:r>
              <a:rPr lang="zh-CN" altLang="en-US" sz="2800" b="1" dirty="0">
                <a:solidFill>
                  <a:srgbClr val="000080"/>
                </a:solidFill>
              </a:rPr>
              <a:t>分组</a:t>
            </a:r>
            <a:r>
              <a:rPr lang="zh-CN" altLang="en-US" sz="2800" dirty="0"/>
              <a:t>求学生人数、平均年龄</a:t>
            </a:r>
            <a:endParaRPr lang="en-US" altLang="zh-CN" sz="2800" dirty="0">
              <a:solidFill>
                <a:srgbClr val="00008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再把系名、学生人数和平均年龄存入新表中。 </a:t>
            </a:r>
            <a:br>
              <a:rPr lang="zh-CN" altLang="en-US" sz="2800" dirty="0">
                <a:solidFill>
                  <a:srgbClr val="000080"/>
                </a:solidFill>
              </a:rPr>
            </a:br>
            <a:endParaRPr lang="zh-CN" altLang="en-US" sz="2800" dirty="0">
              <a:solidFill>
                <a:srgbClr val="000080"/>
              </a:solidFill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80"/>
                </a:solidFill>
              </a:rPr>
              <a:t>	</a:t>
            </a:r>
            <a:r>
              <a:rPr lang="en-US" altLang="zh-CN" sz="2800" dirty="0">
                <a:solidFill>
                  <a:srgbClr val="0000FF"/>
                </a:solidFill>
              </a:rPr>
              <a:t>INSERT INTO </a:t>
            </a:r>
            <a:r>
              <a:rPr lang="en-US" altLang="zh-CN" sz="2800" dirty="0" err="1">
                <a:solidFill>
                  <a:srgbClr val="C00000"/>
                </a:solidFill>
              </a:rPr>
              <a:t>Deptage</a:t>
            </a:r>
            <a:r>
              <a:rPr lang="en-US" altLang="zh-CN" sz="2800" dirty="0">
                <a:solidFill>
                  <a:srgbClr val="000080"/>
                </a:solidFill>
              </a:rPr>
              <a:t>(</a:t>
            </a:r>
            <a:r>
              <a:rPr lang="en-US" altLang="zh-CN" sz="2800" dirty="0" err="1">
                <a:solidFill>
                  <a:srgbClr val="006600"/>
                </a:solidFill>
              </a:rPr>
              <a:t>Sdept</a:t>
            </a:r>
            <a:r>
              <a:rPr lang="en-US" altLang="zh-CN" sz="2800" dirty="0">
                <a:solidFill>
                  <a:srgbClr val="000080"/>
                </a:solidFill>
              </a:rPr>
              <a:t>, </a:t>
            </a:r>
            <a:r>
              <a:rPr lang="en-US" altLang="zh-CN" sz="2800" dirty="0" err="1">
                <a:solidFill>
                  <a:srgbClr val="000080"/>
                </a:solidFill>
              </a:rPr>
              <a:t>Num</a:t>
            </a:r>
            <a:r>
              <a:rPr lang="en-US" altLang="zh-CN" sz="2800" dirty="0">
                <a:solidFill>
                  <a:srgbClr val="000080"/>
                </a:solidFill>
              </a:rPr>
              <a:t>, </a:t>
            </a:r>
            <a:r>
              <a:rPr lang="en-US" altLang="zh-CN" sz="2800" dirty="0" err="1">
                <a:solidFill>
                  <a:srgbClr val="800080"/>
                </a:solidFill>
              </a:rPr>
              <a:t>Avgage</a:t>
            </a:r>
            <a:r>
              <a:rPr lang="en-US" altLang="zh-CN" sz="2800" dirty="0">
                <a:solidFill>
                  <a:srgbClr val="000080"/>
                </a:solidFill>
              </a:rPr>
              <a:t>)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80"/>
                </a:solidFill>
                <a:latin typeface="Arial" charset="0"/>
              </a:rPr>
              <a:t>     </a:t>
            </a:r>
            <a:r>
              <a:rPr lang="en-US" altLang="zh-CN" sz="2800" dirty="0"/>
              <a:t> SELECT </a:t>
            </a:r>
            <a:r>
              <a:rPr lang="en-US" altLang="zh-CN" sz="2800" dirty="0" err="1">
                <a:solidFill>
                  <a:srgbClr val="C00000"/>
                </a:solidFill>
              </a:rPr>
              <a:t>Sdept</a:t>
            </a:r>
            <a:r>
              <a:rPr lang="en-US" altLang="zh-CN" sz="2800" dirty="0">
                <a:solidFill>
                  <a:srgbClr val="006600"/>
                </a:solidFill>
              </a:rPr>
              <a:t>, </a:t>
            </a:r>
            <a:r>
              <a:rPr lang="en-US" altLang="zh-CN" sz="2800" i="1" dirty="0">
                <a:solidFill>
                  <a:srgbClr val="000080"/>
                </a:solidFill>
              </a:rPr>
              <a:t>COUNT(*), </a:t>
            </a:r>
            <a:r>
              <a:rPr lang="en-US" altLang="zh-CN" sz="2800" i="1" dirty="0">
                <a:solidFill>
                  <a:srgbClr val="800080"/>
                </a:solidFill>
              </a:rPr>
              <a:t>AVG </a:t>
            </a:r>
            <a:r>
              <a:rPr lang="en-US" altLang="zh-CN" sz="2800" dirty="0">
                <a:solidFill>
                  <a:srgbClr val="800080"/>
                </a:solidFill>
              </a:rPr>
              <a:t>(Sage)</a:t>
            </a:r>
            <a:r>
              <a:rPr lang="en-US" altLang="zh-CN" sz="2800" dirty="0">
                <a:solidFill>
                  <a:srgbClr val="006600"/>
                </a:solidFill>
              </a:rPr>
              <a:t> </a:t>
            </a:r>
            <a:br>
              <a:rPr lang="en-US" altLang="zh-CN" sz="2800" dirty="0">
                <a:solidFill>
                  <a:srgbClr val="006600"/>
                </a:solidFill>
              </a:rPr>
            </a:br>
            <a:r>
              <a:rPr lang="en-US" altLang="zh-CN" sz="2800" dirty="0">
                <a:solidFill>
                  <a:srgbClr val="006600"/>
                </a:solidFill>
                <a:latin typeface="Arial" charset="0"/>
              </a:rPr>
              <a:t>   </a:t>
            </a:r>
            <a:r>
              <a:rPr lang="en-US" altLang="zh-CN" sz="2800" dirty="0"/>
              <a:t>FROM Student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/>
              <a:t>      GROUP BY </a:t>
            </a:r>
            <a:r>
              <a:rPr lang="en-US" altLang="zh-CN" sz="2800" dirty="0" err="1"/>
              <a:t>Sdept</a:t>
            </a:r>
            <a:r>
              <a:rPr lang="en-US" altLang="zh-CN" sz="2800" dirty="0"/>
              <a:t>;</a:t>
            </a:r>
            <a:endParaRPr lang="zh-CN" altLang="en-US" sz="28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D8C726E-E11F-F030-C093-FF7A1D1B3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170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66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66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66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66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66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66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66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66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13D20C8-B8D0-4D93-979A-03DA460F8496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5769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577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3.5.3 </a:t>
            </a:r>
            <a:r>
              <a:rPr lang="zh-CN" altLang="en-US" dirty="0"/>
              <a:t>修改数据</a:t>
            </a:r>
          </a:p>
        </p:txBody>
      </p:sp>
      <p:sp>
        <p:nvSpPr>
          <p:cNvPr id="1577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</a:rPr>
              <a:t>更新操作</a:t>
            </a:r>
            <a:r>
              <a:rPr lang="zh-CN" altLang="en-US" sz="2800" dirty="0"/>
              <a:t>，</a:t>
            </a:r>
            <a:r>
              <a:rPr lang="en-US" altLang="zh-CN" sz="2800" dirty="0">
                <a:solidFill>
                  <a:srgbClr val="C00000"/>
                </a:solidFill>
              </a:rPr>
              <a:t>UPDATE</a:t>
            </a:r>
            <a:r>
              <a:rPr lang="zh-CN" altLang="en-US" sz="2800" dirty="0">
                <a:solidFill>
                  <a:srgbClr val="C00000"/>
                </a:solidFill>
              </a:rPr>
              <a:t>语句</a:t>
            </a:r>
          </a:p>
          <a:p>
            <a:pPr eaLnBrk="1" hangingPunct="1"/>
            <a:r>
              <a:rPr lang="zh-CN" altLang="en-US" sz="2800" dirty="0"/>
              <a:t>格式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	UPDATE</a:t>
            </a:r>
            <a:r>
              <a:rPr lang="en-US" altLang="zh-CN" sz="2800" dirty="0"/>
              <a:t> &lt;</a:t>
            </a:r>
            <a:r>
              <a:rPr lang="zh-CN" altLang="en-US" sz="2800" dirty="0"/>
              <a:t>表名</a:t>
            </a:r>
            <a:r>
              <a:rPr lang="en-US" altLang="zh-CN" sz="2800" dirty="0"/>
              <a:t>&gt; </a:t>
            </a:r>
            <a:r>
              <a:rPr lang="zh-CN" altLang="en-US" sz="2800" dirty="0"/>
              <a:t>　 </a:t>
            </a:r>
            <a:br>
              <a:rPr lang="zh-CN" altLang="en-US" sz="2800" dirty="0"/>
            </a:br>
            <a:r>
              <a:rPr lang="en-US" altLang="zh-CN" sz="2800" dirty="0">
                <a:solidFill>
                  <a:srgbClr val="FF0000"/>
                </a:solidFill>
              </a:rPr>
              <a:t>SET</a:t>
            </a:r>
            <a:r>
              <a:rPr lang="en-US" altLang="zh-CN" sz="2800" dirty="0"/>
              <a:t> &lt;</a:t>
            </a:r>
            <a:r>
              <a:rPr lang="zh-CN" altLang="en-US" sz="2800" dirty="0">
                <a:solidFill>
                  <a:srgbClr val="0000FF"/>
                </a:solidFill>
              </a:rPr>
              <a:t>列名</a:t>
            </a:r>
            <a:r>
              <a:rPr lang="en-US" altLang="zh-CN" sz="2800" dirty="0"/>
              <a:t>&gt;=&lt;</a:t>
            </a:r>
            <a:r>
              <a:rPr lang="zh-CN" altLang="en-US" sz="2800" dirty="0">
                <a:solidFill>
                  <a:srgbClr val="0000FF"/>
                </a:solidFill>
              </a:rPr>
              <a:t>表达式</a:t>
            </a:r>
            <a:r>
              <a:rPr lang="en-US" altLang="zh-CN" sz="2800" dirty="0"/>
              <a:t>&gt;[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altLang="zh-CN" sz="2800" dirty="0"/>
              <a:t>&lt;</a:t>
            </a:r>
            <a:r>
              <a:rPr lang="zh-CN" altLang="en-US" sz="2800" dirty="0"/>
              <a:t>列名</a:t>
            </a:r>
            <a:r>
              <a:rPr lang="en-US" altLang="zh-CN" sz="2800" dirty="0"/>
              <a:t>&gt;=&lt;</a:t>
            </a:r>
            <a:r>
              <a:rPr lang="zh-CN" altLang="en-US" sz="2800" dirty="0"/>
              <a:t>表达式</a:t>
            </a:r>
            <a:r>
              <a:rPr lang="en-US" altLang="zh-CN" sz="2800" dirty="0"/>
              <a:t>&gt;]... </a:t>
            </a:r>
            <a:br>
              <a:rPr lang="en-US" altLang="zh-CN" sz="2800" dirty="0"/>
            </a:br>
            <a:r>
              <a:rPr lang="en-US" altLang="zh-CN" sz="2800" dirty="0"/>
              <a:t>[</a:t>
            </a:r>
            <a:r>
              <a:rPr lang="en-US" altLang="zh-CN" sz="2800" dirty="0">
                <a:solidFill>
                  <a:srgbClr val="FF0000"/>
                </a:solidFill>
              </a:rPr>
              <a:t>WHERE</a:t>
            </a:r>
            <a:r>
              <a:rPr lang="en-US" altLang="zh-CN" sz="2800" dirty="0"/>
              <a:t> &lt;</a:t>
            </a:r>
            <a:r>
              <a:rPr lang="zh-CN" altLang="en-US" sz="2800" dirty="0"/>
              <a:t>条件</a:t>
            </a:r>
            <a:r>
              <a:rPr lang="en-US" altLang="zh-CN" sz="2800" dirty="0"/>
              <a:t>&gt;];</a:t>
            </a:r>
          </a:p>
          <a:p>
            <a:pPr eaLnBrk="1" hangingPunct="1"/>
            <a:r>
              <a:rPr lang="zh-CN" altLang="en-US" sz="2800" dirty="0"/>
              <a:t>其功能是</a:t>
            </a:r>
            <a:r>
              <a:rPr lang="zh-CN" altLang="en-US" sz="2800" b="1" dirty="0">
                <a:solidFill>
                  <a:srgbClr val="0000FF"/>
                </a:solidFill>
              </a:rPr>
              <a:t>修改</a:t>
            </a:r>
            <a:r>
              <a:rPr lang="zh-CN" altLang="en-US" sz="2800" b="1" dirty="0"/>
              <a:t>指定表中</a:t>
            </a:r>
            <a:r>
              <a:rPr lang="zh-CN" altLang="en-US" sz="2800" b="1" dirty="0">
                <a:solidFill>
                  <a:srgbClr val="0000FF"/>
                </a:solidFill>
              </a:rPr>
              <a:t>满足</a:t>
            </a:r>
            <a:r>
              <a:rPr lang="en-US" altLang="zh-CN" sz="2800" b="1" dirty="0">
                <a:solidFill>
                  <a:srgbClr val="0000FF"/>
                </a:solidFill>
              </a:rPr>
              <a:t>WHERE</a:t>
            </a:r>
            <a:r>
              <a:rPr lang="zh-CN" altLang="en-US" sz="2800" b="1" dirty="0">
                <a:solidFill>
                  <a:srgbClr val="0000FF"/>
                </a:solidFill>
              </a:rPr>
              <a:t>子句条件</a:t>
            </a:r>
            <a:r>
              <a:rPr lang="zh-CN" altLang="en-US" sz="2800" b="1" dirty="0"/>
              <a:t>的</a:t>
            </a:r>
            <a:r>
              <a:rPr lang="zh-CN" altLang="en-US" sz="2800" b="1" dirty="0">
                <a:solidFill>
                  <a:srgbClr val="C00000"/>
                </a:solidFill>
              </a:rPr>
              <a:t>元组</a:t>
            </a:r>
            <a:r>
              <a:rPr lang="zh-CN" altLang="en-US" sz="2800" dirty="0"/>
              <a:t>。</a:t>
            </a:r>
          </a:p>
          <a:p>
            <a:pPr lvl="1" eaLnBrk="1" hangingPunct="1"/>
            <a:r>
              <a:rPr lang="en-US" altLang="zh-CN" dirty="0">
                <a:solidFill>
                  <a:srgbClr val="0000FF"/>
                </a:solidFill>
              </a:rPr>
              <a:t>SET</a:t>
            </a:r>
            <a:r>
              <a:rPr lang="zh-CN" altLang="en-US" dirty="0">
                <a:solidFill>
                  <a:srgbClr val="0000FF"/>
                </a:solidFill>
              </a:rPr>
              <a:t>子句</a:t>
            </a:r>
            <a:r>
              <a:rPr lang="zh-CN" altLang="en-US" dirty="0"/>
              <a:t>用于</a:t>
            </a:r>
            <a:r>
              <a:rPr lang="zh-CN" altLang="en-US" u="sng" dirty="0">
                <a:solidFill>
                  <a:srgbClr val="C00000"/>
                </a:solidFill>
              </a:rPr>
              <a:t>指定修改方法</a:t>
            </a:r>
            <a:r>
              <a:rPr lang="zh-CN" altLang="en-US" dirty="0"/>
              <a:t>，即用</a:t>
            </a:r>
            <a:r>
              <a:rPr lang="en-US" altLang="zh-CN" dirty="0">
                <a:solidFill>
                  <a:srgbClr val="0000FF"/>
                </a:solidFill>
              </a:rPr>
              <a:t>&lt;</a:t>
            </a:r>
            <a:r>
              <a:rPr lang="zh-CN" altLang="en-US" dirty="0">
                <a:solidFill>
                  <a:srgbClr val="0000FF"/>
                </a:solidFill>
              </a:rPr>
              <a:t>表达式</a:t>
            </a:r>
            <a:r>
              <a:rPr lang="en-US" altLang="zh-CN" dirty="0">
                <a:solidFill>
                  <a:srgbClr val="0000FF"/>
                </a:solidFill>
              </a:rPr>
              <a:t>&gt;</a:t>
            </a:r>
            <a:r>
              <a:rPr lang="zh-CN" altLang="en-US" dirty="0"/>
              <a:t>的值</a:t>
            </a:r>
            <a:r>
              <a:rPr lang="zh-CN" altLang="en-US" b="1" u="sng" dirty="0">
                <a:solidFill>
                  <a:srgbClr val="FF0000"/>
                </a:solidFill>
              </a:rPr>
              <a:t>取代</a:t>
            </a:r>
            <a:r>
              <a:rPr lang="zh-CN" altLang="en-US" dirty="0"/>
              <a:t>相应的</a:t>
            </a:r>
            <a:r>
              <a:rPr lang="zh-CN" altLang="en-US" dirty="0">
                <a:solidFill>
                  <a:srgbClr val="0000FF"/>
                </a:solidFill>
              </a:rPr>
              <a:t>属性列值</a:t>
            </a:r>
            <a:r>
              <a:rPr lang="zh-CN" altLang="en-US" dirty="0"/>
              <a:t>。</a:t>
            </a:r>
            <a:endParaRPr lang="zh-CN" altLang="en-US" sz="24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4B9554B-D5A8-1CA9-FCC4-3A0BD8BE0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171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77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77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77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77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77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77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E168DBF-BC44-4ED4-A2C5-0E430CFE5BF8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5872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587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3.5.3 </a:t>
            </a:r>
            <a:r>
              <a:rPr lang="zh-CN" altLang="en-US" dirty="0"/>
              <a:t>修改数据</a:t>
            </a:r>
          </a:p>
        </p:txBody>
      </p:sp>
      <p:sp>
        <p:nvSpPr>
          <p:cNvPr id="1587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b="1" dirty="0">
                <a:solidFill>
                  <a:srgbClr val="0000FF"/>
                </a:solidFill>
              </a:rPr>
              <a:t>修改某一个元组的值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8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/>
              <a:t>例</a:t>
            </a:r>
            <a:r>
              <a:rPr lang="en-US" altLang="zh-CN" sz="2800" dirty="0"/>
              <a:t>5  </a:t>
            </a:r>
            <a:r>
              <a:rPr lang="zh-CN" altLang="en-US" sz="2800" dirty="0"/>
              <a:t>将学生</a:t>
            </a:r>
            <a:r>
              <a:rPr lang="en-US" altLang="zh-CN" sz="2800" dirty="0"/>
              <a:t>200215121</a:t>
            </a:r>
            <a:r>
              <a:rPr lang="zh-CN" altLang="en-US" sz="2800" dirty="0"/>
              <a:t>的年龄改为</a:t>
            </a:r>
            <a:r>
              <a:rPr lang="en-US" altLang="zh-CN" sz="2800" dirty="0"/>
              <a:t>22</a:t>
            </a:r>
            <a:r>
              <a:rPr lang="zh-CN" altLang="en-US" sz="2800" dirty="0"/>
              <a:t>岁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80"/>
                </a:solidFill>
              </a:rPr>
              <a:t>	</a:t>
            </a:r>
            <a:r>
              <a:rPr lang="en-US" altLang="zh-CN" sz="2800" dirty="0">
                <a:solidFill>
                  <a:srgbClr val="C00000"/>
                </a:solidFill>
              </a:rPr>
              <a:t>UPDATE</a:t>
            </a:r>
            <a:r>
              <a:rPr lang="en-US" altLang="zh-CN" sz="2800" dirty="0">
                <a:solidFill>
                  <a:srgbClr val="000080"/>
                </a:solidFill>
              </a:rPr>
              <a:t> Student </a:t>
            </a:r>
            <a:br>
              <a:rPr lang="en-US" altLang="zh-CN" sz="2800" dirty="0">
                <a:solidFill>
                  <a:srgbClr val="000080"/>
                </a:solidFill>
              </a:rPr>
            </a:br>
            <a:r>
              <a:rPr lang="en-US" altLang="zh-CN" sz="2800" dirty="0">
                <a:solidFill>
                  <a:srgbClr val="C00000"/>
                </a:solidFill>
              </a:rPr>
              <a:t>SET</a:t>
            </a:r>
            <a:r>
              <a:rPr lang="en-US" altLang="zh-CN" sz="2800" dirty="0">
                <a:solidFill>
                  <a:srgbClr val="000080"/>
                </a:solidFill>
              </a:rPr>
              <a:t> </a:t>
            </a:r>
            <a:r>
              <a:rPr lang="en-US" altLang="zh-CN" sz="2800" dirty="0">
                <a:solidFill>
                  <a:srgbClr val="006600"/>
                </a:solidFill>
              </a:rPr>
              <a:t>Sage</a:t>
            </a:r>
            <a:r>
              <a:rPr lang="en-US" altLang="zh-CN" sz="2800" dirty="0"/>
              <a:t>=</a:t>
            </a:r>
            <a:r>
              <a:rPr lang="en-US" altLang="zh-CN" sz="2800" dirty="0">
                <a:solidFill>
                  <a:srgbClr val="006600"/>
                </a:solidFill>
              </a:rPr>
              <a:t>22 </a:t>
            </a:r>
            <a:br>
              <a:rPr lang="en-US" altLang="zh-CN" sz="2800" dirty="0">
                <a:solidFill>
                  <a:srgbClr val="000080"/>
                </a:solidFill>
              </a:rPr>
            </a:br>
            <a:r>
              <a:rPr lang="en-US" altLang="zh-CN" sz="2800" dirty="0">
                <a:solidFill>
                  <a:srgbClr val="C00000"/>
                </a:solidFill>
              </a:rPr>
              <a:t>WHERE</a:t>
            </a:r>
            <a:r>
              <a:rPr lang="en-US" altLang="zh-CN" sz="2800" dirty="0">
                <a:solidFill>
                  <a:srgbClr val="000080"/>
                </a:solidFill>
              </a:rPr>
              <a:t> </a:t>
            </a:r>
            <a:r>
              <a:rPr lang="en-US" altLang="zh-CN" sz="2800" dirty="0" err="1">
                <a:solidFill>
                  <a:srgbClr val="000080"/>
                </a:solidFill>
              </a:rPr>
              <a:t>Sno</a:t>
            </a:r>
            <a:r>
              <a:rPr lang="en-US" altLang="zh-CN" sz="2800" dirty="0"/>
              <a:t>=</a:t>
            </a:r>
            <a:r>
              <a:rPr lang="en-US" altLang="zh-CN" sz="2800" dirty="0">
                <a:solidFill>
                  <a:srgbClr val="000080"/>
                </a:solidFill>
                <a:latin typeface="Arial" charset="0"/>
              </a:rPr>
              <a:t>‘</a:t>
            </a:r>
            <a:r>
              <a:rPr lang="en-US" altLang="zh-CN" sz="2800" dirty="0">
                <a:solidFill>
                  <a:srgbClr val="000080"/>
                </a:solidFill>
              </a:rPr>
              <a:t>200215121</a:t>
            </a:r>
            <a:r>
              <a:rPr lang="en-US" altLang="zh-CN" sz="2800" dirty="0">
                <a:solidFill>
                  <a:srgbClr val="000080"/>
                </a:solidFill>
                <a:latin typeface="Arial" charset="0"/>
              </a:rPr>
              <a:t>'</a:t>
            </a:r>
            <a:r>
              <a:rPr lang="en-US" altLang="zh-CN" sz="2800" dirty="0">
                <a:solidFill>
                  <a:srgbClr val="000080"/>
                </a:solidFill>
              </a:rPr>
              <a:t>;</a:t>
            </a:r>
            <a:r>
              <a:rPr lang="en-US" altLang="zh-CN" sz="2800" dirty="0"/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8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b="1" dirty="0">
                <a:solidFill>
                  <a:srgbClr val="0000FF"/>
                </a:solidFill>
              </a:rPr>
              <a:t>修改多个元组的值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8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/>
              <a:t>例</a:t>
            </a:r>
            <a:r>
              <a:rPr lang="en-US" altLang="zh-CN" sz="2800" dirty="0"/>
              <a:t>6  </a:t>
            </a:r>
            <a:r>
              <a:rPr lang="zh-CN" altLang="en-US" sz="2800" dirty="0"/>
              <a:t>将所有学生的年龄增加</a:t>
            </a:r>
            <a:r>
              <a:rPr lang="en-US" altLang="zh-CN" sz="2800" dirty="0"/>
              <a:t>1</a:t>
            </a:r>
            <a:r>
              <a:rPr lang="zh-CN" altLang="en-US" sz="2800" dirty="0"/>
              <a:t>岁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80"/>
                </a:solidFill>
              </a:rPr>
              <a:t>	</a:t>
            </a:r>
            <a:r>
              <a:rPr lang="en-US" altLang="zh-CN" sz="2800" dirty="0">
                <a:solidFill>
                  <a:srgbClr val="C00000"/>
                </a:solidFill>
              </a:rPr>
              <a:t>UPDATE</a:t>
            </a:r>
            <a:r>
              <a:rPr lang="en-US" altLang="zh-CN" sz="2800" dirty="0">
                <a:solidFill>
                  <a:srgbClr val="000080"/>
                </a:solidFill>
              </a:rPr>
              <a:t> Student </a:t>
            </a:r>
            <a:br>
              <a:rPr lang="en-US" altLang="zh-CN" sz="2800" dirty="0">
                <a:solidFill>
                  <a:srgbClr val="000080"/>
                </a:solidFill>
              </a:rPr>
            </a:br>
            <a:r>
              <a:rPr lang="en-US" altLang="zh-CN" sz="2800" dirty="0">
                <a:solidFill>
                  <a:srgbClr val="C00000"/>
                </a:solidFill>
              </a:rPr>
              <a:t>SET</a:t>
            </a:r>
            <a:r>
              <a:rPr lang="en-US" altLang="zh-CN" sz="2800" dirty="0">
                <a:solidFill>
                  <a:srgbClr val="000080"/>
                </a:solidFill>
              </a:rPr>
              <a:t> </a:t>
            </a:r>
            <a:r>
              <a:rPr lang="en-US" altLang="zh-CN" sz="2800" dirty="0">
                <a:solidFill>
                  <a:srgbClr val="006600"/>
                </a:solidFill>
              </a:rPr>
              <a:t>Sage=Sage+1</a:t>
            </a:r>
            <a:r>
              <a:rPr lang="en-US" altLang="zh-CN" sz="2800" dirty="0">
                <a:solidFill>
                  <a:srgbClr val="000080"/>
                </a:solidFill>
              </a:rPr>
              <a:t>;</a:t>
            </a:r>
            <a:r>
              <a:rPr lang="en-US" altLang="zh-CN" sz="2800" dirty="0"/>
              <a:t> </a:t>
            </a:r>
            <a:endParaRPr lang="zh-CN" altLang="en-US" sz="28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64955C9-B492-C651-CBA7-E3CECB848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172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87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87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87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87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87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87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87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87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87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87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FD5A6C2-1EAE-4A9E-A5AD-EF471B16278F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5974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 dirty="0"/>
              <a:t>《</a:t>
            </a:r>
            <a:r>
              <a:rPr kumimoji="0" lang="en-US" altLang="zh-CN" sz="1400" dirty="0" err="1"/>
              <a:t>数据库系统概论</a:t>
            </a:r>
            <a:r>
              <a:rPr kumimoji="0" lang="en-US" altLang="zh-CN" sz="1400" dirty="0"/>
              <a:t>》- 第3章</a:t>
            </a:r>
          </a:p>
        </p:txBody>
      </p:sp>
      <p:sp>
        <p:nvSpPr>
          <p:cNvPr id="1597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3.5.2 </a:t>
            </a:r>
            <a:r>
              <a:rPr lang="zh-CN" altLang="en-US"/>
              <a:t>修改数据</a:t>
            </a:r>
          </a:p>
        </p:txBody>
      </p:sp>
      <p:sp>
        <p:nvSpPr>
          <p:cNvPr id="1597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</a:rPr>
              <a:t>带子查询的修改语句     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lvl="1" eaLnBrk="1" hangingPunct="1"/>
            <a:r>
              <a:rPr lang="zh-CN" altLang="en-US" sz="2400" dirty="0">
                <a:solidFill>
                  <a:srgbClr val="0000FF"/>
                </a:solidFill>
              </a:rPr>
              <a:t>子查询</a:t>
            </a:r>
            <a:r>
              <a:rPr lang="zh-CN" altLang="en-US" sz="2400" dirty="0"/>
              <a:t>也可以</a:t>
            </a:r>
            <a:r>
              <a:rPr lang="zh-CN" altLang="en-US" sz="2400" dirty="0">
                <a:solidFill>
                  <a:srgbClr val="0000FF"/>
                </a:solidFill>
              </a:rPr>
              <a:t>嵌套在</a:t>
            </a:r>
            <a:r>
              <a:rPr lang="en-US" altLang="zh-CN" sz="2400" dirty="0">
                <a:solidFill>
                  <a:srgbClr val="0000FF"/>
                </a:solidFill>
              </a:rPr>
              <a:t>UPDATE</a:t>
            </a:r>
            <a:r>
              <a:rPr lang="zh-CN" altLang="en-US" sz="2400" dirty="0"/>
              <a:t>语句中，用以</a:t>
            </a:r>
            <a:r>
              <a:rPr lang="zh-CN" altLang="en-US" sz="2400" b="1" u="sng" dirty="0">
                <a:solidFill>
                  <a:srgbClr val="C00000"/>
                </a:solidFill>
              </a:rPr>
              <a:t>构造执行修改操作的条件</a:t>
            </a:r>
            <a:r>
              <a:rPr lang="zh-CN" altLang="en-US" sz="2400" u="sng" dirty="0"/>
              <a:t>。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800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/>
              <a:t>例</a:t>
            </a:r>
            <a:r>
              <a:rPr lang="en-US" altLang="zh-CN" sz="2800" dirty="0"/>
              <a:t>7 </a:t>
            </a:r>
            <a:r>
              <a:rPr lang="zh-CN" altLang="en-US" sz="2800" dirty="0"/>
              <a:t>将计算机科学系全体学生的成绩加</a:t>
            </a:r>
            <a:r>
              <a:rPr lang="en-US" altLang="zh-CN" sz="2800" dirty="0"/>
              <a:t>10</a:t>
            </a:r>
            <a:r>
              <a:rPr lang="zh-CN" altLang="en-US" sz="2800" dirty="0"/>
              <a:t>分。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UPDATE </a:t>
            </a:r>
            <a:r>
              <a:rPr lang="en-US" altLang="zh-CN" sz="2800" dirty="0">
                <a:solidFill>
                  <a:srgbClr val="FF0000"/>
                </a:solidFill>
              </a:rPr>
              <a:t>SC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SET grade=grade+10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WHERE </a:t>
            </a:r>
            <a:r>
              <a:rPr lang="en-US" altLang="zh-CN" dirty="0">
                <a:solidFill>
                  <a:srgbClr val="FF0000"/>
                </a:solidFill>
              </a:rPr>
              <a:t>'CS'</a:t>
            </a:r>
            <a:r>
              <a:rPr lang="en-US" altLang="zh-CN" sz="2800" dirty="0"/>
              <a:t>=(SELECT </a:t>
            </a:r>
            <a:r>
              <a:rPr lang="en-US" altLang="zh-CN" sz="2800" dirty="0" err="1">
                <a:solidFill>
                  <a:srgbClr val="006600"/>
                </a:solidFill>
              </a:rPr>
              <a:t>Sdept</a:t>
            </a:r>
            <a:endParaRPr lang="en-US" altLang="zh-CN" sz="2800" dirty="0">
              <a:solidFill>
                <a:srgbClr val="006600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				FROM </a:t>
            </a:r>
            <a:r>
              <a:rPr lang="en-US" altLang="zh-CN" sz="2800" dirty="0">
                <a:solidFill>
                  <a:srgbClr val="0000FF"/>
                </a:solidFill>
              </a:rPr>
              <a:t>Student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				WHERE  </a:t>
            </a:r>
            <a:r>
              <a:rPr lang="en-US" altLang="zh-CN" sz="2800" dirty="0" err="1">
                <a:solidFill>
                  <a:srgbClr val="0000FF"/>
                </a:solidFill>
              </a:rPr>
              <a:t>Sno</a:t>
            </a:r>
            <a:r>
              <a:rPr lang="en-US" altLang="zh-CN" sz="2800" dirty="0"/>
              <a:t>=</a:t>
            </a:r>
            <a:r>
              <a:rPr lang="en-US" altLang="zh-CN" sz="2800" dirty="0" err="1">
                <a:solidFill>
                  <a:srgbClr val="FF0000"/>
                </a:solidFill>
              </a:rPr>
              <a:t>SC.Sno</a:t>
            </a:r>
            <a:r>
              <a:rPr lang="en-US" altLang="zh-CN" sz="2800" dirty="0"/>
              <a:t>);</a:t>
            </a:r>
            <a:endParaRPr lang="zh-CN" altLang="en-US" sz="2800" dirty="0"/>
          </a:p>
        </p:txBody>
      </p:sp>
      <p:sp>
        <p:nvSpPr>
          <p:cNvPr id="159751" name="AutoShape 4"/>
          <p:cNvSpPr>
            <a:spLocks/>
          </p:cNvSpPr>
          <p:nvPr/>
        </p:nvSpPr>
        <p:spPr bwMode="auto">
          <a:xfrm>
            <a:off x="215900" y="5287963"/>
            <a:ext cx="2082800" cy="906463"/>
          </a:xfrm>
          <a:prstGeom prst="borderCallout1">
            <a:avLst>
              <a:gd name="adj1" fmla="val -1400"/>
              <a:gd name="adj2" fmla="val 49389"/>
              <a:gd name="adj3" fmla="val -151840"/>
              <a:gd name="adj4" fmla="val 7865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/>
              <a:t>处理过程类似于</a:t>
            </a:r>
            <a:r>
              <a:rPr lang="zh-CN" altLang="en-US" b="1" dirty="0">
                <a:solidFill>
                  <a:srgbClr val="C00000"/>
                </a:solidFill>
              </a:rPr>
              <a:t>相关子查询</a:t>
            </a:r>
          </a:p>
        </p:txBody>
      </p:sp>
      <p:sp>
        <p:nvSpPr>
          <p:cNvPr id="159752" name="Line 5"/>
          <p:cNvSpPr>
            <a:spLocks noChangeShapeType="1"/>
          </p:cNvSpPr>
          <p:nvPr/>
        </p:nvSpPr>
        <p:spPr bwMode="auto">
          <a:xfrm flipV="1">
            <a:off x="2298700" y="4953000"/>
            <a:ext cx="1206500" cy="7881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" name="AutoShape 4"/>
          <p:cNvSpPr>
            <a:spLocks noChangeArrowheads="1"/>
          </p:cNvSpPr>
          <p:nvPr/>
        </p:nvSpPr>
        <p:spPr bwMode="auto">
          <a:xfrm>
            <a:off x="6096000" y="3933824"/>
            <a:ext cx="2868612" cy="942975"/>
          </a:xfrm>
          <a:prstGeom prst="wedgeRectCallout">
            <a:avLst>
              <a:gd name="adj1" fmla="val -77407"/>
              <a:gd name="adj2" fmla="val 3346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</a:rPr>
              <a:t>子查询一定要跟在比较符之后</a:t>
            </a:r>
            <a:endParaRPr lang="zh-CN" altLang="en-US" sz="2800" dirty="0"/>
          </a:p>
          <a:p>
            <a:pPr eaLnBrk="1" hangingPunct="1"/>
            <a:endParaRPr lang="zh-CN" altLang="en-US" sz="28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BC211B0-1569-EF2C-EB3C-ADE0999E1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173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97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97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97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97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97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97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97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97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97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97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97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97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59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59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51" grpId="0" animBg="1"/>
      <p:bldP spid="159752" grpId="0" animBg="1"/>
      <p:bldP spid="10" grpId="0" animBg="1"/>
    </p:bld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0CEE940-0310-4047-9805-4D25B49F78F5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6077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607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3.5.2 </a:t>
            </a:r>
            <a:r>
              <a:rPr lang="zh-CN" altLang="en-US"/>
              <a:t>修改数据</a:t>
            </a:r>
          </a:p>
        </p:txBody>
      </p:sp>
      <p:sp>
        <p:nvSpPr>
          <p:cNvPr id="1607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解法</a:t>
            </a:r>
            <a:r>
              <a:rPr lang="en-US" altLang="zh-CN" sz="2800" dirty="0"/>
              <a:t>2</a:t>
            </a:r>
            <a:r>
              <a:rPr lang="zh-CN" altLang="en-US" sz="2800" dirty="0"/>
              <a:t>：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UPDATE </a:t>
            </a:r>
            <a:r>
              <a:rPr lang="en-US" altLang="zh-CN" sz="2800" dirty="0" err="1"/>
              <a:t>sc</a:t>
            </a:r>
            <a:r>
              <a:rPr lang="en-US" altLang="zh-CN" sz="2800" dirty="0"/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SET grade=grade+10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WHERE </a:t>
            </a:r>
            <a:r>
              <a:rPr lang="en-US" altLang="zh-CN" sz="2800" dirty="0" err="1">
                <a:solidFill>
                  <a:srgbClr val="0000FF"/>
                </a:solidFill>
              </a:rPr>
              <a:t>sno</a:t>
            </a:r>
            <a:r>
              <a:rPr lang="en-US" altLang="zh-CN" sz="2800" dirty="0">
                <a:solidFill>
                  <a:srgbClr val="0000FF"/>
                </a:solidFill>
              </a:rPr>
              <a:t> </a:t>
            </a:r>
            <a:r>
              <a:rPr lang="en-US" altLang="zh-CN" sz="2800" dirty="0"/>
              <a:t>IN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/>
              <a:t>   (</a:t>
            </a:r>
            <a:r>
              <a:rPr lang="en-US" altLang="zh-CN" sz="2800" dirty="0">
                <a:solidFill>
                  <a:srgbClr val="C00000"/>
                </a:solidFill>
              </a:rPr>
              <a:t>SELECT </a:t>
            </a:r>
            <a:r>
              <a:rPr lang="en-US" altLang="zh-CN" sz="2800" dirty="0" err="1">
                <a:solidFill>
                  <a:srgbClr val="C00000"/>
                </a:solidFill>
              </a:rPr>
              <a:t>sno</a:t>
            </a:r>
            <a:r>
              <a:rPr lang="en-US" altLang="zh-CN" sz="2800" dirty="0">
                <a:solidFill>
                  <a:srgbClr val="C00000"/>
                </a:solidFill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C00000"/>
                </a:solidFill>
              </a:rPr>
              <a:t>      FROM student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>
                <a:solidFill>
                  <a:srgbClr val="C00000"/>
                </a:solidFill>
              </a:rPr>
              <a:t>      WHERE </a:t>
            </a:r>
            <a:r>
              <a:rPr lang="en-US" altLang="zh-CN" sz="2800" dirty="0" err="1">
                <a:solidFill>
                  <a:srgbClr val="C00000"/>
                </a:solidFill>
              </a:rPr>
              <a:t>sdept</a:t>
            </a:r>
            <a:r>
              <a:rPr lang="en-US" altLang="zh-CN" sz="2800" dirty="0">
                <a:solidFill>
                  <a:srgbClr val="C00000"/>
                </a:solidFill>
              </a:rPr>
              <a:t> = 'CS'</a:t>
            </a:r>
            <a:r>
              <a:rPr lang="en-US" altLang="zh-CN" sz="2800" dirty="0"/>
              <a:t>);</a:t>
            </a:r>
          </a:p>
          <a:p>
            <a:pPr eaLnBrk="1" hangingPunct="1"/>
            <a:endParaRPr lang="zh-CN" altLang="en-US" sz="2800" dirty="0"/>
          </a:p>
        </p:txBody>
      </p:sp>
      <p:sp>
        <p:nvSpPr>
          <p:cNvPr id="160775" name="AutoShape 4"/>
          <p:cNvSpPr>
            <a:spLocks noChangeArrowheads="1"/>
          </p:cNvSpPr>
          <p:nvPr/>
        </p:nvSpPr>
        <p:spPr bwMode="auto">
          <a:xfrm>
            <a:off x="5562600" y="1752600"/>
            <a:ext cx="2305050" cy="649288"/>
          </a:xfrm>
          <a:prstGeom prst="wedgeRectCallout">
            <a:avLst>
              <a:gd name="adj1" fmla="val -108696"/>
              <a:gd name="adj2" fmla="val 8957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/>
              <a:t>推荐此法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3D35EB9-E71B-33B1-EE9F-494F71A26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174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07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07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07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07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07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07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07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07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07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07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07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07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160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5" grpId="0" animBg="1"/>
    </p:bld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B247267-A6D8-4C8D-8BFE-56DB3FACA62E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5872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1587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3.5.3 </a:t>
            </a:r>
            <a:r>
              <a:rPr lang="zh-CN" altLang="en-US" dirty="0"/>
              <a:t>修改数据</a:t>
            </a:r>
          </a:p>
        </p:txBody>
      </p:sp>
      <p:sp>
        <p:nvSpPr>
          <p:cNvPr id="1587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8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/>
              <a:t>例</a:t>
            </a:r>
            <a:r>
              <a:rPr lang="en-US" altLang="zh-CN" sz="2800" dirty="0"/>
              <a:t> </a:t>
            </a:r>
            <a:r>
              <a:rPr lang="zh-CN" altLang="en-US" sz="2800" dirty="0"/>
              <a:t>给工资</a:t>
            </a:r>
            <a:r>
              <a:rPr lang="zh-CN" altLang="en-US" sz="2800" dirty="0">
                <a:solidFill>
                  <a:srgbClr val="800080"/>
                </a:solidFill>
              </a:rPr>
              <a:t>低于</a:t>
            </a:r>
            <a:r>
              <a:rPr lang="zh-CN" altLang="en-US" sz="2800" dirty="0"/>
              <a:t>平局工资的教师涨</a:t>
            </a:r>
            <a:r>
              <a:rPr lang="en-US" altLang="zh-CN" sz="2800" dirty="0"/>
              <a:t>5%</a:t>
            </a:r>
            <a:r>
              <a:rPr lang="zh-CN" altLang="en-US" sz="2800" dirty="0"/>
              <a:t>的工资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80"/>
                </a:solidFill>
              </a:rPr>
              <a:t>	</a:t>
            </a:r>
            <a:endParaRPr lang="zh-CN" altLang="en-US" sz="28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35E523A-1ACD-7541-28AF-B302DDE24B92}"/>
              </a:ext>
            </a:extLst>
          </p:cNvPr>
          <p:cNvSpPr txBox="1"/>
          <p:nvPr/>
        </p:nvSpPr>
        <p:spPr>
          <a:xfrm>
            <a:off x="1752600" y="2514600"/>
            <a:ext cx="5867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dirty="0">
                <a:solidFill>
                  <a:srgbClr val="0000FF"/>
                </a:solidFill>
              </a:rPr>
              <a:t>update</a:t>
            </a:r>
            <a:r>
              <a:rPr lang="en-US" altLang="zh-CN" dirty="0"/>
              <a:t> instructor</a:t>
            </a:r>
          </a:p>
          <a:p>
            <a:pPr algn="l"/>
            <a:r>
              <a:rPr lang="en-US" altLang="zh-CN" dirty="0">
                <a:solidFill>
                  <a:srgbClr val="0000FF"/>
                </a:solidFill>
              </a:rPr>
              <a:t>set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salary = salary * 1.05</a:t>
            </a:r>
          </a:p>
          <a:p>
            <a:pPr algn="l"/>
            <a:r>
              <a:rPr lang="en-US" altLang="zh-CN" dirty="0">
                <a:solidFill>
                  <a:srgbClr val="0000FF"/>
                </a:solidFill>
              </a:rPr>
              <a:t>where</a:t>
            </a:r>
            <a:r>
              <a:rPr lang="en-US" altLang="zh-CN" dirty="0"/>
              <a:t> salary &lt; (select avg (salary)</a:t>
            </a:r>
          </a:p>
          <a:p>
            <a:pPr algn="l"/>
            <a:r>
              <a:rPr lang="en-US" altLang="zh-CN" dirty="0"/>
              <a:t>                       from instructor);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3E9B6E6-E0F5-521D-4641-4F21C344F940}"/>
              </a:ext>
            </a:extLst>
          </p:cNvPr>
          <p:cNvSpPr txBox="1"/>
          <p:nvPr/>
        </p:nvSpPr>
        <p:spPr>
          <a:xfrm>
            <a:off x="762000" y="5334000"/>
            <a:ext cx="7391400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zh-CN" altLang="en-US" sz="2000" dirty="0"/>
              <a:t>instructor(</a:t>
            </a:r>
            <a:r>
              <a:rPr lang="zh-CN" altLang="en-US" sz="2000" u="sng" dirty="0"/>
              <a:t>ID</a:t>
            </a:r>
            <a:r>
              <a:rPr lang="zh-CN" altLang="en-US" sz="2000" dirty="0"/>
              <a:t>, name, </a:t>
            </a:r>
            <a:r>
              <a:rPr lang="zh-CN" altLang="en-US" sz="2000" dirty="0">
                <a:solidFill>
                  <a:srgbClr val="0000FF"/>
                </a:solidFill>
              </a:rPr>
              <a:t>dept</a:t>
            </a:r>
            <a:r>
              <a:rPr lang="en-US" altLang="zh-CN" sz="2000" dirty="0">
                <a:solidFill>
                  <a:srgbClr val="0000FF"/>
                </a:solidFill>
              </a:rPr>
              <a:t>_</a:t>
            </a:r>
            <a:r>
              <a:rPr lang="zh-CN" altLang="en-US" sz="2000" dirty="0">
                <a:solidFill>
                  <a:srgbClr val="0000FF"/>
                </a:solidFill>
              </a:rPr>
              <a:t>name</a:t>
            </a:r>
            <a:r>
              <a:rPr lang="zh-CN" altLang="en-US" sz="2000" dirty="0"/>
              <a:t>, salary)   </a:t>
            </a:r>
            <a:r>
              <a:rPr lang="en-US" altLang="zh-CN" sz="2000" dirty="0"/>
              <a:t>//</a:t>
            </a:r>
            <a:r>
              <a:rPr lang="zh-CN" altLang="en-US" sz="2000" dirty="0"/>
              <a:t>讲师</a:t>
            </a:r>
            <a:endParaRPr lang="en-US" altLang="zh-CN" sz="200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BCC5577-137B-C715-7ADB-418EC4872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175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4965397"/>
      </p:ext>
    </p:extLst>
  </p:cSld>
  <p:clrMapOvr>
    <a:masterClrMapping/>
  </p:clrMapOvr>
  <p:transition>
    <p:fade/>
  </p:transition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41008418-A8A8-4E42-9A61-19083596B900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15974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 dirty="0"/>
              <a:t>《</a:t>
            </a:r>
            <a:r>
              <a:rPr kumimoji="0" lang="en-US" altLang="zh-CN" sz="1400" dirty="0" err="1"/>
              <a:t>数据库系统概论</a:t>
            </a:r>
            <a:r>
              <a:rPr kumimoji="0" lang="en-US" altLang="zh-CN" sz="1400" dirty="0"/>
              <a:t>》- 第3章</a:t>
            </a:r>
          </a:p>
        </p:txBody>
      </p:sp>
      <p:sp>
        <p:nvSpPr>
          <p:cNvPr id="1597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3.5.2 </a:t>
            </a:r>
            <a:r>
              <a:rPr lang="zh-CN" altLang="en-US"/>
              <a:t>修改数据</a:t>
            </a:r>
          </a:p>
        </p:txBody>
      </p:sp>
      <p:sp>
        <p:nvSpPr>
          <p:cNvPr id="1597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/>
              <a:t>SQL</a:t>
            </a:r>
            <a:r>
              <a:rPr lang="zh-CN" altLang="en-US" sz="2800" dirty="0"/>
              <a:t>提供</a:t>
            </a:r>
            <a:r>
              <a:rPr lang="en-US" altLang="zh-CN" sz="2800" dirty="0"/>
              <a:t>case</a:t>
            </a:r>
            <a:r>
              <a:rPr lang="zh-CN" altLang="en-US" sz="2800" dirty="0"/>
              <a:t>结构</a:t>
            </a:r>
            <a:r>
              <a:rPr lang="en-US" altLang="zh-CN" sz="2800" dirty="0"/>
              <a:t>(</a:t>
            </a:r>
            <a:r>
              <a:rPr lang="zh-CN" altLang="en-US" sz="2800" dirty="0"/>
              <a:t>了解</a:t>
            </a:r>
            <a:r>
              <a:rPr lang="en-US" altLang="zh-CN" sz="2800" dirty="0"/>
              <a:t>)</a:t>
            </a:r>
            <a:r>
              <a:rPr lang="zh-CN" altLang="en-US" sz="2800" dirty="0"/>
              <a:t>，提供带条件的不同更新</a:t>
            </a:r>
            <a:endParaRPr lang="en-US" altLang="zh-CN" sz="2800" dirty="0"/>
          </a:p>
          <a:p>
            <a:pPr eaLnBrk="1" hangingPunct="1"/>
            <a:endParaRPr lang="en-US" altLang="zh-CN" sz="2800" dirty="0"/>
          </a:p>
          <a:p>
            <a:pPr eaLnBrk="1" hangingPunct="1"/>
            <a:endParaRPr lang="en-US" altLang="zh-CN" sz="2800" dirty="0"/>
          </a:p>
          <a:p>
            <a:pPr eaLnBrk="1" hangingPunct="1"/>
            <a:endParaRPr lang="en-US" altLang="zh-CN" sz="2800" dirty="0"/>
          </a:p>
          <a:p>
            <a:pPr eaLnBrk="1" hangingPunct="1"/>
            <a:endParaRPr lang="en-US" altLang="zh-CN" sz="2800" dirty="0"/>
          </a:p>
          <a:p>
            <a:pPr eaLnBrk="1" hangingPunct="1"/>
            <a:r>
              <a:rPr lang="en-US" altLang="zh-CN" sz="2800" dirty="0"/>
              <a:t>Case</a:t>
            </a:r>
            <a:r>
              <a:rPr lang="zh-CN" altLang="en-US" sz="2800" dirty="0"/>
              <a:t>语句一般格式：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0FF224A-9EC6-A56F-2F78-D56C3958E7A9}"/>
              </a:ext>
            </a:extLst>
          </p:cNvPr>
          <p:cNvSpPr txBox="1"/>
          <p:nvPr/>
        </p:nvSpPr>
        <p:spPr>
          <a:xfrm>
            <a:off x="1066800" y="1981200"/>
            <a:ext cx="8077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0" i="0" u="none" strike="noStrike" baseline="0" dirty="0">
                <a:latin typeface="+mn-lt"/>
              </a:rPr>
              <a:t>update </a:t>
            </a:r>
            <a:r>
              <a:rPr lang="en-US" altLang="zh-CN" sz="2400" b="0" i="1" u="none" strike="noStrike" baseline="0" dirty="0">
                <a:latin typeface="+mn-lt"/>
              </a:rPr>
              <a:t>instructor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set </a:t>
            </a:r>
            <a:r>
              <a:rPr lang="en-US" altLang="zh-CN" sz="2400" b="0" i="1" u="none" strike="noStrike" baseline="0" dirty="0">
                <a:latin typeface="+mn-lt"/>
              </a:rPr>
              <a:t>salary </a:t>
            </a:r>
            <a:r>
              <a:rPr lang="en-US" altLang="zh-CN" sz="2400" b="0" i="0" u="none" strike="noStrike" baseline="0" dirty="0">
                <a:latin typeface="+mn-lt"/>
              </a:rPr>
              <a:t>= </a:t>
            </a:r>
            <a:r>
              <a:rPr lang="en-US" altLang="zh-CN" sz="2400" b="0" i="0" u="none" strike="noStrike" baseline="0" dirty="0">
                <a:solidFill>
                  <a:srgbClr val="FF0000"/>
                </a:solidFill>
                <a:latin typeface="+mn-lt"/>
              </a:rPr>
              <a:t>case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                     </a:t>
            </a:r>
            <a:r>
              <a:rPr lang="en-US" altLang="zh-CN" sz="2400" b="0" i="0" u="none" strike="noStrike" baseline="0" dirty="0">
                <a:solidFill>
                  <a:srgbClr val="0000FF"/>
                </a:solidFill>
                <a:latin typeface="+mn-lt"/>
              </a:rPr>
              <a:t>when</a:t>
            </a:r>
            <a:r>
              <a:rPr lang="en-US" altLang="zh-CN" sz="2400" b="0" i="0" u="none" strike="noStrike" baseline="0" dirty="0">
                <a:latin typeface="+mn-lt"/>
              </a:rPr>
              <a:t> </a:t>
            </a:r>
            <a:r>
              <a:rPr lang="en-US" altLang="zh-CN" sz="2400" b="0" i="1" u="none" strike="noStrike" baseline="0" dirty="0">
                <a:latin typeface="+mn-lt"/>
              </a:rPr>
              <a:t>salary &lt;</a:t>
            </a:r>
            <a:r>
              <a:rPr lang="en-US" altLang="zh-CN" sz="2400" b="0" i="0" u="none" strike="noStrike" baseline="0" dirty="0">
                <a:latin typeface="+mn-lt"/>
              </a:rPr>
              <a:t>= 100000 </a:t>
            </a:r>
            <a:r>
              <a:rPr lang="en-US" altLang="zh-CN" sz="2400" b="0" i="0" u="none" strike="noStrike" baseline="0" dirty="0">
                <a:solidFill>
                  <a:srgbClr val="0000FF"/>
                </a:solidFill>
                <a:latin typeface="+mn-lt"/>
              </a:rPr>
              <a:t>then</a:t>
            </a:r>
            <a:r>
              <a:rPr lang="en-US" altLang="zh-CN" sz="2400" b="0" i="0" u="none" strike="noStrike" baseline="0" dirty="0">
                <a:latin typeface="+mn-lt"/>
              </a:rPr>
              <a:t> </a:t>
            </a:r>
            <a:r>
              <a:rPr lang="en-US" altLang="zh-CN" sz="2400" b="0" i="1" u="none" strike="noStrike" baseline="0" dirty="0">
                <a:latin typeface="+mn-lt"/>
              </a:rPr>
              <a:t>salary </a:t>
            </a:r>
            <a:r>
              <a:rPr lang="en-US" altLang="zh-CN" sz="2400" b="0" i="0" u="none" strike="noStrike" baseline="0" dirty="0">
                <a:latin typeface="+mn-lt"/>
              </a:rPr>
              <a:t>* 1.05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                     </a:t>
            </a:r>
            <a:r>
              <a:rPr lang="en-US" altLang="zh-CN" sz="2400" b="0" i="0" u="none" strike="noStrike" baseline="0" dirty="0">
                <a:solidFill>
                  <a:srgbClr val="0000FF"/>
                </a:solidFill>
                <a:latin typeface="+mn-lt"/>
              </a:rPr>
              <a:t>else</a:t>
            </a:r>
            <a:r>
              <a:rPr lang="en-US" altLang="zh-CN" sz="2400" b="0" i="0" u="none" strike="noStrike" baseline="0" dirty="0">
                <a:latin typeface="+mn-lt"/>
              </a:rPr>
              <a:t> </a:t>
            </a:r>
            <a:r>
              <a:rPr lang="en-US" altLang="zh-CN" sz="2400" b="0" i="1" u="none" strike="noStrike" baseline="0" dirty="0">
                <a:latin typeface="+mn-lt"/>
              </a:rPr>
              <a:t>salary </a:t>
            </a:r>
            <a:r>
              <a:rPr lang="en-US" altLang="zh-CN" sz="2400" b="0" i="0" u="none" strike="noStrike" baseline="0" dirty="0">
                <a:latin typeface="+mn-lt"/>
              </a:rPr>
              <a:t>* 1.03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                   </a:t>
            </a:r>
            <a:r>
              <a:rPr lang="en-US" altLang="zh-CN" sz="2400" b="0" i="0" u="none" strike="noStrike" baseline="0" dirty="0">
                <a:solidFill>
                  <a:srgbClr val="FF0000"/>
                </a:solidFill>
                <a:latin typeface="+mn-lt"/>
              </a:rPr>
              <a:t>end</a:t>
            </a:r>
            <a:r>
              <a:rPr lang="en-US" altLang="zh-CN" sz="2400" b="0" i="0" u="none" strike="noStrike" baseline="0" dirty="0">
                <a:latin typeface="+mn-lt"/>
              </a:rPr>
              <a:t> </a:t>
            </a:r>
            <a:endParaRPr lang="zh-CN" altLang="en-US" dirty="0">
              <a:latin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61A482D-8EF8-B7E5-E531-A9E69FB5C042}"/>
              </a:ext>
            </a:extLst>
          </p:cNvPr>
          <p:cNvSpPr txBox="1"/>
          <p:nvPr/>
        </p:nvSpPr>
        <p:spPr>
          <a:xfrm>
            <a:off x="4191000" y="3790613"/>
            <a:ext cx="3276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0" i="0" u="none" strike="noStrike" baseline="0" dirty="0">
                <a:solidFill>
                  <a:srgbClr val="FF0000"/>
                </a:solidFill>
                <a:latin typeface="+mn-lt"/>
              </a:rPr>
              <a:t>case</a:t>
            </a:r>
          </a:p>
          <a:p>
            <a:pPr algn="l"/>
            <a:r>
              <a:rPr lang="en-US" altLang="zh-CN" sz="2400" b="0" i="0" u="none" strike="noStrike" baseline="0" dirty="0">
                <a:solidFill>
                  <a:srgbClr val="0000FF"/>
                </a:solidFill>
                <a:latin typeface="+mn-lt"/>
              </a:rPr>
              <a:t>when</a:t>
            </a:r>
            <a:r>
              <a:rPr lang="en-US" altLang="zh-CN" sz="2400" b="0" i="0" u="none" strike="noStrike" baseline="0" dirty="0">
                <a:latin typeface="+mn-lt"/>
              </a:rPr>
              <a:t> </a:t>
            </a:r>
            <a:r>
              <a:rPr lang="en-US" altLang="zh-CN" sz="2400" b="0" i="1" u="none" strike="noStrike" baseline="0" dirty="0">
                <a:latin typeface="+mn-lt"/>
              </a:rPr>
              <a:t>pred</a:t>
            </a:r>
            <a:r>
              <a:rPr lang="en-US" altLang="zh-CN" sz="800" b="0" i="0" u="none" strike="noStrike" baseline="0" dirty="0">
                <a:latin typeface="+mn-lt"/>
              </a:rPr>
              <a:t>1  </a:t>
            </a:r>
            <a:r>
              <a:rPr lang="en-US" altLang="zh-CN" sz="2400" b="0" i="0" u="none" strike="noStrike" baseline="0" dirty="0">
                <a:solidFill>
                  <a:srgbClr val="0000FF"/>
                </a:solidFill>
                <a:latin typeface="+mn-lt"/>
              </a:rPr>
              <a:t>then</a:t>
            </a:r>
            <a:r>
              <a:rPr lang="en-US" altLang="zh-CN" sz="2400" b="0" i="0" u="none" strike="noStrike" baseline="0" dirty="0">
                <a:latin typeface="+mn-lt"/>
              </a:rPr>
              <a:t> </a:t>
            </a:r>
            <a:r>
              <a:rPr lang="en-US" altLang="zh-CN" sz="2400" b="0" i="1" u="none" strike="noStrike" baseline="0" dirty="0">
                <a:latin typeface="+mn-lt"/>
              </a:rPr>
              <a:t>result</a:t>
            </a:r>
            <a:r>
              <a:rPr lang="en-US" altLang="zh-CN" sz="800" b="0" i="0" u="none" strike="noStrike" baseline="0" dirty="0">
                <a:latin typeface="+mn-lt"/>
              </a:rPr>
              <a:t>1</a:t>
            </a:r>
          </a:p>
          <a:p>
            <a:pPr algn="l"/>
            <a:r>
              <a:rPr lang="en-US" altLang="zh-CN" sz="2400" b="0" i="0" u="none" strike="noStrike" baseline="0" dirty="0">
                <a:solidFill>
                  <a:srgbClr val="0000FF"/>
                </a:solidFill>
                <a:latin typeface="+mn-lt"/>
              </a:rPr>
              <a:t>when</a:t>
            </a:r>
            <a:r>
              <a:rPr lang="en-US" altLang="zh-CN" sz="2400" b="0" i="0" u="none" strike="noStrike" baseline="0" dirty="0">
                <a:latin typeface="+mn-lt"/>
              </a:rPr>
              <a:t> </a:t>
            </a:r>
            <a:r>
              <a:rPr lang="en-US" altLang="zh-CN" sz="2400" b="0" i="1" u="none" strike="noStrike" baseline="0" dirty="0">
                <a:latin typeface="+mn-lt"/>
              </a:rPr>
              <a:t>pred</a:t>
            </a:r>
            <a:r>
              <a:rPr lang="en-US" altLang="zh-CN" sz="800" b="0" i="0" u="none" strike="noStrike" baseline="0" dirty="0">
                <a:latin typeface="+mn-lt"/>
              </a:rPr>
              <a:t>2  </a:t>
            </a:r>
            <a:r>
              <a:rPr lang="en-US" altLang="zh-CN" sz="2400" b="0" i="0" u="none" strike="noStrike" baseline="0" dirty="0">
                <a:solidFill>
                  <a:srgbClr val="0000FF"/>
                </a:solidFill>
                <a:latin typeface="+mn-lt"/>
              </a:rPr>
              <a:t>then</a:t>
            </a:r>
            <a:r>
              <a:rPr lang="en-US" altLang="zh-CN" sz="2400" b="0" i="0" u="none" strike="noStrike" baseline="0" dirty="0">
                <a:latin typeface="+mn-lt"/>
              </a:rPr>
              <a:t> </a:t>
            </a:r>
            <a:r>
              <a:rPr lang="en-US" altLang="zh-CN" sz="2400" b="0" i="1" u="none" strike="noStrike" baseline="0" dirty="0">
                <a:latin typeface="+mn-lt"/>
              </a:rPr>
              <a:t>result</a:t>
            </a:r>
            <a:r>
              <a:rPr lang="en-US" altLang="zh-CN" sz="800" b="0" i="0" u="none" strike="noStrike" baseline="0" dirty="0">
                <a:latin typeface="+mn-lt"/>
              </a:rPr>
              <a:t>2</a:t>
            </a:r>
          </a:p>
          <a:p>
            <a:pPr algn="l"/>
            <a:r>
              <a:rPr lang="en-US" altLang="zh-CN" sz="2400" b="0" i="0" u="none" strike="noStrike" baseline="0" dirty="0">
                <a:latin typeface="+mn-lt"/>
              </a:rPr>
              <a:t>…</a:t>
            </a:r>
          </a:p>
          <a:p>
            <a:pPr algn="l"/>
            <a:r>
              <a:rPr lang="en-US" altLang="zh-CN" sz="2400" b="0" i="0" u="none" strike="noStrike" baseline="0" dirty="0">
                <a:solidFill>
                  <a:srgbClr val="0000FF"/>
                </a:solidFill>
                <a:latin typeface="+mn-lt"/>
              </a:rPr>
              <a:t>when</a:t>
            </a:r>
            <a:r>
              <a:rPr lang="en-US" altLang="zh-CN" sz="2400" b="0" i="0" u="none" strike="noStrike" baseline="0" dirty="0">
                <a:latin typeface="+mn-lt"/>
              </a:rPr>
              <a:t> </a:t>
            </a:r>
            <a:r>
              <a:rPr lang="en-US" altLang="zh-CN" sz="2400" b="0" i="1" u="none" strike="noStrike" baseline="0" dirty="0" err="1">
                <a:latin typeface="+mn-lt"/>
              </a:rPr>
              <a:t>pred</a:t>
            </a:r>
            <a:r>
              <a:rPr lang="en-US" altLang="zh-CN" sz="800" b="0" i="1" u="none" strike="noStrike" baseline="0" dirty="0" err="1">
                <a:latin typeface="+mn-lt"/>
              </a:rPr>
              <a:t>n</a:t>
            </a:r>
            <a:r>
              <a:rPr lang="en-US" altLang="zh-CN" sz="800" b="0" i="1" u="none" strike="noStrike" baseline="0" dirty="0">
                <a:latin typeface="+mn-lt"/>
              </a:rPr>
              <a:t>  </a:t>
            </a:r>
            <a:r>
              <a:rPr lang="en-US" altLang="zh-CN" sz="2400" b="0" i="0" u="none" strike="noStrike" baseline="0" dirty="0">
                <a:solidFill>
                  <a:srgbClr val="0000FF"/>
                </a:solidFill>
                <a:latin typeface="+mn-lt"/>
              </a:rPr>
              <a:t>then</a:t>
            </a:r>
            <a:r>
              <a:rPr lang="en-US" altLang="zh-CN" sz="2400" b="0" i="0" u="none" strike="noStrike" baseline="0" dirty="0">
                <a:latin typeface="+mn-lt"/>
              </a:rPr>
              <a:t> </a:t>
            </a:r>
            <a:r>
              <a:rPr lang="en-US" altLang="zh-CN" sz="2400" b="0" i="1" u="none" strike="noStrike" baseline="0" dirty="0" err="1">
                <a:latin typeface="+mn-lt"/>
              </a:rPr>
              <a:t>result</a:t>
            </a:r>
            <a:r>
              <a:rPr lang="en-US" altLang="zh-CN" sz="800" b="0" i="1" u="none" strike="noStrike" baseline="0" dirty="0" err="1">
                <a:latin typeface="+mn-lt"/>
              </a:rPr>
              <a:t>n</a:t>
            </a:r>
            <a:endParaRPr lang="en-US" altLang="zh-CN" sz="800" b="0" i="1" u="none" strike="noStrike" baseline="0" dirty="0">
              <a:latin typeface="+mn-lt"/>
            </a:endParaRPr>
          </a:p>
          <a:p>
            <a:pPr algn="l"/>
            <a:r>
              <a:rPr lang="en-US" altLang="zh-CN" sz="2400" b="0" i="0" u="none" strike="noStrike" baseline="0" dirty="0">
                <a:solidFill>
                  <a:srgbClr val="0000FF"/>
                </a:solidFill>
                <a:latin typeface="+mn-lt"/>
              </a:rPr>
              <a:t>else</a:t>
            </a:r>
            <a:r>
              <a:rPr lang="en-US" altLang="zh-CN" sz="2400" b="0" i="0" u="none" strike="noStrike" baseline="0" dirty="0">
                <a:latin typeface="+mn-lt"/>
              </a:rPr>
              <a:t> </a:t>
            </a:r>
            <a:r>
              <a:rPr lang="en-US" altLang="zh-CN" sz="2400" b="0" i="1" u="none" strike="noStrike" baseline="0" dirty="0">
                <a:latin typeface="+mn-lt"/>
              </a:rPr>
              <a:t>result</a:t>
            </a:r>
            <a:r>
              <a:rPr lang="en-US" altLang="zh-CN" sz="800" b="0" i="0" u="none" strike="noStrike" baseline="0" dirty="0">
                <a:latin typeface="+mn-lt"/>
              </a:rPr>
              <a:t>0</a:t>
            </a:r>
          </a:p>
          <a:p>
            <a:pPr algn="l"/>
            <a:r>
              <a:rPr lang="en-US" altLang="zh-CN" sz="2400" b="0" i="0" u="none" strike="noStrike" baseline="0" dirty="0">
                <a:solidFill>
                  <a:srgbClr val="FF0000"/>
                </a:solidFill>
                <a:latin typeface="+mn-lt"/>
              </a:rPr>
              <a:t>end</a:t>
            </a:r>
            <a:endParaRPr lang="zh-CN" altLang="en-US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DF70D3B-40CD-C8C3-CFCA-B31032C39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176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3448666"/>
      </p:ext>
    </p:extLst>
  </p:cSld>
  <p:clrMapOvr>
    <a:masterClrMapping/>
  </p:clrMapOvr>
  <p:transition>
    <p:fade/>
  </p:transition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B7DA355-0E2E-4329-874B-F76824140A55}" type="datetime1">
              <a:rPr kumimoji="0" lang="zh-CN" altLang="en-US" sz="1400" smtClean="0"/>
              <a:t>2025/9/24</a:t>
            </a:fld>
            <a:endParaRPr kumimoji="0" lang="en-US" altLang="zh-CN" sz="1400"/>
          </a:p>
        </p:txBody>
      </p:sp>
      <p:sp>
        <p:nvSpPr>
          <p:cNvPr id="20480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kumimoji="0" lang="en-US" altLang="zh-CN" sz="1400"/>
              <a:t>《数据库系统概论》- 第3章</a:t>
            </a:r>
          </a:p>
        </p:txBody>
      </p:sp>
      <p:sp>
        <p:nvSpPr>
          <p:cNvPr id="2048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Comic Sans MS" pitchFamily="66" charset="0"/>
              </a:rPr>
              <a:t>Any Question?</a:t>
            </a:r>
          </a:p>
        </p:txBody>
      </p:sp>
      <p:sp>
        <p:nvSpPr>
          <p:cNvPr id="204806" name="Text Box 3"/>
          <p:cNvSpPr txBox="1">
            <a:spLocks noChangeArrowheads="1"/>
          </p:cNvSpPr>
          <p:nvPr/>
        </p:nvSpPr>
        <p:spPr bwMode="auto">
          <a:xfrm>
            <a:off x="4140200" y="2781300"/>
            <a:ext cx="330200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0" lang="en-US" altLang="zh-CN" sz="4800" b="1" i="1">
                <a:solidFill>
                  <a:schemeClr val="hlink"/>
                </a:solidFill>
                <a:latin typeface="Times New Roman" pitchFamily="18" charset="0"/>
              </a:rPr>
              <a:t>Thank you !</a:t>
            </a:r>
          </a:p>
        </p:txBody>
      </p:sp>
      <p:pic>
        <p:nvPicPr>
          <p:cNvPr id="204807" name="Picture 4" descr="smil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133600"/>
            <a:ext cx="22098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CE9FDDF-FD39-76F5-C91C-BEB988437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CD82EA-F7BE-454B-A83E-18830F6C5424}" type="slidenum">
              <a:rPr lang="en-US" altLang="zh-CN" smtClean="0"/>
              <a:pPr>
                <a:defRPr/>
              </a:pPr>
              <a:t>177</a:t>
            </a:fld>
            <a:r>
              <a:rPr lang="en-US" altLang="zh-CN"/>
              <a:t>/177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  <a:cs typeface="Arial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ld2009</Template>
  <TotalTime>13022</TotalTime>
  <Words>13197</Words>
  <Application>Microsoft Office PowerPoint</Application>
  <PresentationFormat>全屏显示(4:3)</PresentationFormat>
  <Paragraphs>2011</Paragraphs>
  <Slides>177</Slides>
  <Notes>25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177</vt:i4>
      </vt:variant>
    </vt:vector>
  </HeadingPairs>
  <TitlesOfParts>
    <vt:vector size="192" baseType="lpstr">
      <vt:lpstr>黑体</vt:lpstr>
      <vt:lpstr>楷体_GB2312</vt:lpstr>
      <vt:lpstr>宋体</vt:lpstr>
      <vt:lpstr>Arial</vt:lpstr>
      <vt:lpstr>Comic Sans MS</vt:lpstr>
      <vt:lpstr>Courier New</vt:lpstr>
      <vt:lpstr>Helvetica</vt:lpstr>
      <vt:lpstr>Symbol</vt:lpstr>
      <vt:lpstr>Tahoma</vt:lpstr>
      <vt:lpstr>Times New Roman</vt:lpstr>
      <vt:lpstr>Wingdings</vt:lpstr>
      <vt:lpstr>Blends</vt:lpstr>
      <vt:lpstr>Clip</vt:lpstr>
      <vt:lpstr>Document</vt:lpstr>
      <vt:lpstr>Equation</vt:lpstr>
      <vt:lpstr>数据库系统原理  Database System Principles</vt:lpstr>
      <vt:lpstr>第3-4章 关系数据库标准语言SQL</vt:lpstr>
      <vt:lpstr>本章目录</vt:lpstr>
      <vt:lpstr>3.1 SQL概述</vt:lpstr>
      <vt:lpstr>3.1 SQL概述</vt:lpstr>
      <vt:lpstr>3.1.2 SQL的特点</vt:lpstr>
      <vt:lpstr>3.1.2 SQL的特点</vt:lpstr>
      <vt:lpstr>3.1.2 SQL的特点</vt:lpstr>
      <vt:lpstr>3.1.2 SQL的特点</vt:lpstr>
      <vt:lpstr>3.1.2 SQL的特点</vt:lpstr>
      <vt:lpstr>3.1.3 SQL的基本概念</vt:lpstr>
      <vt:lpstr>3.1.3 SQL的基本概念</vt:lpstr>
      <vt:lpstr>3.1.3 SQL的基本概念</vt:lpstr>
      <vt:lpstr>3.1.3 SQL的基本概念</vt:lpstr>
      <vt:lpstr>3.1.3 SQL的基本概念</vt:lpstr>
      <vt:lpstr>本章目录</vt:lpstr>
      <vt:lpstr>3.2 学生－课程数据库（简单通例）</vt:lpstr>
      <vt:lpstr>3.2 学生－课程数据库（简单通例）</vt:lpstr>
      <vt:lpstr>3.2 学生－课程数据库（简单通例）</vt:lpstr>
      <vt:lpstr>3.2 教务数据库（教材示例）</vt:lpstr>
      <vt:lpstr>3.2 教务数据库（教材示例）</vt:lpstr>
      <vt:lpstr>本章目录</vt:lpstr>
      <vt:lpstr>3.3 数据定义</vt:lpstr>
      <vt:lpstr>3.3 数据定义</vt:lpstr>
      <vt:lpstr>3.3.1 模式的定义与删除</vt:lpstr>
      <vt:lpstr>示例</vt:lpstr>
      <vt:lpstr>3.3.1 模式的定义与删除</vt:lpstr>
      <vt:lpstr>3.3.1 模式的定义与删除</vt:lpstr>
      <vt:lpstr>3.3.1 模式的定义与删除</vt:lpstr>
      <vt:lpstr>3.3.2 定义、删除和修改基本表</vt:lpstr>
      <vt:lpstr>3.3.2 定义、删除和修改基本表</vt:lpstr>
      <vt:lpstr>3.3.2 定义、删除和修改基本表</vt:lpstr>
      <vt:lpstr>3.3.2 定义、删除和修改基本表</vt:lpstr>
      <vt:lpstr>3.3.2 定义、删除和修改基本表</vt:lpstr>
      <vt:lpstr>3.3.2 定义、删除和修改基本表</vt:lpstr>
      <vt:lpstr>3.3.2 定义、删除和修改基本表</vt:lpstr>
      <vt:lpstr>3.3.2 定义、删除和修改基本表</vt:lpstr>
      <vt:lpstr>3.3.2 定义、删除和修改基本表</vt:lpstr>
      <vt:lpstr>补 充</vt:lpstr>
      <vt:lpstr>补充  PostgreSQL  “\h alter table”</vt:lpstr>
      <vt:lpstr>补充  PostgreSQL  “\h alter table”</vt:lpstr>
      <vt:lpstr>补充  PostgreSQL  “\h alter table”</vt:lpstr>
      <vt:lpstr>思考：如何解决多个表的相互引用问题？</vt:lpstr>
      <vt:lpstr>思考：如何解决多个表的相互引用问题？</vt:lpstr>
      <vt:lpstr>正确解决方案</vt:lpstr>
      <vt:lpstr>正确解决方案</vt:lpstr>
      <vt:lpstr>3.3.2 定义、删除和修改基本表</vt:lpstr>
      <vt:lpstr>本章目录</vt:lpstr>
      <vt:lpstr>3.4 SQL查询</vt:lpstr>
      <vt:lpstr>3.4 SQL查询</vt:lpstr>
      <vt:lpstr>3.4 SQL查询</vt:lpstr>
      <vt:lpstr>3.4.1 单表(关系)查询 --比较简单</vt:lpstr>
      <vt:lpstr>3.4.1 单表查询</vt:lpstr>
      <vt:lpstr>3.4.1 单表查询</vt:lpstr>
      <vt:lpstr>3.4.1 单表查询</vt:lpstr>
      <vt:lpstr>3.4.1 单表查询</vt:lpstr>
      <vt:lpstr>3.4.1 单表查询</vt:lpstr>
      <vt:lpstr>3.4.1 单表查询</vt:lpstr>
      <vt:lpstr>3.4.1 单表查询</vt:lpstr>
      <vt:lpstr>3.4.1 单表查询</vt:lpstr>
      <vt:lpstr>3.4.1 单表查询</vt:lpstr>
      <vt:lpstr>3.4.1 单表查询</vt:lpstr>
      <vt:lpstr>3.4.1 单表查询</vt:lpstr>
      <vt:lpstr>3.4.1 单表查询</vt:lpstr>
      <vt:lpstr>3.4.1 单表查询</vt:lpstr>
      <vt:lpstr>3.4.1 单表查询</vt:lpstr>
      <vt:lpstr>3.4.1 单表查询</vt:lpstr>
      <vt:lpstr>3.4.1 单表查询</vt:lpstr>
      <vt:lpstr>空值（NULL）的影响(教材3.6)</vt:lpstr>
      <vt:lpstr>空值（NULL）的影响(教材3.6)</vt:lpstr>
      <vt:lpstr>字符串运算(教材3.4.2)</vt:lpstr>
      <vt:lpstr>字符串运算(教材3.4.2)</vt:lpstr>
      <vt:lpstr>字符串运算(教材3.4.2)</vt:lpstr>
      <vt:lpstr>字符串运算(教材3.4.2)</vt:lpstr>
      <vt:lpstr>字符串运算(教材3.4.2)</vt:lpstr>
      <vt:lpstr>字符串运算(教材3.4.2)</vt:lpstr>
      <vt:lpstr>字符串运算(教材3.4.2)</vt:lpstr>
      <vt:lpstr>3.4.1 单表查询</vt:lpstr>
      <vt:lpstr>3.4.1 单表查询</vt:lpstr>
      <vt:lpstr>3.4.1 单表查询</vt:lpstr>
      <vt:lpstr>集合操作(教材3.5)</vt:lpstr>
      <vt:lpstr>集合操作(教材3.5)</vt:lpstr>
      <vt:lpstr>集合操作(教材3.5)</vt:lpstr>
      <vt:lpstr>3.4.1 单表查询</vt:lpstr>
      <vt:lpstr>3.4.1 单表查询</vt:lpstr>
      <vt:lpstr>3.4.1 单表查询-空值(教材3.6)</vt:lpstr>
      <vt:lpstr>3.4.1 单表查询</vt:lpstr>
      <vt:lpstr>3.4.1 单表查询</vt:lpstr>
      <vt:lpstr>3.4.1 单表查询</vt:lpstr>
      <vt:lpstr>3.4.1 单表查询</vt:lpstr>
      <vt:lpstr>3.4.1 单表查询</vt:lpstr>
      <vt:lpstr>3.4.1 单表查询</vt:lpstr>
      <vt:lpstr>3.4.1 单表查询</vt:lpstr>
      <vt:lpstr>3.4.1 单表查询</vt:lpstr>
      <vt:lpstr>3.4.1 单表查询</vt:lpstr>
      <vt:lpstr>3.4.1 单表查询</vt:lpstr>
      <vt:lpstr>3.4.1 单表查询</vt:lpstr>
      <vt:lpstr>3.4.1 单表查询</vt:lpstr>
      <vt:lpstr>3.4.1 单表查询</vt:lpstr>
      <vt:lpstr>3.4.1 单表查询</vt:lpstr>
      <vt:lpstr>3.4.1 单表查询</vt:lpstr>
      <vt:lpstr>3.4.1 单表查询</vt:lpstr>
      <vt:lpstr>3.4.1 单表查询</vt:lpstr>
      <vt:lpstr>3.4.2 多关系查询(教材3.3.2)</vt:lpstr>
      <vt:lpstr>3.4.2 多关系查询</vt:lpstr>
      <vt:lpstr>3.4.3. 嵌套查询(教材3.8)</vt:lpstr>
      <vt:lpstr>3.4.3. 嵌套查询</vt:lpstr>
      <vt:lpstr>3.4.3. 嵌套查询</vt:lpstr>
      <vt:lpstr>3.4.3. 嵌套查询</vt:lpstr>
      <vt:lpstr>3.4.3. 嵌套查询</vt:lpstr>
      <vt:lpstr>3.4.3. 嵌套查询</vt:lpstr>
      <vt:lpstr>3.4.3. 嵌套查询</vt:lpstr>
      <vt:lpstr>3.4.3. 嵌套查询</vt:lpstr>
      <vt:lpstr>3.4.3. 嵌套查询</vt:lpstr>
      <vt:lpstr>3.4.3. 嵌套查询</vt:lpstr>
      <vt:lpstr>3.4.3. 嵌套查询</vt:lpstr>
      <vt:lpstr>3.4.3. 嵌套查询</vt:lpstr>
      <vt:lpstr>3.4.3. 嵌套查询</vt:lpstr>
      <vt:lpstr>3.4.3. 嵌套查询</vt:lpstr>
      <vt:lpstr>3.4.3. 嵌套查询</vt:lpstr>
      <vt:lpstr>3.4.3. 嵌套查询</vt:lpstr>
      <vt:lpstr>3.4.3. 嵌套查询</vt:lpstr>
      <vt:lpstr>3.4.3. 嵌套查询</vt:lpstr>
      <vt:lpstr>3.4.3. 嵌套查询</vt:lpstr>
      <vt:lpstr>3.4.3. 嵌套查询</vt:lpstr>
      <vt:lpstr>3.4.3. 嵌套查询</vt:lpstr>
      <vt:lpstr>3.4.3. 嵌套查询</vt:lpstr>
      <vt:lpstr>3.4.3. 嵌套查询</vt:lpstr>
      <vt:lpstr>3.4.3. 嵌套查询</vt:lpstr>
      <vt:lpstr>3.4.3. 嵌套查询</vt:lpstr>
      <vt:lpstr>相关子查询</vt:lpstr>
      <vt:lpstr>相关子查询</vt:lpstr>
      <vt:lpstr>相关子查询</vt:lpstr>
      <vt:lpstr>相关子查询</vt:lpstr>
      <vt:lpstr>相关子查询</vt:lpstr>
      <vt:lpstr>相关子查询的一般求解过程</vt:lpstr>
      <vt:lpstr>3.4.3. 嵌套查询</vt:lpstr>
      <vt:lpstr>3.4.3. 嵌套查询</vt:lpstr>
      <vt:lpstr>3.4.3. 嵌套查询</vt:lpstr>
      <vt:lpstr>3.4.3. 嵌套查询</vt:lpstr>
      <vt:lpstr>3.4.3. 嵌套查询</vt:lpstr>
      <vt:lpstr>3.4.3. 嵌套查询</vt:lpstr>
      <vt:lpstr>3.4.3. 嵌套查询</vt:lpstr>
      <vt:lpstr>3.4.3. 嵌套查询</vt:lpstr>
      <vt:lpstr>3.4.3. 嵌套查询</vt:lpstr>
      <vt:lpstr>3.4.3. 嵌套查询</vt:lpstr>
      <vt:lpstr>3.4.3. 嵌套查询</vt:lpstr>
      <vt:lpstr>3.4.3. 嵌套查询</vt:lpstr>
      <vt:lpstr>3.4.3. 嵌套查询</vt:lpstr>
      <vt:lpstr>3.4.3. 嵌套查询</vt:lpstr>
      <vt:lpstr>3.4.3. 嵌套查询</vt:lpstr>
      <vt:lpstr>3.4.3. 嵌套查询</vt:lpstr>
      <vt:lpstr>3.4.3. 嵌套查询</vt:lpstr>
      <vt:lpstr>3.4.3. 嵌套查询</vt:lpstr>
      <vt:lpstr>3.4.3. 嵌套查询</vt:lpstr>
      <vt:lpstr>3.4.3. 嵌套查询</vt:lpstr>
      <vt:lpstr>本章目录</vt:lpstr>
      <vt:lpstr>3.5 数据更新(教材3.9)</vt:lpstr>
      <vt:lpstr>3.5.1 删除数据</vt:lpstr>
      <vt:lpstr>3.5.1 删除数据</vt:lpstr>
      <vt:lpstr>3.5.1 删除数据</vt:lpstr>
      <vt:lpstr>3.5.1 删除数据</vt:lpstr>
      <vt:lpstr>3.5.1 删除数据</vt:lpstr>
      <vt:lpstr>3.5.1 删除数据</vt:lpstr>
      <vt:lpstr>3.5.2 插入数据</vt:lpstr>
      <vt:lpstr>3.5.2 插入数据</vt:lpstr>
      <vt:lpstr>3.5.2 插入数据</vt:lpstr>
      <vt:lpstr>3.5.2 插入数据</vt:lpstr>
      <vt:lpstr>3.5.2 插入数据</vt:lpstr>
      <vt:lpstr>3.5.2 插入数据</vt:lpstr>
      <vt:lpstr>3.5.3 修改数据</vt:lpstr>
      <vt:lpstr>3.5.3 修改数据</vt:lpstr>
      <vt:lpstr>3.5.2 修改数据</vt:lpstr>
      <vt:lpstr>3.5.2 修改数据</vt:lpstr>
      <vt:lpstr>3.5.3 修改数据</vt:lpstr>
      <vt:lpstr>3.5.2 修改数据</vt:lpstr>
      <vt:lpstr>Any Question?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lei duan</dc:creator>
  <cp:lastModifiedBy>Administrator</cp:lastModifiedBy>
  <cp:revision>1648</cp:revision>
  <dcterms:created xsi:type="dcterms:W3CDTF">2009-08-07T14:32:50Z</dcterms:created>
  <dcterms:modified xsi:type="dcterms:W3CDTF">2025-09-24T07:32:35Z</dcterms:modified>
</cp:coreProperties>
</file>