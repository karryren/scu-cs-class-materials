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2"/>
    <p:sldId id="297" r:id="rId3"/>
    <p:sldId id="267" r:id="rId4"/>
    <p:sldId id="277" r:id="rId5"/>
    <p:sldId id="283" r:id="rId6"/>
    <p:sldId id="286" r:id="rId7"/>
    <p:sldId id="285" r:id="rId8"/>
    <p:sldId id="273" r:id="rId9"/>
    <p:sldId id="270" r:id="rId10"/>
    <p:sldId id="299" r:id="rId11"/>
    <p:sldId id="300" r:id="rId12"/>
    <p:sldId id="269" r:id="rId13"/>
    <p:sldId id="278" r:id="rId14"/>
    <p:sldId id="279" r:id="rId15"/>
  </p:sldIdLst>
  <p:sldSz cx="12192000" cy="6858000"/>
  <p:notesSz cx="7104063" cy="102346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78" d="100"/>
          <a:sy n="78" d="100"/>
        </p:scale>
        <p:origin x="336" y="62"/>
      </p:cViewPr>
      <p:guideLst>
        <p:guide orient="horz" pos="214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1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2.pn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image" Target="../media/image3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6" Type="http://schemas.openxmlformats.org/officeDocument/2006/relationships/image" Target="../media/image2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image" Target="../media/image2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image" Target="../media/image1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6" Type="http://schemas.openxmlformats.org/officeDocument/2006/relationships/image" Target="../media/image2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image" Target="../media/image2.png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image" Target="../media/image4.png"/><Relationship Id="rId5" Type="http://schemas.openxmlformats.org/officeDocument/2006/relationships/tags" Target="../tags/tag12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2.xml"/><Relationship Id="rId9" Type="http://schemas.openxmlformats.org/officeDocument/2006/relationships/tags" Target="../tags/tag12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image" Target="../media/image2.png"/><Relationship Id="rId2" Type="http://schemas.openxmlformats.org/officeDocument/2006/relationships/tags" Target="../tags/tag15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0" Type="http://schemas.openxmlformats.org/officeDocument/2006/relationships/tags" Target="../tags/tag179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tags" Target="../tags/tag194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5" Type="http://schemas.openxmlformats.org/officeDocument/2006/relationships/tags" Target="../tags/tag18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91.xml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2" Type="http://schemas.openxmlformats.org/officeDocument/2006/relationships/tags" Target="../tags/tag197.xml"/><Relationship Id="rId16" Type="http://schemas.openxmlformats.org/officeDocument/2006/relationships/image" Target="../media/image4.png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tags" Target="../tags/tag227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19" Type="http://schemas.openxmlformats.org/officeDocument/2006/relationships/tags" Target="../tags/tag228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875"/>
          <p:cNvSpPr/>
          <p:nvPr>
            <p:custDataLst>
              <p:tags r:id="rId2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9" name="Shape 1876"/>
          <p:cNvSpPr/>
          <p:nvPr>
            <p:custDataLst>
              <p:tags r:id="rId3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0" name="Shape 1877"/>
          <p:cNvSpPr/>
          <p:nvPr>
            <p:custDataLst>
              <p:tags r:id="rId4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1" name="Shape 1878"/>
          <p:cNvSpPr/>
          <p:nvPr>
            <p:custDataLst>
              <p:tags r:id="rId5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2" name="Shape 1875"/>
          <p:cNvSpPr/>
          <p:nvPr>
            <p:custDataLst>
              <p:tags r:id="rId6"/>
            </p:custDataLst>
          </p:nvPr>
        </p:nvSpPr>
        <p:spPr>
          <a:xfrm>
            <a:off x="9906000" y="6095999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3" name="Shape 1876"/>
          <p:cNvSpPr/>
          <p:nvPr>
            <p:custDataLst>
              <p:tags r:id="rId7"/>
            </p:custDataLst>
          </p:nvPr>
        </p:nvSpPr>
        <p:spPr>
          <a:xfrm>
            <a:off x="10668000" y="609312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192316" y="2475241"/>
            <a:ext cx="7807369" cy="1678919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600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4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6" name="矩形 15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Shape 31"/>
          <p:cNvSpPr/>
          <p:nvPr>
            <p:custDataLst>
              <p:tags r:id="rId2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" name="Shape 32"/>
          <p:cNvSpPr/>
          <p:nvPr>
            <p:custDataLst>
              <p:tags r:id="rId3"/>
            </p:custDataLst>
          </p:nvPr>
        </p:nvSpPr>
        <p:spPr>
          <a:xfrm>
            <a:off x="6858000" y="5334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0" name="Shape 33"/>
          <p:cNvSpPr/>
          <p:nvPr>
            <p:custDataLst>
              <p:tags r:id="rId4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1" name="Shape 36"/>
          <p:cNvSpPr/>
          <p:nvPr>
            <p:custDataLst>
              <p:tags r:id="rId5"/>
            </p:custDataLst>
          </p:nvPr>
        </p:nvSpPr>
        <p:spPr>
          <a:xfrm>
            <a:off x="-1" y="762000"/>
            <a:ext cx="762001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2" name="Shape 38"/>
          <p:cNvSpPr/>
          <p:nvPr>
            <p:custDataLst>
              <p:tags r:id="rId6"/>
            </p:custDataLst>
          </p:nvPr>
        </p:nvSpPr>
        <p:spPr>
          <a:xfrm flipV="1">
            <a:off x="4419600" y="2512933"/>
            <a:ext cx="0" cy="1270001"/>
          </a:xfrm>
          <a:prstGeom prst="line">
            <a:avLst/>
          </a:prstGeom>
          <a:ln w="25400">
            <a:solidFill>
              <a:schemeClr val="accent6">
                <a:hueOff val="-2214564"/>
                <a:satOff val="-18426"/>
                <a:lumOff val="-82901"/>
                <a:alpha val="19618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algn="ctr">
              <a:lnSpc>
                <a:spcPct val="100000"/>
              </a:lnSpc>
              <a:defRPr sz="3200">
                <a:solidFill>
                  <a:schemeClr val="accent6">
                    <a:hueOff val="-2214564"/>
                    <a:satOff val="-18426"/>
                    <a:lumOff val="-82901"/>
                  </a:scheme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3" name="Shape 1883"/>
          <p:cNvSpPr/>
          <p:nvPr>
            <p:custDataLst>
              <p:tags r:id="rId7"/>
            </p:custDataLst>
          </p:nvPr>
        </p:nvSpPr>
        <p:spPr>
          <a:xfrm>
            <a:off x="9906001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1884"/>
          <p:cNvSpPr/>
          <p:nvPr>
            <p:custDataLst>
              <p:tags r:id="rId8"/>
            </p:custDataLst>
          </p:nvPr>
        </p:nvSpPr>
        <p:spPr>
          <a:xfrm>
            <a:off x="6858001" y="5334000"/>
            <a:ext cx="762000" cy="762000"/>
          </a:xfrm>
          <a:prstGeom prst="rect">
            <a:avLst/>
          </a:prstGeom>
          <a:solidFill>
            <a:schemeClr val="accent1"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Shape 1885"/>
          <p:cNvSpPr/>
          <p:nvPr>
            <p:custDataLst>
              <p:tags r:id="rId9"/>
            </p:custDataLst>
          </p:nvPr>
        </p:nvSpPr>
        <p:spPr>
          <a:xfrm>
            <a:off x="10668001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Shape 1888"/>
          <p:cNvSpPr/>
          <p:nvPr>
            <p:custDataLst>
              <p:tags r:id="rId10"/>
            </p:custDataLst>
          </p:nvPr>
        </p:nvSpPr>
        <p:spPr>
          <a:xfrm>
            <a:off x="0" y="762000"/>
            <a:ext cx="762001" cy="762000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Shape 1889"/>
          <p:cNvSpPr/>
          <p:nvPr>
            <p:custDataLst>
              <p:tags r:id="rId11"/>
            </p:custDataLst>
          </p:nvPr>
        </p:nvSpPr>
        <p:spPr>
          <a:xfrm>
            <a:off x="11430001" y="228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Shape 1890"/>
          <p:cNvSpPr/>
          <p:nvPr>
            <p:custDataLst>
              <p:tags r:id="rId12"/>
            </p:custDataLst>
          </p:nvPr>
        </p:nvSpPr>
        <p:spPr>
          <a:xfrm flipV="1">
            <a:off x="4419601" y="2512933"/>
            <a:ext cx="0" cy="1270001"/>
          </a:xfrm>
          <a:prstGeom prst="line">
            <a:avLst/>
          </a:prstGeom>
          <a:ln w="25400">
            <a:solidFill>
              <a:schemeClr val="accent1">
                <a:alpha val="20000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ctr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DCD5CB">
                    <a:hueOff val="-2214564"/>
                    <a:satOff val="-18426"/>
                    <a:lumOff val="-82901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26"/>
                  <a:lumOff val="-82901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4629151" y="2247900"/>
            <a:ext cx="5448297" cy="9283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629146" y="3220085"/>
            <a:ext cx="5448297" cy="147002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1" name="Picture 1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15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6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78"/>
          <p:cNvSpPr/>
          <p:nvPr>
            <p:custDataLst>
              <p:tags r:id="rId1"/>
            </p:custDataLst>
          </p:nvPr>
        </p:nvSpPr>
        <p:spPr>
          <a:xfrm>
            <a:off x="4568825" y="6985"/>
            <a:ext cx="7620000" cy="6861810"/>
          </a:xfrm>
          <a:prstGeom prst="rect">
            <a:avLst/>
          </a:prstGeom>
          <a:solidFill>
            <a:schemeClr val="bg2">
              <a:lumMod val="95000"/>
              <a:alpha val="5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000">
                <a:solidFill>
                  <a:schemeClr val="accent6">
                    <a:hueOff val="-2214564"/>
                    <a:satOff val="-18426"/>
                    <a:lumOff val="-82901"/>
                    <a:alpha val="70145"/>
                  </a:schemeClr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pic>
        <p:nvPicPr>
          <p:cNvPr id="7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924"/>
          <p:cNvSpPr/>
          <p:nvPr>
            <p:custDataLst>
              <p:tags r:id="rId3"/>
            </p:custDataLst>
          </p:nvPr>
        </p:nvSpPr>
        <p:spPr>
          <a:xfrm>
            <a:off x="9906000" y="6135339"/>
            <a:ext cx="762000" cy="762001"/>
          </a:xfrm>
          <a:prstGeom prst="rect">
            <a:avLst/>
          </a:prstGeom>
          <a:solidFill>
            <a:schemeClr val="accent3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Shape 1926"/>
          <p:cNvSpPr/>
          <p:nvPr>
            <p:custDataLst>
              <p:tags r:id="rId4"/>
            </p:custDataLst>
          </p:nvPr>
        </p:nvSpPr>
        <p:spPr>
          <a:xfrm>
            <a:off x="10668000" y="613246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Shape 1929"/>
          <p:cNvSpPr/>
          <p:nvPr>
            <p:custDataLst>
              <p:tags r:id="rId5"/>
            </p:custDataLst>
          </p:nvPr>
        </p:nvSpPr>
        <p:spPr>
          <a:xfrm>
            <a:off x="0" y="763439"/>
            <a:ext cx="762001" cy="762000"/>
          </a:xfrm>
          <a:prstGeom prst="rect">
            <a:avLst/>
          </a:prstGeom>
          <a:solidFill>
            <a:schemeClr val="accent5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Shape 1930"/>
          <p:cNvSpPr/>
          <p:nvPr>
            <p:custDataLst>
              <p:tags r:id="rId6"/>
            </p:custDataLst>
          </p:nvPr>
        </p:nvSpPr>
        <p:spPr>
          <a:xfrm>
            <a:off x="11430001" y="229969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1925"/>
          <p:cNvSpPr/>
          <p:nvPr>
            <p:custDataLst>
              <p:tags r:id="rId7"/>
            </p:custDataLst>
          </p:nvPr>
        </p:nvSpPr>
        <p:spPr>
          <a:xfrm>
            <a:off x="6854382" y="5350617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2022/11/30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0" name="矩形 9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0" name="矩形 9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8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9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972"/>
          <p:cNvSpPr/>
          <p:nvPr>
            <p:custDataLst>
              <p:tags r:id="rId1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Shape 2973"/>
          <p:cNvSpPr/>
          <p:nvPr>
            <p:custDataLst>
              <p:tags r:id="rId2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Shape 2974"/>
          <p:cNvSpPr/>
          <p:nvPr>
            <p:custDataLst>
              <p:tags r:id="rId3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Shape 2975"/>
          <p:cNvSpPr/>
          <p:nvPr>
            <p:custDataLst>
              <p:tags r:id="rId4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Shape 2972"/>
          <p:cNvSpPr/>
          <p:nvPr>
            <p:custDataLst>
              <p:tags r:id="rId5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Shape 2973"/>
          <p:cNvSpPr/>
          <p:nvPr>
            <p:custDataLst>
              <p:tags r:id="rId6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2974"/>
          <p:cNvSpPr/>
          <p:nvPr>
            <p:custDataLst>
              <p:tags r:id="rId7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Shape 2975"/>
          <p:cNvSpPr/>
          <p:nvPr>
            <p:custDataLst>
              <p:tags r:id="rId8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6"/>
              <a:lumOff val="-82901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2977"/>
          <p:cNvSpPr/>
          <p:nvPr>
            <p:custDataLst>
              <p:tags r:id="rId9"/>
            </p:custDataLst>
          </p:nvPr>
        </p:nvSpPr>
        <p:spPr>
          <a:xfrm>
            <a:off x="4317851" y="1650851"/>
            <a:ext cx="3556298" cy="3556298"/>
          </a:xfrm>
          <a:prstGeom prst="ellipse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DCD5CB">
                    <a:hueOff val="-2214564"/>
                    <a:satOff val="-18426"/>
                    <a:lumOff val="-82901"/>
                    <a:alpha val="70145"/>
                  </a:srgbClr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26"/>
                  <a:lumOff val="-82901"/>
                  <a:alpha val="70145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317851" y="2114551"/>
            <a:ext cx="3556298" cy="264795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</a:t>
            </a:r>
            <a:br>
              <a:rPr lang="en-US" altLang="zh-CN" dirty="0">
                <a:sym typeface="+mn-ea"/>
              </a:rPr>
            </a:b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ym typeface="+mn-ea"/>
              </a:rPr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-635" y="5125720"/>
            <a:ext cx="12192635" cy="1726565"/>
            <a:chOff x="-635" y="5125720"/>
            <a:chExt cx="12192635" cy="1726565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pic>
          <p:nvPicPr>
            <p:cNvPr id="7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14995" y="5125720"/>
              <a:ext cx="3977005" cy="172656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46800"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1" y="-3810"/>
            <a:ext cx="4866885" cy="6866255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7080" y="770255"/>
            <a:ext cx="4115435" cy="882015"/>
          </a:xfrm>
          <a:noFill/>
        </p:spPr>
        <p:txBody>
          <a:bodyPr lIns="90000" tIns="46800" rIns="90000" bIns="46800"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80890" y="1764030"/>
            <a:ext cx="4111625" cy="4093210"/>
          </a:xfrm>
          <a:noFill/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5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-635" y="0"/>
            <a:ext cx="12192000" cy="26640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619200"/>
            <a:ext cx="10976400" cy="7884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3" name="矩形 12"/>
              <p:cNvSpPr/>
              <p:nvPr userDrawn="1">
                <p:custDataLst>
                  <p:tags r:id="rId10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462915"/>
            <a:ext cx="10976400" cy="771885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6" name="组合 15"/>
          <p:cNvGrpSpPr/>
          <p:nvPr>
            <p:custDataLst>
              <p:tags r:id="rId8"/>
            </p:custDataLst>
          </p:nvPr>
        </p:nvGrpSpPr>
        <p:grpSpPr>
          <a:xfrm>
            <a:off x="11217275" y="-3810"/>
            <a:ext cx="974090" cy="907415"/>
            <a:chOff x="11217275" y="-3810"/>
            <a:chExt cx="974090" cy="907415"/>
          </a:xfrm>
        </p:grpSpPr>
        <p:sp>
          <p:nvSpPr>
            <p:cNvPr id="17" name="矩形 16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11685270" y="455930"/>
              <a:ext cx="271780" cy="2330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11957685" y="2311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1"/>
              </p:custDataLst>
            </p:nvPr>
          </p:nvSpPr>
          <p:spPr>
            <a:xfrm flipV="1">
              <a:off x="11957050" y="66992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>
              <p:custDataLst>
                <p:tags r:id="rId12"/>
              </p:custDataLst>
            </p:nvPr>
          </p:nvSpPr>
          <p:spPr>
            <a:xfrm flipV="1">
              <a:off x="11450955" y="22923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13"/>
              </p:custDataLst>
            </p:nvPr>
          </p:nvSpPr>
          <p:spPr>
            <a:xfrm flipV="1">
              <a:off x="11685270" y="-3810"/>
              <a:ext cx="271780" cy="2330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>
              <p:custDataLst>
                <p:tags r:id="rId14"/>
              </p:custDataLst>
            </p:nvPr>
          </p:nvSpPr>
          <p:spPr>
            <a:xfrm flipV="1">
              <a:off x="11217275" y="-25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133095"/>
            <a:ext cx="11037600" cy="670167"/>
          </a:xfrm>
        </p:spPr>
        <p:txBody>
          <a:bodyPr lIns="90000" tIns="46800" rIns="90000" bIns="46800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-635" y="1598295"/>
            <a:ext cx="12192415" cy="5253990"/>
            <a:chOff x="-635" y="1598295"/>
            <a:chExt cx="12192415" cy="5253990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 userDrawn="1"/>
          </p:nvGrpSpPr>
          <p:grpSpPr>
            <a:xfrm>
              <a:off x="11892915" y="1598295"/>
              <a:ext cx="298865" cy="1209455"/>
              <a:chOff x="11892915" y="1598295"/>
              <a:chExt cx="298865" cy="1209455"/>
            </a:xfrm>
          </p:grpSpPr>
          <p:sp>
            <p:nvSpPr>
              <p:cNvPr id="23" name="矩形 22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1892915" y="205397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 userDrawn="1">
                <p:custDataLst>
                  <p:tags r:id="rId13"/>
                </p:custDataLst>
              </p:nvPr>
            </p:nvSpPr>
            <p:spPr>
              <a:xfrm>
                <a:off x="11892915" y="159829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 userDrawn="1">
                <p:custDataLst>
                  <p:tags r:id="rId14"/>
                </p:custDataLst>
              </p:nvPr>
            </p:nvSpPr>
            <p:spPr>
              <a:xfrm>
                <a:off x="11892915" y="250798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-116657" y="2726286"/>
            <a:ext cx="12414798" cy="1240236"/>
            <a:chOff x="-116657" y="2726286"/>
            <a:chExt cx="12414798" cy="1240236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-116657" y="2726286"/>
              <a:ext cx="577659" cy="1240236"/>
              <a:chOff x="-116657" y="2874445"/>
              <a:chExt cx="577659" cy="1240236"/>
            </a:xfrm>
          </p:grpSpPr>
          <p:sp>
            <p:nvSpPr>
              <p:cNvPr id="37" name="任意多边形: 形状 36"/>
              <p:cNvSpPr/>
              <p:nvPr userDrawn="1">
                <p:custDataLst>
                  <p:tags r:id="rId14"/>
                </p:custDataLst>
              </p:nvPr>
            </p:nvSpPr>
            <p:spPr>
              <a:xfrm rot="13620000" flipH="1">
                <a:off x="-128691" y="3543424"/>
                <a:ext cx="271780" cy="233045"/>
              </a:xfrm>
              <a:custGeom>
                <a:avLst/>
                <a:gdLst>
                  <a:gd name="connsiteX0" fmla="*/ 0 w 271780"/>
                  <a:gd name="connsiteY0" fmla="*/ 233045 h 233045"/>
                  <a:gd name="connsiteX1" fmla="*/ 271780 w 271780"/>
                  <a:gd name="connsiteY1" fmla="*/ 233045 h 233045"/>
                  <a:gd name="connsiteX2" fmla="*/ 271780 w 271780"/>
                  <a:gd name="connsiteY2" fmla="*/ 0 h 233045"/>
                  <a:gd name="connsiteX3" fmla="*/ 232653 w 271780"/>
                  <a:gd name="connsiteY3" fmla="*/ 0 h 233045"/>
                  <a:gd name="connsiteX4" fmla="*/ 0 w 271780"/>
                  <a:gd name="connsiteY4" fmla="*/ 216952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80" h="233045">
                    <a:moveTo>
                      <a:pt x="0" y="233045"/>
                    </a:moveTo>
                    <a:lnTo>
                      <a:pt x="271780" y="233045"/>
                    </a:lnTo>
                    <a:lnTo>
                      <a:pt x="271780" y="0"/>
                    </a:lnTo>
                    <a:lnTo>
                      <a:pt x="232653" y="0"/>
                    </a:lnTo>
                    <a:lnTo>
                      <a:pt x="0" y="21695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 userDrawn="1">
                <p:custDataLst>
                  <p:tags r:id="rId15"/>
                </p:custDataLst>
              </p:nvPr>
            </p:nvSpPr>
            <p:spPr>
              <a:xfrm rot="13620000" flipH="1">
                <a:off x="227322" y="3575316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>
                <p:custDataLst>
                  <p:tags r:id="rId16"/>
                </p:custDataLst>
              </p:nvPr>
            </p:nvSpPr>
            <p:spPr>
              <a:xfrm rot="13587297" flipH="1">
                <a:off x="-113169" y="3880684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16839 w 234315"/>
                  <a:gd name="connsiteY3" fmla="*/ 0 h 233680"/>
                  <a:gd name="connsiteX4" fmla="*/ 0 w 234315"/>
                  <a:gd name="connsiteY4" fmla="*/ 206097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16839" y="0"/>
                    </a:lnTo>
                    <a:lnTo>
                      <a:pt x="0" y="20609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 userDrawn="1">
                <p:custDataLst>
                  <p:tags r:id="rId17"/>
                </p:custDataLst>
              </p:nvPr>
            </p:nvSpPr>
            <p:spPr>
              <a:xfrm rot="13620000" flipH="1">
                <a:off x="-116975" y="3203650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24549 w 234315"/>
                  <a:gd name="connsiteY3" fmla="*/ 0 h 233680"/>
                  <a:gd name="connsiteX4" fmla="*/ 0 w 234315"/>
                  <a:gd name="connsiteY4" fmla="*/ 209395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24549" y="0"/>
                    </a:lnTo>
                    <a:lnTo>
                      <a:pt x="0" y="209395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 userDrawn="1">
                <p:custDataLst>
                  <p:tags r:id="rId18"/>
                </p:custDataLst>
              </p:nvPr>
            </p:nvSpPr>
            <p:spPr>
              <a:xfrm rot="13620000" flipH="1">
                <a:off x="207541" y="3229882"/>
                <a:ext cx="271780" cy="23304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 userDrawn="1">
                <p:custDataLst>
                  <p:tags r:id="rId19"/>
                </p:custDataLst>
              </p:nvPr>
            </p:nvSpPr>
            <p:spPr>
              <a:xfrm rot="13620000" flipH="1">
                <a:off x="-106734" y="2874445"/>
                <a:ext cx="233680" cy="233680"/>
              </a:xfrm>
              <a:custGeom>
                <a:avLst/>
                <a:gdLst>
                  <a:gd name="connsiteX0" fmla="*/ 0 w 233680"/>
                  <a:gd name="connsiteY0" fmla="*/ 233680 h 233680"/>
                  <a:gd name="connsiteX1" fmla="*/ 233680 w 233680"/>
                  <a:gd name="connsiteY1" fmla="*/ 233680 h 233680"/>
                  <a:gd name="connsiteX2" fmla="*/ 233680 w 233680"/>
                  <a:gd name="connsiteY2" fmla="*/ 0 h 233680"/>
                  <a:gd name="connsiteX3" fmla="*/ 209681 w 233680"/>
                  <a:gd name="connsiteY3" fmla="*/ 0 h 233680"/>
                  <a:gd name="connsiteX4" fmla="*/ 0 w 233680"/>
                  <a:gd name="connsiteY4" fmla="*/ 195531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680" h="233680">
                    <a:moveTo>
                      <a:pt x="0" y="233680"/>
                    </a:moveTo>
                    <a:lnTo>
                      <a:pt x="233680" y="233680"/>
                    </a:lnTo>
                    <a:lnTo>
                      <a:pt x="233680" y="0"/>
                    </a:lnTo>
                    <a:lnTo>
                      <a:pt x="209681" y="0"/>
                    </a:lnTo>
                    <a:lnTo>
                      <a:pt x="0" y="1955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 userDrawn="1"/>
          </p:nvGrpSpPr>
          <p:grpSpPr>
            <a:xfrm flipH="1">
              <a:off x="11720482" y="2726286"/>
              <a:ext cx="577659" cy="1240236"/>
              <a:chOff x="-116657" y="2874445"/>
              <a:chExt cx="577659" cy="1240236"/>
            </a:xfrm>
          </p:grpSpPr>
          <p:sp>
            <p:nvSpPr>
              <p:cNvPr id="43" name="任意多边形: 形状 42"/>
              <p:cNvSpPr/>
              <p:nvPr userDrawn="1">
                <p:custDataLst>
                  <p:tags r:id="rId8"/>
                </p:custDataLst>
              </p:nvPr>
            </p:nvSpPr>
            <p:spPr>
              <a:xfrm rot="13620000" flipH="1">
                <a:off x="-128691" y="3543424"/>
                <a:ext cx="271780" cy="233045"/>
              </a:xfrm>
              <a:custGeom>
                <a:avLst/>
                <a:gdLst>
                  <a:gd name="connsiteX0" fmla="*/ 0 w 271780"/>
                  <a:gd name="connsiteY0" fmla="*/ 233045 h 233045"/>
                  <a:gd name="connsiteX1" fmla="*/ 271780 w 271780"/>
                  <a:gd name="connsiteY1" fmla="*/ 233045 h 233045"/>
                  <a:gd name="connsiteX2" fmla="*/ 271780 w 271780"/>
                  <a:gd name="connsiteY2" fmla="*/ 0 h 233045"/>
                  <a:gd name="connsiteX3" fmla="*/ 232653 w 271780"/>
                  <a:gd name="connsiteY3" fmla="*/ 0 h 233045"/>
                  <a:gd name="connsiteX4" fmla="*/ 0 w 271780"/>
                  <a:gd name="connsiteY4" fmla="*/ 216952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80" h="233045">
                    <a:moveTo>
                      <a:pt x="0" y="233045"/>
                    </a:moveTo>
                    <a:lnTo>
                      <a:pt x="271780" y="233045"/>
                    </a:lnTo>
                    <a:lnTo>
                      <a:pt x="271780" y="0"/>
                    </a:lnTo>
                    <a:lnTo>
                      <a:pt x="232653" y="0"/>
                    </a:lnTo>
                    <a:lnTo>
                      <a:pt x="0" y="21695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 userDrawn="1">
                <p:custDataLst>
                  <p:tags r:id="rId9"/>
                </p:custDataLst>
              </p:nvPr>
            </p:nvSpPr>
            <p:spPr>
              <a:xfrm rot="13620000" flipH="1">
                <a:off x="227322" y="3575316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 userDrawn="1">
                <p:custDataLst>
                  <p:tags r:id="rId10"/>
                </p:custDataLst>
              </p:nvPr>
            </p:nvSpPr>
            <p:spPr>
              <a:xfrm rot="13587297" flipH="1">
                <a:off x="-113169" y="3880684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16839 w 234315"/>
                  <a:gd name="connsiteY3" fmla="*/ 0 h 233680"/>
                  <a:gd name="connsiteX4" fmla="*/ 0 w 234315"/>
                  <a:gd name="connsiteY4" fmla="*/ 206097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16839" y="0"/>
                    </a:lnTo>
                    <a:lnTo>
                      <a:pt x="0" y="20609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 userDrawn="1">
                <p:custDataLst>
                  <p:tags r:id="rId11"/>
                </p:custDataLst>
              </p:nvPr>
            </p:nvSpPr>
            <p:spPr>
              <a:xfrm rot="13620000" flipH="1">
                <a:off x="-116975" y="3203650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24549 w 234315"/>
                  <a:gd name="connsiteY3" fmla="*/ 0 h 233680"/>
                  <a:gd name="connsiteX4" fmla="*/ 0 w 234315"/>
                  <a:gd name="connsiteY4" fmla="*/ 209395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24549" y="0"/>
                    </a:lnTo>
                    <a:lnTo>
                      <a:pt x="0" y="209395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 userDrawn="1">
                <p:custDataLst>
                  <p:tags r:id="rId12"/>
                </p:custDataLst>
              </p:nvPr>
            </p:nvSpPr>
            <p:spPr>
              <a:xfrm rot="13620000" flipH="1">
                <a:off x="207541" y="3229882"/>
                <a:ext cx="271780" cy="23304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 userDrawn="1">
                <p:custDataLst>
                  <p:tags r:id="rId13"/>
                </p:custDataLst>
              </p:nvPr>
            </p:nvSpPr>
            <p:spPr>
              <a:xfrm rot="13620000" flipH="1">
                <a:off x="-106734" y="2874445"/>
                <a:ext cx="233680" cy="233680"/>
              </a:xfrm>
              <a:custGeom>
                <a:avLst/>
                <a:gdLst>
                  <a:gd name="connsiteX0" fmla="*/ 0 w 233680"/>
                  <a:gd name="connsiteY0" fmla="*/ 233680 h 233680"/>
                  <a:gd name="connsiteX1" fmla="*/ 233680 w 233680"/>
                  <a:gd name="connsiteY1" fmla="*/ 233680 h 233680"/>
                  <a:gd name="connsiteX2" fmla="*/ 233680 w 233680"/>
                  <a:gd name="connsiteY2" fmla="*/ 0 h 233680"/>
                  <a:gd name="connsiteX3" fmla="*/ 209681 w 233680"/>
                  <a:gd name="connsiteY3" fmla="*/ 0 h 233680"/>
                  <a:gd name="connsiteX4" fmla="*/ 0 w 233680"/>
                  <a:gd name="connsiteY4" fmla="*/ 195531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680" h="233680">
                    <a:moveTo>
                      <a:pt x="0" y="233680"/>
                    </a:moveTo>
                    <a:lnTo>
                      <a:pt x="233680" y="233680"/>
                    </a:lnTo>
                    <a:lnTo>
                      <a:pt x="233680" y="0"/>
                    </a:lnTo>
                    <a:lnTo>
                      <a:pt x="209681" y="0"/>
                    </a:lnTo>
                    <a:lnTo>
                      <a:pt x="0" y="1955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7B400-BDC3-4630-8C09-4784A53BC788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D8896-DE39-423B-BDBD-3425063AD6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Relationship Id="rId30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9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7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8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938376" y="2402540"/>
            <a:ext cx="8315247" cy="712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数字逻辑实验</a:t>
            </a:r>
            <a:r>
              <a:rPr lang="en-US" altLang="zh-CN" sz="4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</a:t>
            </a:r>
            <a:r>
              <a:rPr lang="zh-CN" altLang="en-US" sz="4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：寄存器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445" b="0">
                <a:latin typeface="等线" panose="02010600030101010101" charset="-122"/>
                <a:ea typeface="等线" panose="02010600030101010101" charset="-122"/>
              </a:rPr>
              <a:t>实验要求</a:t>
            </a:r>
            <a:endParaRPr lang="en-US" altLang="zh-CN" sz="4445" b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5" y="1126490"/>
            <a:ext cx="9916160" cy="5098415"/>
          </a:xfrm>
        </p:spPr>
        <p:txBody>
          <a:bodyPr>
            <a:noAutofit/>
          </a:bodyPr>
          <a:lstStyle/>
          <a:p>
            <a:pPr marL="0" algn="l">
              <a:buClrTx/>
              <a:buSzTx/>
              <a:buNone/>
            </a:pPr>
            <a:r>
              <a:rPr lang="zh-CN" altLang="en-US" sz="2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内容：</a:t>
            </a: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设计一个 </a:t>
            </a:r>
            <a:r>
              <a:rPr lang="zh-CN" altLang="en-US" sz="26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4 位并行输入并行输出</a:t>
            </a:r>
            <a:r>
              <a:rPr lang="zh-CN" altLang="en-US" sz="2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寄存器</a:t>
            </a: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设计一个 </a:t>
            </a:r>
            <a:r>
              <a:rPr lang="zh-CN" altLang="en-US" sz="26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4 位循环移位</a:t>
            </a:r>
            <a:r>
              <a:rPr lang="zh-CN" altLang="en-US" sz="2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寄存器</a:t>
            </a: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2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l">
              <a:buNone/>
            </a:pPr>
            <a:r>
              <a:rPr lang="zh-CN" altLang="en-US" sz="2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注意：</a:t>
            </a:r>
          </a:p>
          <a:p>
            <a:pPr lvl="0" algn="l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详细设计过程</a:t>
            </a:r>
          </a:p>
          <a:p>
            <a:pPr lvl="0" algn="l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原理图、引脚分配等重要步骤的截图以及说明</a:t>
            </a:r>
          </a:p>
          <a:p>
            <a:pPr lvl="0" algn="l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进行板级验证，填写实验结果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Exp1. 4</a:t>
            </a:r>
            <a:r>
              <a:rPr>
                <a:sym typeface="+mn-ea"/>
              </a:rPr>
              <a:t>位并行输入</a:t>
            </a:r>
            <a:r>
              <a:rPr lang="en-US" altLang="zh-CN">
                <a:sym typeface="+mn-ea"/>
              </a:rPr>
              <a:t>/</a:t>
            </a:r>
            <a:r>
              <a:rPr>
                <a:sym typeface="+mn-ea"/>
              </a:rPr>
              <a:t>输出寄存器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功能示意图</a:t>
            </a:r>
          </a:p>
          <a:p>
            <a:pPr lvl="1"/>
            <a:r>
              <a:rPr lang="en-US" altLang="zh-CN" dirty="0"/>
              <a:t>Clock</a:t>
            </a:r>
            <a:r>
              <a:rPr dirty="0"/>
              <a:t>：时钟输入端</a:t>
            </a:r>
          </a:p>
          <a:p>
            <a:pPr lvl="1"/>
            <a:r>
              <a:rPr lang="en-US" altLang="zh-CN" dirty="0"/>
              <a:t>Clear</a:t>
            </a:r>
            <a:r>
              <a:rPr dirty="0"/>
              <a:t>：清零端</a:t>
            </a:r>
            <a:r>
              <a:rPr lang="en-US" altLang="zh-CN" dirty="0"/>
              <a:t>(</a:t>
            </a:r>
            <a:r>
              <a:rPr dirty="0"/>
              <a:t>低有效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0</a:t>
            </a:r>
            <a:r>
              <a:rPr dirty="0">
                <a:sym typeface="+mn-ea"/>
              </a:rPr>
              <a:t>：数据输入端</a:t>
            </a:r>
          </a:p>
          <a:p>
            <a:pPr lvl="1"/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3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0</a:t>
            </a:r>
            <a:r>
              <a:rPr dirty="0">
                <a:sym typeface="+mn-ea"/>
              </a:rPr>
              <a:t>：数据输出端</a:t>
            </a:r>
          </a:p>
          <a:p>
            <a:pPr lvl="0"/>
            <a:r>
              <a:rPr dirty="0">
                <a:sym typeface="+mn-ea"/>
              </a:rPr>
              <a:t>功能描述</a:t>
            </a:r>
          </a:p>
          <a:p>
            <a:pPr lvl="1"/>
            <a:r>
              <a:rPr lang="zh-CN" altLang="en-US" dirty="0"/>
              <a:t>在每个时钟的上升沿，</a:t>
            </a:r>
            <a:r>
              <a:rPr lang="en-US" altLang="zh-CN" dirty="0"/>
              <a:t>4</a:t>
            </a:r>
            <a:r>
              <a:rPr dirty="0"/>
              <a:t>位数据</a:t>
            </a:r>
            <a:r>
              <a:rPr lang="en-US" altLang="zh-CN" dirty="0"/>
              <a:t>(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3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D</a:t>
            </a:r>
            <a:r>
              <a:rPr lang="en-US" altLang="zh-CN" baseline="-25000" dirty="0">
                <a:sym typeface="+mn-ea"/>
              </a:rPr>
              <a:t>0</a:t>
            </a:r>
            <a:r>
              <a:rPr lang="en-US" altLang="zh-CN" dirty="0"/>
              <a:t>)</a:t>
            </a:r>
            <a:r>
              <a:rPr dirty="0"/>
              <a:t>同步输出到</a:t>
            </a:r>
            <a:r>
              <a:rPr lang="en-US" altLang="zh-CN" dirty="0"/>
              <a:t>4</a:t>
            </a:r>
            <a:r>
              <a:rPr dirty="0"/>
              <a:t>位输出端</a:t>
            </a:r>
            <a:r>
              <a:rPr lang="en-US" altLang="zh-CN" dirty="0"/>
              <a:t>(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3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Q</a:t>
            </a:r>
            <a:r>
              <a:rPr lang="en-US" altLang="zh-CN" baseline="-25000" dirty="0">
                <a:sym typeface="+mn-ea"/>
              </a:rPr>
              <a:t>0</a:t>
            </a:r>
            <a:r>
              <a:rPr lang="en-US" altLang="zh-CN" dirty="0"/>
              <a:t>)</a:t>
            </a:r>
            <a:r>
              <a:rPr dirty="0"/>
              <a:t>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电路原理图</a:t>
            </a:r>
          </a:p>
          <a:p>
            <a:pPr lvl="1"/>
            <a:r>
              <a:rPr lang="en-US" altLang="zh-CN" sz="1400"/>
              <a:t>4</a:t>
            </a:r>
            <a:r>
              <a:rPr lang="zh-CN" altLang="en-US" sz="1400"/>
              <a:t>个并联的</a:t>
            </a:r>
            <a:r>
              <a:rPr lang="en-US" altLang="zh-CN" sz="1400"/>
              <a:t>D</a:t>
            </a:r>
            <a:r>
              <a:rPr lang="zh-CN" altLang="en-US" sz="1400"/>
              <a:t>触发器</a:t>
            </a:r>
          </a:p>
        </p:txBody>
      </p:sp>
      <p:graphicFrame>
        <p:nvGraphicFramePr>
          <p:cNvPr id="14" name="对象 13"/>
          <p:cNvGraphicFramePr/>
          <p:nvPr/>
        </p:nvGraphicFramePr>
        <p:xfrm>
          <a:off x="1493520" y="4376420"/>
          <a:ext cx="2023110" cy="2299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68600" imgH="3619500" progId="Visio.Drawing.11">
                  <p:embed/>
                </p:oleObj>
              </mc:Choice>
              <mc:Fallback>
                <p:oleObj r:id="rId3" imgW="2768600" imgH="3619500" progId="Visio.Drawing.11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3520" y="4376420"/>
                        <a:ext cx="2023110" cy="2299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"/>
          <p:cNvPicPr>
            <a:picLocks noChangeAspect="1" noChangeArrowheads="1"/>
          </p:cNvPicPr>
          <p:nvPr/>
        </p:nvPicPr>
        <p:blipFill>
          <a:blip r:embed="rId5" cstate="print"/>
          <a:srcRect l="2410" t="635" r="45833" b="4881"/>
          <a:stretch>
            <a:fillRect/>
          </a:stretch>
        </p:blipFill>
        <p:spPr>
          <a:xfrm>
            <a:off x="7510145" y="1758950"/>
            <a:ext cx="3095625" cy="4916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Exp1. 4</a:t>
            </a:r>
            <a:r>
              <a:rPr dirty="0">
                <a:sym typeface="+mn-ea"/>
              </a:rPr>
              <a:t>位并行输入</a:t>
            </a:r>
            <a:r>
              <a:rPr lang="en-US" altLang="zh-CN" dirty="0">
                <a:sym typeface="+mn-ea"/>
              </a:rPr>
              <a:t>/</a:t>
            </a:r>
            <a:r>
              <a:rPr dirty="0">
                <a:sym typeface="+mn-ea"/>
              </a:rPr>
              <a:t>输出寄存器</a:t>
            </a:r>
            <a:br>
              <a:rPr dirty="0">
                <a:sym typeface="+mn-ea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 err="1"/>
              <a:t>Vivado</a:t>
            </a:r>
            <a:r>
              <a:rPr dirty="0"/>
              <a:t>中</a:t>
            </a:r>
            <a:r>
              <a:rPr lang="en-US" altLang="zh-CN" dirty="0"/>
              <a:t>Block Design</a:t>
            </a:r>
            <a:r>
              <a:rPr dirty="0"/>
              <a:t>的电路原理图</a:t>
            </a:r>
            <a:r>
              <a:rPr lang="en-US" altLang="zh-CN" dirty="0"/>
              <a:t>(</a:t>
            </a:r>
            <a:r>
              <a:rPr lang="en-US" altLang="zh-CN" dirty="0" err="1"/>
              <a:t>Schemetic</a:t>
            </a:r>
            <a:r>
              <a:rPr lang="en-US" altLang="zh-CN" dirty="0"/>
              <a:t> Diagram)</a:t>
            </a:r>
          </a:p>
          <a:p>
            <a:pPr lvl="1"/>
            <a:r>
              <a:rPr lang="en-US" altLang="zh-CN" dirty="0"/>
              <a:t>D_FF</a:t>
            </a:r>
            <a:r>
              <a:rPr dirty="0"/>
              <a:t>：</a:t>
            </a:r>
            <a:r>
              <a:rPr lang="en-US" altLang="zh-CN" dirty="0"/>
              <a:t>D</a:t>
            </a:r>
            <a:r>
              <a:rPr dirty="0"/>
              <a:t>触发器</a:t>
            </a:r>
          </a:p>
          <a:p>
            <a:pPr lvl="2"/>
            <a:r>
              <a:rPr dirty="0"/>
              <a:t>触发边沿</a:t>
            </a:r>
          </a:p>
          <a:p>
            <a:pPr lvl="3"/>
            <a:r>
              <a:rPr dirty="0"/>
              <a:t>上升沿</a:t>
            </a:r>
            <a:r>
              <a:rPr lang="en-US" altLang="zh-CN" dirty="0"/>
              <a:t>(Rising Edge)</a:t>
            </a:r>
          </a:p>
          <a:p>
            <a:pPr lvl="3"/>
            <a:r>
              <a:rPr dirty="0">
                <a:sym typeface="+mn-ea"/>
              </a:rPr>
              <a:t>下升沿</a:t>
            </a:r>
            <a:r>
              <a:rPr lang="en-US" altLang="zh-CN" dirty="0">
                <a:sym typeface="+mn-ea"/>
              </a:rPr>
              <a:t>(Falling Edge)</a:t>
            </a:r>
          </a:p>
          <a:p>
            <a:pPr lvl="2"/>
            <a:r>
              <a:rPr dirty="0"/>
              <a:t>清零端：</a:t>
            </a:r>
            <a:r>
              <a:rPr lang="en-US" altLang="zh-CN" dirty="0" err="1"/>
              <a:t>CLR_n</a:t>
            </a:r>
            <a:endParaRPr lang="en-US" altLang="zh-CN" dirty="0"/>
          </a:p>
          <a:p>
            <a:pPr lvl="3"/>
            <a:r>
              <a:rPr dirty="0"/>
              <a:t>低有效</a:t>
            </a:r>
          </a:p>
          <a:p>
            <a:pPr lvl="2"/>
            <a:r>
              <a:rPr dirty="0"/>
              <a:t>预置端：</a:t>
            </a:r>
            <a:r>
              <a:rPr lang="en-US" altLang="zh-CN" dirty="0" err="1"/>
              <a:t>PRE_n</a:t>
            </a:r>
            <a:endParaRPr lang="en-US" altLang="zh-CN" dirty="0"/>
          </a:p>
          <a:p>
            <a:pPr lvl="3"/>
            <a:r>
              <a:rPr dirty="0"/>
              <a:t>低有效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845" y="0"/>
            <a:ext cx="4257143" cy="65238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Exp1. 4</a:t>
            </a:r>
            <a:r>
              <a:rPr dirty="0">
                <a:sym typeface="+mn-ea"/>
              </a:rPr>
              <a:t>位并行输入</a:t>
            </a:r>
            <a:r>
              <a:rPr lang="en-US" altLang="zh-CN" dirty="0">
                <a:sym typeface="+mn-ea"/>
              </a:rPr>
              <a:t>/</a:t>
            </a:r>
            <a:r>
              <a:rPr dirty="0">
                <a:sym typeface="+mn-ea"/>
              </a:rPr>
              <a:t>输出寄存器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951" y="1484243"/>
            <a:ext cx="9650098" cy="397565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70950" y="5735774"/>
            <a:ext cx="10121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zh-CN" altLang="en-US" dirty="0"/>
              <a:t>把寄存器输入</a:t>
            </a:r>
            <a:r>
              <a:rPr lang="en-US" altLang="zh-CN" dirty="0"/>
              <a:t>D1~D4</a:t>
            </a:r>
            <a:r>
              <a:rPr lang="zh-CN" altLang="en-US" dirty="0"/>
              <a:t>，清零端</a:t>
            </a:r>
            <a:r>
              <a:rPr lang="en-US" altLang="zh-CN" dirty="0"/>
              <a:t>CLR</a:t>
            </a:r>
            <a:r>
              <a:rPr lang="zh-CN" altLang="en-US" dirty="0"/>
              <a:t>和置位端</a:t>
            </a:r>
            <a:r>
              <a:rPr lang="en-US" altLang="zh-CN" dirty="0"/>
              <a:t>PRE</a:t>
            </a:r>
            <a:r>
              <a:rPr lang="zh-CN" altLang="en-US" dirty="0"/>
              <a:t>接到开关引脚上面，把输出</a:t>
            </a:r>
            <a:r>
              <a:rPr lang="en-US" altLang="zh-CN" dirty="0"/>
              <a:t>Q1~Q4</a:t>
            </a:r>
            <a:r>
              <a:rPr lang="zh-CN" altLang="en-US" dirty="0"/>
              <a:t>接到 </a:t>
            </a:r>
            <a:r>
              <a:rPr lang="en-US" altLang="zh-CN" dirty="0"/>
              <a:t>LED </a:t>
            </a:r>
            <a:r>
              <a:rPr lang="zh-CN" altLang="en-US" dirty="0"/>
              <a:t>灯引脚 上面，把 </a:t>
            </a:r>
            <a:r>
              <a:rPr lang="en-US" altLang="zh-CN" dirty="0"/>
              <a:t>CLK </a:t>
            </a:r>
            <a:r>
              <a:rPr lang="zh-CN" altLang="en-US" dirty="0"/>
              <a:t>接到时钟 </a:t>
            </a:r>
            <a:r>
              <a:rPr lang="en-US" altLang="zh-CN" dirty="0"/>
              <a:t>W5 </a:t>
            </a:r>
            <a:r>
              <a:rPr lang="zh-CN" altLang="en-US" dirty="0"/>
              <a:t>引脚上。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2451" y="979714"/>
          <a:ext cx="10356178" cy="5438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4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45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85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4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LED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PIN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</a:rPr>
                        <a:t>开关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PIN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</a:rPr>
                        <a:t>段码管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PIN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按键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PIN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LD0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U16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SW0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V17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AN0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U2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BTNU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T18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LD1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</a:rPr>
                        <a:t>E19</a:t>
                      </a:r>
                      <a:endParaRPr lang="zh-CN" sz="14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SW1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V16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AN1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BTNR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T18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LD2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U19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SW2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W16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AN2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V4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BTND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U17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LD3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V19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SW3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W17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AN3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BTNL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W19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W18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CA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BTNC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U18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U15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SW5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V15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CB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934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U14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CC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</a:rPr>
                        <a:t>时钟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PIN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V14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W13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MRCC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W5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V13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CE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T3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CF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USB(J2)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PIN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LD10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W3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SW10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T2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CG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PS2_CLK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C17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LD11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SW11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R3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DP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V7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PS2_DAT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B17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LD12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SW12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W2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LD13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N3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SW13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U1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LD14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SW14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T1    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LD15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SW15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R2 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61257" y="180983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引脚对照表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16348" y="6049156"/>
            <a:ext cx="80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CLR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16348" y="5679824"/>
            <a:ext cx="65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PRE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4784035" y="5864490"/>
            <a:ext cx="432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784035" y="6233822"/>
            <a:ext cx="432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798629" y="3514435"/>
            <a:ext cx="88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CLK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10217426" y="3699101"/>
            <a:ext cx="5812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Exp1. 4</a:t>
            </a:r>
            <a:r>
              <a:rPr dirty="0">
                <a:sym typeface="+mn-ea"/>
              </a:rPr>
              <a:t>位并行输入</a:t>
            </a:r>
            <a:r>
              <a:rPr lang="en-US" altLang="zh-CN" dirty="0">
                <a:sym typeface="+mn-ea"/>
              </a:rPr>
              <a:t>/</a:t>
            </a:r>
            <a:r>
              <a:rPr dirty="0">
                <a:sym typeface="+mn-ea"/>
              </a:rPr>
              <a:t>输出寄存器</a:t>
            </a:r>
            <a:br>
              <a:rPr dirty="0">
                <a:sym typeface="+mn-ea"/>
              </a:rPr>
            </a:b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29004" y="1352939"/>
            <a:ext cx="91160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实验结果验证：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当清零端（</a:t>
            </a:r>
            <a:r>
              <a:rPr lang="en-US" altLang="zh-CN" dirty="0"/>
              <a:t>R2</a:t>
            </a:r>
            <a:r>
              <a:rPr lang="zh-CN" altLang="en-US" dirty="0"/>
              <a:t>）为低电平时，四个 </a:t>
            </a:r>
            <a:r>
              <a:rPr lang="en-US" altLang="zh-CN" dirty="0"/>
              <a:t>LED </a:t>
            </a:r>
            <a:r>
              <a:rPr lang="zh-CN" altLang="en-US" dirty="0"/>
              <a:t>灯都不亮，代表寄存器输出为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当置位端为（</a:t>
            </a:r>
            <a:r>
              <a:rPr lang="en-US" altLang="zh-CN" dirty="0"/>
              <a:t>T1</a:t>
            </a:r>
            <a:r>
              <a:rPr lang="zh-CN" altLang="en-US" dirty="0"/>
              <a:t>）低电平时，四个 </a:t>
            </a:r>
            <a:r>
              <a:rPr lang="en-US" altLang="zh-CN" dirty="0"/>
              <a:t>LED </a:t>
            </a:r>
            <a:r>
              <a:rPr lang="zh-CN" altLang="en-US" dirty="0"/>
              <a:t>灯全部亮，代表寄存器输出为 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当清零端和置位端为高电平时，</a:t>
            </a:r>
            <a:r>
              <a:rPr lang="en-US" altLang="zh-CN" dirty="0"/>
              <a:t>LED </a:t>
            </a:r>
            <a:r>
              <a:rPr lang="zh-CN" altLang="en-US" dirty="0"/>
              <a:t>灯亮暗根据 对应的 四个开关电平的高低。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Exp2.</a:t>
            </a:r>
            <a:r>
              <a:rPr lang="en-US" altLang="zh-CN"/>
              <a:t> </a:t>
            </a:r>
            <a:r>
              <a:t>4位循环移位寄存器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5" y="952500"/>
            <a:ext cx="9472295" cy="1598930"/>
          </a:xfrm>
        </p:spPr>
        <p:txBody>
          <a:bodyPr/>
          <a:lstStyle/>
          <a:p>
            <a:r>
              <a:rPr sz="1800" dirty="0"/>
              <a:t>功能</a:t>
            </a:r>
          </a:p>
          <a:p>
            <a:pPr lvl="1"/>
            <a:r>
              <a:rPr sz="1800" dirty="0"/>
              <a:t>前一级的触发器的输出输入到下一级触发器；</a:t>
            </a:r>
          </a:p>
          <a:p>
            <a:pPr lvl="1"/>
            <a:r>
              <a:rPr sz="1800" dirty="0"/>
              <a:t>末尾的触发器的输出输入到第一级触发器。</a:t>
            </a:r>
          </a:p>
        </p:txBody>
      </p:sp>
      <p:pic>
        <p:nvPicPr>
          <p:cNvPr id="234" name="图片 23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307465" y="2886075"/>
            <a:ext cx="8197215" cy="31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Exp2. </a:t>
            </a:r>
            <a:r>
              <a:rPr dirty="0">
                <a:sym typeface="+mn-ea"/>
              </a:rPr>
              <a:t>4位循环移位寄存器</a:t>
            </a:r>
            <a:endParaRPr lang="en-US" altLang="zh-CN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62" y="160633"/>
            <a:ext cx="5635114" cy="6493024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 err="1"/>
              <a:t>Vivado</a:t>
            </a:r>
            <a:r>
              <a:rPr dirty="0"/>
              <a:t>中</a:t>
            </a:r>
            <a:r>
              <a:rPr lang="en-US" altLang="zh-CN" dirty="0"/>
              <a:t>Block Design</a:t>
            </a:r>
            <a:r>
              <a:rPr dirty="0"/>
              <a:t>的电路原理图</a:t>
            </a:r>
            <a:r>
              <a:rPr lang="en-US" altLang="zh-CN" dirty="0"/>
              <a:t>(</a:t>
            </a:r>
            <a:r>
              <a:rPr lang="en-US" altLang="zh-CN" dirty="0" err="1"/>
              <a:t>Schemetic</a:t>
            </a:r>
            <a:r>
              <a:rPr lang="en-US" altLang="zh-CN" dirty="0"/>
              <a:t> Diagram)</a:t>
            </a:r>
          </a:p>
          <a:p>
            <a:pPr lvl="1"/>
            <a:r>
              <a:rPr lang="en-US" altLang="zh-CN" sz="1400" dirty="0"/>
              <a:t>D_FF</a:t>
            </a:r>
            <a:r>
              <a:rPr sz="1400" dirty="0"/>
              <a:t>：</a:t>
            </a:r>
            <a:r>
              <a:rPr lang="en-US" altLang="zh-CN" sz="1400" dirty="0"/>
              <a:t>D</a:t>
            </a:r>
            <a:r>
              <a:rPr sz="1400" dirty="0"/>
              <a:t>触发器</a:t>
            </a:r>
          </a:p>
          <a:p>
            <a:pPr lvl="2"/>
            <a:r>
              <a:rPr sz="1200" dirty="0"/>
              <a:t>触发边沿</a:t>
            </a:r>
          </a:p>
          <a:p>
            <a:pPr lvl="3"/>
            <a:r>
              <a:rPr sz="1000" dirty="0"/>
              <a:t>上升沿</a:t>
            </a:r>
            <a:r>
              <a:rPr lang="en-US" altLang="zh-CN" sz="1000" dirty="0"/>
              <a:t>(Rising Edge)</a:t>
            </a:r>
          </a:p>
          <a:p>
            <a:pPr lvl="3"/>
            <a:r>
              <a:rPr sz="1000" dirty="0">
                <a:sym typeface="+mn-ea"/>
              </a:rPr>
              <a:t>下升沿</a:t>
            </a:r>
            <a:r>
              <a:rPr lang="en-US" altLang="zh-CN" sz="1000" dirty="0">
                <a:sym typeface="+mn-ea"/>
              </a:rPr>
              <a:t>(Falling Edge)</a:t>
            </a:r>
          </a:p>
          <a:p>
            <a:pPr lvl="2"/>
            <a:r>
              <a:rPr sz="1200" dirty="0"/>
              <a:t>清零端：</a:t>
            </a:r>
            <a:r>
              <a:rPr lang="en-US" altLang="zh-CN" sz="1200" dirty="0" err="1"/>
              <a:t>CLR_n</a:t>
            </a:r>
            <a:endParaRPr lang="en-US" altLang="zh-CN" dirty="0"/>
          </a:p>
          <a:p>
            <a:pPr lvl="3"/>
            <a:r>
              <a:rPr sz="1000" dirty="0"/>
              <a:t>低有效</a:t>
            </a:r>
          </a:p>
          <a:p>
            <a:pPr lvl="2"/>
            <a:r>
              <a:rPr sz="1200" dirty="0"/>
              <a:t>预置端：</a:t>
            </a:r>
            <a:r>
              <a:rPr lang="en-US" altLang="zh-CN" sz="1200" dirty="0" err="1"/>
              <a:t>PRE_n</a:t>
            </a:r>
            <a:endParaRPr lang="en-US" altLang="zh-CN" dirty="0"/>
          </a:p>
          <a:p>
            <a:pPr lvl="3"/>
            <a:r>
              <a:rPr sz="1000" dirty="0"/>
              <a:t>低有效</a:t>
            </a:r>
          </a:p>
          <a:p>
            <a:pPr lvl="1"/>
            <a:r>
              <a:rPr lang="en-US" altLang="zh-CN" sz="1400" dirty="0" err="1"/>
              <a:t>lab_clk</a:t>
            </a:r>
            <a:r>
              <a:rPr sz="1400" dirty="0"/>
              <a:t>：时钟分频器</a:t>
            </a:r>
          </a:p>
          <a:p>
            <a:pPr lvl="2"/>
            <a:r>
              <a:rPr sz="1200" dirty="0"/>
              <a:t>输入时钟频率</a:t>
            </a:r>
          </a:p>
          <a:p>
            <a:pPr lvl="3"/>
            <a:r>
              <a:rPr lang="en-US" altLang="zh-CN" sz="1000" dirty="0"/>
              <a:t>100MHz</a:t>
            </a:r>
          </a:p>
          <a:p>
            <a:pPr lvl="2"/>
            <a:r>
              <a:rPr sz="1200" dirty="0"/>
              <a:t>输出时钟频率</a:t>
            </a:r>
          </a:p>
          <a:p>
            <a:pPr lvl="3"/>
            <a:r>
              <a:rPr lang="en-US" altLang="zh-CN" sz="1000" dirty="0"/>
              <a:t>1Hz</a:t>
            </a:r>
            <a:r>
              <a:rPr sz="1000" dirty="0"/>
              <a:t>；</a:t>
            </a:r>
            <a:r>
              <a:rPr lang="en-US" altLang="zh-CN" sz="1000" dirty="0"/>
              <a:t>2Hz</a:t>
            </a:r>
            <a:r>
              <a:rPr sz="1000" dirty="0"/>
              <a:t>；</a:t>
            </a:r>
            <a:r>
              <a:rPr lang="en-US" altLang="zh-CN" sz="1000" dirty="0"/>
              <a:t> ……</a:t>
            </a:r>
            <a:r>
              <a:rPr sz="1000" dirty="0"/>
              <a:t>；</a:t>
            </a:r>
            <a:r>
              <a:rPr lang="en-US" altLang="zh-CN" sz="1000" dirty="0"/>
              <a:t>100MHz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01369" y="1380904"/>
            <a:ext cx="9082439" cy="319902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75851" y="5055132"/>
            <a:ext cx="89319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zh-CN" altLang="en-US" dirty="0"/>
              <a:t>把寄存器清零端</a:t>
            </a:r>
            <a:r>
              <a:rPr lang="en-US" altLang="zh-CN" dirty="0"/>
              <a:t>CLR</a:t>
            </a:r>
            <a:r>
              <a:rPr lang="zh-CN" altLang="en-US" dirty="0"/>
              <a:t>和置位端</a:t>
            </a:r>
            <a:r>
              <a:rPr lang="en-US" altLang="zh-CN" dirty="0"/>
              <a:t>PRE</a:t>
            </a:r>
            <a:r>
              <a:rPr lang="zh-CN" altLang="en-US" dirty="0"/>
              <a:t>接到开关引脚上面，把输出</a:t>
            </a:r>
            <a:r>
              <a:rPr lang="en-US" altLang="zh-CN" dirty="0"/>
              <a:t>Q1~Q4</a:t>
            </a:r>
            <a:r>
              <a:rPr lang="zh-CN" altLang="en-US" dirty="0"/>
              <a:t>接到 </a:t>
            </a:r>
            <a:r>
              <a:rPr lang="en-US" altLang="zh-CN" dirty="0"/>
              <a:t>LED </a:t>
            </a:r>
            <a:r>
              <a:rPr lang="zh-CN" altLang="en-US" dirty="0"/>
              <a:t>灯引脚 上面，把 </a:t>
            </a:r>
            <a:r>
              <a:rPr lang="en-US" altLang="zh-CN" dirty="0"/>
              <a:t>CLK </a:t>
            </a:r>
            <a:r>
              <a:rPr lang="zh-CN" altLang="en-US" dirty="0"/>
              <a:t>接到时钟 </a:t>
            </a:r>
            <a:r>
              <a:rPr lang="en-US" altLang="zh-CN" dirty="0"/>
              <a:t>W5 </a:t>
            </a:r>
            <a:r>
              <a:rPr lang="zh-CN" altLang="en-US" dirty="0"/>
              <a:t>引脚上。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87705" y="348615"/>
            <a:ext cx="9144000" cy="557530"/>
          </a:xfrm>
        </p:spPr>
        <p:txBody>
          <a:bodyPr/>
          <a:lstStyle/>
          <a:p>
            <a:pPr algn="l"/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Exp2. </a:t>
            </a:r>
            <a:r>
              <a:rPr sz="2400" dirty="0">
                <a:latin typeface="+mj-ea"/>
                <a:ea typeface="+mj-ea"/>
                <a:cs typeface="+mj-ea"/>
                <a:sym typeface="+mn-ea"/>
              </a:rPr>
              <a:t>4位循环移位寄存器</a:t>
            </a:r>
            <a:endParaRPr lang="en-US" altLang="zh-CN" sz="2400" dirty="0">
              <a:latin typeface="+mj-ea"/>
              <a:ea typeface="+mj-ea"/>
              <a:cs typeface="+mj-ea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87705" y="348615"/>
            <a:ext cx="9144000" cy="557530"/>
          </a:xfrm>
        </p:spPr>
        <p:txBody>
          <a:bodyPr/>
          <a:lstStyle/>
          <a:p>
            <a:pPr algn="l"/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Exp2. </a:t>
            </a:r>
            <a:r>
              <a:rPr sz="2400" dirty="0">
                <a:latin typeface="+mj-ea"/>
                <a:ea typeface="+mj-ea"/>
                <a:cs typeface="+mj-ea"/>
                <a:sym typeface="+mn-ea"/>
              </a:rPr>
              <a:t>4位循环移位寄存器</a:t>
            </a:r>
            <a:endParaRPr lang="en-US" altLang="zh-CN" sz="2400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95400" y="1223010"/>
            <a:ext cx="955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实验结果：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当清零端为低电平时，四个 </a:t>
            </a:r>
            <a:r>
              <a:rPr lang="en-US" altLang="zh-CN" dirty="0"/>
              <a:t>LED </a:t>
            </a:r>
            <a:r>
              <a:rPr lang="zh-CN" altLang="en-US" dirty="0"/>
              <a:t>灯都不亮，代表寄存器输出 为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当置位端为低电平时，四个 </a:t>
            </a:r>
            <a:r>
              <a:rPr lang="en-US" altLang="zh-CN" dirty="0"/>
              <a:t>LED </a:t>
            </a:r>
            <a:r>
              <a:rPr lang="zh-CN" altLang="en-US" dirty="0"/>
              <a:t>灯全部亮，代表寄存器输出为 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当清零和置位端为高电平时，</a:t>
            </a:r>
            <a:r>
              <a:rPr lang="en-US" altLang="zh-CN" dirty="0"/>
              <a:t>LED </a:t>
            </a:r>
            <a:r>
              <a:rPr lang="zh-CN" altLang="en-US" dirty="0"/>
              <a:t>会根据存储在寄存器中的内容进行循环位移。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实际操作时应注意先使用</a:t>
            </a:r>
            <a:r>
              <a:rPr lang="en-US" altLang="zh-CN" dirty="0"/>
              <a:t>CLR</a:t>
            </a:r>
            <a:r>
              <a:rPr lang="zh-CN" altLang="en-US" dirty="0"/>
              <a:t>开关清零，然后使用</a:t>
            </a:r>
            <a:r>
              <a:rPr lang="en-US" altLang="zh-CN" dirty="0"/>
              <a:t>PRE</a:t>
            </a:r>
            <a:r>
              <a:rPr lang="zh-CN" altLang="en-US" dirty="0"/>
              <a:t>开关置位（如</a:t>
            </a:r>
            <a:r>
              <a:rPr lang="en-US" altLang="zh-CN" dirty="0"/>
              <a:t>0100</a:t>
            </a:r>
            <a:r>
              <a:rPr lang="zh-CN" altLang="en-US" dirty="0"/>
              <a:t>）， 然后将 </a:t>
            </a:r>
            <a:r>
              <a:rPr lang="en-US" altLang="zh-CN" dirty="0"/>
              <a:t>5 </a:t>
            </a:r>
            <a:r>
              <a:rPr lang="zh-CN" altLang="en-US" dirty="0"/>
              <a:t>个开关都同时置为高电平，这样才能观察到开始循环移位。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</a:t>
            </a:r>
            <a:r>
              <a:rPr lang="en-US" altLang="zh-CN"/>
              <a:t>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基本逻辑门</a:t>
            </a:r>
            <a:r>
              <a:rPr lang="en-US" altLang="zh-CN"/>
              <a:t>IP</a:t>
            </a:r>
            <a:r>
              <a:t>实例</a:t>
            </a:r>
          </a:p>
          <a:p>
            <a:endParaRPr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67510" y="1573530"/>
          <a:ext cx="2263140" cy="467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92600" imgH="8813800" progId="Visio.Drawing.11">
                  <p:embed/>
                </p:oleObj>
              </mc:Choice>
              <mc:Fallback>
                <p:oleObj r:id="rId3" imgW="4292600" imgH="8813800" progId="Visio.Drawing.11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7510" y="1573530"/>
                        <a:ext cx="2263140" cy="467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双击</a:t>
            </a:r>
            <a:r>
              <a:rPr lang="en-US" altLang="zh-CN"/>
              <a:t>IP</a:t>
            </a:r>
            <a:r>
              <a:rPr lang="zh-CN" altLang="en-US"/>
              <a:t>实例进行配置</a:t>
            </a:r>
          </a:p>
          <a:p>
            <a:pPr lvl="1"/>
            <a:r>
              <a:rPr lang="zh-CN" altLang="en-US" sz="1400"/>
              <a:t>与门</a:t>
            </a:r>
            <a:r>
              <a:rPr lang="en-US" altLang="zh-CN" sz="1400"/>
              <a:t>IP</a:t>
            </a:r>
            <a:r>
              <a:rPr lang="zh-CN" altLang="en-US" sz="1400"/>
              <a:t>实例</a:t>
            </a:r>
          </a:p>
          <a:p>
            <a:pPr lvl="2"/>
            <a:r>
              <a:rPr lang="en-US" altLang="zh-CN" sz="1400"/>
              <a:t>Number of Input Ports (2, 3, 4 ……)</a:t>
            </a:r>
            <a:endParaRPr lang="zh-CN" altLang="en-US" sz="1400"/>
          </a:p>
          <a:p>
            <a:endParaRPr lang="zh-CN" altLang="en-US" sz="140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76365" y="2355850"/>
          <a:ext cx="4808220" cy="3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07300" progId="Visio.Drawing.11">
                  <p:embed/>
                </p:oleObj>
              </mc:Choice>
              <mc:Fallback>
                <p:oleObj r:id="rId5" imgW="10160000" imgH="760730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6365" y="2355850"/>
                        <a:ext cx="4808220" cy="359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2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基本触发器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双击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实例进行配置</a:t>
            </a:r>
          </a:p>
          <a:p>
            <a:pPr lvl="1"/>
            <a:r>
              <a:rPr lang="en-US" altLang="zh-CN" sz="1400"/>
              <a:t>D</a:t>
            </a:r>
            <a:r>
              <a:rPr lang="zh-CN" altLang="en-US" sz="1400"/>
              <a:t>触发器</a:t>
            </a:r>
          </a:p>
          <a:p>
            <a:pPr lvl="2"/>
            <a:r>
              <a:rPr lang="en-US" altLang="zh-CN" sz="1200"/>
              <a:t>Active Clk Edge</a:t>
            </a:r>
          </a:p>
          <a:p>
            <a:pPr lvl="2"/>
            <a:r>
              <a:rPr lang="en-US" altLang="zh-CN" sz="1200"/>
              <a:t>Clear Port</a:t>
            </a:r>
          </a:p>
          <a:p>
            <a:pPr lvl="2"/>
            <a:r>
              <a:rPr lang="en-US" altLang="zh-CN" sz="1200">
                <a:sym typeface="+mn-ea"/>
              </a:rPr>
              <a:t>Preset Port</a:t>
            </a:r>
            <a:endParaRPr lang="en-US" altLang="zh-CN" sz="12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41095" y="1880870"/>
          <a:ext cx="2277110" cy="353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62300" imgH="4876800" progId="Visio.Drawing.11">
                  <p:embed/>
                </p:oleObj>
              </mc:Choice>
              <mc:Fallback>
                <p:oleObj r:id="rId3" imgW="3162300" imgH="4876800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1095" y="1880870"/>
                        <a:ext cx="2277110" cy="3532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9180" y="2854325"/>
          <a:ext cx="50419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70800" progId="Visio.Drawing.11">
                  <p:embed/>
                </p:oleObj>
              </mc:Choice>
              <mc:Fallback>
                <p:oleObj r:id="rId5" imgW="10160000" imgH="7670800" progId="Visio.Drawing.11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39180" y="2854325"/>
                        <a:ext cx="5041900" cy="380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/>
              <a:t>mux</a:t>
            </a:r>
          </a:p>
          <a:p>
            <a:pPr lvl="1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选</a:t>
            </a:r>
            <a:r>
              <a:rPr lang="en-US" altLang="zh-CN" sz="1400">
                <a:sym typeface="+mn-ea"/>
              </a:rPr>
              <a:t>1</a:t>
            </a:r>
            <a:endParaRPr lang="en-US" altLang="zh-CN" sz="1400"/>
          </a:p>
          <a:p>
            <a:pPr lvl="1"/>
            <a:r>
              <a:rPr lang="en-US" altLang="zh-CN" sz="1400"/>
              <a:t>4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</a:p>
          <a:p>
            <a:pPr lvl="1"/>
            <a:r>
              <a:rPr lang="en-US" altLang="zh-CN" sz="1400"/>
              <a:t>8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  <a:endParaRPr lang="en-US" altLang="zh-CN"/>
          </a:p>
          <a:p>
            <a:pPr lvl="0"/>
            <a:r>
              <a:rPr lang="en-US" altLang="zh-CN"/>
              <a:t>lab_clk</a:t>
            </a:r>
          </a:p>
          <a:p>
            <a:pPr lvl="1"/>
            <a:r>
              <a:rPr lang="zh-CN" altLang="en-US" sz="1400"/>
              <a:t>输入时钟频率</a:t>
            </a:r>
            <a:endParaRPr lang="zh-CN" altLang="en-US"/>
          </a:p>
          <a:p>
            <a:pPr lvl="2"/>
            <a:r>
              <a:rPr lang="en-US" altLang="zh-CN" sz="1200"/>
              <a:t>100MHz(</a:t>
            </a:r>
            <a:r>
              <a:rPr lang="zh-CN" altLang="en-US" sz="1200"/>
              <a:t>通过</a:t>
            </a:r>
            <a:r>
              <a:rPr lang="en-US" altLang="zh-CN" sz="1200"/>
              <a:t>W5</a:t>
            </a:r>
            <a:r>
              <a:rPr lang="zh-CN" altLang="en-US" sz="1200"/>
              <a:t>引脚输入</a:t>
            </a:r>
            <a:r>
              <a:rPr lang="en-US" altLang="zh-CN" sz="1200"/>
              <a:t>)</a:t>
            </a:r>
            <a:endParaRPr lang="en-US" altLang="zh-CN"/>
          </a:p>
          <a:p>
            <a:pPr lvl="1"/>
            <a:r>
              <a:rPr lang="zh-CN" altLang="en-US" sz="1400"/>
              <a:t>输出时钟频率</a:t>
            </a:r>
            <a:endParaRPr lang="zh-CN" altLang="en-US"/>
          </a:p>
          <a:p>
            <a:pPr lvl="2"/>
            <a:r>
              <a:rPr lang="en-US" altLang="zh-CN" sz="1200"/>
              <a:t>1Hz</a:t>
            </a:r>
            <a:r>
              <a:rPr lang="zh-CN" altLang="en-US" sz="1200"/>
              <a:t>，</a:t>
            </a:r>
            <a:r>
              <a:rPr lang="en-US" altLang="zh-CN" sz="1200"/>
              <a:t>2Hz</a:t>
            </a:r>
            <a:r>
              <a:rPr lang="zh-CN" altLang="en-US" sz="1200"/>
              <a:t>，</a:t>
            </a:r>
            <a:r>
              <a:rPr lang="en-US" altLang="zh-CN" sz="1200"/>
              <a:t>3Hz</a:t>
            </a:r>
            <a:r>
              <a:rPr lang="zh-CN" altLang="en-US" sz="1200"/>
              <a:t>，</a:t>
            </a:r>
            <a:r>
              <a:rPr lang="en-US" altLang="zh-CN" sz="1200"/>
              <a:t>……</a:t>
            </a:r>
            <a:r>
              <a:rPr lang="zh-CN" altLang="en-US" sz="1200"/>
              <a:t>，</a:t>
            </a:r>
            <a:r>
              <a:rPr lang="en-US" altLang="zh-CN" sz="1200"/>
              <a:t>100MHz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1097280" y="1569720"/>
          <a:ext cx="1038225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00" imgH="2717800" progId="Visio.Drawing.11">
                  <p:embed/>
                </p:oleObj>
              </mc:Choice>
              <mc:Fallback>
                <p:oleObj r:id="rId3" imgW="1435100" imgH="271780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7280" y="1569720"/>
                        <a:ext cx="1038225" cy="199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609850" y="1569720"/>
          <a:ext cx="10382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1905000" progId="Visio.Drawing.11">
                  <p:embed/>
                </p:oleObj>
              </mc:Choice>
              <mc:Fallback>
                <p:oleObj r:id="rId5" imgW="1435100" imgH="1905000" progId="Visio.Drawing.11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9850" y="1569720"/>
                        <a:ext cx="1038225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2609850" y="3567430"/>
          <a:ext cx="1038225" cy="1099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5100" imgH="1511300" progId="Visio.Drawing.11">
                  <p:embed/>
                </p:oleObj>
              </mc:Choice>
              <mc:Fallback>
                <p:oleObj r:id="rId7" imgW="1435100" imgH="1511300" progId="Visio.Drawing.11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9850" y="3567430"/>
                        <a:ext cx="1038225" cy="1099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12"/>
  <p:tag name="KSO_WM_TEMPLATE_THUMBS_INDEX" val="1、3、7、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leftRight"/>
  <p:tag name="KSO_WM_SLIDE_BK_DARK_LIGHT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leftRight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ottomTop"/>
  <p:tag name="KSO_WM_SLIDE_BK_DARK_LIGHT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belt"/>
  <p:tag name="KSO_WM_SLIDE_BK_DARK_LIGHT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9"/>
  <p:tag name="KSO_WM_UNIT_LAYERLEVEL" val="1"/>
  <p:tag name="KSO_WM_TAG_VERSION" val="1.0"/>
  <p:tag name="KSO_WM_BEAUTIFY_FLAG" val="#wm#"/>
  <p:tag name="KSO_WM_UNIT_TYPE" val="i"/>
  <p:tag name="KSO_WM_UNIT_INDEX" val="9"/>
  <p:tag name="KSO_WM_SLIDE_BACKGROUND_TYPE" val="belt"/>
  <p:tag name="KSO_WM_SLIDE_BK_DARK_LIGHT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0"/>
  <p:tag name="KSO_WM_UNIT_LAYERLEVEL" val="1"/>
  <p:tag name="KSO_WM_TAG_VERSION" val="1.0"/>
  <p:tag name="KSO_WM_BEAUTIFY_FLAG" val="#wm#"/>
  <p:tag name="KSO_WM_UNIT_TYPE" val="i"/>
  <p:tag name="KSO_WM_UNIT_INDEX" val="10"/>
  <p:tag name="KSO_WM_SLIDE_BACKGROUND_TYPE" val="belt"/>
  <p:tag name="KSO_WM_SLIDE_BK_DARK_LIGHT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1"/>
  <p:tag name="KSO_WM_UNIT_LAYERLEVEL" val="1"/>
  <p:tag name="KSO_WM_TAG_VERSION" val="1.0"/>
  <p:tag name="KSO_WM_BEAUTIFY_FLAG" val="#wm#"/>
  <p:tag name="KSO_WM_UNIT_TYPE" val="i"/>
  <p:tag name="KSO_WM_UNIT_INDEX" val="11"/>
  <p:tag name="KSO_WM_SLIDE_BACKGROUND_TYPE" val="belt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belt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3"/>
  <p:tag name="KSO_WM_UNIT_LAYERLEVEL" val="1"/>
  <p:tag name="KSO_WM_TAG_VERSION" val="1.0"/>
  <p:tag name="KSO_WM_BEAUTIFY_FLAG" val="#wm#"/>
  <p:tag name="KSO_WM_UNIT_TYPE" val="i"/>
  <p:tag name="KSO_WM_UNIT_INDEX" val="13"/>
  <p:tag name="KSO_WM_SLIDE_BACKGROUND_TYPE" val="belt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elt"/>
  <p:tag name="KSO_WM_SLIDE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elt"/>
  <p:tag name="KSO_WM_SLIDE_BK_DARK_LIGHT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elt"/>
  <p:tag name="KSO_WM_SLIDE_BK_DARK_LIGHT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elt"/>
  <p:tag name="KSO_WM_SLIDE_BK_DARK_LIGHT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037.828346456693,&quot;width&quot;:14303.053543307087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heme/theme1.xml><?xml version="1.0" encoding="utf-8"?>
<a:theme xmlns:a="http://schemas.openxmlformats.org/drawingml/2006/main" name="Office 主题​​">
  <a:themeElements>
    <a:clrScheme name="自定义 45">
      <a:dk1>
        <a:srgbClr val="000000"/>
      </a:dk1>
      <a:lt1>
        <a:srgbClr val="FFFFFF"/>
      </a:lt1>
      <a:dk2>
        <a:srgbClr val="B5C0BD"/>
      </a:dk2>
      <a:lt2>
        <a:srgbClr val="F2F2F2"/>
      </a:lt2>
      <a:accent1>
        <a:srgbClr val="5E8286"/>
      </a:accent1>
      <a:accent2>
        <a:srgbClr val="667C86"/>
      </a:accent2>
      <a:accent3>
        <a:srgbClr val="6C7284"/>
      </a:accent3>
      <a:accent4>
        <a:srgbClr val="766C84"/>
      </a:accent4>
      <a:accent5>
        <a:srgbClr val="7C6381"/>
      </a:accent5>
      <a:accent6>
        <a:srgbClr val="5E8786"/>
      </a:accent6>
      <a:hlink>
        <a:srgbClr val="2E2AC6"/>
      </a:hlink>
      <a:folHlink>
        <a:srgbClr val="6F2B84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735</Words>
  <Application>Microsoft Office PowerPoint</Application>
  <PresentationFormat>宽屏</PresentationFormat>
  <Paragraphs>233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Helvetica Light</vt:lpstr>
      <vt:lpstr>等线</vt:lpstr>
      <vt:lpstr>微软雅黑</vt:lpstr>
      <vt:lpstr>Arial</vt:lpstr>
      <vt:lpstr>Calibri</vt:lpstr>
      <vt:lpstr>Wingdings</vt:lpstr>
      <vt:lpstr>Office 主题​​</vt:lpstr>
      <vt:lpstr>Visio.Drawing.11</vt:lpstr>
      <vt:lpstr>PowerPoint 演示文稿</vt:lpstr>
      <vt:lpstr>实验要求</vt:lpstr>
      <vt:lpstr>Exp1. 4位并行输入/输出寄存器</vt:lpstr>
      <vt:lpstr>Exp1. 4位并行输入/输出寄存器 </vt:lpstr>
      <vt:lpstr>Exp1. 4位并行输入/输出寄存器</vt:lpstr>
      <vt:lpstr>PowerPoint 演示文稿</vt:lpstr>
      <vt:lpstr>Exp1. 4位并行输入/输出寄存器 </vt:lpstr>
      <vt:lpstr>Exp2. 4位循环移位寄存器</vt:lpstr>
      <vt:lpstr>Exp2. 4位循环移位寄存器</vt:lpstr>
      <vt:lpstr>Exp2. 4位循环移位寄存器</vt:lpstr>
      <vt:lpstr>Exp2. 4位循环移位寄存器</vt:lpstr>
      <vt:lpstr>附录1</vt:lpstr>
      <vt:lpstr>附录2 </vt:lpstr>
      <vt:lpstr>附录3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wen lu</cp:lastModifiedBy>
  <cp:revision>135</cp:revision>
  <dcterms:created xsi:type="dcterms:W3CDTF">2017-11-13T01:05:00Z</dcterms:created>
  <dcterms:modified xsi:type="dcterms:W3CDTF">2022-11-30T07:28:28Z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8A0EDE65F28043DA9C62D29D81D445FC</vt:lpwstr>
  </property>
</Properties>
</file>