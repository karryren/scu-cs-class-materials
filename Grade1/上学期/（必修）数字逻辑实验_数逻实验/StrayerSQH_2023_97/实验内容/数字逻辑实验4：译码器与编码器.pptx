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2" r:id="rId3"/>
    <p:sldId id="264" r:id="rId4"/>
    <p:sldId id="262" r:id="rId5"/>
    <p:sldId id="263" r:id="rId6"/>
    <p:sldId id="268" r:id="rId7"/>
    <p:sldId id="269" r:id="rId8"/>
    <p:sldId id="270" r:id="rId9"/>
    <p:sldId id="271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78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4719F-3AC2-48E8-9CAB-7FE04A4D1881}" type="datetimeFigureOut">
              <a:rPr lang="zh-CN" altLang="en-US" smtClean="0"/>
              <a:t>2022/11/16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.jpe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9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7.bin"/><Relationship Id="rId2" Type="http://schemas.openxmlformats.org/officeDocument/2006/relationships/image" Target="../media/image11.png"/><Relationship Id="rId16" Type="http://schemas.openxmlformats.org/officeDocument/2006/relationships/image" Target="../media/image18.wmf"/><Relationship Id="rId20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7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6.png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9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478211" y="1586753"/>
            <a:ext cx="9458730" cy="15370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数字逻辑实验</a:t>
            </a:r>
            <a:r>
              <a:rPr lang="en-US" altLang="zh-CN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：译码器与编码器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37D92F6-3813-4365-DE14-1C9F69FEE6D3}"/>
              </a:ext>
            </a:extLst>
          </p:cNvPr>
          <p:cNvSpPr txBox="1">
            <a:spLocks/>
          </p:cNvSpPr>
          <p:nvPr/>
        </p:nvSpPr>
        <p:spPr>
          <a:xfrm>
            <a:off x="1697636" y="3429000"/>
            <a:ext cx="9019880" cy="12597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</a:lstStyle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任课教师：吕泽均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日期：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2022-11-16</a:t>
            </a: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938376" y="2402540"/>
            <a:ext cx="8315247" cy="7122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数字逻辑实验</a:t>
            </a:r>
            <a:r>
              <a:rPr lang="en-US" altLang="zh-CN" sz="3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4-1</a:t>
            </a:r>
            <a:r>
              <a:rPr lang="zh-CN" altLang="en-US" sz="3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：译码器</a:t>
            </a:r>
          </a:p>
        </p:txBody>
      </p:sp>
    </p:spTree>
    <p:extLst>
      <p:ext uri="{BB962C8B-B14F-4D97-AF65-F5344CB8AC3E}">
        <p14:creationId xmlns:p14="http://schemas.microsoft.com/office/powerpoint/2010/main" val="2021850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实验要求</a:t>
            </a:r>
            <a:endParaRPr lang="en-US" altLang="zh-CN"/>
          </a:p>
        </p:txBody>
      </p:sp>
      <p:sp>
        <p:nvSpPr>
          <p:cNvPr id="7" name="内容占位符 2"/>
          <p:cNvSpPr>
            <a:spLocks noGrp="1"/>
          </p:cNvSpPr>
          <p:nvPr>
            <p:ph sz="half" idx="1"/>
          </p:nvPr>
        </p:nvSpPr>
        <p:spPr>
          <a:xfrm>
            <a:off x="669925" y="952500"/>
            <a:ext cx="9281943" cy="5388610"/>
          </a:xfrm>
        </p:spPr>
        <p:txBody>
          <a:bodyPr/>
          <a:lstStyle/>
          <a:p>
            <a:r>
              <a:rPr lang="zh-CN" altLang="en-US" dirty="0"/>
              <a:t>目的</a:t>
            </a:r>
          </a:p>
          <a:p>
            <a:pPr lvl="1"/>
            <a:r>
              <a:rPr lang="zh-CN" altLang="en-US" dirty="0"/>
              <a:t>通过实验，使学生学会设计译码器。</a:t>
            </a:r>
          </a:p>
          <a:p>
            <a:pPr lvl="0"/>
            <a:r>
              <a:rPr lang="zh-CN" altLang="en-US" dirty="0"/>
              <a:t>内容</a:t>
            </a:r>
          </a:p>
          <a:p>
            <a:pPr lvl="1"/>
            <a:r>
              <a:rPr dirty="0" err="1">
                <a:sym typeface="+mn-ea"/>
              </a:rPr>
              <a:t>使用基本门电路 IP 核设计一个</a:t>
            </a:r>
            <a:r>
              <a:rPr dirty="0">
                <a:solidFill>
                  <a:srgbClr val="FF0000"/>
                </a:solidFill>
                <a:sym typeface="+mn-ea"/>
              </a:rPr>
              <a:t>3-8 </a:t>
            </a:r>
            <a:r>
              <a:rPr dirty="0" err="1">
                <a:solidFill>
                  <a:srgbClr val="FF0000"/>
                </a:solidFill>
                <a:sym typeface="+mn-ea"/>
              </a:rPr>
              <a:t>译码器</a:t>
            </a:r>
            <a:r>
              <a:rPr lang="en-US" altLang="zh-CN" dirty="0">
                <a:sym typeface="+mn-ea"/>
              </a:rPr>
              <a:t>(Decoder)</a:t>
            </a:r>
            <a:r>
              <a:rPr dirty="0">
                <a:sym typeface="+mn-ea"/>
              </a:rPr>
              <a:t>；</a:t>
            </a:r>
            <a:r>
              <a:rPr lang="zh-CN" altLang="en-US" dirty="0">
                <a:sym typeface="+mn-ea"/>
              </a:rPr>
              <a:t>根据真值表进行板级验证。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en-US" altLang="zh-CN">
                <a:sym typeface="+mn-ea"/>
              </a:rPr>
              <a:t>Exp1. </a:t>
            </a:r>
            <a:r>
              <a:rPr>
                <a:sym typeface="+mn-ea"/>
              </a:rPr>
              <a:t>3-8</a:t>
            </a:r>
            <a:r>
              <a:t>译码器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/>
          <a:lstStyle/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真值表</a:t>
            </a:r>
          </a:p>
        </p:txBody>
      </p:sp>
      <p:sp>
        <p:nvSpPr>
          <p:cNvPr id="6" name="内容占位符 3"/>
          <p:cNvSpPr txBox="1"/>
          <p:nvPr/>
        </p:nvSpPr>
        <p:spPr>
          <a:xfrm>
            <a:off x="6238877" y="952508"/>
            <a:ext cx="5283242" cy="53889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输出布尔表达式</a:t>
            </a:r>
          </a:p>
        </p:txBody>
      </p:sp>
      <p:pic>
        <p:nvPicPr>
          <p:cNvPr id="7" name="图片 76" descr="http://pic002.cnblogs.com/images/2011/153211/201108231338474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1293" y="3934666"/>
            <a:ext cx="5532755" cy="27216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722120" y="952500"/>
          <a:ext cx="3526155" cy="2224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588000" imgH="3543300" progId="Visio.Drawing.11">
                  <p:embed/>
                </p:oleObj>
              </mc:Choice>
              <mc:Fallback>
                <p:oleObj r:id="rId3" imgW="5588000" imgH="3543300" progId="Visio.Drawing.11">
                  <p:embed/>
                  <p:pic>
                    <p:nvPicPr>
                      <p:cNvPr id="0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2120" y="952500"/>
                        <a:ext cx="3526155" cy="2224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07325" y="1536065"/>
          <a:ext cx="2687955" cy="35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17065" imgH="254000" progId="Equation.KSEE3">
                  <p:embed/>
                </p:oleObj>
              </mc:Choice>
              <mc:Fallback>
                <p:oleObj r:id="rId5" imgW="1917065" imgH="254000" progId="Equation.KSEE3">
                  <p:embed/>
                  <p:pic>
                    <p:nvPicPr>
                      <p:cNvPr id="0" name="对象 1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07325" y="1536065"/>
                        <a:ext cx="2687955" cy="35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07325" y="2084070"/>
          <a:ext cx="2687955" cy="35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917065" imgH="254000" progId="Equation.KSEE3">
                  <p:embed/>
                </p:oleObj>
              </mc:Choice>
              <mc:Fallback>
                <p:oleObj r:id="rId7" imgW="1917065" imgH="254000" progId="Equation.KSEE3">
                  <p:embed/>
                  <p:pic>
                    <p:nvPicPr>
                      <p:cNvPr id="0" name="对象 1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07325" y="2084070"/>
                        <a:ext cx="2687955" cy="35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795895" y="2639695"/>
          <a:ext cx="2687955" cy="35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917065" imgH="254000" progId="Equation.KSEE3">
                  <p:embed/>
                </p:oleObj>
              </mc:Choice>
              <mc:Fallback>
                <p:oleObj r:id="rId9" imgW="1917065" imgH="254000" progId="Equation.KSEE3">
                  <p:embed/>
                  <p:pic>
                    <p:nvPicPr>
                      <p:cNvPr id="0" name="对象 1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95895" y="2639695"/>
                        <a:ext cx="2687955" cy="35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797800" y="3148330"/>
          <a:ext cx="2707005" cy="35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930400" imgH="254000" progId="Equation.KSEE3">
                  <p:embed/>
                </p:oleObj>
              </mc:Choice>
              <mc:Fallback>
                <p:oleObj r:id="rId11" imgW="1930400" imgH="254000" progId="Equation.KSEE3">
                  <p:embed/>
                  <p:pic>
                    <p:nvPicPr>
                      <p:cNvPr id="0" name="对象 1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97800" y="3148330"/>
                        <a:ext cx="2707005" cy="35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07008" y="3716655"/>
          <a:ext cx="2688590" cy="35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917065" imgH="254000" progId="Equation.KSEE3">
                  <p:embed/>
                </p:oleObj>
              </mc:Choice>
              <mc:Fallback>
                <p:oleObj r:id="rId13" imgW="1917065" imgH="254000" progId="Equation.KSEE3">
                  <p:embed/>
                  <p:pic>
                    <p:nvPicPr>
                      <p:cNvPr id="0" name="对象 2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07008" y="3716655"/>
                        <a:ext cx="2688590" cy="35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797800" y="4234815"/>
          <a:ext cx="2707005" cy="35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930400" imgH="254000" progId="Equation.KSEE3">
                  <p:embed/>
                </p:oleObj>
              </mc:Choice>
              <mc:Fallback>
                <p:oleObj r:id="rId15" imgW="1930400" imgH="254000" progId="Equation.KSEE3">
                  <p:embed/>
                  <p:pic>
                    <p:nvPicPr>
                      <p:cNvPr id="0" name="对象 2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97800" y="4234815"/>
                        <a:ext cx="2707005" cy="35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18755" y="4864100"/>
          <a:ext cx="2687955" cy="35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917065" imgH="254000" progId="Equation.KSEE3">
                  <p:embed/>
                </p:oleObj>
              </mc:Choice>
              <mc:Fallback>
                <p:oleObj r:id="rId17" imgW="1917065" imgH="254000" progId="Equation.KSEE3">
                  <p:embed/>
                  <p:pic>
                    <p:nvPicPr>
                      <p:cNvPr id="0" name="对象 2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18755" y="4864100"/>
                        <a:ext cx="2687955" cy="35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15581" y="5446395"/>
          <a:ext cx="2724785" cy="35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943100" imgH="254000" progId="Equation.KSEE3">
                  <p:embed/>
                </p:oleObj>
              </mc:Choice>
              <mc:Fallback>
                <p:oleObj r:id="rId19" imgW="1943100" imgH="254000" progId="Equation.KSEE3">
                  <p:embed/>
                  <p:pic>
                    <p:nvPicPr>
                      <p:cNvPr id="0" name="对象 2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15581" y="5446395"/>
                        <a:ext cx="2724785" cy="356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sym typeface="+mn-ea"/>
              </a:rPr>
              <a:t>Exp1.  </a:t>
            </a:r>
            <a:r>
              <a:rPr dirty="0">
                <a:sym typeface="+mn-ea"/>
              </a:rPr>
              <a:t>3-8译码器</a:t>
            </a:r>
            <a:endParaRPr lang="zh-CN" altLang="en-US" dirty="0"/>
          </a:p>
        </p:txBody>
      </p:sp>
      <p:sp>
        <p:nvSpPr>
          <p:cNvPr id="31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  <a:sym typeface="+mn-ea"/>
              </a:rPr>
              <a:t>使用</a:t>
            </a:r>
            <a:r>
              <a:rPr dirty="0">
                <a:solidFill>
                  <a:srgbClr val="FF0000"/>
                </a:solidFill>
                <a:sym typeface="+mn-ea"/>
              </a:rPr>
              <a:t>与非门</a:t>
            </a:r>
            <a:r>
              <a:rPr dirty="0">
                <a:sym typeface="+mn-ea"/>
              </a:rPr>
              <a:t>实现</a:t>
            </a:r>
            <a:r>
              <a:rPr lang="en-US" altLang="zh-CN" dirty="0"/>
              <a:t>74LS138</a:t>
            </a:r>
            <a:r>
              <a:rPr dirty="0"/>
              <a:t>的电路原理图</a:t>
            </a:r>
          </a:p>
        </p:txBody>
      </p:sp>
      <p:sp>
        <p:nvSpPr>
          <p:cNvPr id="32" name="内容占位符 3"/>
          <p:cNvSpPr txBox="1"/>
          <p:nvPr/>
        </p:nvSpPr>
        <p:spPr>
          <a:xfrm>
            <a:off x="6238877" y="952508"/>
            <a:ext cx="5283242" cy="53889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如何化简得到输出的与非形式？</a:t>
            </a:r>
          </a:p>
          <a:p>
            <a:pPr lvl="1"/>
            <a:r>
              <a:rPr lang="zh-CN" altLang="en-US"/>
              <a:t>要求将各输出变量化简成与非形式，搭建</a:t>
            </a:r>
            <a:r>
              <a:rPr lang="en-US" altLang="zh-CN">
                <a:sym typeface="+mn-ea"/>
              </a:rPr>
              <a:t>74LS138</a:t>
            </a:r>
            <a:r>
              <a:rPr lang="zh-CN" altLang="en-US">
                <a:sym typeface="+mn-ea"/>
              </a:rPr>
              <a:t>的内部实现电路。</a:t>
            </a:r>
            <a:endParaRPr lang="zh-CN" altLang="en-US" dirty="0">
              <a:sym typeface="+mn-ea"/>
            </a:endParaRPr>
          </a:p>
        </p:txBody>
      </p:sp>
      <p:pic>
        <p:nvPicPr>
          <p:cNvPr id="33" name="图片 74" descr="C:\Users\wolfitT\AppData\Roaming\Tencent\Users\51580860\QQ\WinTemp\RichOle\(50(T)K}L$PVP5N$[WB%MM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5370" y="1723390"/>
            <a:ext cx="4307840" cy="424307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矩形 33"/>
          <p:cNvSpPr/>
          <p:nvPr/>
        </p:nvSpPr>
        <p:spPr>
          <a:xfrm>
            <a:off x="7435850" y="2505075"/>
            <a:ext cx="713740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Y</a:t>
            </a:r>
            <a:r>
              <a:rPr lang="en-US" altLang="zh-CN" sz="3200" b="1" baseline="-25000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0</a:t>
            </a:r>
          </a:p>
        </p:txBody>
      </p:sp>
      <p:sp>
        <p:nvSpPr>
          <p:cNvPr id="35" name="矩形 34"/>
          <p:cNvSpPr/>
          <p:nvPr/>
        </p:nvSpPr>
        <p:spPr>
          <a:xfrm>
            <a:off x="7435850" y="3291840"/>
            <a:ext cx="713740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Y</a:t>
            </a:r>
            <a:r>
              <a:rPr lang="en-US" altLang="zh-CN" sz="3200" b="1" baseline="-25000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1</a:t>
            </a:r>
          </a:p>
        </p:txBody>
      </p:sp>
      <p:sp>
        <p:nvSpPr>
          <p:cNvPr id="36" name="矩形 35"/>
          <p:cNvSpPr/>
          <p:nvPr/>
        </p:nvSpPr>
        <p:spPr>
          <a:xfrm>
            <a:off x="7435850" y="4039235"/>
            <a:ext cx="713740" cy="4108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3200" b="1" baseline="-25000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……</a:t>
            </a:r>
          </a:p>
        </p:txBody>
      </p:sp>
      <p:sp>
        <p:nvSpPr>
          <p:cNvPr id="37" name="矩形 36"/>
          <p:cNvSpPr/>
          <p:nvPr/>
        </p:nvSpPr>
        <p:spPr>
          <a:xfrm>
            <a:off x="7435850" y="4982845"/>
            <a:ext cx="713740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Y</a:t>
            </a:r>
            <a:r>
              <a:rPr lang="en-US" altLang="zh-CN" sz="3200" b="1" baseline="-25000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7</a:t>
            </a:r>
          </a:p>
        </p:txBody>
      </p:sp>
      <p:sp>
        <p:nvSpPr>
          <p:cNvPr id="38" name="矩形 37"/>
          <p:cNvSpPr/>
          <p:nvPr/>
        </p:nvSpPr>
        <p:spPr>
          <a:xfrm>
            <a:off x="8585835" y="3291840"/>
            <a:ext cx="713740" cy="14452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88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=</a:t>
            </a:r>
          </a:p>
        </p:txBody>
      </p:sp>
      <p:sp>
        <p:nvSpPr>
          <p:cNvPr id="39" name="矩形 38"/>
          <p:cNvSpPr/>
          <p:nvPr/>
        </p:nvSpPr>
        <p:spPr>
          <a:xfrm>
            <a:off x="9788525" y="3291840"/>
            <a:ext cx="713740" cy="14452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88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?</a:t>
            </a:r>
          </a:p>
        </p:txBody>
      </p:sp>
      <p:graphicFrame>
        <p:nvGraphicFramePr>
          <p:cNvPr id="40" name="对象 3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38775" y="2182495"/>
          <a:ext cx="6712585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787900" imgH="304800" progId="Equation.KSEE3">
                  <p:embed/>
                </p:oleObj>
              </mc:Choice>
              <mc:Fallback>
                <p:oleObj r:id="rId3" imgW="4787900" imgH="304800" progId="Equation.KSEE3">
                  <p:embed/>
                  <p:pic>
                    <p:nvPicPr>
                      <p:cNvPr id="0" name="对象 1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38775" y="2182495"/>
                        <a:ext cx="6712585" cy="427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48935" y="2712085"/>
          <a:ext cx="6677025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762500" imgH="304800" progId="Equation.KSEE3">
                  <p:embed/>
                </p:oleObj>
              </mc:Choice>
              <mc:Fallback>
                <p:oleObj r:id="rId5" imgW="4762500" imgH="304800" progId="Equation.KSEE3">
                  <p:embed/>
                  <p:pic>
                    <p:nvPicPr>
                      <p:cNvPr id="0" name="对象 2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48935" y="2712085"/>
                        <a:ext cx="6677025" cy="427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36235" y="3314700"/>
          <a:ext cx="6694805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4775200" imgH="304800" progId="Equation.KSEE3">
                  <p:embed/>
                </p:oleObj>
              </mc:Choice>
              <mc:Fallback>
                <p:oleObj r:id="rId7" imgW="4775200" imgH="304800" progId="Equation.KSEE3">
                  <p:embed/>
                  <p:pic>
                    <p:nvPicPr>
                      <p:cNvPr id="0" name="对象 2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36235" y="3314700"/>
                        <a:ext cx="6694805" cy="427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56555" y="3823335"/>
          <a:ext cx="6677025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762500" imgH="304800" progId="Equation.KSEE3">
                  <p:embed/>
                </p:oleObj>
              </mc:Choice>
              <mc:Fallback>
                <p:oleObj r:id="rId9" imgW="4762500" imgH="304800" progId="Equation.KSEE3">
                  <p:embed/>
                  <p:pic>
                    <p:nvPicPr>
                      <p:cNvPr id="0" name="对象 2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56555" y="3823335"/>
                        <a:ext cx="6677025" cy="427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47348" y="4391660"/>
          <a:ext cx="6695440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4775200" imgH="304800" progId="Equation.KSEE3">
                  <p:embed/>
                </p:oleObj>
              </mc:Choice>
              <mc:Fallback>
                <p:oleObj r:id="rId11" imgW="4775200" imgH="304800" progId="Equation.KSEE3">
                  <p:embed/>
                  <p:pic>
                    <p:nvPicPr>
                      <p:cNvPr id="0" name="对象 2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47348" y="4391660"/>
                        <a:ext cx="6695440" cy="427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56555" y="4909820"/>
          <a:ext cx="6677025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4762500" imgH="304800" progId="Equation.KSEE3">
                  <p:embed/>
                </p:oleObj>
              </mc:Choice>
              <mc:Fallback>
                <p:oleObj r:id="rId13" imgW="4762500" imgH="304800" progId="Equation.KSEE3">
                  <p:embed/>
                  <p:pic>
                    <p:nvPicPr>
                      <p:cNvPr id="0" name="对象 2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56555" y="4909820"/>
                        <a:ext cx="6677025" cy="427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67985" y="5539105"/>
          <a:ext cx="6677025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4762500" imgH="304800" progId="Equation.KSEE3">
                  <p:embed/>
                </p:oleObj>
              </mc:Choice>
              <mc:Fallback>
                <p:oleObj r:id="rId15" imgW="4762500" imgH="304800" progId="Equation.KSEE3">
                  <p:embed/>
                  <p:pic>
                    <p:nvPicPr>
                      <p:cNvPr id="0" name="对象 2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67985" y="5539105"/>
                        <a:ext cx="6677025" cy="427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92433" y="6121400"/>
          <a:ext cx="6658610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4749165" imgH="304800" progId="Equation.KSEE3">
                  <p:embed/>
                </p:oleObj>
              </mc:Choice>
              <mc:Fallback>
                <p:oleObj r:id="rId17" imgW="4749165" imgH="304800" progId="Equation.KSEE3">
                  <p:embed/>
                  <p:pic>
                    <p:nvPicPr>
                      <p:cNvPr id="0" name="对象 2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92433" y="6121400"/>
                        <a:ext cx="6658610" cy="427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59DDB4F-4527-45F7-BC34-A332EF2150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3459949"/>
              </p:ext>
            </p:extLst>
          </p:nvPr>
        </p:nvGraphicFramePr>
        <p:xfrm>
          <a:off x="66089" y="4037012"/>
          <a:ext cx="1038225" cy="1997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435100" imgH="2717800" progId="Visio.Drawing.11">
                  <p:embed/>
                </p:oleObj>
              </mc:Choice>
              <mc:Fallback>
                <p:oleObj r:id="rId19" imgW="1435100" imgH="2717800" progId="Visio.Drawing.11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6089" y="4037012"/>
                        <a:ext cx="1038225" cy="1997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管脚约束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25" y="2334828"/>
            <a:ext cx="11434439" cy="286748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85925" y="1828092"/>
            <a:ext cx="6314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个输入相应的拨码开关、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个输出指定相应的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Led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灯显示。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938376" y="2402540"/>
            <a:ext cx="8315247" cy="7122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/>
              <a:t>数字逻辑实验</a:t>
            </a:r>
            <a:r>
              <a:rPr lang="en-US" altLang="zh-CN" sz="4000" dirty="0"/>
              <a:t>4-2</a:t>
            </a:r>
            <a:r>
              <a:rPr lang="zh-CN" altLang="en-US" sz="4000" dirty="0"/>
              <a:t>：编码器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实验要求</a:t>
            </a:r>
            <a:endParaRPr lang="en-US" altLang="zh-CN"/>
          </a:p>
        </p:txBody>
      </p:sp>
      <p:sp>
        <p:nvSpPr>
          <p:cNvPr id="5" name="内容占位符 2"/>
          <p:cNvSpPr>
            <a:spLocks noGrp="1"/>
          </p:cNvSpPr>
          <p:nvPr>
            <p:ph sz="half" idx="1"/>
          </p:nvPr>
        </p:nvSpPr>
        <p:spPr>
          <a:xfrm>
            <a:off x="669925" y="1241425"/>
            <a:ext cx="10310495" cy="4845050"/>
          </a:xfrm>
        </p:spPr>
        <p:txBody>
          <a:bodyPr>
            <a:normAutofit fontScale="90000" lnSpcReduction="10000"/>
          </a:bodyPr>
          <a:lstStyle/>
          <a:p>
            <a:pPr marL="0" algn="l">
              <a:buClrTx/>
              <a:buSzTx/>
              <a:buNone/>
            </a:pPr>
            <a:r>
              <a:rPr lang="zh-CN" altLang="en-US" sz="2855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内容：</a:t>
            </a:r>
          </a:p>
          <a:p>
            <a:pPr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855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设计一个4-2优先编码器，依据真值表进行设计和验证</a:t>
            </a:r>
            <a:r>
              <a:rPr lang="zh-CN" altLang="en-US" sz="2855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（要求：仅用与非门实现）。</a:t>
            </a:r>
          </a:p>
          <a:p>
            <a:pPr marL="0" indent="0">
              <a:buNone/>
            </a:pPr>
            <a:endParaRPr lang="zh-CN" altLang="en-US" sz="2855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>
              <a:buNone/>
            </a:pPr>
            <a:r>
              <a:rPr lang="zh-CN" altLang="en-US" sz="2855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注意：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5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详细设计过程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5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画出卡洛图，并给出接口对应的表达式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5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原理图、引脚分配等重要步骤的截图以及说明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5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按实验手册上记录表在板上验证，填写实验结果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4-2</a:t>
            </a:r>
            <a:r>
              <a:rPr dirty="0"/>
              <a:t>优先编码器</a:t>
            </a:r>
          </a:p>
        </p:txBody>
      </p:sp>
      <p:sp>
        <p:nvSpPr>
          <p:cNvPr id="6" name="内容占位符 3"/>
          <p:cNvSpPr txBox="1"/>
          <p:nvPr/>
        </p:nvSpPr>
        <p:spPr>
          <a:xfrm>
            <a:off x="6238877" y="952508"/>
            <a:ext cx="5283242" cy="53889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写出输出变量的布尔表达式并化简</a:t>
            </a:r>
          </a:p>
          <a:p>
            <a:r>
              <a:rPr lang="zh-CN" altLang="en-US"/>
              <a:t>使用适当的逻辑门搭建</a:t>
            </a:r>
            <a:r>
              <a:rPr lang="en-US" altLang="zh-CN">
                <a:sym typeface="+mn-ea"/>
              </a:rPr>
              <a:t>4-2</a:t>
            </a:r>
            <a:r>
              <a:rPr lang="zh-CN" altLang="en-US">
                <a:sym typeface="+mn-ea"/>
              </a:rPr>
              <a:t>优先编码器。</a:t>
            </a:r>
          </a:p>
          <a:p>
            <a:r>
              <a:rPr lang="zh-CN" altLang="en-US">
                <a:sym typeface="+mn-ea"/>
              </a:rPr>
              <a:t>V可以理解成Valid(有效)的缩写，指示编码输出(A1A0)是否有效。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480820" y="1360805"/>
          <a:ext cx="3625215" cy="2205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38300" imgH="1016000" progId="Visio.Drawing.11">
                  <p:embed/>
                </p:oleObj>
              </mc:Choice>
              <mc:Fallback>
                <p:oleObj r:id="rId2" imgW="1638300" imgH="1016000" progId="Visio.Drawing.11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80820" y="1360805"/>
                        <a:ext cx="3625215" cy="2205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2"/>
          <p:cNvPicPr>
            <a:picLocks noChangeAspect="1" noChangeArrowheads="1"/>
          </p:cNvPicPr>
          <p:nvPr/>
        </p:nvPicPr>
        <p:blipFill>
          <a:blip r:embed="rId4" cstate="print"/>
          <a:srcRect l="1666" t="21785"/>
          <a:stretch>
            <a:fillRect/>
          </a:stretch>
        </p:blipFill>
        <p:spPr>
          <a:xfrm>
            <a:off x="669925" y="3940175"/>
            <a:ext cx="5247005" cy="2094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对象 3">
            <a:hlinkClick r:id="" action="ppaction://ole?verb=0"/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68135" y="3870643"/>
            <a:ext cx="4040785" cy="514350"/>
          </a:xfrm>
          <a:prstGeom prst="rect">
            <a:avLst/>
          </a:prstGeom>
          <a:blipFill rotWithShape="1">
            <a:blip r:embed="rId5"/>
            <a:stretch>
              <a:fillRect l="-302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0" name="对象 4">
            <a:hlinkClick r:id="" action="ppaction://ole?verb=0"/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67818" y="4576445"/>
            <a:ext cx="4695140" cy="514350"/>
          </a:xfrm>
          <a:prstGeom prst="rect">
            <a:avLst/>
          </a:prstGeom>
          <a:blipFill rotWithShape="1">
            <a:blip r:embed="rId6"/>
            <a:stretch>
              <a:fillRect l="-390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1" name="对象 5">
            <a:hlinkClick r:id="" action="ppaction://ole?verb=0"/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83703" y="5343209"/>
            <a:ext cx="3400514" cy="514349"/>
          </a:xfrm>
          <a:prstGeom prst="rect">
            <a:avLst/>
          </a:prstGeom>
          <a:blipFill rotWithShape="1">
            <a:blip r:embed="rId7"/>
            <a:stretch>
              <a:fillRect l="-358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附录</a:t>
            </a:r>
            <a:r>
              <a:rPr lang="en-US" altLang="zh-CN"/>
              <a:t>1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基本逻辑门</a:t>
            </a:r>
            <a:r>
              <a:rPr lang="en-US" altLang="zh-CN"/>
              <a:t>IP</a:t>
            </a:r>
            <a:r>
              <a:t>实例</a:t>
            </a:r>
          </a:p>
          <a:p>
            <a:endParaRPr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304808" y="2179320"/>
          <a:ext cx="2263140" cy="467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292600" imgH="8813800" progId="Visio.Drawing.11">
                  <p:embed/>
                </p:oleObj>
              </mc:Choice>
              <mc:Fallback>
                <p:oleObj r:id="rId3" imgW="4292600" imgH="8813800" progId="Visio.Drawing.11">
                  <p:embed/>
                  <p:pic>
                    <p:nvPicPr>
                      <p:cNvPr id="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4808" y="2179320"/>
                        <a:ext cx="2263140" cy="4678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双击</a:t>
            </a:r>
            <a:r>
              <a:rPr lang="en-US" altLang="zh-CN"/>
              <a:t>IP</a:t>
            </a:r>
            <a:r>
              <a:rPr lang="zh-CN" altLang="en-US"/>
              <a:t>实例进行配置</a:t>
            </a:r>
          </a:p>
          <a:p>
            <a:pPr lvl="1"/>
            <a:r>
              <a:rPr lang="zh-CN" altLang="en-US" sz="1400"/>
              <a:t>与门</a:t>
            </a:r>
            <a:r>
              <a:rPr lang="en-US" altLang="zh-CN" sz="1400"/>
              <a:t>IP</a:t>
            </a:r>
            <a:r>
              <a:rPr lang="zh-CN" altLang="en-US" sz="1400"/>
              <a:t>实例</a:t>
            </a:r>
          </a:p>
          <a:p>
            <a:pPr lvl="2"/>
            <a:r>
              <a:rPr lang="en-US" altLang="zh-CN" sz="1400"/>
              <a:t>Number of Input Ports (2, 3, 4 ……)</a:t>
            </a:r>
            <a:endParaRPr lang="zh-CN" altLang="en-US" sz="1400"/>
          </a:p>
          <a:p>
            <a:endParaRPr lang="zh-CN" altLang="en-US" sz="140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609530" y="2817489"/>
          <a:ext cx="4808220" cy="359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60000" imgH="7607300" progId="Visio.Drawing.11">
                  <p:embed/>
                </p:oleObj>
              </mc:Choice>
              <mc:Fallback>
                <p:oleObj r:id="rId5" imgW="10160000" imgH="7607300" progId="Visio.Drawing.11">
                  <p:embed/>
                  <p:pic>
                    <p:nvPicPr>
                      <p:cNvPr id="0" name="对象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09530" y="2817489"/>
                        <a:ext cx="4808220" cy="3599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2</a:t>
            </a:r>
            <a:br>
              <a:rPr lang="en-US" altLang="zh-CN"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>
                <a:sym typeface="+mn-ea"/>
              </a:rPr>
              <a:t>基本触发器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双击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实例进行配置</a:t>
            </a:r>
          </a:p>
          <a:p>
            <a:pPr lvl="1"/>
            <a:r>
              <a:rPr lang="en-US" altLang="zh-CN" sz="1400"/>
              <a:t>D</a:t>
            </a:r>
            <a:r>
              <a:rPr lang="zh-CN" altLang="en-US" sz="1400"/>
              <a:t>触发器</a:t>
            </a:r>
          </a:p>
          <a:p>
            <a:pPr lvl="2"/>
            <a:r>
              <a:rPr lang="en-US" altLang="zh-CN" sz="1200"/>
              <a:t>Active Clk Edge</a:t>
            </a:r>
          </a:p>
          <a:p>
            <a:pPr lvl="2"/>
            <a:r>
              <a:rPr lang="en-US" altLang="zh-CN" sz="1200"/>
              <a:t>Clear Port</a:t>
            </a:r>
          </a:p>
          <a:p>
            <a:pPr lvl="2"/>
            <a:r>
              <a:rPr lang="en-US" altLang="zh-CN" sz="1200">
                <a:sym typeface="+mn-ea"/>
              </a:rPr>
              <a:t>Preset Port</a:t>
            </a:r>
            <a:endParaRPr lang="en-US" altLang="zh-CN" sz="120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87829" y="2306998"/>
          <a:ext cx="2277110" cy="3532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162300" imgH="4876800" progId="Visio.Drawing.11">
                  <p:embed/>
                </p:oleObj>
              </mc:Choice>
              <mc:Fallback>
                <p:oleObj r:id="rId3" imgW="3162300" imgH="4876800" progId="Visio.Drawing.11">
                  <p:embed/>
                  <p:pic>
                    <p:nvPicPr>
                      <p:cNvPr id="0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7829" y="2306998"/>
                        <a:ext cx="2277110" cy="3532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39180" y="2854325"/>
          <a:ext cx="5041900" cy="3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60000" imgH="7670800" progId="Visio.Drawing.11">
                  <p:embed/>
                </p:oleObj>
              </mc:Choice>
              <mc:Fallback>
                <p:oleObj r:id="rId5" imgW="10160000" imgH="7670800" progId="Visio.Drawing.11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39180" y="2854325"/>
                        <a:ext cx="5041900" cy="3800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3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>
                <a:sym typeface="+mn-ea"/>
              </a:rPr>
              <a:t>特殊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/>
              <a:t>mux</a:t>
            </a:r>
          </a:p>
          <a:p>
            <a:pPr lvl="1"/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选</a:t>
            </a:r>
            <a:r>
              <a:rPr lang="en-US" altLang="zh-CN" sz="1400">
                <a:sym typeface="+mn-ea"/>
              </a:rPr>
              <a:t>1</a:t>
            </a:r>
            <a:endParaRPr lang="en-US" altLang="zh-CN" sz="1400"/>
          </a:p>
          <a:p>
            <a:pPr lvl="1"/>
            <a:r>
              <a:rPr lang="en-US" altLang="zh-CN" sz="1400"/>
              <a:t>4</a:t>
            </a:r>
            <a:r>
              <a:rPr lang="zh-CN" altLang="en-US" sz="1400"/>
              <a:t>选</a:t>
            </a:r>
            <a:r>
              <a:rPr lang="en-US" altLang="zh-CN" sz="1400"/>
              <a:t>1</a:t>
            </a:r>
          </a:p>
          <a:p>
            <a:pPr lvl="1"/>
            <a:r>
              <a:rPr lang="en-US" altLang="zh-CN" sz="1400"/>
              <a:t>8</a:t>
            </a:r>
            <a:r>
              <a:rPr lang="zh-CN" altLang="en-US" sz="1400"/>
              <a:t>选</a:t>
            </a:r>
            <a:r>
              <a:rPr lang="en-US" altLang="zh-CN" sz="1400"/>
              <a:t>1</a:t>
            </a:r>
            <a:endParaRPr lang="en-US" altLang="zh-CN"/>
          </a:p>
          <a:p>
            <a:pPr lvl="0"/>
            <a:r>
              <a:rPr lang="en-US" altLang="zh-CN"/>
              <a:t>lab_clk</a:t>
            </a:r>
          </a:p>
          <a:p>
            <a:pPr lvl="1"/>
            <a:r>
              <a:rPr lang="zh-CN" altLang="en-US" sz="1400"/>
              <a:t>输入时钟频率</a:t>
            </a:r>
            <a:endParaRPr lang="zh-CN" altLang="en-US"/>
          </a:p>
          <a:p>
            <a:pPr lvl="2"/>
            <a:r>
              <a:rPr lang="en-US" altLang="zh-CN" sz="1200"/>
              <a:t>100MHz(</a:t>
            </a:r>
            <a:r>
              <a:rPr lang="zh-CN" altLang="en-US" sz="1200"/>
              <a:t>通过</a:t>
            </a:r>
            <a:r>
              <a:rPr lang="en-US" altLang="zh-CN" sz="1200"/>
              <a:t>W5</a:t>
            </a:r>
            <a:r>
              <a:rPr lang="zh-CN" altLang="en-US" sz="1200"/>
              <a:t>引脚输入</a:t>
            </a:r>
            <a:r>
              <a:rPr lang="en-US" altLang="zh-CN" sz="1200"/>
              <a:t>)</a:t>
            </a:r>
            <a:endParaRPr lang="en-US" altLang="zh-CN"/>
          </a:p>
          <a:p>
            <a:pPr lvl="1"/>
            <a:r>
              <a:rPr lang="zh-CN" altLang="en-US" sz="1400"/>
              <a:t>输出时钟频率</a:t>
            </a:r>
            <a:endParaRPr lang="zh-CN" altLang="en-US"/>
          </a:p>
          <a:p>
            <a:pPr lvl="2"/>
            <a:r>
              <a:rPr lang="en-US" altLang="zh-CN" sz="1200"/>
              <a:t>1Hz</a:t>
            </a:r>
            <a:r>
              <a:rPr lang="zh-CN" altLang="en-US" sz="1200"/>
              <a:t>，</a:t>
            </a:r>
            <a:r>
              <a:rPr lang="en-US" altLang="zh-CN" sz="1200"/>
              <a:t>2Hz</a:t>
            </a:r>
            <a:r>
              <a:rPr lang="zh-CN" altLang="en-US" sz="1200"/>
              <a:t>，</a:t>
            </a:r>
            <a:r>
              <a:rPr lang="en-US" altLang="zh-CN" sz="1200"/>
              <a:t>3Hz</a:t>
            </a:r>
            <a:r>
              <a:rPr lang="zh-CN" altLang="en-US" sz="1200"/>
              <a:t>，</a:t>
            </a:r>
            <a:r>
              <a:rPr lang="en-US" altLang="zh-CN" sz="1200"/>
              <a:t>……</a:t>
            </a:r>
            <a:r>
              <a:rPr lang="zh-CN" altLang="en-US" sz="1200"/>
              <a:t>，</a:t>
            </a:r>
            <a:r>
              <a:rPr lang="en-US" altLang="zh-CN" sz="1200"/>
              <a:t>100MHz</a:t>
            </a:r>
          </a:p>
        </p:txBody>
      </p:sp>
      <p:graphicFrame>
        <p:nvGraphicFramePr>
          <p:cNvPr id="5" name="对象 4"/>
          <p:cNvGraphicFramePr/>
          <p:nvPr/>
        </p:nvGraphicFramePr>
        <p:xfrm>
          <a:off x="977900" y="3019107"/>
          <a:ext cx="1038225" cy="1997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35100" imgH="2717800" progId="Visio.Drawing.11">
                  <p:embed/>
                </p:oleObj>
              </mc:Choice>
              <mc:Fallback>
                <p:oleObj r:id="rId3" imgW="1435100" imgH="2717800" progId="Visio.Drawing.11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7900" y="3019107"/>
                        <a:ext cx="1038225" cy="1997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2909887" y="2919126"/>
          <a:ext cx="103822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35100" imgH="1905000" progId="Visio.Drawing.11">
                  <p:embed/>
                </p:oleObj>
              </mc:Choice>
              <mc:Fallback>
                <p:oleObj r:id="rId5" imgW="1435100" imgH="1905000" progId="Visio.Drawing.11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09887" y="2919126"/>
                        <a:ext cx="1038225" cy="138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2979737" y="4782266"/>
          <a:ext cx="1038225" cy="1099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35100" imgH="1511300" progId="Visio.Drawing.11">
                  <p:embed/>
                </p:oleObj>
              </mc:Choice>
              <mc:Fallback>
                <p:oleObj r:id="rId7" imgW="1435100" imgH="1511300" progId="Visio.Drawing.11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79737" y="4782266"/>
                        <a:ext cx="1038225" cy="1099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324</Words>
  <Application>Microsoft Office PowerPoint</Application>
  <PresentationFormat>宽屏</PresentationFormat>
  <Paragraphs>70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</vt:lpstr>
      <vt:lpstr>等线 Light</vt:lpstr>
      <vt:lpstr>Arial</vt:lpstr>
      <vt:lpstr>Times New Roman</vt:lpstr>
      <vt:lpstr>Wingdings</vt:lpstr>
      <vt:lpstr>Office 主题​​</vt:lpstr>
      <vt:lpstr>Visio.Drawing.11</vt:lpstr>
      <vt:lpstr>Equation.KSEE3</vt:lpstr>
      <vt:lpstr>PowerPoint 演示文稿</vt:lpstr>
      <vt:lpstr>PowerPoint 演示文稿</vt:lpstr>
      <vt:lpstr>实验要求</vt:lpstr>
      <vt:lpstr>Exp1. 3-8译码器</vt:lpstr>
      <vt:lpstr>Exp1.  3-8译码器</vt:lpstr>
      <vt:lpstr>管脚约束</vt:lpstr>
      <vt:lpstr>PowerPoint 演示文稿</vt:lpstr>
      <vt:lpstr>实验要求</vt:lpstr>
      <vt:lpstr>4-2优先编码器</vt:lpstr>
      <vt:lpstr>附录1</vt:lpstr>
      <vt:lpstr>附录2 </vt:lpstr>
      <vt:lpstr>附录3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苏潮阳</dc:creator>
  <cp:lastModifiedBy>wen lu</cp:lastModifiedBy>
  <cp:revision>42</cp:revision>
  <dcterms:created xsi:type="dcterms:W3CDTF">2017-11-09T12:00:00Z</dcterms:created>
  <dcterms:modified xsi:type="dcterms:W3CDTF">2022-11-16T06:04:47Z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EDF550DCA93C40DEA2B29896577CAF87</vt:lpwstr>
  </property>
  <property fmtid="{D5CDD505-2E9C-101B-9397-08002B2CF9AE}" pid="3" name="KSOProductBuildVer">
    <vt:lpwstr>2052-11.1.0.11045</vt:lpwstr>
  </property>
</Properties>
</file>