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79" r:id="rId3"/>
    <p:sldId id="277" r:id="rId4"/>
    <p:sldId id="257" r:id="rId5"/>
    <p:sldId id="262" r:id="rId6"/>
    <p:sldId id="263" r:id="rId7"/>
    <p:sldId id="264" r:id="rId8"/>
    <p:sldId id="265" r:id="rId9"/>
    <p:sldId id="269" r:id="rId10"/>
    <p:sldId id="294" r:id="rId11"/>
    <p:sldId id="270" r:id="rId12"/>
    <p:sldId id="273" r:id="rId13"/>
    <p:sldId id="293" r:id="rId14"/>
    <p:sldId id="278" r:id="rId15"/>
    <p:sldId id="280" r:id="rId16"/>
    <p:sldId id="281" r:id="rId17"/>
    <p:sldId id="282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878" autoAdjust="0"/>
    <p:restoredTop sz="94660"/>
  </p:normalViewPr>
  <p:slideViewPr>
    <p:cSldViewPr snapToGrid="0">
      <p:cViewPr>
        <p:scale>
          <a:sx n="75" d="100"/>
          <a:sy n="75" d="100"/>
        </p:scale>
        <p:origin x="514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56081-8B8F-462A-AF57-1603CB45DCC1}" type="datetimeFigureOut">
              <a:rPr lang="zh-CN" altLang="en-US" smtClean="0"/>
              <a:t>2022/11/9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C5B2B0-5DEB-475B-A3BC-494D5DFF74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7552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54274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5427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latin typeface="Arial" panose="020B0604020202020204" pitchFamily="34" charset="0"/>
                <a:ea typeface="宋体" panose="02010600030101010101" pitchFamily="2" charset="-122"/>
              </a:rPr>
              <a:t>13</a:t>
            </a:fld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9783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  <a:t>2022/11/9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  <a:t>2022/11/9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  <a:t>2022/11/9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  <a:t>2022/11/9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  <a:t>2022/11/9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  <a:t>2022/11/9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  <a:t>2022/11/9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  <a:t>2022/11/9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  <a:t>2022/11/9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  <a:t>2022/11/9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719F-3AC2-48E8-9CAB-7FE04A4D1881}" type="datetimeFigureOut">
              <a:rPr lang="zh-CN" altLang="en-US" smtClean="0"/>
              <a:t>2022/11/9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A3DB-C069-4966-A67B-3EB24EC15DC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54719F-3AC2-48E8-9CAB-7FE04A4D1881}" type="datetimeFigureOut">
              <a:rPr lang="zh-CN" altLang="en-US" smtClean="0"/>
              <a:t>2022/11/9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C4A3DB-C069-4966-A67B-3EB24EC15DC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image" Target="../media/image1.wmf"/><Relationship Id="rId7" Type="http://schemas.openxmlformats.org/officeDocument/2006/relationships/oleObject" Target="../embeddings/oleObject3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11.png"/><Relationship Id="rId3" Type="http://schemas.openxmlformats.org/officeDocument/2006/relationships/image" Target="../media/image5.emf"/><Relationship Id="rId7" Type="http://schemas.openxmlformats.org/officeDocument/2006/relationships/image" Target="../media/image7.wmf"/><Relationship Id="rId12" Type="http://schemas.openxmlformats.org/officeDocument/2006/relationships/image" Target="../media/image10.png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9.wmf"/><Relationship Id="rId5" Type="http://schemas.openxmlformats.org/officeDocument/2006/relationships/image" Target="../media/image6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8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6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Relationship Id="rId6" Type="http://schemas.openxmlformats.org/officeDocument/2006/relationships/image" Target="../media/image19.e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8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Relationship Id="rId6" Type="http://schemas.openxmlformats.org/officeDocument/2006/relationships/image" Target="../media/image21.e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2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1478211" y="1586753"/>
            <a:ext cx="9458730" cy="153703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数字逻辑实验</a:t>
            </a:r>
            <a:r>
              <a:rPr lang="en-US" altLang="zh-CN" sz="4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4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：加法器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1ADAAB8-4E3F-8F8E-BC47-761B8F2B074D}"/>
              </a:ext>
            </a:extLst>
          </p:cNvPr>
          <p:cNvSpPr txBox="1">
            <a:spLocks/>
          </p:cNvSpPr>
          <p:nvPr/>
        </p:nvSpPr>
        <p:spPr>
          <a:xfrm>
            <a:off x="1697636" y="3429000"/>
            <a:ext cx="9019880" cy="12597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j-cs"/>
              </a:defRPr>
            </a:lvl1pPr>
          </a:lstStyle>
          <a:p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任课教师：吕泽均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日期：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2022-11-09</a:t>
            </a:r>
          </a:p>
          <a:p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实验内容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设计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全加器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；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利用半加器和全加器实现一个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位并行加法器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。</a:t>
            </a:r>
          </a:p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39906" y="699247"/>
            <a:ext cx="25010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</a:t>
            </a:r>
            <a:r>
              <a:rPr lang="zh-CN" altLang="en-US" sz="2400" dirty="0"/>
              <a:t>位半加器原理图</a:t>
            </a:r>
          </a:p>
        </p:txBody>
      </p:sp>
      <p:graphicFrame>
        <p:nvGraphicFramePr>
          <p:cNvPr id="6" name="对象 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340959" y="2564218"/>
          <a:ext cx="2847975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02995" imgH="177800" progId="Equations">
                  <p:embed/>
                </p:oleObj>
              </mc:Choice>
              <mc:Fallback>
                <p:oleObj r:id="rId2" imgW="1102995" imgH="177800" progId="Equations">
                  <p:embed/>
                  <p:pic>
                    <p:nvPicPr>
                      <p:cNvPr id="0" name="对象 6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340959" y="2564218"/>
                        <a:ext cx="2847975" cy="4492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490479" y="1433050"/>
          <a:ext cx="1342390" cy="2102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295400" imgH="2082800" progId="Visio.Drawing.11">
                  <p:embed/>
                </p:oleObj>
              </mc:Choice>
              <mc:Fallback>
                <p:oleObj r:id="rId4" imgW="1295400" imgH="2082800" progId="Visio.Drawing.11">
                  <p:embed/>
                  <p:pic>
                    <p:nvPicPr>
                      <p:cNvPr id="0" name="对象 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90479" y="1433050"/>
                        <a:ext cx="1342390" cy="21024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5436" y="4366696"/>
            <a:ext cx="3988187" cy="2179878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191915" y="368804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zh-CN" altLang="en-US" dirty="0"/>
          </a:p>
          <a:p>
            <a:r>
              <a:rPr lang="zh-CN" altLang="en-US" dirty="0"/>
              <a:t>真值表</a:t>
            </a:r>
          </a:p>
        </p:txBody>
      </p:sp>
      <p:sp>
        <p:nvSpPr>
          <p:cNvPr id="9" name="矩形 8"/>
          <p:cNvSpPr/>
          <p:nvPr/>
        </p:nvSpPr>
        <p:spPr>
          <a:xfrm>
            <a:off x="6340959" y="2194886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输出布尔表达式</a:t>
            </a:r>
          </a:p>
        </p:txBody>
      </p:sp>
      <p:graphicFrame>
        <p:nvGraphicFramePr>
          <p:cNvPr id="10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340959" y="3063480"/>
          <a:ext cx="138112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481965" imgH="152400" progId="Equations">
                  <p:embed/>
                </p:oleObj>
              </mc:Choice>
              <mc:Fallback>
                <p:oleObj r:id="rId7" imgW="481965" imgH="152400" progId="Equations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40959" y="3063480"/>
                        <a:ext cx="1381125" cy="352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39906" y="699247"/>
            <a:ext cx="25010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</a:t>
            </a:r>
            <a:r>
              <a:rPr lang="zh-CN" altLang="en-US" sz="2400" dirty="0"/>
              <a:t>位全加器原理图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949904" y="1534173"/>
          <a:ext cx="1136015" cy="1867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295400" imgH="2082800" progId="Visio.Drawing.11">
                  <p:embed/>
                </p:oleObj>
              </mc:Choice>
              <mc:Fallback>
                <p:oleObj r:id="rId2" imgW="1295400" imgH="2082800" progId="Visio.Drawing.11">
                  <p:embed/>
                  <p:pic>
                    <p:nvPicPr>
                      <p:cNvPr id="0" name="对象 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49904" y="1534173"/>
                        <a:ext cx="1136015" cy="18675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811036" y="1567629"/>
          <a:ext cx="55245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825625" imgH="177800" progId="Equations">
                  <p:embed/>
                </p:oleObj>
              </mc:Choice>
              <mc:Fallback>
                <p:oleObj r:id="rId4" imgW="1825625" imgH="177800" progId="Equations">
                  <p:embed/>
                  <p:pic>
                    <p:nvPicPr>
                      <p:cNvPr id="0" name="对象 6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11036" y="1567629"/>
                        <a:ext cx="5524500" cy="5270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569101" y="2892874"/>
          <a:ext cx="6012815" cy="424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324100" imgH="203200" progId="Equations">
                  <p:embed/>
                </p:oleObj>
              </mc:Choice>
              <mc:Fallback>
                <p:oleObj r:id="rId6" imgW="2324100" imgH="203200" progId="Equations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569101" y="2892874"/>
                        <a:ext cx="6012815" cy="4241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468896" y="2201677"/>
          <a:ext cx="2078038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723265" imgH="165100" progId="Equations">
                  <p:embed/>
                </p:oleObj>
              </mc:Choice>
              <mc:Fallback>
                <p:oleObj r:id="rId8" imgW="723265" imgH="165100" progId="Equations">
                  <p:embed/>
                  <p:pic>
                    <p:nvPicPr>
                      <p:cNvPr id="0" name="对象 8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468896" y="2201677"/>
                        <a:ext cx="2078038" cy="4730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366026" y="3419924"/>
          <a:ext cx="228473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811530" imgH="165100" progId="Equations">
                  <p:embed/>
                </p:oleObj>
              </mc:Choice>
              <mc:Fallback>
                <p:oleObj r:id="rId10" imgW="811530" imgH="165100" progId="Equations">
                  <p:embed/>
                  <p:pic>
                    <p:nvPicPr>
                      <p:cNvPr id="0" name="对象 9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366026" y="3419924"/>
                        <a:ext cx="2284730" cy="463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4811036" y="1164841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输出布尔表达式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3643" y="3944108"/>
            <a:ext cx="3171429" cy="2723809"/>
          </a:xfrm>
          <a:prstGeom prst="rect">
            <a:avLst/>
          </a:prstGeom>
        </p:spPr>
      </p:pic>
      <p:pic>
        <p:nvPicPr>
          <p:cNvPr id="11" name="图片 6"/>
          <p:cNvPicPr>
            <a:picLocks noChangeAspect="1"/>
          </p:cNvPicPr>
          <p:nvPr/>
        </p:nvPicPr>
        <p:blipFill>
          <a:blip r:embed="rId13"/>
          <a:srcRect b="20154"/>
          <a:stretch>
            <a:fillRect/>
          </a:stretch>
        </p:blipFill>
        <p:spPr>
          <a:xfrm>
            <a:off x="4880085" y="4033453"/>
            <a:ext cx="5701831" cy="2545121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矩形 11"/>
          <p:cNvSpPr/>
          <p:nvPr/>
        </p:nvSpPr>
        <p:spPr>
          <a:xfrm>
            <a:off x="867628" y="3514142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真值表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12464" y="1716832"/>
            <a:ext cx="8167072" cy="3844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文本框 4"/>
          <p:cNvSpPr txBox="1"/>
          <p:nvPr/>
        </p:nvSpPr>
        <p:spPr>
          <a:xfrm>
            <a:off x="1039906" y="699247"/>
            <a:ext cx="2268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</a:t>
            </a:r>
            <a:r>
              <a:rPr lang="zh-CN" altLang="en-US" sz="2400" dirty="0"/>
              <a:t>位全加器</a:t>
            </a:r>
            <a:r>
              <a:rPr lang="en-US" altLang="zh-CN" sz="2400" dirty="0"/>
              <a:t>BD</a:t>
            </a:r>
            <a:r>
              <a:rPr lang="zh-CN" altLang="en-US" sz="2400" dirty="0"/>
              <a:t>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39906" y="699247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测试全加器是否设计正确</a:t>
            </a:r>
          </a:p>
        </p:txBody>
      </p:sp>
      <p:sp>
        <p:nvSpPr>
          <p:cNvPr id="6" name="矩形 5"/>
          <p:cNvSpPr/>
          <p:nvPr/>
        </p:nvSpPr>
        <p:spPr>
          <a:xfrm>
            <a:off x="1452283" y="2354973"/>
            <a:ext cx="1201270" cy="3638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SW0(V17)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452283" y="2978020"/>
            <a:ext cx="1201270" cy="3638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SW1(V16)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452283" y="3624486"/>
            <a:ext cx="1201270" cy="3638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SW2(W16)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4186517" y="2354973"/>
            <a:ext cx="3182471" cy="18352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全加器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186517" y="2354973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a_in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4178006" y="2972582"/>
            <a:ext cx="591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b_in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4196389" y="3624486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c_in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6703856" y="3333435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c_out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6727466" y="2718867"/>
            <a:ext cx="708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s_out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8408895" y="2724305"/>
            <a:ext cx="1201270" cy="3638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LD0(U16)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408895" y="3333435"/>
            <a:ext cx="1201270" cy="3638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LD1(E19)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8" name="直接连接符 17"/>
          <p:cNvCxnSpPr>
            <a:stCxn id="6" idx="3"/>
            <a:endCxn id="10" idx="1"/>
          </p:cNvCxnSpPr>
          <p:nvPr/>
        </p:nvCxnSpPr>
        <p:spPr>
          <a:xfrm>
            <a:off x="2653553" y="2536920"/>
            <a:ext cx="1532964" cy="27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/>
          <p:cNvCxnSpPr>
            <a:stCxn id="8" idx="3"/>
            <a:endCxn id="12" idx="1"/>
          </p:cNvCxnSpPr>
          <p:nvPr/>
        </p:nvCxnSpPr>
        <p:spPr>
          <a:xfrm>
            <a:off x="2653553" y="3806433"/>
            <a:ext cx="1542836" cy="27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/>
          <p:cNvCxnSpPr>
            <a:stCxn id="7" idx="3"/>
            <a:endCxn id="11" idx="1"/>
          </p:cNvCxnSpPr>
          <p:nvPr/>
        </p:nvCxnSpPr>
        <p:spPr>
          <a:xfrm flipV="1">
            <a:off x="2653553" y="3157248"/>
            <a:ext cx="1524453" cy="27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/>
          <p:cNvCxnSpPr>
            <a:stCxn id="14" idx="3"/>
            <a:endCxn id="15" idx="1"/>
          </p:cNvCxnSpPr>
          <p:nvPr/>
        </p:nvCxnSpPr>
        <p:spPr>
          <a:xfrm>
            <a:off x="7436314" y="2903533"/>
            <a:ext cx="972581" cy="27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/>
          <p:cNvCxnSpPr>
            <a:stCxn id="13" idx="3"/>
            <a:endCxn id="16" idx="1"/>
          </p:cNvCxnSpPr>
          <p:nvPr/>
        </p:nvCxnSpPr>
        <p:spPr>
          <a:xfrm flipV="1">
            <a:off x="7422322" y="3515382"/>
            <a:ext cx="986573" cy="27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1452283" y="1469301"/>
            <a:ext cx="14157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引脚分配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39906" y="69924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引脚约束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r="35776"/>
          <a:stretch>
            <a:fillRect/>
          </a:stretch>
        </p:blipFill>
        <p:spPr>
          <a:xfrm>
            <a:off x="297663" y="2323713"/>
            <a:ext cx="11691871" cy="3061087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39906" y="1828800"/>
            <a:ext cx="2613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Open Elaborated Design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5118848" y="3738282"/>
            <a:ext cx="412377" cy="197223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</a:rPr>
              <a:t>E19</a:t>
            </a:r>
            <a:endParaRPr lang="zh-CN" altLang="en-US" sz="1100" b="1" dirty="0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5043903" y="3935505"/>
            <a:ext cx="504713" cy="1136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</a:rPr>
              <a:t>U16</a:t>
            </a:r>
            <a:endParaRPr lang="zh-CN" altLang="en-US" sz="11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416424" y="1452282"/>
            <a:ext cx="7879080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之后的步骤与上一个实验完全相同。这里简单复述一遍。</a:t>
            </a:r>
            <a:endParaRPr lang="en-US" altLang="zh-CN" sz="2400" dirty="0"/>
          </a:p>
          <a:p>
            <a:r>
              <a:rPr lang="en-US" altLang="zh-CN" sz="2400" dirty="0"/>
              <a:t>1.</a:t>
            </a:r>
            <a:r>
              <a:rPr lang="zh-CN" altLang="en-US" sz="2400" dirty="0"/>
              <a:t>保存约束后，点击</a:t>
            </a:r>
            <a:r>
              <a:rPr lang="en-US" altLang="zh-CN" sz="2400" dirty="0"/>
              <a:t>Run Synthesis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r>
              <a:rPr lang="en-US" altLang="zh-CN" sz="2400" dirty="0"/>
              <a:t>2.Run Implementation</a:t>
            </a:r>
          </a:p>
          <a:p>
            <a:r>
              <a:rPr lang="en-US" altLang="zh-CN" sz="2400" dirty="0"/>
              <a:t>3.Generate Bitstream</a:t>
            </a:r>
          </a:p>
          <a:p>
            <a:r>
              <a:rPr lang="en-US" altLang="zh-CN" sz="2400" dirty="0"/>
              <a:t>4.Open Hardware Manager</a:t>
            </a:r>
          </a:p>
          <a:p>
            <a:r>
              <a:rPr lang="en-US" altLang="zh-CN" sz="2400" dirty="0"/>
              <a:t>5.</a:t>
            </a:r>
            <a:r>
              <a:rPr lang="zh-CN" altLang="en-US" sz="2400" dirty="0"/>
              <a:t>找到设备</a:t>
            </a:r>
            <a:endParaRPr lang="en-US" altLang="zh-CN" sz="2400" dirty="0"/>
          </a:p>
          <a:p>
            <a:r>
              <a:rPr lang="en-US" altLang="zh-CN" sz="2400" dirty="0"/>
              <a:t>6.Program</a:t>
            </a:r>
            <a:r>
              <a:rPr lang="zh-CN" altLang="en-US" sz="2400" dirty="0"/>
              <a:t> </a:t>
            </a:r>
            <a:r>
              <a:rPr lang="en-US" altLang="zh-CN" sz="2400" dirty="0"/>
              <a:t>device </a:t>
            </a:r>
          </a:p>
          <a:p>
            <a:endParaRPr lang="zh-CN" alt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88002" y="1042128"/>
            <a:ext cx="4988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二、使用全加器和半加器构建一个二位加法器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941628" y="498437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原理图</a:t>
            </a:r>
          </a:p>
        </p:txBody>
      </p:sp>
      <p:pic>
        <p:nvPicPr>
          <p:cNvPr id="7" name="图片 6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55611" y="2068888"/>
            <a:ext cx="2745061" cy="267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7531F56-B4DB-CE50-0CA1-AC42E959BB18}"/>
              </a:ext>
            </a:extLst>
          </p:cNvPr>
          <p:cNvSpPr txBox="1"/>
          <p:nvPr/>
        </p:nvSpPr>
        <p:spPr>
          <a:xfrm>
            <a:off x="688002" y="1042128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二位加法器真值表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67F8966-4A59-FCD0-9C4D-9546D2EF2437}"/>
              </a:ext>
            </a:extLst>
          </p:cNvPr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0033" y="2189230"/>
            <a:ext cx="2745061" cy="267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9" name="表格 9">
            <a:extLst>
              <a:ext uri="{FF2B5EF4-FFF2-40B4-BE49-F238E27FC236}">
                <a16:creationId xmlns:a16="http://schemas.microsoft.com/office/drawing/2014/main" id="{E9BC9DC6-B1C9-888E-3A7E-AAE9D14D48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856069"/>
              </p:ext>
            </p:extLst>
          </p:nvPr>
        </p:nvGraphicFramePr>
        <p:xfrm>
          <a:off x="3488993" y="276860"/>
          <a:ext cx="8128000" cy="630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99656325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61024421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4951649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31609346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6473189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42760496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3530041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3395820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c_out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2316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07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59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308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6978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005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037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3212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756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76250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803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05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9607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122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1674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767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382577"/>
                  </a:ext>
                </a:extLst>
              </a:tr>
            </a:tbl>
          </a:graphicData>
        </a:graphic>
      </p:graphicFrame>
      <p:pic>
        <p:nvPicPr>
          <p:cNvPr id="11" name="图片 10">
            <a:extLst>
              <a:ext uri="{FF2B5EF4-FFF2-40B4-BE49-F238E27FC236}">
                <a16:creationId xmlns:a16="http://schemas.microsoft.com/office/drawing/2014/main" id="{5B17E09D-B20D-611A-3AE4-5D5A4C037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6659" y="3173492"/>
            <a:ext cx="3171429" cy="27238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BA016A2-8A19-A41E-D890-3086EB341F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6659" y="866276"/>
            <a:ext cx="3116273" cy="170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314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40402" y="916623"/>
            <a:ext cx="2318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二位并行加法器</a:t>
            </a:r>
            <a:r>
              <a:rPr lang="en-US" altLang="zh-CN" dirty="0"/>
              <a:t>BD</a:t>
            </a:r>
            <a:r>
              <a:rPr lang="zh-CN" altLang="en-US" dirty="0"/>
              <a:t>图</a:t>
            </a:r>
          </a:p>
        </p:txBody>
      </p:sp>
      <p:pic>
        <p:nvPicPr>
          <p:cNvPr id="6" name="图片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44370" y="1559496"/>
            <a:ext cx="6455918" cy="4381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31437" y="69250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引脚分配</a:t>
            </a:r>
          </a:p>
        </p:txBody>
      </p:sp>
      <p:sp>
        <p:nvSpPr>
          <p:cNvPr id="6" name="矩形 5"/>
          <p:cNvSpPr/>
          <p:nvPr/>
        </p:nvSpPr>
        <p:spPr>
          <a:xfrm>
            <a:off x="1272988" y="1404714"/>
            <a:ext cx="1201270" cy="3638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SW0(V17)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72988" y="2027761"/>
            <a:ext cx="1201270" cy="3638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SW1(V16)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94313" y="3598029"/>
            <a:ext cx="1201270" cy="3638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SW2(W16)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07222" y="1404714"/>
            <a:ext cx="3182471" cy="50093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位加法器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017094" y="1399276"/>
            <a:ext cx="421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a0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3998711" y="2022323"/>
            <a:ext cx="421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a1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6487475" y="3693087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c_out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6804869" y="1800060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s0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8122022" y="1805498"/>
            <a:ext cx="1201270" cy="3638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LD0(U16)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7" name="直接连接符 16"/>
          <p:cNvCxnSpPr>
            <a:stCxn id="6" idx="3"/>
            <a:endCxn id="10" idx="1"/>
          </p:cNvCxnSpPr>
          <p:nvPr/>
        </p:nvCxnSpPr>
        <p:spPr>
          <a:xfrm flipV="1">
            <a:off x="2474258" y="1583942"/>
            <a:ext cx="1542836" cy="27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/>
          <p:cNvCxnSpPr>
            <a:stCxn id="7" idx="3"/>
            <a:endCxn id="11" idx="1"/>
          </p:cNvCxnSpPr>
          <p:nvPr/>
        </p:nvCxnSpPr>
        <p:spPr>
          <a:xfrm flipV="1">
            <a:off x="2474258" y="2206989"/>
            <a:ext cx="1524453" cy="27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/>
          <p:cNvCxnSpPr>
            <a:stCxn id="14" idx="3"/>
            <a:endCxn id="15" idx="1"/>
          </p:cNvCxnSpPr>
          <p:nvPr/>
        </p:nvCxnSpPr>
        <p:spPr>
          <a:xfrm>
            <a:off x="7205941" y="1984726"/>
            <a:ext cx="916081" cy="27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4025922" y="3598181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b0</a:t>
            </a:r>
            <a:endParaRPr lang="zh-CN" altLang="en-US" dirty="0"/>
          </a:p>
        </p:txBody>
      </p:sp>
      <p:sp>
        <p:nvSpPr>
          <p:cNvPr id="25" name="文本框 24"/>
          <p:cNvSpPr txBox="1"/>
          <p:nvPr/>
        </p:nvSpPr>
        <p:spPr>
          <a:xfrm>
            <a:off x="4043987" y="4068688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b1</a:t>
            </a:r>
            <a:endParaRPr lang="zh-CN" altLang="en-US" dirty="0"/>
          </a:p>
        </p:txBody>
      </p:sp>
      <p:cxnSp>
        <p:nvCxnSpPr>
          <p:cNvPr id="31" name="直接连接符 30"/>
          <p:cNvCxnSpPr>
            <a:stCxn id="40" idx="3"/>
            <a:endCxn id="25" idx="1"/>
          </p:cNvCxnSpPr>
          <p:nvPr/>
        </p:nvCxnSpPr>
        <p:spPr>
          <a:xfrm flipV="1">
            <a:off x="2395583" y="4253354"/>
            <a:ext cx="1648404" cy="27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接连接符 38"/>
          <p:cNvCxnSpPr>
            <a:stCxn id="8" idx="3"/>
            <a:endCxn id="24" idx="1"/>
          </p:cNvCxnSpPr>
          <p:nvPr/>
        </p:nvCxnSpPr>
        <p:spPr>
          <a:xfrm>
            <a:off x="2395583" y="3779976"/>
            <a:ext cx="1630339" cy="28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1194313" y="4074126"/>
            <a:ext cx="1201270" cy="3638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SW3(W17)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6794450" y="2241477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s1</a:t>
            </a:r>
            <a:endParaRPr lang="zh-CN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8105772" y="2220451"/>
            <a:ext cx="1201270" cy="3638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LD1(E19)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52" name="直接连接符 51"/>
          <p:cNvCxnSpPr>
            <a:endCxn id="51" idx="1"/>
          </p:cNvCxnSpPr>
          <p:nvPr/>
        </p:nvCxnSpPr>
        <p:spPr>
          <a:xfrm>
            <a:off x="7189691" y="2399679"/>
            <a:ext cx="916081" cy="27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矩形 52"/>
          <p:cNvSpPr/>
          <p:nvPr/>
        </p:nvSpPr>
        <p:spPr>
          <a:xfrm>
            <a:off x="8224305" y="3693087"/>
            <a:ext cx="1201270" cy="3638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LD2(U19)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54" name="直接连接符 53"/>
          <p:cNvCxnSpPr>
            <a:stCxn id="13" idx="3"/>
            <a:endCxn id="53" idx="1"/>
          </p:cNvCxnSpPr>
          <p:nvPr/>
        </p:nvCxnSpPr>
        <p:spPr>
          <a:xfrm flipV="1">
            <a:off x="7205941" y="3875034"/>
            <a:ext cx="1018364" cy="27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7453266" y="4918956"/>
            <a:ext cx="450636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开关</a:t>
            </a:r>
            <a:r>
              <a:rPr lang="en-US" altLang="zh-CN" sz="2000" dirty="0"/>
              <a:t>SW0-1</a:t>
            </a:r>
            <a:r>
              <a:rPr lang="zh-CN" altLang="en-US" sz="2000" dirty="0"/>
              <a:t>表示一个二位二进制数</a:t>
            </a:r>
            <a:endParaRPr lang="en-US" altLang="zh-CN" sz="2000" dirty="0"/>
          </a:p>
          <a:p>
            <a:r>
              <a:rPr lang="zh-CN" altLang="en-US" sz="2000" dirty="0"/>
              <a:t>开关</a:t>
            </a:r>
            <a:r>
              <a:rPr lang="en-US" altLang="zh-CN" sz="2000" dirty="0"/>
              <a:t>SW2-3</a:t>
            </a:r>
            <a:r>
              <a:rPr lang="zh-CN" altLang="en-US" sz="2000" dirty="0"/>
              <a:t>表示另一个二位二进制数</a:t>
            </a:r>
            <a:endParaRPr lang="en-US" altLang="zh-CN" sz="2000" dirty="0"/>
          </a:p>
          <a:p>
            <a:r>
              <a:rPr lang="zh-CN" altLang="en-US" sz="2000" dirty="0"/>
              <a:t>灯</a:t>
            </a:r>
            <a:r>
              <a:rPr lang="en-US" altLang="zh-CN" sz="2000" dirty="0"/>
              <a:t>LD0-LD1</a:t>
            </a:r>
            <a:r>
              <a:rPr lang="zh-CN" altLang="en-US" sz="2000" dirty="0"/>
              <a:t>表示两个二进制数相加的和</a:t>
            </a:r>
            <a:endParaRPr lang="en-US" altLang="zh-CN" sz="2000" dirty="0"/>
          </a:p>
          <a:p>
            <a:r>
              <a:rPr lang="zh-CN" altLang="en-US" sz="2000" dirty="0"/>
              <a:t>灯</a:t>
            </a:r>
            <a:r>
              <a:rPr lang="en-US" altLang="zh-CN" sz="2000" dirty="0"/>
              <a:t>LD2</a:t>
            </a:r>
            <a:r>
              <a:rPr lang="zh-CN" altLang="en-US" sz="2000" dirty="0"/>
              <a:t>表示进位输出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9" name="文本框 1"/>
          <p:cNvSpPr txBox="1"/>
          <p:nvPr/>
        </p:nvSpPr>
        <p:spPr>
          <a:xfrm>
            <a:off x="1212850" y="949008"/>
            <a:ext cx="3549650" cy="55308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ym typeface="Calibri" panose="020F0502020204030204" pitchFamily="34" charset="0"/>
              </a:rPr>
              <a:t>实验要求：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297940" y="2616200"/>
          <a:ext cx="6035675" cy="271018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{D7AC3CCA-C797-4891-BE02-D94E43425B78}</a:tableStyleId>
              </a:tblPr>
              <a:tblGrid>
                <a:gridCol w="96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1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3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3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25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775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A1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A0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B1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B0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LED</a:t>
                      </a:r>
                      <a:r>
                        <a:rPr lang="zh-CN" sz="1200" kern="100">
                          <a:effectLst/>
                        </a:rPr>
                        <a:t>灯显示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75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</a:rPr>
                        <a:t>0</a:t>
                      </a:r>
                      <a:endParaRPr lang="zh-CN" sz="10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</a:rPr>
                        <a:t>1</a:t>
                      </a:r>
                      <a:endParaRPr lang="zh-CN" sz="10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</a:rPr>
                        <a:t>1</a:t>
                      </a:r>
                      <a:endParaRPr lang="zh-CN" sz="10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</a:rPr>
                        <a:t>0</a:t>
                      </a:r>
                      <a:endParaRPr lang="zh-CN" sz="10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zh-CN" sz="1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75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</a:rPr>
                        <a:t>1</a:t>
                      </a:r>
                      <a:endParaRPr lang="zh-CN" sz="10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</a:rPr>
                        <a:t>0</a:t>
                      </a:r>
                      <a:endParaRPr lang="zh-CN" sz="10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</a:rPr>
                        <a:t>0</a:t>
                      </a:r>
                      <a:endParaRPr lang="zh-CN" sz="10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</a:rPr>
                        <a:t>1</a:t>
                      </a:r>
                      <a:endParaRPr lang="zh-CN" sz="10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zh-CN" sz="1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75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0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</a:t>
                      </a:r>
                      <a:endParaRPr lang="zh-CN" sz="1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zh-CN" sz="1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3292" name="矩形 4"/>
          <p:cNvSpPr/>
          <p:nvPr/>
        </p:nvSpPr>
        <p:spPr>
          <a:xfrm>
            <a:off x="1212850" y="1721168"/>
            <a:ext cx="5262880" cy="39878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000" dirty="0">
                <a:sym typeface="Calibri" panose="020F0502020204030204" pitchFamily="34" charset="0"/>
              </a:rPr>
              <a:t>实验板正常工作，并根据实验填写如下表格：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实验报告注意事项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066867" cy="4490508"/>
          </a:xfrm>
        </p:spPr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 提交</a:t>
            </a:r>
            <a:r>
              <a:rPr lang="en-US" altLang="zh-CN" dirty="0"/>
              <a:t>word</a:t>
            </a:r>
            <a:r>
              <a:rPr lang="zh-CN" altLang="en-US" dirty="0"/>
              <a:t>文档</a:t>
            </a:r>
            <a:endParaRPr lang="en-US" altLang="zh-CN" dirty="0"/>
          </a:p>
          <a:p>
            <a:r>
              <a:rPr lang="en-US" altLang="zh-CN" dirty="0"/>
              <a:t>2 </a:t>
            </a:r>
            <a:r>
              <a:rPr lang="zh-CN" altLang="en-US" dirty="0"/>
              <a:t>所有内容写在模板的表格中</a:t>
            </a:r>
            <a:endParaRPr lang="en-US" altLang="zh-CN" dirty="0"/>
          </a:p>
          <a:p>
            <a:r>
              <a:rPr lang="en-US" altLang="zh-CN" dirty="0"/>
              <a:t>3 </a:t>
            </a:r>
            <a:r>
              <a:rPr lang="zh-CN" altLang="en-US" dirty="0"/>
              <a:t>内容较为简略</a:t>
            </a:r>
            <a:r>
              <a:rPr lang="zh-CN" altLang="en-US"/>
              <a:t>，文件大小控制在</a:t>
            </a:r>
            <a:r>
              <a:rPr lang="en-US" altLang="zh-CN" dirty="0"/>
              <a:t>1M</a:t>
            </a:r>
            <a:r>
              <a:rPr lang="zh-CN" altLang="en-US" dirty="0"/>
              <a:t>以内</a:t>
            </a:r>
            <a:endParaRPr lang="en-US" altLang="zh-CN" dirty="0"/>
          </a:p>
          <a:p>
            <a:r>
              <a:rPr lang="en-US" altLang="zh-CN" dirty="0"/>
              <a:t>4 </a:t>
            </a:r>
            <a:r>
              <a:rPr lang="zh-CN" altLang="en-US" dirty="0"/>
              <a:t>排版需要注意</a:t>
            </a:r>
            <a:endParaRPr lang="en-US" altLang="zh-CN" dirty="0"/>
          </a:p>
          <a:p>
            <a:r>
              <a:rPr lang="en-US" altLang="zh-CN" dirty="0"/>
              <a:t>5 </a:t>
            </a:r>
            <a:r>
              <a:rPr lang="zh-CN" altLang="en-US" dirty="0"/>
              <a:t>要有预期结果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6 </a:t>
            </a:r>
            <a:r>
              <a:rPr lang="zh-CN" altLang="en-US" dirty="0"/>
              <a:t>邮件命名请一定参考实验报告要求</a:t>
            </a:r>
            <a:endParaRPr lang="en-US" altLang="zh-CN" dirty="0"/>
          </a:p>
          <a:p>
            <a:r>
              <a:rPr lang="en-US" altLang="zh-CN" dirty="0"/>
              <a:t>7 </a:t>
            </a:r>
            <a:r>
              <a:rPr lang="zh-CN" altLang="en-US" dirty="0"/>
              <a:t>按时提交 提交一次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附录</a:t>
            </a:r>
            <a:r>
              <a:rPr lang="en-US" altLang="zh-CN"/>
              <a:t>1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t>基本逻辑门</a:t>
            </a:r>
            <a:r>
              <a:rPr lang="en-US" altLang="zh-CN"/>
              <a:t>IP</a:t>
            </a:r>
            <a:r>
              <a:t>实例</a:t>
            </a:r>
          </a:p>
          <a:p>
            <a:endParaRPr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392956" y="2189535"/>
          <a:ext cx="2263140" cy="4678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292600" imgH="8813800" progId="Visio.Drawing.11">
                  <p:embed/>
                </p:oleObj>
              </mc:Choice>
              <mc:Fallback>
                <p:oleObj r:id="rId3" imgW="4292600" imgH="8813800" progId="Visio.Drawing.11">
                  <p:embed/>
                  <p:pic>
                    <p:nvPicPr>
                      <p:cNvPr id="0" name="对象 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92956" y="2189535"/>
                        <a:ext cx="2263140" cy="4678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内容占位符 1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/>
              <a:t>双击</a:t>
            </a:r>
            <a:r>
              <a:rPr lang="en-US" altLang="zh-CN"/>
              <a:t>IP</a:t>
            </a:r>
            <a:r>
              <a:rPr lang="zh-CN" altLang="en-US"/>
              <a:t>实例进行配置</a:t>
            </a:r>
          </a:p>
          <a:p>
            <a:pPr lvl="1"/>
            <a:r>
              <a:rPr lang="zh-CN" altLang="en-US" sz="1400"/>
              <a:t>与门</a:t>
            </a:r>
            <a:r>
              <a:rPr lang="en-US" altLang="zh-CN" sz="1400"/>
              <a:t>IP</a:t>
            </a:r>
            <a:r>
              <a:rPr lang="zh-CN" altLang="en-US" sz="1400"/>
              <a:t>实例</a:t>
            </a:r>
          </a:p>
          <a:p>
            <a:pPr lvl="2"/>
            <a:r>
              <a:rPr lang="en-US" altLang="zh-CN" sz="1400"/>
              <a:t>Number of Input Ports (2, 3, 4 ……)</a:t>
            </a:r>
            <a:endParaRPr lang="zh-CN" altLang="en-US" sz="1400"/>
          </a:p>
          <a:p>
            <a:endParaRPr lang="zh-CN" altLang="en-US" sz="1400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6545580" y="2885937"/>
          <a:ext cx="4808220" cy="3599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0160000" imgH="7607300" progId="Visio.Drawing.11">
                  <p:embed/>
                </p:oleObj>
              </mc:Choice>
              <mc:Fallback>
                <p:oleObj r:id="rId5" imgW="10160000" imgH="7607300" progId="Visio.Drawing.11">
                  <p:embed/>
                  <p:pic>
                    <p:nvPicPr>
                      <p:cNvPr id="0" name="对象 1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545580" y="2885937"/>
                        <a:ext cx="4808220" cy="35998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附录</a:t>
            </a:r>
            <a:r>
              <a:rPr lang="en-US" altLang="zh-CN">
                <a:sym typeface="+mn-ea"/>
              </a:rPr>
              <a:t>2</a:t>
            </a:r>
            <a:br>
              <a:rPr lang="en-US" altLang="zh-CN">
                <a:sym typeface="+mn-ea"/>
              </a:rPr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55675" y="1335294"/>
            <a:ext cx="5181600" cy="4351338"/>
          </a:xfrm>
        </p:spPr>
        <p:txBody>
          <a:bodyPr/>
          <a:lstStyle/>
          <a:p>
            <a:r>
              <a:rPr>
                <a:sym typeface="+mn-ea"/>
              </a:rPr>
              <a:t>基本触发器</a:t>
            </a:r>
            <a:r>
              <a:rPr lang="en-US" altLang="zh-CN">
                <a:sym typeface="+mn-ea"/>
              </a:rPr>
              <a:t>IP</a:t>
            </a:r>
            <a:r>
              <a:rPr>
                <a:sym typeface="+mn-ea"/>
              </a:rPr>
              <a:t>实例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89662" y="1335294"/>
            <a:ext cx="5181600" cy="4351338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双击</a:t>
            </a:r>
            <a:r>
              <a:rPr lang="en-US" altLang="zh-CN" dirty="0">
                <a:sym typeface="+mn-ea"/>
              </a:rPr>
              <a:t>IP</a:t>
            </a:r>
            <a:r>
              <a:rPr lang="zh-CN" altLang="en-US" dirty="0">
                <a:sym typeface="+mn-ea"/>
              </a:rPr>
              <a:t>实例进行配置</a:t>
            </a:r>
          </a:p>
          <a:p>
            <a:pPr lvl="1"/>
            <a:r>
              <a:rPr lang="en-US" altLang="zh-CN" sz="1400" dirty="0"/>
              <a:t>D</a:t>
            </a:r>
            <a:r>
              <a:rPr lang="zh-CN" altLang="en-US" sz="1400" dirty="0"/>
              <a:t>触发器</a:t>
            </a:r>
          </a:p>
          <a:p>
            <a:pPr lvl="2"/>
            <a:r>
              <a:rPr lang="en-US" altLang="zh-CN" sz="1200" dirty="0"/>
              <a:t>Active </a:t>
            </a:r>
            <a:r>
              <a:rPr lang="en-US" altLang="zh-CN" sz="1200" dirty="0" err="1"/>
              <a:t>Clk</a:t>
            </a:r>
            <a:r>
              <a:rPr lang="en-US" altLang="zh-CN" sz="1200" dirty="0"/>
              <a:t> Edge</a:t>
            </a:r>
          </a:p>
          <a:p>
            <a:pPr lvl="2"/>
            <a:r>
              <a:rPr lang="en-US" altLang="zh-CN" sz="1200" dirty="0"/>
              <a:t>Clear Port</a:t>
            </a:r>
          </a:p>
          <a:p>
            <a:pPr lvl="2"/>
            <a:r>
              <a:rPr lang="en-US" altLang="zh-CN" sz="1200" dirty="0">
                <a:sym typeface="+mn-ea"/>
              </a:rPr>
              <a:t>Preset Port</a:t>
            </a:r>
            <a:endParaRPr lang="en-US" altLang="zh-CN" sz="1200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151890" y="2644458"/>
          <a:ext cx="2277110" cy="3532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162300" imgH="4876800" progId="Visio.Drawing.11">
                  <p:embed/>
                </p:oleObj>
              </mc:Choice>
              <mc:Fallback>
                <p:oleObj r:id="rId3" imgW="3162300" imgH="4876800" progId="Visio.Drawing.11">
                  <p:embed/>
                  <p:pic>
                    <p:nvPicPr>
                      <p:cNvPr id="0" name="对象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51890" y="2644458"/>
                        <a:ext cx="2277110" cy="3532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189662" y="2856326"/>
          <a:ext cx="5041900" cy="380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0160000" imgH="7670800" progId="Visio.Drawing.11">
                  <p:embed/>
                </p:oleObj>
              </mc:Choice>
              <mc:Fallback>
                <p:oleObj r:id="rId5" imgW="10160000" imgH="7670800" progId="Visio.Drawing.11">
                  <p:embed/>
                  <p:pic>
                    <p:nvPicPr>
                      <p:cNvPr id="0" name="对象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89662" y="2856326"/>
                        <a:ext cx="5041900" cy="3800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附录</a:t>
            </a:r>
            <a:r>
              <a:rPr lang="en-US" altLang="zh-CN">
                <a:sym typeface="+mn-ea"/>
              </a:rPr>
              <a:t>3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>
                <a:sym typeface="+mn-ea"/>
              </a:rPr>
              <a:t>特殊</a:t>
            </a:r>
            <a:r>
              <a:rPr lang="en-US" altLang="zh-CN">
                <a:sym typeface="+mn-ea"/>
              </a:rPr>
              <a:t>IP</a:t>
            </a:r>
            <a:r>
              <a:rPr>
                <a:sym typeface="+mn-ea"/>
              </a:rPr>
              <a:t>实例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zh-CN"/>
              <a:t>mux</a:t>
            </a:r>
          </a:p>
          <a:p>
            <a:pPr lvl="1"/>
            <a:r>
              <a:rPr lang="en-US" altLang="zh-CN" sz="1400">
                <a:sym typeface="+mn-ea"/>
              </a:rPr>
              <a:t>2</a:t>
            </a:r>
            <a:r>
              <a:rPr lang="zh-CN" altLang="en-US" sz="1400">
                <a:sym typeface="+mn-ea"/>
              </a:rPr>
              <a:t>选</a:t>
            </a:r>
            <a:r>
              <a:rPr lang="en-US" altLang="zh-CN" sz="1400">
                <a:sym typeface="+mn-ea"/>
              </a:rPr>
              <a:t>1</a:t>
            </a:r>
            <a:endParaRPr lang="en-US" altLang="zh-CN" sz="1400"/>
          </a:p>
          <a:p>
            <a:pPr lvl="1"/>
            <a:r>
              <a:rPr lang="en-US" altLang="zh-CN" sz="1400"/>
              <a:t>4</a:t>
            </a:r>
            <a:r>
              <a:rPr lang="zh-CN" altLang="en-US" sz="1400"/>
              <a:t>选</a:t>
            </a:r>
            <a:r>
              <a:rPr lang="en-US" altLang="zh-CN" sz="1400"/>
              <a:t>1</a:t>
            </a:r>
          </a:p>
          <a:p>
            <a:pPr lvl="1"/>
            <a:r>
              <a:rPr lang="en-US" altLang="zh-CN" sz="1400"/>
              <a:t>8</a:t>
            </a:r>
            <a:r>
              <a:rPr lang="zh-CN" altLang="en-US" sz="1400"/>
              <a:t>选</a:t>
            </a:r>
            <a:r>
              <a:rPr lang="en-US" altLang="zh-CN" sz="1400"/>
              <a:t>1</a:t>
            </a:r>
            <a:endParaRPr lang="en-US" altLang="zh-CN"/>
          </a:p>
          <a:p>
            <a:pPr lvl="0"/>
            <a:r>
              <a:rPr lang="en-US" altLang="zh-CN"/>
              <a:t>lab_clk</a:t>
            </a:r>
          </a:p>
          <a:p>
            <a:pPr lvl="1"/>
            <a:r>
              <a:rPr lang="zh-CN" altLang="en-US" sz="1400"/>
              <a:t>输入时钟频率</a:t>
            </a:r>
            <a:endParaRPr lang="zh-CN" altLang="en-US"/>
          </a:p>
          <a:p>
            <a:pPr lvl="2"/>
            <a:r>
              <a:rPr lang="en-US" altLang="zh-CN" sz="1200"/>
              <a:t>100MHz(</a:t>
            </a:r>
            <a:r>
              <a:rPr lang="zh-CN" altLang="en-US" sz="1200"/>
              <a:t>通过</a:t>
            </a:r>
            <a:r>
              <a:rPr lang="en-US" altLang="zh-CN" sz="1200"/>
              <a:t>W5</a:t>
            </a:r>
            <a:r>
              <a:rPr lang="zh-CN" altLang="en-US" sz="1200"/>
              <a:t>引脚输入</a:t>
            </a:r>
            <a:r>
              <a:rPr lang="en-US" altLang="zh-CN" sz="1200"/>
              <a:t>)</a:t>
            </a:r>
            <a:endParaRPr lang="en-US" altLang="zh-CN"/>
          </a:p>
          <a:p>
            <a:pPr lvl="1"/>
            <a:r>
              <a:rPr lang="zh-CN" altLang="en-US" sz="1400"/>
              <a:t>输出时钟频率</a:t>
            </a:r>
            <a:endParaRPr lang="zh-CN" altLang="en-US"/>
          </a:p>
          <a:p>
            <a:pPr lvl="2"/>
            <a:r>
              <a:rPr lang="en-US" altLang="zh-CN" sz="1200"/>
              <a:t>1Hz</a:t>
            </a:r>
            <a:r>
              <a:rPr lang="zh-CN" altLang="en-US" sz="1200"/>
              <a:t>，</a:t>
            </a:r>
            <a:r>
              <a:rPr lang="en-US" altLang="zh-CN" sz="1200"/>
              <a:t>2Hz</a:t>
            </a:r>
            <a:r>
              <a:rPr lang="zh-CN" altLang="en-US" sz="1200"/>
              <a:t>，</a:t>
            </a:r>
            <a:r>
              <a:rPr lang="en-US" altLang="zh-CN" sz="1200"/>
              <a:t>3Hz</a:t>
            </a:r>
            <a:r>
              <a:rPr lang="zh-CN" altLang="en-US" sz="1200"/>
              <a:t>，</a:t>
            </a:r>
            <a:r>
              <a:rPr lang="en-US" altLang="zh-CN" sz="1200"/>
              <a:t>……</a:t>
            </a:r>
            <a:r>
              <a:rPr lang="zh-CN" altLang="en-US" sz="1200"/>
              <a:t>，</a:t>
            </a:r>
            <a:r>
              <a:rPr lang="en-US" altLang="zh-CN" sz="1200"/>
              <a:t>100MHz</a:t>
            </a:r>
          </a:p>
        </p:txBody>
      </p:sp>
      <p:graphicFrame>
        <p:nvGraphicFramePr>
          <p:cNvPr id="5" name="对象 4"/>
          <p:cNvGraphicFramePr/>
          <p:nvPr/>
        </p:nvGraphicFramePr>
        <p:xfrm>
          <a:off x="977900" y="2682902"/>
          <a:ext cx="1038225" cy="1997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079500" imgH="2062480" progId="Visio.Drawing.11">
                  <p:embed/>
                </p:oleObj>
              </mc:Choice>
              <mc:Fallback>
                <p:oleObj name="Visio" r:id="rId3" imgW="1079500" imgH="2062480" progId="Visio.Drawing.11">
                  <p:embed/>
                  <p:pic>
                    <p:nvPicPr>
                      <p:cNvPr id="0" name="对象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77900" y="2682902"/>
                        <a:ext cx="1038225" cy="1997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/>
          <p:nvPr/>
        </p:nvGraphicFramePr>
        <p:xfrm>
          <a:off x="3194049" y="2817184"/>
          <a:ext cx="1038225" cy="1387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435100" imgH="1905000" progId="Visio.Drawing.11">
                  <p:embed/>
                </p:oleObj>
              </mc:Choice>
              <mc:Fallback>
                <p:oleObj r:id="rId5" imgW="1435100" imgH="1905000" progId="Visio.Drawing.11">
                  <p:embed/>
                  <p:pic>
                    <p:nvPicPr>
                      <p:cNvPr id="0" name="对象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94049" y="2817184"/>
                        <a:ext cx="1038225" cy="1387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/>
          <p:nvPr/>
        </p:nvGraphicFramePr>
        <p:xfrm>
          <a:off x="3194049" y="4528543"/>
          <a:ext cx="1038225" cy="1099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435100" imgH="1511300" progId="Visio.Drawing.11">
                  <p:embed/>
                </p:oleObj>
              </mc:Choice>
              <mc:Fallback>
                <p:oleObj r:id="rId7" imgW="1435100" imgH="1511300" progId="Visio.Drawing.11">
                  <p:embed/>
                  <p:pic>
                    <p:nvPicPr>
                      <p:cNvPr id="0" name="对象 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94049" y="4528543"/>
                        <a:ext cx="1038225" cy="10991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0e3f8bb-773b-413c-8f4d-b179e606c473}"/>
  <p:tag name="TABLE_ENDDRAG_ORIGIN_RECT" val="475*213"/>
  <p:tag name="TABLE_ENDDRAG_RECT" val="108*253*475*21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12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549</Words>
  <Application>Microsoft Office PowerPoint</Application>
  <PresentationFormat>宽屏</PresentationFormat>
  <Paragraphs>253</Paragraphs>
  <Slides>17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等线</vt:lpstr>
      <vt:lpstr>等线 Light</vt:lpstr>
      <vt:lpstr>Arial</vt:lpstr>
      <vt:lpstr>Calibri</vt:lpstr>
      <vt:lpstr>Times New Roman</vt:lpstr>
      <vt:lpstr>Office 主题​​</vt:lpstr>
      <vt:lpstr>Equations</vt:lpstr>
      <vt:lpstr>Visio.Drawing.11</vt:lpstr>
      <vt:lpstr>Visio</vt:lpstr>
      <vt:lpstr>PowerPoint 演示文稿</vt:lpstr>
      <vt:lpstr>实验内容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实验报告注意事项</vt:lpstr>
      <vt:lpstr>附录1</vt:lpstr>
      <vt:lpstr>附录2 </vt:lpstr>
      <vt:lpstr>附录3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苏潮阳</dc:creator>
  <cp:lastModifiedBy>wen lu</cp:lastModifiedBy>
  <cp:revision>54</cp:revision>
  <dcterms:created xsi:type="dcterms:W3CDTF">2017-11-09T12:00:00Z</dcterms:created>
  <dcterms:modified xsi:type="dcterms:W3CDTF">2022-11-09T06:05:33Z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2B52DA46BB334105A623EA524E92165C</vt:lpwstr>
  </property>
  <property fmtid="{D5CDD505-2E9C-101B-9397-08002B2CF9AE}" pid="3" name="KSOProductBuildVer">
    <vt:lpwstr>2052-11.1.0.10938</vt:lpwstr>
  </property>
</Properties>
</file>