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77" r:id="rId5"/>
    <p:sldId id="273" r:id="rId6"/>
    <p:sldId id="259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78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4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image" Target="../media/image3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4719F-3AC2-48E8-9CAB-7FE04A4D1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4A3DB-C069-4966-A67B-3EB24EC15DC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.wmf"/><Relationship Id="rId3" Type="http://schemas.openxmlformats.org/officeDocument/2006/relationships/oleObject" Target="../embeddings/oleObject1.bin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png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1938376" y="2402540"/>
            <a:ext cx="8315247" cy="7122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dirty="0"/>
              <a:t>数字逻辑实验</a:t>
            </a:r>
            <a:r>
              <a:rPr lang="en-US" altLang="zh-CN" sz="4000" dirty="0"/>
              <a:t>5</a:t>
            </a:r>
            <a:r>
              <a:rPr lang="zh-CN" altLang="en-US" sz="4000" dirty="0" smtClean="0"/>
              <a:t>：多</a:t>
            </a:r>
            <a:r>
              <a:rPr lang="zh-CN" altLang="en-US" sz="4000" dirty="0"/>
              <a:t>路选择器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实验要求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25" y="1127125"/>
            <a:ext cx="10553065" cy="5616575"/>
          </a:xfrm>
        </p:spPr>
        <p:txBody>
          <a:bodyPr>
            <a:normAutofit fontScale="90000"/>
          </a:bodyPr>
          <a:p>
            <a:pPr marL="0" algn="l">
              <a:buClrTx/>
              <a:buSzTx/>
              <a:buNone/>
            </a:pPr>
            <a:r>
              <a:rPr lang="zh-CN" altLang="en-US" sz="2855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内容：</a:t>
            </a:r>
            <a:endParaRPr lang="zh-CN" altLang="en-US" sz="2855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fontAlgn="auto">
              <a:lnSpc>
                <a:spcPct val="13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2855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使用 Vivado 设计一个 4 选 1 多路选择器</a:t>
            </a:r>
            <a:endParaRPr lang="zh-CN" altLang="en-US" sz="2855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fontAlgn="auto">
              <a:lnSpc>
                <a:spcPct val="13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2855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使用 Vivado 设计一个 8 选 1 多路选择器</a:t>
            </a:r>
            <a:endParaRPr lang="zh-CN" altLang="en-US" sz="2855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fontAlgn="auto">
              <a:lnSpc>
                <a:spcPct val="13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2855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用自己设计的两种多路选择器实现逻辑函数并进行板级验证</a:t>
            </a:r>
            <a:endParaRPr lang="zh-CN" altLang="en-US" sz="2855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fontAlgn="auto">
              <a:lnSpc>
                <a:spcPct val="130000"/>
              </a:lnSpc>
              <a:buClrTx/>
              <a:buSzTx/>
              <a:buFont typeface="Wingdings" panose="05000000000000000000" charset="0"/>
              <a:buChar char="Ø"/>
            </a:pPr>
            <a:endParaRPr lang="zh-CN" altLang="en-US" sz="2855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>
              <a:buNone/>
            </a:pPr>
            <a:r>
              <a:rPr lang="zh-CN" altLang="en-US" sz="2855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注意：</a:t>
            </a:r>
            <a:endParaRPr lang="zh-CN" altLang="en-US" sz="2855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zh-CN" altLang="en-US" sz="2855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详细设计过程</a:t>
            </a:r>
            <a:endParaRPr lang="zh-CN" altLang="en-US" sz="2855" dirty="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pPr lvl="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zh-CN" altLang="en-US" sz="2855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原理图、引脚分配等重要步骤的截图以及说明</a:t>
            </a:r>
            <a:endParaRPr lang="zh-CN" altLang="en-US" sz="2855" dirty="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pPr lvl="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zh-CN" altLang="en-US" sz="2855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进行板级验证，填写实验结果</a:t>
            </a:r>
            <a:endParaRPr lang="zh-CN" altLang="en-US" sz="2855" dirty="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4选1多路选择器</a:t>
            </a:r>
            <a:endParaRPr dirty="0"/>
          </a:p>
        </p:txBody>
      </p:sp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993775" y="2486025"/>
          <a:ext cx="2771775" cy="195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3925"/>
                <a:gridCol w="923925"/>
                <a:gridCol w="923925"/>
              </a:tblGrid>
              <a:tr h="391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</a:t>
                      </a:r>
                      <a:r>
                        <a:rPr lang="en-US" altLang="zh-CN" baseline="-25000"/>
                        <a:t>1</a:t>
                      </a:r>
                      <a:endParaRPr lang="en-US" altLang="zh-CN" baseline="-25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</a:t>
                      </a:r>
                      <a:r>
                        <a:rPr lang="en-US" altLang="zh-CN" baseline="-25000"/>
                        <a:t>0</a:t>
                      </a:r>
                      <a:endParaRPr lang="en-US" altLang="zh-CN" baseline="-25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Y</a:t>
                      </a:r>
                      <a:endParaRPr lang="en-US" altLang="zh-CN"/>
                    </a:p>
                  </a:txBody>
                  <a:tcPr/>
                </a:tc>
              </a:tr>
              <a:tr h="391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</a:t>
                      </a:r>
                      <a:r>
                        <a:rPr lang="en-US" altLang="zh-CN" baseline="-25000"/>
                        <a:t>0</a:t>
                      </a:r>
                      <a:endParaRPr lang="en-US" altLang="zh-CN" baseline="-25000"/>
                    </a:p>
                  </a:txBody>
                  <a:tcPr/>
                </a:tc>
              </a:tr>
              <a:tr h="391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</a:t>
                      </a:r>
                      <a:r>
                        <a:rPr lang="en-US" altLang="zh-CN" baseline="-25000"/>
                        <a:t>1</a:t>
                      </a:r>
                      <a:endParaRPr lang="en-US" altLang="zh-CN" baseline="-25000"/>
                    </a:p>
                  </a:txBody>
                  <a:tcPr/>
                </a:tc>
              </a:tr>
              <a:tr h="391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</a:t>
                      </a:r>
                      <a:r>
                        <a:rPr lang="en-US" altLang="zh-CN" baseline="-25000"/>
                        <a:t>2</a:t>
                      </a:r>
                      <a:endParaRPr lang="en-US" altLang="zh-CN" baseline="-25000"/>
                    </a:p>
                  </a:txBody>
                  <a:tcPr/>
                </a:tc>
              </a:tr>
              <a:tr h="391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</a:t>
                      </a:r>
                      <a:r>
                        <a:rPr lang="en-US" altLang="zh-CN" baseline="-25000"/>
                        <a:t>3</a:t>
                      </a:r>
                      <a:endParaRPr lang="en-US" altLang="zh-CN" baseline="-250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>
            <p:custDataLst>
              <p:tags r:id="rId2"/>
            </p:custDataLst>
          </p:nvPr>
        </p:nvGraphicFramePr>
        <p:xfrm>
          <a:off x="5601335" y="1514348"/>
          <a:ext cx="3897630" cy="3676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7565"/>
                <a:gridCol w="1810385"/>
                <a:gridCol w="1249680"/>
              </a:tblGrid>
              <a:tr h="367665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输入</a:t>
                      </a:r>
                      <a:endParaRPr lang="zh-CN" altLang="en-US"/>
                    </a:p>
                  </a:txBody>
                  <a:tcPr/>
                </a:tc>
                <a:tc hMerge="1"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输出</a:t>
                      </a:r>
                      <a:endParaRPr lang="zh-CN" altLang="en-US"/>
                    </a:p>
                  </a:txBody>
                  <a:tcPr/>
                </a:tc>
              </a:tr>
              <a:tr h="3676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S</a:t>
                      </a:r>
                      <a:r>
                        <a:rPr lang="en-US" altLang="zh-CN" b="1" baseline="-25000"/>
                        <a:t>1</a:t>
                      </a:r>
                      <a:r>
                        <a:rPr lang="en-US" altLang="zh-CN" sz="1800" b="1">
                          <a:sym typeface="+mn-ea"/>
                        </a:rPr>
                        <a:t>S</a:t>
                      </a:r>
                      <a:r>
                        <a:rPr lang="en-US" altLang="zh-CN" sz="1800" b="1" baseline="-25000">
                          <a:sym typeface="+mn-ea"/>
                        </a:rPr>
                        <a:t>0</a:t>
                      </a:r>
                      <a:endParaRPr lang="en-US" altLang="zh-CN" sz="1800" b="1" baseline="-250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sym typeface="+mn-ea"/>
                        </a:rPr>
                        <a:t>D</a:t>
                      </a:r>
                      <a:r>
                        <a:rPr lang="en-US" altLang="zh-CN" sz="1800" b="1" baseline="-25000">
                          <a:sym typeface="+mn-ea"/>
                        </a:rPr>
                        <a:t>3</a:t>
                      </a:r>
                      <a:r>
                        <a:rPr lang="en-US" altLang="zh-CN" sz="1800" b="1">
                          <a:sym typeface="+mn-ea"/>
                        </a:rPr>
                        <a:t>D</a:t>
                      </a:r>
                      <a:r>
                        <a:rPr lang="en-US" altLang="zh-CN" sz="1800" b="1" baseline="-25000">
                          <a:sym typeface="+mn-ea"/>
                        </a:rPr>
                        <a:t>2</a:t>
                      </a:r>
                      <a:r>
                        <a:rPr lang="en-US" altLang="zh-CN" sz="1800" b="1">
                          <a:sym typeface="+mn-ea"/>
                        </a:rPr>
                        <a:t>D</a:t>
                      </a:r>
                      <a:r>
                        <a:rPr lang="en-US" altLang="zh-CN" sz="1800" b="1" baseline="-25000">
                          <a:sym typeface="+mn-ea"/>
                        </a:rPr>
                        <a:t>1</a:t>
                      </a:r>
                      <a:r>
                        <a:rPr lang="en-US" altLang="zh-CN" sz="1800" b="1">
                          <a:sym typeface="+mn-ea"/>
                        </a:rPr>
                        <a:t>D</a:t>
                      </a:r>
                      <a:r>
                        <a:rPr lang="en-US" altLang="zh-CN" sz="1800" b="1" baseline="-25000">
                          <a:sym typeface="+mn-ea"/>
                        </a:rPr>
                        <a:t>0</a:t>
                      </a:r>
                      <a:endParaRPr lang="en-US" altLang="zh-CN" sz="1800" b="1" baseline="-250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Y</a:t>
                      </a:r>
                      <a:endParaRPr lang="en-US" altLang="zh-CN" b="1"/>
                    </a:p>
                  </a:txBody>
                  <a:tcPr/>
                </a:tc>
              </a:tr>
              <a:tr h="3676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0 0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X X X 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</a:tr>
              <a:tr h="3676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0 0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X X X 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</a:tr>
              <a:tr h="3676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0 1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X X 0 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</a:tr>
              <a:tr h="3676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0 1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X X 1 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</a:tr>
              <a:tr h="3676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1 0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X 0 X 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</a:tr>
              <a:tr h="3676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1 0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X 1 X 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</a:tr>
              <a:tr h="3676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1 1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 X X 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</a:tr>
              <a:tr h="3676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1 1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 X X 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右箭头 10"/>
          <p:cNvSpPr/>
          <p:nvPr/>
        </p:nvSpPr>
        <p:spPr>
          <a:xfrm>
            <a:off x="4391660" y="3046095"/>
            <a:ext cx="796290" cy="8356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93775" y="1691640"/>
            <a:ext cx="17068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>
                <a:sym typeface="+mn-ea"/>
              </a:rPr>
              <a:t>真值表</a:t>
            </a:r>
            <a:endParaRPr lang="zh-CN" altLang="en-US" sz="2800"/>
          </a:p>
        </p:txBody>
      </p:sp>
      <p:sp>
        <p:nvSpPr>
          <p:cNvPr id="6" name="文本框 5"/>
          <p:cNvSpPr txBox="1"/>
          <p:nvPr/>
        </p:nvSpPr>
        <p:spPr>
          <a:xfrm>
            <a:off x="993775" y="5261610"/>
            <a:ext cx="31292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smtClean="0">
                <a:sym typeface="+mn-ea"/>
              </a:rPr>
              <a:t>输出布尔表达式</a:t>
            </a:r>
            <a:endParaRPr lang="zh-CN" altLang="en-US" sz="2800"/>
          </a:p>
        </p:txBody>
      </p:sp>
      <p:graphicFrame>
        <p:nvGraphicFramePr>
          <p:cNvPr id="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075055" y="5956300"/>
          <a:ext cx="5701665" cy="600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3" imgW="2413000" imgH="254000" progId="Equation.KSEE3">
                  <p:embed/>
                </p:oleObj>
              </mc:Choice>
              <mc:Fallback>
                <p:oleObj name="" r:id="rId3" imgW="2413000" imgH="254000" progId="Equation.KSEE3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75055" y="5956300"/>
                        <a:ext cx="5701665" cy="600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选</a:t>
            </a:r>
            <a:r>
              <a:rPr lang="en-US" altLang="zh-CN" dirty="0"/>
              <a:t>1</a:t>
            </a:r>
            <a:r>
              <a:rPr lang="zh-CN" altLang="en-US" dirty="0"/>
              <a:t>多路选择器</a:t>
            </a:r>
            <a:endParaRPr lang="zh-CN" altLang="en-US" dirty="0"/>
          </a:p>
        </p:txBody>
      </p:sp>
      <p:pic>
        <p:nvPicPr>
          <p:cNvPr id="5" name="Picture 148"/>
          <p:cNvPicPr/>
          <p:nvPr>
            <p:custDataLst>
              <p:tags r:id="rId1"/>
            </p:custDataLst>
          </p:nvPr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785" y="1549196"/>
            <a:ext cx="6515660" cy="3911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071245" y="1814830"/>
          <a:ext cx="2484120" cy="3227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3" imgW="1130300" imgH="1447800" progId="Visio.Drawing.11">
                  <p:embed/>
                </p:oleObj>
              </mc:Choice>
              <mc:Fallback>
                <p:oleObj name="" r:id="rId3" imgW="1130300" imgH="1447800" progId="Visio.Drawing.11">
                  <p:embed/>
                  <p:pic>
                    <p:nvPicPr>
                      <p:cNvPr id="0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71245" y="1814830"/>
                        <a:ext cx="2484120" cy="32277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993775" y="5261610"/>
            <a:ext cx="31292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smtClean="0">
                <a:sym typeface="+mn-ea"/>
              </a:rPr>
              <a:t>输出布尔表达式</a:t>
            </a:r>
            <a:endParaRPr lang="zh-CN" altLang="en-US" sz="2800"/>
          </a:p>
        </p:txBody>
      </p:sp>
      <p:graphicFrame>
        <p:nvGraphicFramePr>
          <p:cNvPr id="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075055" y="5956300"/>
          <a:ext cx="5701665" cy="600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5" imgW="2413000" imgH="254000" progId="Equation.KSEE3">
                  <p:embed/>
                </p:oleObj>
              </mc:Choice>
              <mc:Fallback>
                <p:oleObj name="" r:id="rId5" imgW="2413000" imgH="254000" progId="Equation.KSEE3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75055" y="5956300"/>
                        <a:ext cx="5701665" cy="600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174730" cy="1325880"/>
          </a:xfrm>
        </p:spPr>
        <p:txBody>
          <a:bodyPr>
            <a:normAutofit/>
          </a:bodyPr>
          <a:lstStyle/>
          <a:p>
            <a:r>
              <a:rPr dirty="0"/>
              <a:t>用自己设计的多路选择器实现逻辑函数</a:t>
            </a:r>
            <a:endParaRPr dirty="0"/>
          </a:p>
        </p:txBody>
      </p:sp>
      <p:sp>
        <p:nvSpPr>
          <p:cNvPr id="5" name="文本框 4"/>
          <p:cNvSpPr txBox="1"/>
          <p:nvPr/>
        </p:nvSpPr>
        <p:spPr>
          <a:xfrm>
            <a:off x="970280" y="2076450"/>
            <a:ext cx="26879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dirty="0"/>
              <a:t>y=</a:t>
            </a:r>
            <a:r>
              <a:rPr lang="en-US" altLang="zh-CN" sz="3600" dirty="0" err="1"/>
              <a:t>a</a:t>
            </a:r>
            <a:r>
              <a:rPr lang="zh-CN" altLang="en-US" sz="3600">
                <a:sym typeface="+mn-ea"/>
              </a:rPr>
              <a:t>⊕</a:t>
            </a:r>
            <a:r>
              <a:rPr lang="en-US" altLang="zh-CN" sz="3600" dirty="0" err="1"/>
              <a:t>b</a:t>
            </a:r>
            <a:r>
              <a:rPr lang="zh-CN" altLang="en-US" sz="3600">
                <a:sym typeface="+mn-ea"/>
              </a:rPr>
              <a:t>⊕</a:t>
            </a:r>
            <a:r>
              <a:rPr lang="en-US" altLang="zh-CN" sz="3600">
                <a:sym typeface="+mn-ea"/>
              </a:rPr>
              <a:t>c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824480"/>
            <a:ext cx="2315845" cy="15265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1800" y="1445260"/>
            <a:ext cx="6728460" cy="513016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325485" cy="1325880"/>
          </a:xfrm>
        </p:spPr>
        <p:txBody>
          <a:bodyPr/>
          <a:p>
            <a:r>
              <a:rPr lang="zh-CN" altLang="en-US" dirty="0"/>
              <a:t>附录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e17a54d0-f965-43c9-aa47-bd8ed8acaf46}"/>
</p:tagLst>
</file>

<file path=ppt/tags/tag2.xml><?xml version="1.0" encoding="utf-8"?>
<p:tagLst xmlns:p="http://schemas.openxmlformats.org/presentationml/2006/main">
  <p:tag name="KSO_WM_UNIT_TABLE_BEAUTIFY" val="smartTable{fa3fd60a-d87d-4ae2-9898-e33d5d2b5404}"/>
</p:tagLst>
</file>

<file path=ppt/tags/tag3.xml><?xml version="1.0" encoding="utf-8"?>
<p:tagLst xmlns:p="http://schemas.openxmlformats.org/presentationml/2006/main">
  <p:tag name="KSO_WM_UNIT_PLACING_PICTURE_USER_VIEWPORT" val="{&quot;height&quot;:6159.264566929134,&quot;width&quot;:10260.88188976378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</Words>
  <Application>WPS 演示</Application>
  <PresentationFormat>宽屏</PresentationFormat>
  <Paragraphs>120</Paragraphs>
  <Slides>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6</vt:i4>
      </vt:variant>
    </vt:vector>
  </HeadingPairs>
  <TitlesOfParts>
    <vt:vector size="20" baseType="lpstr">
      <vt:lpstr>Arial</vt:lpstr>
      <vt:lpstr>宋体</vt:lpstr>
      <vt:lpstr>Wingdings</vt:lpstr>
      <vt:lpstr>等线</vt:lpstr>
      <vt:lpstr>Wingdings</vt:lpstr>
      <vt:lpstr>等线 Light</vt:lpstr>
      <vt:lpstr>微软雅黑</vt:lpstr>
      <vt:lpstr>Arial Unicode MS</vt:lpstr>
      <vt:lpstr>Calibri</vt:lpstr>
      <vt:lpstr>Office 主题​​</vt:lpstr>
      <vt:lpstr>1_Office 主题​​</vt:lpstr>
      <vt:lpstr>Equation.KSEE3</vt:lpstr>
      <vt:lpstr>Visio.Drawing.11</vt:lpstr>
      <vt:lpstr>Equation.KSEE3</vt:lpstr>
      <vt:lpstr>PowerPoint 演示文稿</vt:lpstr>
      <vt:lpstr>实验要求</vt:lpstr>
      <vt:lpstr>4选1多路选择器</vt:lpstr>
      <vt:lpstr>4选1多路选择器</vt:lpstr>
      <vt:lpstr>用自己设计的多路选择器实现逻辑函数</vt:lpstr>
      <vt:lpstr>附录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苏潮阳</dc:creator>
  <cp:lastModifiedBy>刘蕊</cp:lastModifiedBy>
  <cp:revision>37</cp:revision>
  <dcterms:created xsi:type="dcterms:W3CDTF">2017-11-09T12:00:00Z</dcterms:created>
  <dcterms:modified xsi:type="dcterms:W3CDTF">2021-11-28T05:41:05Z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2AB80FE2D965493FB01EECFBC9797E5E</vt:lpwstr>
  </property>
  <property fmtid="{D5CDD505-2E9C-101B-9397-08002B2CF9AE}" pid="3" name="KSOProductBuildVer">
    <vt:lpwstr>2052-11.1.0.11115</vt:lpwstr>
  </property>
</Properties>
</file>