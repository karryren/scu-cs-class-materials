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83" r:id="rId3"/>
    <p:sldId id="257" r:id="rId4"/>
    <p:sldId id="258" r:id="rId5"/>
    <p:sldId id="259" r:id="rId6"/>
    <p:sldId id="260" r:id="rId7"/>
    <p:sldId id="342" r:id="rId8"/>
    <p:sldId id="264" r:id="rId9"/>
    <p:sldId id="303" r:id="rId10"/>
    <p:sldId id="263" r:id="rId11"/>
    <p:sldId id="266" r:id="rId12"/>
    <p:sldId id="267" r:id="rId13"/>
    <p:sldId id="268" r:id="rId14"/>
    <p:sldId id="269" r:id="rId15"/>
    <p:sldId id="265" r:id="rId16"/>
    <p:sldId id="302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300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3B4B882-2EA5-4217-A8B7-D2D3C6456C30}">
          <p14:sldIdLst>
            <p14:sldId id="256"/>
            <p14:sldId id="383"/>
            <p14:sldId id="257"/>
            <p14:sldId id="258"/>
            <p14:sldId id="259"/>
            <p14:sldId id="260"/>
            <p14:sldId id="342"/>
            <p14:sldId id="264"/>
            <p14:sldId id="303"/>
            <p14:sldId id="263"/>
            <p14:sldId id="266"/>
            <p14:sldId id="267"/>
            <p14:sldId id="268"/>
            <p14:sldId id="269"/>
            <p14:sldId id="265"/>
            <p14:sldId id="302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300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0301-828F-49AC-B21D-F9871184EAF4}" type="datetimeFigureOut">
              <a:rPr lang="zh-CN" altLang="en-US" smtClean="0"/>
              <a:t>2022/10/24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AAEE4-A317-4747-AFF7-688AF4253A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0A2F0301-828F-49AC-B21D-F9871184EAF4}" type="datetimeFigureOut">
              <a:rPr lang="zh-CN" altLang="en-US" smtClean="0"/>
              <a:pPr/>
              <a:t>2022/10/24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25FAAEE4-A317-4747-AFF7-688AF4253A1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baike.baidu.com/item/%E9%9B%86%E6%88%90%E7%94%B5%E8%B7%A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78673" y="3093253"/>
            <a:ext cx="8351520" cy="110438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数字逻辑实验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熟悉平台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75B046EF-B98F-0862-6168-DFED0BDEF100}"/>
              </a:ext>
            </a:extLst>
          </p:cNvPr>
          <p:cNvSpPr txBox="1">
            <a:spLocks/>
          </p:cNvSpPr>
          <p:nvPr/>
        </p:nvSpPr>
        <p:spPr>
          <a:xfrm>
            <a:off x="1753386" y="4119513"/>
            <a:ext cx="9019880" cy="1259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j-cs"/>
              </a:defRPr>
            </a:lvl1pPr>
          </a:lstStyle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任课教师：吕泽均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2022-10-26</a:t>
            </a: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55700"/>
            <a:ext cx="10515600" cy="4351338"/>
          </a:xfrm>
        </p:spPr>
        <p:txBody>
          <a:bodyPr/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分组：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4-5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人一组，一个组长；</a:t>
            </a:r>
            <a:endParaRPr lang="en-US" altLang="zh-C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每个组的组长将组员组成情况通过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qq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发送给助教，例如：“张三（组长） 李四 王五 刘六”，助教根据发送顺序确定组号</a:t>
            </a:r>
          </a:p>
          <a:p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课程群：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71A3F3-6F52-96FE-05F5-6D2C296974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5" b="15658"/>
          <a:stretch/>
        </p:blipFill>
        <p:spPr>
          <a:xfrm>
            <a:off x="3041120" y="2799760"/>
            <a:ext cx="2886395" cy="393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64774" y="1401097"/>
            <a:ext cx="58592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en-US" altLang="zh-CN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Basys3</a:t>
            </a: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开发板</a:t>
            </a:r>
            <a:endParaRPr lang="en-US" altLang="zh-CN" sz="4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64774" y="3604478"/>
            <a:ext cx="53864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	</a:t>
            </a: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en-US" altLang="zh-CN" sz="4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Vivado</a:t>
            </a:r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</a:t>
            </a: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3842" y="462402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熟悉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Basys3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3842" y="1787965"/>
            <a:ext cx="10515600" cy="4351338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Basys3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是围绕着一个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Artix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®-7 FPGA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XC7A35TCPG236C-1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搭建的，它为学习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和数字电路设计的用户提供了一个理想、随时可以使用的电子设计硬件平台。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Basys3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关键特性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33280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个逻辑单元，六输入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Look-Up-Table)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</a:t>
            </a:r>
          </a:p>
          <a:p>
            <a:pPr lvl="0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1800Kbits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快速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随机存取存储器</a:t>
            </a: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个时钟管理单元，均各含一个锁相环（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PLL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lvl="0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DSP slices</a:t>
            </a: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内部时钟最高可达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450MHz</a:t>
            </a:r>
            <a:endParaRPr lang="zh-CN" altLang="zh-C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个片上模数转换器（</a:t>
            </a:r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XADC</a:t>
            </a:r>
            <a:r>
              <a:rPr lang="zh-CN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注意事项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只接受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直流输入，通过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供电（可以通过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供电，但实验时不用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方式供电）；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上电后，不可带电插拔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线，不得动跳线开关；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Basys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须远离水源；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）取用实验板时，请卡住实验板边缘，尽量不要接触芯片管脚及导线，尤其是在上电时；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）归还实验板时，请检查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电缆是否放入盒子内。 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图片 17" descr="[IFA8ALA)O5TOGKY3(EMQ(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7940"/>
            <a:ext cx="5761038" cy="35210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448425" y="2415540"/>
          <a:ext cx="4767263" cy="192405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518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8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电源指示灯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9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FPGA</a:t>
                      </a:r>
                      <a:r>
                        <a:rPr lang="zh-CN" sz="1000" kern="100" dirty="0">
                          <a:effectLst/>
                        </a:rPr>
                        <a:t>配置复位按键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2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宋体" panose="02010600030101010101" pitchFamily="2" charset="-122"/>
                        </a:rPr>
                        <a:t>Pmod</a:t>
                      </a:r>
                      <a:r>
                        <a:rPr lang="zh-CN" sz="1000" kern="100" dirty="0">
                          <a:effectLst/>
                        </a:rPr>
                        <a:t>数字信号接口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10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编程模式跳线柱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3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宋体" panose="02010600030101010101" pitchFamily="2" charset="-122"/>
                        </a:rPr>
                        <a:t>Pmod</a:t>
                      </a:r>
                      <a:r>
                        <a:rPr lang="zh-CN" sz="1000" kern="100" dirty="0">
                          <a:effectLst/>
                        </a:rPr>
                        <a:t>模拟信号接口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11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</a:rPr>
                        <a:t>USB</a:t>
                      </a:r>
                      <a:r>
                        <a:rPr lang="zh-CN" sz="1000" b="0" kern="100" dirty="0">
                          <a:solidFill>
                            <a:schemeClr val="tx1"/>
                          </a:solidFill>
                          <a:effectLst/>
                        </a:rPr>
                        <a:t>接口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4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</a:rPr>
                        <a:t>4</a:t>
                      </a:r>
                      <a:r>
                        <a:rPr lang="zh-CN" sz="1000" b="0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r>
                        <a:rPr lang="en-US" sz="1000" b="0" kern="100" dirty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r>
                        <a:rPr lang="zh-CN" sz="1000" b="0" kern="100" dirty="0">
                          <a:solidFill>
                            <a:schemeClr val="tx1"/>
                          </a:solidFill>
                          <a:effectLst/>
                        </a:rPr>
                        <a:t>段数码管</a:t>
                      </a:r>
                      <a:endParaRPr lang="zh-CN" sz="10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12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VGA</a:t>
                      </a:r>
                      <a:r>
                        <a:rPr lang="zh-CN" sz="1000" kern="100" dirty="0">
                          <a:effectLst/>
                        </a:rPr>
                        <a:t>显示接口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5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</a:rPr>
                        <a:t>16</a:t>
                      </a: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</a:rPr>
                        <a:t>个拨码开关</a:t>
                      </a:r>
                      <a:endParaRPr lang="zh-CN" sz="10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13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</a:rPr>
                        <a:t>UART/JTAG</a:t>
                      </a: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</a:rPr>
                        <a:t>共用</a:t>
                      </a: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</a:rPr>
                        <a:t>USB</a:t>
                      </a: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</a:rPr>
                        <a:t>接口</a:t>
                      </a:r>
                      <a:endParaRPr lang="zh-CN" sz="10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6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</a:rPr>
                        <a:t>16</a:t>
                      </a: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</a:rPr>
                        <a:t>个</a:t>
                      </a:r>
                      <a:r>
                        <a:rPr lang="en-US" sz="1000" b="1" kern="100" dirty="0">
                          <a:solidFill>
                            <a:srgbClr val="FF0000"/>
                          </a:solidFill>
                          <a:effectLst/>
                        </a:rPr>
                        <a:t>LED</a:t>
                      </a: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</a:rPr>
                        <a:t>灯</a:t>
                      </a:r>
                      <a:endParaRPr lang="zh-CN" sz="10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14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外部电源接口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7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5</a:t>
                      </a:r>
                      <a:r>
                        <a:rPr lang="zh-CN" sz="1000" kern="100" dirty="0">
                          <a:effectLst/>
                        </a:rPr>
                        <a:t>个按键开关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15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b="1" kern="100" dirty="0"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电源开关</a:t>
                      </a:r>
                      <a:endParaRPr lang="zh-CN" sz="1000" b="1" kern="100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2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8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FPGA</a:t>
                      </a:r>
                      <a:r>
                        <a:rPr lang="zh-CN" sz="1000" kern="100" dirty="0">
                          <a:effectLst/>
                        </a:rPr>
                        <a:t>编程指示灯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宋体" panose="02010600030101010101" pitchFamily="2" charset="-122"/>
                        </a:rPr>
                        <a:t>16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电源选择跳线柱</a:t>
                      </a:r>
                      <a:endParaRPr lang="zh-CN" sz="1000" kern="100" dirty="0"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465" name="矩形 3"/>
          <p:cNvSpPr/>
          <p:nvPr/>
        </p:nvSpPr>
        <p:spPr>
          <a:xfrm>
            <a:off x="1704975" y="1297940"/>
            <a:ext cx="306388" cy="1430338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7466" name="矩形 20"/>
          <p:cNvSpPr/>
          <p:nvPr/>
        </p:nvSpPr>
        <p:spPr>
          <a:xfrm>
            <a:off x="1397000" y="4003040"/>
            <a:ext cx="4745038" cy="25241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7467" name="矩形 21"/>
          <p:cNvSpPr/>
          <p:nvPr/>
        </p:nvSpPr>
        <p:spPr>
          <a:xfrm>
            <a:off x="479425" y="4339590"/>
            <a:ext cx="4811713" cy="4000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17468" name="矩形 22"/>
          <p:cNvSpPr/>
          <p:nvPr/>
        </p:nvSpPr>
        <p:spPr>
          <a:xfrm>
            <a:off x="2079625" y="1375728"/>
            <a:ext cx="476250" cy="1106487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sym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92388" y="5150803"/>
            <a:ext cx="1338263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实验板视图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743825" y="5090478"/>
            <a:ext cx="180022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实验板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外设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标号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461069"/>
              </p:ext>
            </p:extLst>
          </p:nvPr>
        </p:nvGraphicFramePr>
        <p:xfrm>
          <a:off x="442451" y="979714"/>
          <a:ext cx="10356178" cy="54653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4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6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45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85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4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LED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灯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开关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段码管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按键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LD0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U16</a:t>
                      </a:r>
                      <a:endParaRPr lang="zh-CN" sz="1400" kern="1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SW0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AN0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BTNU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E19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V16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BTNR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W16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BTND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BTNL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BTNC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CB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W6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LD6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SW6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时钟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MRCC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SW8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SW9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USB(J2)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LD10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SW10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PS2_CLK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PS2_DAT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B17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SW13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SW14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1490"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SW15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61257" y="180983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引脚对照表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1257" y="180983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</a:rPr>
              <a:t>引脚对照表使用说明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7288" y="151467"/>
            <a:ext cx="4055079" cy="54067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45" y="827313"/>
            <a:ext cx="3983023" cy="531069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924338" y="3598876"/>
            <a:ext cx="293614" cy="244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263157" y="2021639"/>
            <a:ext cx="2766718" cy="2122522"/>
            <a:chOff x="8263157" y="2021639"/>
            <a:chExt cx="2766718" cy="2122522"/>
          </a:xfrm>
        </p:grpSpPr>
        <p:sp>
          <p:nvSpPr>
            <p:cNvPr id="10" name="矩形 9"/>
            <p:cNvSpPr/>
            <p:nvPr/>
          </p:nvSpPr>
          <p:spPr>
            <a:xfrm>
              <a:off x="8263157" y="3749878"/>
              <a:ext cx="436226" cy="3775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V="1">
              <a:off x="8481270" y="2206305"/>
              <a:ext cx="1283515" cy="1637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8633670" y="3995787"/>
              <a:ext cx="1131115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9764785" y="2021639"/>
              <a:ext cx="1265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名称：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LD0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805919" y="377482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PIN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U16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21" name="直接箭头连接符 20"/>
          <p:cNvCxnSpPr/>
          <p:nvPr/>
        </p:nvCxnSpPr>
        <p:spPr>
          <a:xfrm>
            <a:off x="5217952" y="3733546"/>
            <a:ext cx="1053693" cy="163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供电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通过电源选择跳线柱（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）进行选择供电方式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1.EXT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：通过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J6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接线柱进行外部供电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2.USB</a:t>
            </a:r>
            <a:r>
              <a:rPr lang="zh-CN" alt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：通过</a:t>
            </a:r>
            <a:r>
              <a:rPr lang="en-US" altLang="zh-CN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microUSB</a:t>
            </a:r>
            <a:r>
              <a:rPr lang="zh-CN" alt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进行供电</a:t>
            </a:r>
            <a:endParaRPr lang="en-US" altLang="zh-CN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电源开关：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SW16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电源开关指示灯：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LD20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LED</a:t>
            </a:r>
            <a:r>
              <a:rPr lang="zh-CN" altLang="en-US" dirty="0"/>
              <a:t>灯和开关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1398" y="1690688"/>
            <a:ext cx="3146137" cy="484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37286" y="1690687"/>
            <a:ext cx="2340146" cy="4842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按键电路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9194" y="1690688"/>
            <a:ext cx="4871673" cy="3706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数码管电路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7246" y="1690688"/>
            <a:ext cx="3715979" cy="4409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上电加载方式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编程加载模式有三种方式，通过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JP1</a:t>
            </a:r>
            <a:r>
              <a:rPr lang="zh-CN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的跳线帽进行选择。</a:t>
            </a:r>
          </a:p>
          <a:p>
            <a:pPr lvl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QSPI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方式下载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.bit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芯片，实现掉电不易失。板子上电后，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芯片里读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.bit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u="sng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zh-CN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JTAG</a:t>
            </a:r>
            <a:r>
              <a:rPr lang="zh-CN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方式下载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.bit</a:t>
            </a:r>
            <a:r>
              <a:rPr lang="zh-CN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文件到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r>
              <a:rPr lang="zh-CN" altLang="zh-CN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芯片。</a:t>
            </a:r>
            <a:endParaRPr lang="en-US" altLang="zh-CN" sz="2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盘或移动硬盘通过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端口下载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.bit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芯片（建议将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.bit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文件放在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盘根目录下，且只放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个），该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盘应该是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FAT32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文件系统。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</a:t>
            </a:r>
            <a:r>
              <a:rPr lang="zh-CN" altLang="zh-CN" b="1" dirty="0"/>
              <a:t>熟悉</a:t>
            </a:r>
            <a:r>
              <a:rPr lang="en-US" altLang="zh-CN" b="1" dirty="0" err="1"/>
              <a:t>Vivado</a:t>
            </a:r>
            <a:r>
              <a:rPr lang="zh-CN" altLang="zh-CN" b="1" dirty="0"/>
              <a:t>平台</a:t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34503"/>
            <a:ext cx="10515600" cy="4351338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Basys3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板的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芯片属于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公司的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ATRIX 7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系列，其对应的开发环境是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推出的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设计套件。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/>
          <a:lstStyle/>
          <a:p>
            <a:r>
              <a:rPr lang="zh-CN" altLang="en-US" dirty="0"/>
              <a:t>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创建新工程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添加已设计好的</a:t>
            </a:r>
            <a:r>
              <a:rPr lang="en-US" altLang="zh-CN" dirty="0"/>
              <a:t>IP</a:t>
            </a:r>
            <a:r>
              <a:rPr lang="zh-CN" altLang="zh-CN" dirty="0"/>
              <a:t>核</a:t>
            </a:r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zh-CN" dirty="0"/>
              <a:t>创建原理图，添加</a:t>
            </a:r>
            <a:r>
              <a:rPr lang="en-US" altLang="zh-CN" dirty="0"/>
              <a:t>IP</a:t>
            </a:r>
            <a:r>
              <a:rPr lang="zh-CN" altLang="zh-CN" dirty="0"/>
              <a:t>，进行原理图设计。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zh-CN" dirty="0"/>
              <a:t>添加管脚约束、综合、实现、生成</a:t>
            </a:r>
            <a:r>
              <a:rPr lang="en-US" altLang="zh-CN" dirty="0"/>
              <a:t>bit</a:t>
            </a:r>
            <a:r>
              <a:rPr lang="zh-CN" altLang="zh-CN" dirty="0"/>
              <a:t>流并下载到实验板</a:t>
            </a:r>
            <a:br>
              <a:rPr lang="zh-CN" altLang="zh-CN" dirty="0"/>
            </a:b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3459" y="383458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创建新工程</a:t>
            </a:r>
          </a:p>
        </p:txBody>
      </p:sp>
      <p:pic>
        <p:nvPicPr>
          <p:cNvPr id="5" name="Picture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6338" y="1136613"/>
            <a:ext cx="7378514" cy="5514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916" y="624801"/>
            <a:ext cx="6743808" cy="564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7600337" y="1788099"/>
            <a:ext cx="4075470" cy="94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在弹出的创建新工程的界面中，点击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，开始创建新工程。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5974"/>
            <a:ext cx="7404410" cy="604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7717810" y="848935"/>
            <a:ext cx="419888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1.3.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Project Name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界面中，工程名称预置为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project_1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（可根据个人需要进行修改），设置好工程存放路径为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E:/demo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（或其它拟存放工程的路径），勾选创建工程子目录的选项（默认项）。这样，整个工程文件都将存放在创建的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demo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子目录中。点击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Next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注意：路径以及工程名必须是英文！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不得有空格！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799" y="211873"/>
            <a:ext cx="7364362" cy="5982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7782231" y="1020548"/>
            <a:ext cx="41344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1.4.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在选择工程类型的界面中，选择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RTL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工程。由于本工程无需创建源文件，故将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Do not specify sources at this time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（不指定添加源文件）勾选上（默认项）。点击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7560527" cy="6356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7857892" y="531685"/>
            <a:ext cx="4073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1.5.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在器件板卡选型界面中，在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Search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栏中输入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xc7a35tcpg236-1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搜索本次实验所使用的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FPGA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芯片。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05600" y="1188545"/>
            <a:ext cx="52995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1.6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最后在新工程总结中，检查工程创建是否有误。没有问题，则点击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Finish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，完成新工程的创建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5" y="821462"/>
            <a:ext cx="6389828" cy="45616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9060" y="456888"/>
            <a:ext cx="45079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、添加已设计好的</a:t>
            </a:r>
            <a:r>
              <a:rPr lang="en-US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3896" y="1430594"/>
            <a:ext cx="1092855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工程建立完毕，我们需要将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project_1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这个工程所需的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目录文件夹复制到本工程文件夹下。本实验需要的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IP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目录为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Lab_IP</a:t>
            </a:r>
            <a:r>
              <a:rPr lang="zh-CN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06051" y="4164940"/>
            <a:ext cx="4415484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</a:t>
            </a:r>
            <a:r>
              <a:rPr lang="zh-CN" altLang="en-US" dirty="0">
                <a:solidFill>
                  <a:srgbClr val="136EC2"/>
                </a:solidFill>
                <a:latin typeface="Arial" panose="020B0604020202020204" pitchFamily="34" charset="0"/>
                <a:ea typeface="宋体" panose="02010600030101010101" pitchFamily="2" charset="-122"/>
                <a:hlinkClick r:id="rId2"/>
              </a:rPr>
              <a:t>集成电路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的可重用设计方法学中，</a:t>
            </a:r>
            <a:r>
              <a:rPr lang="en-US" altLang="zh-CN" b="1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IP</a:t>
            </a:r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核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，全称</a:t>
            </a:r>
            <a:r>
              <a:rPr lang="zh-CN" altLang="en-US" b="1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知识产权核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（英语：</a:t>
            </a:r>
            <a:r>
              <a:rPr lang="en-US" altLang="zh-CN" b="1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intellectual property core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），是指某一方提供的、形式为逻辑单元、芯片设计的可重用模块。</a:t>
            </a:r>
            <a:r>
              <a:rPr lang="zh-CN" altLang="en-US" u="sng" dirty="0">
                <a:solidFill>
                  <a:srgbClr val="333333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在这里我们可以把它理解为一个提供我们想要功能的黑箱子。</a:t>
            </a:r>
            <a:endParaRPr lang="zh-CN" altLang="en-US" u="sng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2657" y="1400114"/>
            <a:ext cx="3650349" cy="293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970206" y="1929351"/>
            <a:ext cx="4807975" cy="950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2.1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Vivado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设计界面的左侧设计向导栏中，点击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Project Manager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目录下的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Project Setting</a:t>
            </a:r>
            <a:r>
              <a:rPr lang="zh-CN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82929" y="1499550"/>
            <a:ext cx="603700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 Setting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界面中，选择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选项，进入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设置界面。点击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 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Respository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...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，添加本工程文件夹下的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IP_Catalog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9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241" y="1038532"/>
            <a:ext cx="5305733" cy="4388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63148" y="1114803"/>
            <a:ext cx="52700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2.3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完成目录添加后，可以看到所需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核已经自动添加。点击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OK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添加。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2" y="350631"/>
            <a:ext cx="6190476" cy="571428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4766" y="294656"/>
            <a:ext cx="82157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、创建原理图，添加</a:t>
            </a:r>
            <a:r>
              <a:rPr lang="en-US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32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，进行原理图设计。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1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1897" y="1509127"/>
            <a:ext cx="3950724" cy="3785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4994787" y="1675242"/>
            <a:ext cx="48276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）在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Project Navigator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 Integrator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Create Block Design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，创建原理图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99123" y="1451487"/>
            <a:ext cx="5107858" cy="661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在弹出的创建原理图界面中，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编辑设计图名称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OK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完成创建。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190" y="1451487"/>
            <a:ext cx="5197209" cy="3548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350" y="1063206"/>
            <a:ext cx="6328659" cy="4824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3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922" y="1446551"/>
            <a:ext cx="228600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6580681" y="1364105"/>
            <a:ext cx="5411451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3.3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在原理图设计界面中，添加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的方式有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种：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845508" y="2959414"/>
            <a:ext cx="50680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在原理图设计界面的左侧，有相应快捷键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45508" y="2020695"/>
            <a:ext cx="5146624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在设计刚开始时，原理图界面的最上方有相关提示，可以点击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 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，进行添加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580681" y="3898133"/>
            <a:ext cx="5411451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2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在原理图界面中，鼠标右击选择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 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6" name="Picture 1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15430" y="3374912"/>
            <a:ext cx="389119" cy="415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59224" y="1837356"/>
            <a:ext cx="7476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3.4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选择框中，输入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gate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，搜索本实验所需要的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64155" y="289134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3.5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Enter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键，或者鼠标双击该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，可以完成添加。如添加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nand_gate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205" y="1837356"/>
            <a:ext cx="2455641" cy="1884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23185" y="1080520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3.6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添加完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后，进行端口设置和连线操作。连线时，将鼠标移至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引脚附近，鼠标图案变成铅笔状。此时，点击鼠标左键进行拖拽。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Vivado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会提醒用户可以与该引脚相连的引脚或端口。</a:t>
            </a:r>
          </a:p>
        </p:txBody>
      </p:sp>
      <p:sp>
        <p:nvSpPr>
          <p:cNvPr id="5" name="矩形 4"/>
          <p:cNvSpPr/>
          <p:nvPr/>
        </p:nvSpPr>
        <p:spPr>
          <a:xfrm>
            <a:off x="5423185" y="301951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3.7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创建与外界相连的端口有两种方式：点击选中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的某一引脚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击右键在菜单中选择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Make External…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自动创建与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引脚同名、同方向的端口；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在右键菜单中选择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Port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，然后在弹出的窗口中设置端口名称，方向以及类型；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22" y="2184240"/>
            <a:ext cx="4528715" cy="154053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77371" y="37247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3.7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34" y="2092070"/>
            <a:ext cx="3666667" cy="22476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10258" y="434818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3.8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98018" y="209207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3.8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通过点击端口，可以在原理图窗口的左侧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external port 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properities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窗口中修改端口名称。如将自动创建的端口名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a1_in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b1_in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8018" y="4230202"/>
            <a:ext cx="6096000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6070">
              <a:lnSpc>
                <a:spcPts val="2000"/>
              </a:lnSpc>
            </a:pP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Vivado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要求模块的输入引脚（左边）必须都有一个端口，而输出引脚则不必。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887742" y="179340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）完成原理图设计后，生成顶层文件。在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界面中右击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design_1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Generate Output Products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，在生成输出文件的界面中点击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Generate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。生成完输出文件后，再次右击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design_1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HDL Wrapper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，创建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HDL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代码文件。对原理图文件进行实例化。在创建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HDL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文件的界面中，保持默认选项，点击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OK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，完成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HDL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文件的创建。至此，原理图设计已经完成。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348" y="1062842"/>
            <a:ext cx="5365979" cy="4499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365259" y="3026554"/>
            <a:ext cx="1148747" cy="2862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6576" y="1312449"/>
            <a:ext cx="3870335" cy="381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5257" y="1827673"/>
            <a:ext cx="6082197" cy="2783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74987"/>
            <a:ext cx="10515600" cy="894049"/>
          </a:xfrm>
        </p:spPr>
        <p:txBody>
          <a:bodyPr>
            <a:normAutofit fontScale="90000"/>
          </a:bodyPr>
          <a:lstStyle/>
          <a:p>
            <a:r>
              <a:rPr lang="en-US" altLang="zh-CN" sz="3600" b="1" dirty="0"/>
              <a:t>4.</a:t>
            </a:r>
            <a:r>
              <a:rPr lang="zh-CN" altLang="zh-CN" sz="3600" b="1" dirty="0"/>
              <a:t>添加管脚约束、综合、实现、生成</a:t>
            </a:r>
            <a:r>
              <a:rPr lang="en-US" altLang="zh-CN" sz="3600" b="1" dirty="0"/>
              <a:t>bit</a:t>
            </a:r>
            <a:r>
              <a:rPr lang="zh-CN" altLang="zh-CN" sz="3600" b="1" dirty="0"/>
              <a:t>流并下载到实验板</a:t>
            </a:r>
            <a:br>
              <a:rPr lang="zh-CN" altLang="zh-CN" dirty="0"/>
            </a:b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12" y="1022011"/>
            <a:ext cx="2204210" cy="56049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94085" y="3147935"/>
            <a:ext cx="1873771" cy="2998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07617" y="1590686"/>
            <a:ext cx="5806421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>
              <a:lnSpc>
                <a:spcPts val="2000"/>
              </a:lnSpc>
            </a:pP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在导航栏的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RTL Analysis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里选择打开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Elaborated Design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7768" y="2599757"/>
            <a:ext cx="8701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4.2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Vivado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标签栏中，将界面调整到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I/O PLANNING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769" y="891415"/>
            <a:ext cx="9135818" cy="11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64631" y="3495579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4.3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在屏幕下方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I/O ports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窗口中将设计端口与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FPGA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引脚进行关联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9677" y="4510473"/>
            <a:ext cx="112126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之前的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介绍，我们可以了解到实验板上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FPGA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V16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V17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引脚分别与拨码开关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SW2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相连，拨码开关朝上拨为输入高电平。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U16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引脚与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灯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LD0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连接，当有高电平输出时，灯被点亮。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814"/>
            <a:ext cx="12192000" cy="152753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62713" y="2028679"/>
            <a:ext cx="1250067" cy="7723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4189" y="2060375"/>
            <a:ext cx="852668" cy="7723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zh-CN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06387" y="204763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完成后保存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Ctrl+S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或者软件上方的保存图标）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，将提示为存储的文件取名，在此用同样英文命名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9842" y="1968896"/>
            <a:ext cx="4871803" cy="255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91014" y="1656672"/>
            <a:ext cx="65760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4.4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综合验证：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在导航栏的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Synthesis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里选择打开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Run synthesis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73" y="707218"/>
            <a:ext cx="2204210" cy="560499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79207" y="3642610"/>
            <a:ext cx="1689042" cy="269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14" y="3332636"/>
            <a:ext cx="4619048" cy="217142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110062" y="3818185"/>
            <a:ext cx="2898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这个步骤以及之后的几个步骤需要花很多时间，可以观察右上角的进度条看是否完成</a:t>
            </a:r>
          </a:p>
        </p:txBody>
      </p:sp>
      <p:sp>
        <p:nvSpPr>
          <p:cNvPr id="11" name="矩形 10"/>
          <p:cNvSpPr/>
          <p:nvPr/>
        </p:nvSpPr>
        <p:spPr>
          <a:xfrm>
            <a:off x="4491014" y="3145942"/>
            <a:ext cx="7381196" cy="265525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999" y="1783204"/>
            <a:ext cx="3410512" cy="3148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906780" y="2526486"/>
            <a:ext cx="6605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4.5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完成综合验证后，选择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Run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Implementation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，进行工程实现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898" y="1386592"/>
            <a:ext cx="4297180" cy="3485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5221574" y="229820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4.6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工程实现完成后，选择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Generate Bitstream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，生成编译文件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641298" y="216145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4.7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生成编译文件后，选择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Open Hardware Manager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，打开硬件管理器，进行板级验证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925" y="1459838"/>
            <a:ext cx="4021986" cy="3292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77" y="1297544"/>
            <a:ext cx="6378816" cy="280976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7045376" y="1350904"/>
            <a:ext cx="47618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4.8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连接板卡。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打开目标器件，点击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 target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。如果初次连接板卡，选择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 a New Hardware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。如果之前连接过板卡，可以选择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Open Recent Target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，在其列表中选择相应板卡。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645639" y="2526746"/>
            <a:ext cx="52415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在打开新硬件目标界面中，点击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进行创建。选择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Local server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5631"/>
            <a:ext cx="6495738" cy="389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858" y="1011836"/>
            <a:ext cx="7025390" cy="465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7240248" y="1995420"/>
            <a:ext cx="45775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/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Finish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，完成创建。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46229" y="289985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304800"/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4.9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文件。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4800"/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Hardware Manager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上方提示语句中的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Program device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。选择目标器件。检查弹出框中所选中的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文件，然后点击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Program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进行下载。进行板级验证。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641" y="682052"/>
            <a:ext cx="7505076" cy="1716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32787" y="1168515"/>
            <a:ext cx="66956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拨动最右端的两个拨码开关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SW1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SW0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，观察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LED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灯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LD0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的明亮情况，查看开关与灯组成的逻辑是否实现了一个与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门的功能。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5400" y="2887326"/>
          <a:ext cx="7711608" cy="1854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570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SW1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LD0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1996</Words>
  <Application>Microsoft Office PowerPoint</Application>
  <PresentationFormat>宽屏</PresentationFormat>
  <Paragraphs>290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3" baseType="lpstr">
      <vt:lpstr>宋体</vt:lpstr>
      <vt:lpstr>微软雅黑</vt:lpstr>
      <vt:lpstr>Arial</vt:lpstr>
      <vt:lpstr>Calibri</vt:lpstr>
      <vt:lpstr>Times New Roman</vt:lpstr>
      <vt:lpstr>Office 主题​​</vt:lpstr>
      <vt:lpstr>数字逻辑实验 ——熟悉平台</vt:lpstr>
      <vt:lpstr>PowerPoint 演示文稿</vt:lpstr>
      <vt:lpstr>PowerPoint 演示文稿</vt:lpstr>
      <vt:lpstr>1.熟悉Basys3实验板</vt:lpstr>
      <vt:lpstr>Basys3关键特性</vt:lpstr>
      <vt:lpstr>注意事项</vt:lpstr>
      <vt:lpstr>PowerPoint 演示文稿</vt:lpstr>
      <vt:lpstr>PowerPoint 演示文稿</vt:lpstr>
      <vt:lpstr>PowerPoint 演示文稿</vt:lpstr>
      <vt:lpstr>供电</vt:lpstr>
      <vt:lpstr>LED灯和开关</vt:lpstr>
      <vt:lpstr>按键电路</vt:lpstr>
      <vt:lpstr>数码管电路</vt:lpstr>
      <vt:lpstr>上电加载方式</vt:lpstr>
      <vt:lpstr>2.熟悉Vivado平台 </vt:lpstr>
      <vt:lpstr>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4.添加管脚约束、综合、实现、生成bit流并下载到实验板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数字逻辑实验：熟悉平台</dc:title>
  <dc:creator>苏潮阳</dc:creator>
  <cp:lastModifiedBy>wen lu</cp:lastModifiedBy>
  <cp:revision>57</cp:revision>
  <dcterms:created xsi:type="dcterms:W3CDTF">2017-10-05T08:35:00Z</dcterms:created>
  <dcterms:modified xsi:type="dcterms:W3CDTF">2022-10-24T06:22:06Z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44020CE57D12445CB70C96C3B9859324</vt:lpwstr>
  </property>
  <property fmtid="{D5CDD505-2E9C-101B-9397-08002B2CF9AE}" pid="3" name="KSOProductBuildVer">
    <vt:lpwstr>2052-11.1.0.11045</vt:lpwstr>
  </property>
</Properties>
</file>